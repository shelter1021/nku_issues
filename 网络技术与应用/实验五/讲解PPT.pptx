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handoutMasterIdLst>
    <p:handoutMasterId r:id="rId14"/>
  </p:handoutMasterIdLst>
  <p:sldIdLst>
    <p:sldId id="439" r:id="rId4"/>
    <p:sldId id="1925" r:id="rId6"/>
    <p:sldId id="2004" r:id="rId7"/>
    <p:sldId id="2005" r:id="rId8"/>
    <p:sldId id="2010" r:id="rId9"/>
    <p:sldId id="2011" r:id="rId10"/>
    <p:sldId id="2006" r:id="rId11"/>
    <p:sldId id="2007" r:id="rId12"/>
    <p:sldId id="20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84378"/>
    <a:srgbClr val="FFFFFF"/>
    <a:srgbClr val="54C3F4"/>
    <a:srgbClr val="22304B"/>
    <a:srgbClr val="C77FAC"/>
    <a:srgbClr val="0062AC"/>
    <a:srgbClr val="ED6C00"/>
    <a:srgbClr val="E2287E"/>
    <a:srgbClr val="2CA738"/>
    <a:srgbClr val="5A2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79686" autoAdjust="0"/>
  </p:normalViewPr>
  <p:slideViewPr>
    <p:cSldViewPr snapToGrid="0">
      <p:cViewPr varScale="1">
        <p:scale>
          <a:sx n="110" d="100"/>
          <a:sy n="110" d="100"/>
        </p:scale>
        <p:origin x="126" y="528"/>
      </p:cViewPr>
      <p:guideLst/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100" b="0" i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这是</a:t>
            </a:r>
            <a:endParaRPr lang="en-US" altLang="zh-CN" sz="2100" b="0" i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这样我们相当于在普通主机上，用软件实现了一个最小化的路由器转发平面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这里先把所有网卡列出来，让用户确认哪块网卡接在实验拓扑上。输出</a:t>
            </a:r>
            <a:r>
              <a:rPr kumimoji="1" lang="en-US" altLang="zh-CN" dirty="0"/>
              <a:t> IP/MASK </a:t>
            </a:r>
            <a:r>
              <a:rPr kumimoji="1" lang="zh-CN" altLang="en-US" dirty="0"/>
              <a:t>是为后面</a:t>
            </a:r>
            <a:r>
              <a:rPr kumimoji="1" lang="en-US" altLang="zh-CN" dirty="0"/>
              <a:t>“</a:t>
            </a:r>
            <a:r>
              <a:rPr kumimoji="1" lang="zh-CN" altLang="en-US" dirty="0"/>
              <a:t>自动加入路由表</a:t>
            </a:r>
            <a:r>
              <a:rPr kumimoji="1" lang="en-US" altLang="zh-CN" dirty="0"/>
              <a:t>”“</a:t>
            </a:r>
            <a:r>
              <a:rPr kumimoji="1" lang="zh-CN" altLang="en-US" dirty="0"/>
              <a:t>匹配本机</a:t>
            </a:r>
            <a:r>
              <a:rPr kumimoji="1" lang="en-US" altLang="zh-CN" dirty="0"/>
              <a:t> IP”</a:t>
            </a:r>
            <a:r>
              <a:rPr kumimoji="1" lang="zh-CN" altLang="en-US" dirty="0"/>
              <a:t>做准备。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这段代码保证最多记录两个</a:t>
            </a:r>
            <a:r>
              <a:rPr kumimoji="1" lang="en-US" altLang="zh-CN" dirty="0"/>
              <a:t> IPv4</a:t>
            </a:r>
            <a:r>
              <a:rPr kumimoji="1" lang="zh-CN" altLang="en-US" dirty="0"/>
              <a:t>，正好满足实验要求</a:t>
            </a:r>
            <a:r>
              <a:rPr kumimoji="1" lang="en-US" altLang="zh-CN" dirty="0"/>
              <a:t>“</a:t>
            </a:r>
            <a:r>
              <a:rPr kumimoji="1" lang="zh-CN" altLang="en-US" dirty="0"/>
              <a:t>单网卡双</a:t>
            </a:r>
            <a:r>
              <a:rPr kumimoji="1" lang="en-US" altLang="zh-CN" dirty="0"/>
              <a:t> IP”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zh-CN" altLang="en-US" dirty="0"/>
              <a:t>同时保留字符串和整数两种形式：</a:t>
            </a:r>
            <a:endParaRPr kumimoji="1" lang="zh-CN" altLang="en-US" dirty="0"/>
          </a:p>
          <a:p>
            <a:r>
              <a:rPr kumimoji="1" lang="zh-CN" altLang="en-US" dirty="0"/>
              <a:t>字符串方便输出到屏幕</a:t>
            </a:r>
            <a:endParaRPr kumimoji="1" lang="zh-CN" altLang="en-US" dirty="0"/>
          </a:p>
          <a:p>
            <a:r>
              <a:rPr kumimoji="1" lang="zh-CN" altLang="en-US" dirty="0"/>
              <a:t>整数方便做按位与、路由匹配等运算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这段代码直接对应实验要求中的：</a:t>
            </a:r>
            <a:r>
              <a:rPr kumimoji="1" lang="en-US" altLang="zh-CN" dirty="0"/>
              <a:t>“2. </a:t>
            </a:r>
            <a:r>
              <a:rPr kumimoji="1" lang="zh-CN" altLang="en-US" dirty="0"/>
              <a:t>伪造</a:t>
            </a:r>
            <a:r>
              <a:rPr kumimoji="1" lang="en-US" altLang="zh-CN" dirty="0"/>
              <a:t> ARP </a:t>
            </a:r>
            <a:r>
              <a:rPr kumimoji="1" lang="zh-CN" altLang="en-US" dirty="0"/>
              <a:t>报文获取本机</a:t>
            </a:r>
            <a:r>
              <a:rPr kumimoji="1" lang="en-US" altLang="zh-CN" dirty="0"/>
              <a:t> MAC”</a:t>
            </a:r>
            <a:r>
              <a:rPr kumimoji="1" lang="zh-CN" altLang="en-US" dirty="0"/>
              <a:t>；</a:t>
            </a:r>
            <a:r>
              <a:rPr kumimoji="1" lang="en-US" altLang="zh-CN" dirty="0"/>
              <a:t>“1. </a:t>
            </a:r>
            <a:r>
              <a:rPr kumimoji="1" lang="zh-CN" altLang="en-US" dirty="0"/>
              <a:t>获取并显示本机双</a:t>
            </a:r>
            <a:r>
              <a:rPr kumimoji="1" lang="en-US" altLang="zh-CN" dirty="0"/>
              <a:t> IP </a:t>
            </a:r>
            <a:r>
              <a:rPr kumimoji="1" lang="zh-CN" altLang="en-US" dirty="0"/>
              <a:t>地址和</a:t>
            </a:r>
            <a:r>
              <a:rPr kumimoji="1" lang="en-US" altLang="zh-CN" dirty="0"/>
              <a:t> MAC </a:t>
            </a:r>
            <a:r>
              <a:rPr kumimoji="1" lang="zh-CN" altLang="en-US" dirty="0"/>
              <a:t>地址</a:t>
            </a:r>
            <a:r>
              <a:rPr kumimoji="1" lang="en-US" altLang="zh-CN" dirty="0"/>
              <a:t>”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r>
              <a:rPr kumimoji="1" lang="zh-CN" altLang="en-US" dirty="0"/>
              <a:t>逻辑上是：</a:t>
            </a:r>
            <a:r>
              <a:rPr kumimoji="1" lang="en-US" altLang="zh-CN" dirty="0"/>
              <a:t>“</a:t>
            </a:r>
            <a:r>
              <a:rPr kumimoji="1" lang="zh-CN" altLang="en-US" dirty="0"/>
              <a:t>我问：谁是我自己？系统回一个</a:t>
            </a:r>
            <a:r>
              <a:rPr kumimoji="1" lang="en-US" altLang="zh-CN" dirty="0"/>
              <a:t> ARP </a:t>
            </a:r>
            <a:r>
              <a:rPr kumimoji="1" lang="zh-CN" altLang="en-US" dirty="0"/>
              <a:t>应答，里面带着我的</a:t>
            </a:r>
            <a:r>
              <a:rPr kumimoji="1" lang="en-US" altLang="zh-CN" dirty="0"/>
              <a:t> MAC”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852551"/>
          </a:xfrm>
          <a:solidFill>
            <a:srgbClr val="0062AC"/>
          </a:solidFill>
        </p:spPr>
        <p:txBody>
          <a:bodyPr anchor="ctr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defRPr sz="4000" b="1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>
              <a:lnSpc>
                <a:spcPct val="120000"/>
              </a:lnSpc>
              <a:defRPr sz="3200" b="1" i="0" baseline="0"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000" b="0" i="0" baseline="0">
                <a:ea typeface="华文楷体" panose="02010600040101010101" pitchFamily="2" charset="-122"/>
              </a:defRPr>
            </a:lvl2pPr>
            <a:lvl3pPr>
              <a:lnSpc>
                <a:spcPct val="120000"/>
              </a:lnSpc>
              <a:defRPr sz="2800" b="0" i="0" baseline="0">
                <a:ea typeface="华文新魏" panose="02010800040101010101" pitchFamily="2" charset="-122"/>
              </a:defRPr>
            </a:lvl3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Line 1"/>
          <p:cNvSpPr>
            <a:spLocks noChangeShapeType="1"/>
          </p:cNvSpPr>
          <p:nvPr userDrawn="1"/>
        </p:nvSpPr>
        <p:spPr bwMode="auto">
          <a:xfrm>
            <a:off x="0" y="669131"/>
            <a:ext cx="12192000" cy="0"/>
          </a:xfrm>
          <a:prstGeom prst="line">
            <a:avLst/>
          </a:prstGeom>
          <a:noFill/>
          <a:ln w="25400">
            <a:solidFill>
              <a:srgbClr val="0062AC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852551"/>
          </a:xfrm>
          <a:solidFill>
            <a:srgbClr val="0062AC"/>
          </a:solidFill>
        </p:spPr>
        <p:txBody>
          <a:bodyPr anchor="ctr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defRPr sz="4000" b="1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>
              <a:lnSpc>
                <a:spcPct val="120000"/>
              </a:lnSpc>
              <a:defRPr sz="3200" b="1" i="0" baseline="0"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000" b="0" i="0" baseline="0">
                <a:ea typeface="华文楷体" panose="02010600040101010101" pitchFamily="2" charset="-122"/>
              </a:defRPr>
            </a:lvl2pPr>
            <a:lvl3pPr>
              <a:lnSpc>
                <a:spcPct val="120000"/>
              </a:lnSpc>
              <a:defRPr sz="2800" b="0" i="0" baseline="0">
                <a:ea typeface="华文新魏" panose="02010800040101010101" pitchFamily="2" charset="-122"/>
              </a:defRPr>
            </a:lvl3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Line 1"/>
          <p:cNvSpPr>
            <a:spLocks noChangeShapeType="1"/>
          </p:cNvSpPr>
          <p:nvPr userDrawn="1"/>
        </p:nvSpPr>
        <p:spPr bwMode="auto">
          <a:xfrm>
            <a:off x="0" y="669131"/>
            <a:ext cx="12192000" cy="0"/>
          </a:xfrm>
          <a:prstGeom prst="line">
            <a:avLst/>
          </a:prstGeom>
          <a:noFill/>
          <a:ln w="25400">
            <a:solidFill>
              <a:srgbClr val="0062AC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1293947" y="6580997"/>
            <a:ext cx="898052" cy="306705"/>
          </a:xfrm>
          <a:prstGeom prst="rect">
            <a:avLst/>
          </a:prstGeom>
          <a:solidFill>
            <a:srgbClr val="ED6C00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1178636" cy="890648"/>
          </a:xfrm>
          <a:prstGeom prst="rect">
            <a:avLst/>
          </a:prstGeom>
          <a:solidFill>
            <a:srgbClr val="0062AC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8060" y="6581140"/>
            <a:ext cx="7370233" cy="30670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chemeClr val="bg1"/>
                </a:solidFill>
              </a:rPr>
              <a:t>实验</a:t>
            </a:r>
            <a:r>
              <a:rPr lang="en-US" altLang="zh-CN" sz="1400" b="0" dirty="0">
                <a:solidFill>
                  <a:schemeClr val="bg1"/>
                </a:solidFill>
              </a:rPr>
              <a:t>5</a:t>
            </a:r>
            <a:r>
              <a:rPr lang="zh-CN" altLang="en-US" sz="1400" b="0" dirty="0">
                <a:solidFill>
                  <a:schemeClr val="bg1"/>
                </a:solidFill>
              </a:rPr>
              <a:t>：简单路由器程序的设计</a:t>
            </a:r>
            <a:endParaRPr lang="zh-CN" altLang="en-US" sz="1400" b="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81140"/>
            <a:ext cx="3528060" cy="3067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谢小珂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2310422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8293" y="6581140"/>
            <a:ext cx="1292860" cy="3067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fld id="{C603BFBC-EF15-48A5-8249-0FEAC4BE5DBB}" type="slidenum">
              <a:rPr lang="en-US" sz="1400" smtClean="0">
                <a:solidFill>
                  <a:schemeClr val="bg1"/>
                </a:solidFill>
              </a:rPr>
            </a:fld>
            <a:endParaRPr lang="en-US" sz="14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1293947" y="6580997"/>
            <a:ext cx="898052" cy="306705"/>
          </a:xfrm>
          <a:prstGeom prst="rect">
            <a:avLst/>
          </a:prstGeom>
          <a:solidFill>
            <a:srgbClr val="ED6C00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1178636" cy="890648"/>
          </a:xfrm>
          <a:prstGeom prst="rect">
            <a:avLst/>
          </a:prstGeom>
          <a:solidFill>
            <a:srgbClr val="0062AC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8060" y="6581140"/>
            <a:ext cx="7370233" cy="30670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chemeClr val="bg1"/>
                </a:solidFill>
              </a:rPr>
              <a:t>实验</a:t>
            </a:r>
            <a:r>
              <a:rPr lang="en-US" altLang="zh-CN" sz="1400" b="0" dirty="0">
                <a:solidFill>
                  <a:schemeClr val="bg1"/>
                </a:solidFill>
              </a:rPr>
              <a:t>5</a:t>
            </a:r>
            <a:r>
              <a:rPr lang="zh-CN" altLang="en-US" sz="1400" b="0" dirty="0">
                <a:solidFill>
                  <a:schemeClr val="bg1"/>
                </a:solidFill>
              </a:rPr>
              <a:t>：简单路由器程序的设计</a:t>
            </a:r>
            <a:endParaRPr lang="zh-CN" altLang="en-US" sz="1400" b="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81140"/>
            <a:ext cx="3528060" cy="3067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谢小珂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2310422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8293" y="6581140"/>
            <a:ext cx="1292860" cy="3067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fld id="{C603BFBC-EF15-48A5-8249-0FEAC4BE5DBB}" type="slidenum">
              <a:rPr lang="en-US" sz="1400" smtClean="0">
                <a:solidFill>
                  <a:schemeClr val="bg1"/>
                </a:solidFill>
              </a:rPr>
            </a:fld>
            <a:endParaRPr lang="en-US" sz="14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4128" y="0"/>
            <a:ext cx="12200255" cy="3218815"/>
          </a:xfrm>
        </p:spPr>
        <p:txBody>
          <a:bodyPr>
            <a:normAutofit/>
          </a:bodyPr>
          <a:lstStyle/>
          <a:p>
            <a:r>
              <a:rPr lang="zh-CN" altLang="en-US" sz="7200" b="1" dirty="0">
                <a:latin typeface="Calibri" panose="020F0502020204030204" pitchFamily="34" charset="0"/>
                <a:ea typeface="黑体" panose="02010609060101010101" pitchFamily="49" charset="-122"/>
              </a:rPr>
              <a:t>网络技术与应用课程</a:t>
            </a:r>
            <a:b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</a:br>
            <a:br>
              <a:rPr lang="zh-CN" altLang="en-US" sz="2800" b="1" dirty="0"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zh-CN" altLang="en-US" sz="3600" b="1" dirty="0">
                <a:latin typeface="Calibri" panose="020F0502020204030204" pitchFamily="34" charset="0"/>
                <a:ea typeface="黑体" panose="02010609060101010101" pitchFamily="49" charset="-122"/>
              </a:rPr>
              <a:t>实验</a:t>
            </a:r>
            <a:r>
              <a:rPr lang="en-US" altLang="zh-CN" sz="3600" b="1" dirty="0">
                <a:latin typeface="Calibri" panose="020F0502020204030204" pitchFamily="34" charset="0"/>
                <a:ea typeface="黑体" panose="02010609060101010101" pitchFamily="49" charset="-122"/>
              </a:rPr>
              <a:t>5</a:t>
            </a:r>
            <a:r>
              <a:rPr lang="zh-CN" altLang="en-US" sz="3600" b="1" dirty="0">
                <a:latin typeface="Calibri" panose="020F0502020204030204" pitchFamily="34" charset="0"/>
                <a:ea typeface="黑体" panose="02010609060101010101" pitchFamily="49" charset="-122"/>
              </a:rPr>
              <a:t>：简单路由器程序的设计</a:t>
            </a:r>
            <a:endParaRPr lang="zh-CN" altLang="en-US" sz="3600" b="1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554355" y="3826510"/>
            <a:ext cx="11083925" cy="2423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350"/>
              </a:spcBef>
            </a:pPr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姓名：谢小珂</a:t>
            </a:r>
            <a:r>
              <a:rPr lang="en-US" altLang="zh-C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 </a:t>
            </a:r>
            <a:endParaRPr lang="en-US" altLang="zh-CN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 algn="ctr">
              <a:spcBef>
                <a:spcPts val="1350"/>
              </a:spcBef>
            </a:pPr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学号：</a:t>
            </a:r>
            <a:r>
              <a:rPr lang="en-US" altLang="zh-C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2310422</a:t>
            </a:r>
            <a:endParaRPr lang="en-US" altLang="zh-CN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>
              <a:spcBef>
                <a:spcPts val="1350"/>
              </a:spcBef>
            </a:pPr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  <a:sym typeface="+mn-ea"/>
              </a:rPr>
              <a:t>专业：物联网工程</a:t>
            </a:r>
            <a:r>
              <a:rPr lang="en-US" altLang="zh-CN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  <a:sym typeface="+mn-ea"/>
              </a:rPr>
              <a:t> </a:t>
            </a:r>
            <a:endParaRPr lang="en-US" altLang="zh-CN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>
              <a:spcBef>
                <a:spcPts val="1350"/>
              </a:spcBef>
            </a:pPr>
            <a:endParaRPr lang="en-US" altLang="zh-CN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讲解大纲</a:t>
            </a:r>
            <a:endParaRPr lang="zh-CN" altLang="en-US" dirty="0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>
                <a:sym typeface="+mn-ea"/>
              </a:rPr>
              <a:t>软件路由器整体设计思路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2.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3.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4.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6.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7.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8.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软件路由器整体设计思路</a:t>
            </a:r>
            <a:endParaRPr lang="zh-CN" altLang="en-US" dirty="0"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94335" y="789940"/>
            <a:ext cx="11737975" cy="7981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800" dirty="0"/>
              <a:t>在用户态用抓包库模拟一台简易路由器：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抓帧</a:t>
            </a:r>
            <a:r>
              <a:rPr lang="en-US" altLang="zh-CN" sz="2400" dirty="0">
                <a:sym typeface="+mn-ea"/>
              </a:rPr>
              <a:t> </a:t>
            </a:r>
            <a:r>
              <a:rPr lang="en-US" altLang="en-US" sz="2400" dirty="0">
                <a:sym typeface="+mn-ea"/>
              </a:rPr>
              <a:t>→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判别</a:t>
            </a:r>
            <a:r>
              <a:rPr lang="en-US" altLang="zh-CN" sz="2400" dirty="0">
                <a:sym typeface="+mn-ea"/>
              </a:rPr>
              <a:t> </a:t>
            </a:r>
            <a:r>
              <a:rPr lang="en-US" altLang="en-US" sz="2400" dirty="0">
                <a:sym typeface="+mn-ea"/>
              </a:rPr>
              <a:t>→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查表</a:t>
            </a:r>
            <a:r>
              <a:rPr lang="en-US" altLang="zh-CN" sz="2400" dirty="0">
                <a:sym typeface="+mn-ea"/>
              </a:rPr>
              <a:t> </a:t>
            </a:r>
            <a:r>
              <a:rPr lang="en-US" altLang="en-US" sz="2400" dirty="0">
                <a:sym typeface="+mn-ea"/>
              </a:rPr>
              <a:t>→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转发</a:t>
            </a:r>
            <a:r>
              <a:rPr lang="en-US" altLang="zh-CN" sz="2400" dirty="0">
                <a:sym typeface="+mn-ea"/>
              </a:rPr>
              <a:t>”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8770" y="3038475"/>
            <a:ext cx="3427730" cy="3216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目标：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获取本机双 IP 和 MAC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实现路由查找与转发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记录数据报转发日志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09060" y="3037840"/>
            <a:ext cx="4155440" cy="3216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ea typeface="黑体" panose="02010609060101010101" pitchFamily="49" charset="-122"/>
              </a:rPr>
              <a:t>技术路线：</a:t>
            </a:r>
            <a:endParaRPr lang="zh-CN" altLang="en-US" sz="2000" dirty="0">
              <a:ea typeface="黑体" panose="02010609060101010101" pitchFamily="49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ea typeface="黑体" panose="02010609060101010101" pitchFamily="49" charset="-122"/>
              </a:rPr>
              <a:t>利用抓包库打开网卡收发帧</a:t>
            </a:r>
            <a:endParaRPr lang="zh-CN" altLang="en-US" sz="2000" dirty="0">
              <a:ea typeface="黑体" panose="02010609060101010101" pitchFamily="49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ea typeface="黑体" panose="02010609060101010101" pitchFamily="49" charset="-122"/>
              </a:rPr>
              <a:t>设置过滤器：只捕获 ARP / IP</a:t>
            </a:r>
            <a:endParaRPr lang="zh-CN" altLang="en-US" sz="2000" dirty="0">
              <a:ea typeface="黑体" panose="02010609060101010101" pitchFamily="49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ea typeface="黑体" panose="02010609060101010101" pitchFamily="49" charset="-122"/>
              </a:rPr>
              <a:t>路由表 + ARP 表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联合决定转发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34680" y="3038475"/>
            <a:ext cx="3787775" cy="3216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核心机制：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最长前缀匹配选路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ARP 解析下一跳 MAC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无 MAC 时缓存等待 ARP，超时丢弃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模块一：网卡打开与本机信息获取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网卡枚举与显示</a:t>
            </a:r>
            <a:r>
              <a:rPr lang="en-US" altLang="zh-CN" sz="2000" dirty="0"/>
              <a:t> IP </a:t>
            </a:r>
            <a:r>
              <a:rPr lang="zh-CN" altLang="en-US" sz="2000" dirty="0"/>
              <a:t>信息（关键代码）</a:t>
            </a:r>
            <a:r>
              <a:rPr lang="en-US" altLang="zh-CN" sz="2000" dirty="0"/>
              <a:t> </a:t>
            </a:r>
            <a:r>
              <a:rPr lang="en-US" altLang="zh-CN" sz="1800" b="0" dirty="0"/>
              <a:t>                            </a:t>
            </a:r>
            <a:endParaRPr lang="en-US" altLang="zh-CN" sz="1800" b="0" dirty="0"/>
          </a:p>
          <a:p>
            <a:pPr marL="0" lvl="0" indent="0">
              <a:buNone/>
            </a:pPr>
            <a:endParaRPr lang="en-US" altLang="zh-CN" sz="1800" b="0" dirty="0"/>
          </a:p>
          <a:p>
            <a:pPr marL="0" lvl="0" indent="0">
              <a:buNone/>
            </a:pPr>
            <a:endParaRPr lang="en-US" altLang="zh-CN" sz="1800" b="0" dirty="0"/>
          </a:p>
          <a:p>
            <a:pPr marL="0" lvl="0" indent="0">
              <a:buNone/>
            </a:pPr>
            <a:endParaRPr lang="en-US" altLang="zh-CN" sz="1800" b="0" dirty="0"/>
          </a:p>
          <a:p>
            <a:pPr marL="0" lvl="0" indent="0">
              <a:buNone/>
            </a:pPr>
            <a:r>
              <a:rPr lang="en-US" altLang="zh-CN" sz="1800" b="0" dirty="0"/>
              <a:t>                                                                                                </a:t>
            </a:r>
            <a:endParaRPr lang="en-US" altLang="zh-CN" sz="1800" b="0" dirty="0"/>
          </a:p>
          <a:p>
            <a:pPr marL="0" lvl="0" indent="0">
              <a:buNone/>
            </a:pPr>
            <a:r>
              <a:rPr lang="en-US" altLang="zh-CN" sz="1800" b="0" dirty="0"/>
              <a:t>                                                                                                               </a:t>
            </a:r>
            <a:endParaRPr lang="zh-CN" altLang="en-US" sz="1800" b="0" dirty="0"/>
          </a:p>
          <a:p>
            <a:pPr marL="0" lvl="0" indent="0">
              <a:buNone/>
            </a:pPr>
            <a:r>
              <a:rPr lang="en-US" altLang="zh-CN" sz="1800" b="0" dirty="0"/>
              <a:t>      </a:t>
            </a:r>
            <a:endParaRPr lang="en-US" altLang="zh-CN" sz="1800" b="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335" y="1475740"/>
            <a:ext cx="4940000" cy="468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59145" y="811530"/>
            <a:ext cx="6332855" cy="1989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功能说明：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◎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使用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pcap_findalldevs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枚举所有网卡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◎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打印每块网卡的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名称、描述、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IPv4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地址和掩码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关键步骤：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步骤一：初始化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WinSock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步骤二：调用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pcap_findalldevs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获取网卡链表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步骤三：遍历链表，输出每个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IPv4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地址和子网掩码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3354705"/>
            <a:ext cx="4248150" cy="27432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59145" y="2950845"/>
            <a:ext cx="4966970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en-US" altLang="zh-CN" sz="1600" dirty="0">
                <a:ea typeface="黑体" panose="02010609060101010101" pitchFamily="49" charset="-122"/>
                <a:sym typeface="+mn-ea"/>
              </a:rPr>
              <a:t>程序实际运行截图</a:t>
            </a:r>
            <a:r>
              <a:rPr lang="en-US" altLang="zh-CN" dirty="0">
                <a:ea typeface="黑体" panose="02010609060101010101" pitchFamily="49" charset="-122"/>
                <a:sym typeface="+mn-ea"/>
              </a:rPr>
              <a:t>：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6155690"/>
            <a:ext cx="5653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图一</a:t>
            </a:r>
            <a:r>
              <a: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程序枚举网卡并显示各网卡</a:t>
            </a:r>
            <a:r>
              <a: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IP/MASK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，等待用户选择</a:t>
            </a:r>
            <a:endParaRPr lang="zh-CN" altLang="en-US" sz="12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140" y="3342005"/>
            <a:ext cx="4248150" cy="2755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" y="1475740"/>
            <a:ext cx="5605167" cy="4680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模块一：网卡打开与本机信息获取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选择网卡并保存本机双</a:t>
            </a:r>
            <a:r>
              <a:rPr lang="en-US" altLang="zh-CN" sz="2000" dirty="0"/>
              <a:t> IP</a:t>
            </a:r>
            <a:r>
              <a:rPr lang="zh-CN" altLang="en-US" sz="2000" dirty="0"/>
              <a:t>（关键代码）</a:t>
            </a:r>
            <a:r>
              <a:rPr lang="en-US" altLang="zh-CN" sz="2000" dirty="0"/>
              <a:t> </a:t>
            </a:r>
            <a:r>
              <a:rPr lang="en-US" altLang="zh-CN" sz="1800" b="0" dirty="0"/>
              <a:t>                            </a:t>
            </a:r>
            <a:endParaRPr lang="en-US" altLang="zh-CN" sz="1800" b="0" dirty="0"/>
          </a:p>
          <a:p>
            <a:pPr marL="0" lvl="0" indent="0">
              <a:buNone/>
            </a:pPr>
            <a:endParaRPr lang="en-US" altLang="zh-CN" sz="1800" b="0" dirty="0"/>
          </a:p>
          <a:p>
            <a:pPr marL="0" lvl="0" indent="0">
              <a:buNone/>
            </a:pPr>
            <a:endParaRPr lang="en-US" altLang="zh-CN" sz="1800" b="0" dirty="0"/>
          </a:p>
          <a:p>
            <a:pPr marL="0" lvl="0" indent="0">
              <a:buNone/>
            </a:pPr>
            <a:endParaRPr lang="en-US" altLang="zh-CN" sz="1800" b="0" dirty="0"/>
          </a:p>
          <a:p>
            <a:pPr marL="0" lvl="0" indent="0">
              <a:buNone/>
            </a:pPr>
            <a:r>
              <a:rPr lang="en-US" altLang="zh-CN" sz="1800" b="0" dirty="0"/>
              <a:t>                                                                                                </a:t>
            </a:r>
            <a:endParaRPr lang="en-US" altLang="zh-CN" sz="1800" b="0" dirty="0"/>
          </a:p>
          <a:p>
            <a:pPr marL="0" lvl="0" indent="0">
              <a:buNone/>
            </a:pPr>
            <a:r>
              <a:rPr lang="en-US" altLang="zh-CN" sz="1800" b="0" dirty="0"/>
              <a:t>                                                                                                               </a:t>
            </a:r>
            <a:endParaRPr lang="zh-CN" altLang="en-US" sz="1800" b="0" dirty="0"/>
          </a:p>
          <a:p>
            <a:pPr marL="0" lvl="0" indent="0">
              <a:buNone/>
            </a:pPr>
            <a:r>
              <a:rPr lang="en-US" altLang="zh-CN" sz="1800" b="0" dirty="0"/>
              <a:t>      </a:t>
            </a:r>
            <a:endParaRPr lang="en-US" altLang="zh-CN" sz="1800" b="0" dirty="0"/>
          </a:p>
        </p:txBody>
      </p:sp>
      <p:sp>
        <p:nvSpPr>
          <p:cNvPr id="12" name="文本框 11"/>
          <p:cNvSpPr txBox="1"/>
          <p:nvPr/>
        </p:nvSpPr>
        <p:spPr>
          <a:xfrm>
            <a:off x="5906135" y="6155690"/>
            <a:ext cx="62166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图二</a:t>
            </a:r>
            <a:r>
              <a: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程序显示选中网卡的</a:t>
            </a:r>
            <a:r>
              <a: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Local IP1 / Local IP2 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和</a:t>
            </a:r>
            <a:r>
              <a: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MASK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，为后续路由表初始化做准备</a:t>
            </a:r>
            <a:endParaRPr lang="zh-CN" altLang="en-US" sz="12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63715" y="3500755"/>
            <a:ext cx="2475230" cy="59880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97600" y="811530"/>
            <a:ext cx="5994400" cy="1989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功能说明：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◎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使用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pcap_findalldevs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枚举所有网卡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◎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打印每块网卡的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名称、描述、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IPv4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地址和掩码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关键步骤：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◎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初始化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WinSock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◎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调用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pcap_findalldevs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获取网卡链表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◎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遍历链表，输出每个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IPv4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地址和子网掩码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24575" y="2950845"/>
            <a:ext cx="4701540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en-US" altLang="zh-CN" sz="1600" dirty="0">
                <a:ea typeface="黑体" panose="02010609060101010101" pitchFamily="49" charset="-122"/>
                <a:sym typeface="+mn-ea"/>
              </a:rPr>
              <a:t>程序实际运行截图</a:t>
            </a:r>
            <a:r>
              <a:rPr lang="en-US" altLang="zh-CN" dirty="0">
                <a:ea typeface="黑体" panose="02010609060101010101" pitchFamily="49" charset="-122"/>
                <a:sym typeface="+mn-ea"/>
              </a:rPr>
              <a:t>：</a:t>
            </a:r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140" y="3342005"/>
            <a:ext cx="4248150" cy="2755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" y="1475740"/>
            <a:ext cx="5605167" cy="4680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模块一：网卡打开与本机信息获取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伪造</a:t>
            </a:r>
            <a:r>
              <a:rPr lang="en-US" altLang="zh-CN" sz="2000" dirty="0"/>
              <a:t> ARP </a:t>
            </a:r>
            <a:r>
              <a:rPr lang="zh-CN" altLang="en-US" sz="2000" dirty="0"/>
              <a:t>报文获取本机</a:t>
            </a:r>
            <a:r>
              <a:rPr lang="en-US" altLang="zh-CN" sz="2000" dirty="0"/>
              <a:t> MAC</a:t>
            </a:r>
            <a:r>
              <a:rPr lang="zh-CN" altLang="en-US" sz="2000" dirty="0"/>
              <a:t>（关键代码）</a:t>
            </a:r>
            <a:r>
              <a:rPr lang="en-US" altLang="zh-CN" sz="2000" dirty="0"/>
              <a:t> </a:t>
            </a:r>
            <a:r>
              <a:rPr lang="en-US" altLang="zh-CN" sz="1800" b="0" dirty="0"/>
              <a:t>                            </a:t>
            </a:r>
            <a:endParaRPr lang="en-US" altLang="zh-CN" sz="1800" b="0" dirty="0"/>
          </a:p>
          <a:p>
            <a:pPr marL="0" lvl="0" indent="0">
              <a:buNone/>
            </a:pPr>
            <a:endParaRPr lang="en-US" altLang="zh-CN" sz="1800" b="0" dirty="0"/>
          </a:p>
          <a:p>
            <a:pPr marL="0" lvl="0" indent="0">
              <a:buNone/>
            </a:pPr>
            <a:endParaRPr lang="en-US" altLang="zh-CN" sz="1800" b="0" dirty="0"/>
          </a:p>
          <a:p>
            <a:pPr marL="0" lvl="0" indent="0">
              <a:buNone/>
            </a:pPr>
            <a:endParaRPr lang="en-US" altLang="zh-CN" sz="1800" b="0" dirty="0"/>
          </a:p>
          <a:p>
            <a:pPr marL="0" lvl="0" indent="0">
              <a:buNone/>
            </a:pPr>
            <a:r>
              <a:rPr lang="en-US" altLang="zh-CN" sz="1800" b="0" dirty="0"/>
              <a:t>                                                                                                </a:t>
            </a:r>
            <a:endParaRPr lang="en-US" altLang="zh-CN" sz="1800" b="0" dirty="0"/>
          </a:p>
          <a:p>
            <a:pPr marL="0" lvl="0" indent="0">
              <a:buNone/>
            </a:pPr>
            <a:r>
              <a:rPr lang="en-US" altLang="zh-CN" sz="1800" b="0" dirty="0"/>
              <a:t>                                                                                                               </a:t>
            </a:r>
            <a:endParaRPr lang="zh-CN" altLang="en-US" sz="1800" b="0" dirty="0"/>
          </a:p>
          <a:p>
            <a:pPr marL="0" lvl="0" indent="0">
              <a:buNone/>
            </a:pPr>
            <a:r>
              <a:rPr lang="en-US" altLang="zh-CN" sz="1800" b="0" dirty="0"/>
              <a:t>      </a:t>
            </a:r>
            <a:endParaRPr lang="en-US" altLang="zh-CN" sz="1800" b="0" dirty="0"/>
          </a:p>
        </p:txBody>
      </p:sp>
      <p:sp>
        <p:nvSpPr>
          <p:cNvPr id="12" name="文本框 11"/>
          <p:cNvSpPr txBox="1"/>
          <p:nvPr/>
        </p:nvSpPr>
        <p:spPr>
          <a:xfrm>
            <a:off x="6096000" y="6155690"/>
            <a:ext cx="5653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图二</a:t>
            </a:r>
            <a:r>
              <a: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程序枚举网卡并显示各网卡</a:t>
            </a:r>
            <a:r>
              <a:rPr lang="en-US" altLang="zh-CN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IP/MASK</a:t>
            </a:r>
            <a:r>
              <a:rPr lang="zh-CN" altLang="en-US" sz="12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，用户选择作为软件路由器的网卡</a:t>
            </a:r>
            <a:endParaRPr lang="zh-CN" altLang="en-US" sz="12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63715" y="3500755"/>
            <a:ext cx="2475230" cy="59880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00165" y="811530"/>
            <a:ext cx="5791835" cy="1989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83960" y="2950845"/>
            <a:ext cx="4542155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en-US" altLang="zh-CN" sz="1600" dirty="0">
                <a:ea typeface="黑体" panose="02010609060101010101" pitchFamily="49" charset="-122"/>
                <a:sym typeface="+mn-ea"/>
              </a:rPr>
              <a:t>程序实际运行截图</a:t>
            </a:r>
            <a:r>
              <a:rPr lang="en-US" altLang="zh-CN" dirty="0">
                <a:ea typeface="黑体" panose="02010609060101010101" pitchFamily="49" charset="-122"/>
                <a:sym typeface="+mn-ea"/>
              </a:rPr>
              <a:t>：</a:t>
            </a:r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Richer convolutional feature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APP: Classification (Res2Net-v1b)</a:t>
            </a:r>
            <a:endParaRPr lang="en-US" altLang="zh-CN" dirty="0"/>
          </a:p>
          <a:p>
            <a:pPr lvl="1"/>
            <a:r>
              <a:rPr lang="en-US" altLang="zh-CN" dirty="0"/>
              <a:t>Results on </a:t>
            </a:r>
            <a:r>
              <a:rPr lang="en-US" altLang="zh-CN" dirty="0" err="1"/>
              <a:t>mmdetection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88938" y="2496538"/>
          <a:ext cx="11214123" cy="3645835"/>
        </p:xfrm>
        <a:graphic>
          <a:graphicData uri="http://schemas.openxmlformats.org/drawingml/2006/table">
            <a:tbl>
              <a:tblPr/>
              <a:tblGrid>
                <a:gridCol w="3774635"/>
                <a:gridCol w="1793290"/>
                <a:gridCol w="1677879"/>
                <a:gridCol w="1988598"/>
                <a:gridCol w="1979721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Backbone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Params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GFLOPs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top-1 err.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top-5 err.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ResNet-101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>
                          <a:effectLst/>
                        </a:rPr>
                        <a:t>44.6 M</a:t>
                      </a:r>
                      <a:endParaRPr lang="en-GB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7.8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22.63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6.44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8335">
                <a:tc>
                  <a:txBody>
                    <a:bodyPr/>
                    <a:lstStyle/>
                    <a:p>
                      <a:pPr algn="ctr"/>
                      <a:r>
                        <a:rPr lang="en-GB" sz="3200">
                          <a:effectLst/>
                        </a:rPr>
                        <a:t>ResNeXt-101-64x4d</a:t>
                      </a:r>
                      <a:endParaRPr lang="en-GB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83.5M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15.5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20.40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-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HRNetV2p-W48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rgbClr val="C00000"/>
                          </a:solidFill>
                          <a:effectLst/>
                        </a:rPr>
                        <a:t>77.5M</a:t>
                      </a:r>
                      <a:endParaRPr lang="en-GB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16.1</a:t>
                      </a:r>
                      <a:endParaRPr lang="en-US" altLang="zh-CN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20.70</a:t>
                      </a:r>
                      <a:endParaRPr lang="en-US" altLang="zh-CN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5.50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Res2Net-v1b-50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rgbClr val="C00000"/>
                          </a:solidFill>
                          <a:effectLst/>
                        </a:rPr>
                        <a:t>25.23M</a:t>
                      </a:r>
                      <a:endParaRPr lang="en-GB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4.5</a:t>
                      </a:r>
                      <a:endParaRPr lang="en-US" altLang="zh-CN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19.73</a:t>
                      </a:r>
                      <a:endParaRPr lang="en-US" altLang="zh-CN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4.96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Res2Net</a:t>
                      </a:r>
                      <a:r>
                        <a:rPr lang="en-GB" altLang="zh-CN" sz="3200" dirty="0">
                          <a:effectLst/>
                        </a:rPr>
                        <a:t>-v1b</a:t>
                      </a:r>
                      <a:r>
                        <a:rPr lang="en-GB" sz="3200" dirty="0">
                          <a:effectLst/>
                        </a:rPr>
                        <a:t>-101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45.2M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8.3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18.77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4.64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7816816" y="1132274"/>
            <a:ext cx="3932926" cy="1130300"/>
            <a:chOff x="5067300" y="785712"/>
            <a:chExt cx="3932926" cy="11303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 cstate="screen"/>
            <a:srcRect/>
            <a:stretch>
              <a:fillRect/>
            </a:stretch>
          </p:blipFill>
          <p:spPr>
            <a:xfrm>
              <a:off x="5067300" y="785712"/>
              <a:ext cx="3848100" cy="5969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7300" y="1382612"/>
              <a:ext cx="3932926" cy="533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Richer convolutional feature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APP: Classification (Res2Net-v1b)</a:t>
            </a:r>
            <a:endParaRPr lang="en-US" altLang="zh-CN" dirty="0"/>
          </a:p>
          <a:p>
            <a:pPr lvl="1"/>
            <a:r>
              <a:rPr lang="en-US" altLang="zh-CN" dirty="0"/>
              <a:t>Results on </a:t>
            </a:r>
            <a:r>
              <a:rPr lang="en-US" altLang="zh-CN" dirty="0" err="1"/>
              <a:t>mmdetection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88938" y="2496538"/>
          <a:ext cx="11214123" cy="3645835"/>
        </p:xfrm>
        <a:graphic>
          <a:graphicData uri="http://schemas.openxmlformats.org/drawingml/2006/table">
            <a:tbl>
              <a:tblPr/>
              <a:tblGrid>
                <a:gridCol w="3774635"/>
                <a:gridCol w="1793290"/>
                <a:gridCol w="1677879"/>
                <a:gridCol w="1988598"/>
                <a:gridCol w="1979721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Backbone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Params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GFLOPs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top-1 err.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top-5 err.</a:t>
                      </a:r>
                      <a:endParaRPr lang="en-GB" sz="3200" b="1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ResNet-101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>
                          <a:effectLst/>
                        </a:rPr>
                        <a:t>44.6 M</a:t>
                      </a:r>
                      <a:endParaRPr lang="en-GB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7.8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22.63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6.44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8335">
                <a:tc>
                  <a:txBody>
                    <a:bodyPr/>
                    <a:lstStyle/>
                    <a:p>
                      <a:pPr algn="ctr"/>
                      <a:r>
                        <a:rPr lang="en-GB" sz="3200">
                          <a:effectLst/>
                        </a:rPr>
                        <a:t>ResNeXt-101-64x4d</a:t>
                      </a:r>
                      <a:endParaRPr lang="en-GB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83.5M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15.5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20.40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-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HRNetV2p-W48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rgbClr val="C00000"/>
                          </a:solidFill>
                          <a:effectLst/>
                        </a:rPr>
                        <a:t>77.5M</a:t>
                      </a:r>
                      <a:endParaRPr lang="en-GB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16.1</a:t>
                      </a:r>
                      <a:endParaRPr lang="en-US" altLang="zh-CN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20.70</a:t>
                      </a:r>
                      <a:endParaRPr lang="en-US" altLang="zh-CN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5.50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Res2Net-v1b-50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rgbClr val="C00000"/>
                          </a:solidFill>
                          <a:effectLst/>
                        </a:rPr>
                        <a:t>25.23M</a:t>
                      </a:r>
                      <a:endParaRPr lang="en-GB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4.5</a:t>
                      </a:r>
                      <a:endParaRPr lang="en-US" altLang="zh-CN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19.73</a:t>
                      </a:r>
                      <a:endParaRPr lang="en-US" altLang="zh-CN" sz="32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4.96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Res2Net</a:t>
                      </a:r>
                      <a:r>
                        <a:rPr lang="en-GB" altLang="zh-CN" sz="3200" dirty="0">
                          <a:effectLst/>
                        </a:rPr>
                        <a:t>-v1b</a:t>
                      </a:r>
                      <a:r>
                        <a:rPr lang="en-GB" sz="3200" dirty="0">
                          <a:effectLst/>
                        </a:rPr>
                        <a:t>-101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45.2M</a:t>
                      </a:r>
                      <a:endParaRPr lang="en-GB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8.3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18.77</a:t>
                      </a:r>
                      <a:endParaRPr lang="en-US" altLang="zh-CN" sz="320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4.64</a:t>
                      </a:r>
                      <a:endParaRPr lang="en-US" altLang="zh-CN" sz="3200" dirty="0">
                        <a:effectLst/>
                      </a:endParaRP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7816816" y="1132274"/>
            <a:ext cx="3932926" cy="1130300"/>
            <a:chOff x="5067300" y="785712"/>
            <a:chExt cx="3932926" cy="11303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 cstate="screen"/>
            <a:srcRect/>
            <a:stretch>
              <a:fillRect/>
            </a:stretch>
          </p:blipFill>
          <p:spPr>
            <a:xfrm>
              <a:off x="5067300" y="785712"/>
              <a:ext cx="3848100" cy="5969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7300" y="1382612"/>
              <a:ext cx="3932926" cy="533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54C3F4"/>
                </a:solidFill>
              </a:rPr>
              <a:t>D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en-US" altLang="zh-CN" dirty="0">
                <a:solidFill>
                  <a:srgbClr val="00B050"/>
                </a:solidFill>
              </a:rPr>
              <a:t>C</a:t>
            </a:r>
            <a:r>
              <a:rPr lang="en-US" altLang="zh-CN" dirty="0">
                <a:solidFill>
                  <a:srgbClr val="C77FAC"/>
                </a:solidFill>
              </a:rPr>
              <a:t>X</a:t>
            </a:r>
            <a:r>
              <a:rPr lang="zh-CN" altLang="en-US" dirty="0"/>
              <a:t>行动倡议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54C3F4"/>
                </a:solidFill>
              </a:rPr>
              <a:t>D</a:t>
            </a:r>
            <a:r>
              <a:rPr lang="en-US" altLang="zh-CN" dirty="0"/>
              <a:t>emo: </a:t>
            </a:r>
            <a:r>
              <a:rPr lang="zh-CN" altLang="en-US" dirty="0"/>
              <a:t>方便科普和教学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en-US" altLang="zh-CN" dirty="0"/>
              <a:t>pen source: </a:t>
            </a:r>
            <a:r>
              <a:rPr lang="zh-CN" altLang="en-US" dirty="0"/>
              <a:t>方便同行复现与验证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C</a:t>
            </a:r>
            <a:r>
              <a:rPr lang="en-US" altLang="zh-CN" dirty="0"/>
              <a:t>hinese: </a:t>
            </a:r>
            <a:r>
              <a:rPr lang="zh-CN" altLang="en-US" dirty="0"/>
              <a:t>提供中文版论文</a:t>
            </a:r>
            <a:endParaRPr lang="en-US" altLang="zh-CN" dirty="0"/>
          </a:p>
          <a:p>
            <a:r>
              <a:rPr lang="en-US" altLang="zh-CN" dirty="0" err="1"/>
              <a:t>e</a:t>
            </a:r>
            <a:r>
              <a:rPr lang="en-US" altLang="zh-CN" dirty="0" err="1">
                <a:solidFill>
                  <a:srgbClr val="C77FAC"/>
                </a:solidFill>
              </a:rPr>
              <a:t>X</a:t>
            </a:r>
            <a:r>
              <a:rPr lang="en-US" altLang="zh-CN" dirty="0" err="1"/>
              <a:t>plain</a:t>
            </a:r>
            <a:r>
              <a:rPr lang="en-US" altLang="zh-CN" dirty="0"/>
              <a:t>: </a:t>
            </a:r>
            <a:r>
              <a:rPr lang="zh-CN" altLang="en-US" dirty="0"/>
              <a:t>及时回应项目主页上读者提问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58845" y="4727884"/>
            <a:ext cx="7074310" cy="15684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谢谢</a:t>
            </a:r>
            <a:r>
              <a:rPr lang="en-US" altLang="zh-CN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  <a:endParaRPr lang="en-US" altLang="zh-CN" sz="9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2147</Words>
  <Application>WPS 演示</Application>
  <PresentationFormat>宽屏</PresentationFormat>
  <Paragraphs>239</Paragraphs>
  <Slides>9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黑体</vt:lpstr>
      <vt:lpstr>华文楷体</vt:lpstr>
      <vt:lpstr>华文新魏</vt:lpstr>
      <vt:lpstr>Times New Roman</vt:lpstr>
      <vt:lpstr>微软雅黑</vt:lpstr>
      <vt:lpstr>Arial Unicode MS</vt:lpstr>
      <vt:lpstr>Wingdings</vt:lpstr>
      <vt:lpstr>Office Theme</vt:lpstr>
      <vt:lpstr>1_Office Theme</vt:lpstr>
      <vt:lpstr>The title of the presentation is here</vt:lpstr>
      <vt:lpstr>Richer convolutional feature</vt:lpstr>
      <vt:lpstr>Richer convolutional feature</vt:lpstr>
      <vt:lpstr>Richer convolutional feature</vt:lpstr>
      <vt:lpstr>模块一：网卡打开与本机信息获取</vt:lpstr>
      <vt:lpstr>模块一：网卡打开与本机信息获取</vt:lpstr>
      <vt:lpstr>Richer convolutional feature</vt:lpstr>
      <vt:lpstr>Richer convolutional feature</vt:lpstr>
      <vt:lpstr>DOCX行动倡议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MingMing Cheng</dc:creator>
  <cp:lastModifiedBy>言</cp:lastModifiedBy>
  <cp:revision>744</cp:revision>
  <dcterms:created xsi:type="dcterms:W3CDTF">2019-08-31T02:02:00Z</dcterms:created>
  <dcterms:modified xsi:type="dcterms:W3CDTF">2025-12-10T14:13:18Z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2052-12.1.0.24034</vt:lpwstr>
  </property>
  <property fmtid="{D5CDD505-2E9C-101B-9397-08002B2CF9AE}" pid="5" name="ICV">
    <vt:lpwstr>2D48AB94624346C9A7745083CE6F78AB_12</vt:lpwstr>
  </property>
</Properties>
</file>