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9" r:id="rId3"/>
    <p:sldId id="330" r:id="rId5"/>
    <p:sldId id="347" r:id="rId6"/>
    <p:sldId id="348" r:id="rId7"/>
    <p:sldId id="349" r:id="rId8"/>
    <p:sldId id="350" r:id="rId9"/>
    <p:sldId id="351" r:id="rId10"/>
    <p:sldId id="352" r:id="rId11"/>
    <p:sldId id="281" r:id="rId12"/>
    <p:sldId id="34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11" autoAdjust="0"/>
    <p:restoredTop sz="86626" autoAdjust="0"/>
  </p:normalViewPr>
  <p:slideViewPr>
    <p:cSldViewPr snapToGrid="0" showGuides="1">
      <p:cViewPr varScale="1">
        <p:scale>
          <a:sx n="98" d="100"/>
          <a:sy n="98" d="100"/>
        </p:scale>
        <p:origin x="816" y="-12"/>
      </p:cViewPr>
      <p:guideLst>
        <p:guide pos="415"/>
        <p:guide pos="7265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Lab6 - </a:t>
            </a:r>
            <a:r>
              <a:rPr lang="en-US" altLang="zh-CN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PEViewer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2025</a:t>
            </a:r>
            <a:r>
              <a:rPr lang="zh-CN" altLang="en-US" sz="2400" dirty="0"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ea typeface="微软雅黑" panose="020B0503020204020204" pitchFamily="34" charset="-122"/>
              </a:rPr>
              <a:t>月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982512" y="363840"/>
          <a:ext cx="4884284" cy="7011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Visio" r:id="rId1" imgW="4798060" imgH="6892290" progId="Visio.Drawing.15">
                  <p:embed/>
                </p:oleObj>
              </mc:Choice>
              <mc:Fallback>
                <p:oleObj name="Visio" r:id="rId1" imgW="4798060" imgH="689229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2512" y="363840"/>
                        <a:ext cx="4884284" cy="70111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3073" y="2128014"/>
            <a:ext cx="5791889" cy="259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二进制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文件包括：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部分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文件头、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节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Section Table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）、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节数据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Section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）、调试信息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个部分。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908" y="1478882"/>
            <a:ext cx="5130408" cy="390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部分包含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头（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 Header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）和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存根（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 Stub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）两个主要组成部分。它的存在目的是为了保持向后兼容性，确保在不支持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结构的旧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系统上尝试执行这些文件时，能够给出一个用户友好的提示消息。</a:t>
            </a:r>
            <a:endParaRPr lang="zh-CN" altLang="zh-CN" sz="16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055" y="1375839"/>
            <a:ext cx="6571777" cy="4643742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5546335" y="1789889"/>
            <a:ext cx="520429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546335" y="5755531"/>
            <a:ext cx="419105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058" y="4198379"/>
            <a:ext cx="10874185" cy="185751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97072" y="4887514"/>
            <a:ext cx="1054469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12854" y="1045252"/>
            <a:ext cx="11574346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文件头（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 Header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）是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相关结构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NT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映像头（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IMAGE_NT_HEADERS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）的简称，定义了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文件的整体格式和属性。当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文件在支持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文件结构的操作系统中执行时，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装载器会从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DOS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头的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e_lfanew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字段找到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文件头的起始偏移量，然后根据这个偏移量加上基址，得到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文件头的指针。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文件头包括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Signature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FileHeader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OptionalHeader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三部分。</a:t>
            </a:r>
            <a:endParaRPr lang="zh-CN" altLang="en-US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2854" y="1045252"/>
            <a:ext cx="11574346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映像文件头（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IMAGE_FILE_HEADER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）结构定义了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文件的基本特征，如平台类型、节数量等。</a:t>
            </a:r>
            <a:endParaRPr lang="zh-CN" altLang="en-US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511867" y="2681916"/>
            <a:ext cx="9168266" cy="3138135"/>
            <a:chOff x="1456665" y="3837491"/>
            <a:chExt cx="8825506" cy="273711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56665" y="3837491"/>
              <a:ext cx="8825506" cy="2737118"/>
            </a:xfrm>
            <a:prstGeom prst="rect">
              <a:avLst/>
            </a:prstGeom>
          </p:spPr>
        </p:pic>
        <p:cxnSp>
          <p:nvCxnSpPr>
            <p:cNvPr id="5" name="直接连接符 4"/>
            <p:cNvCxnSpPr/>
            <p:nvPr/>
          </p:nvCxnSpPr>
          <p:spPr>
            <a:xfrm>
              <a:off x="1571394" y="4738427"/>
              <a:ext cx="630039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1571394" y="5069731"/>
              <a:ext cx="630039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1571394" y="6202792"/>
              <a:ext cx="630039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935854" y="633724"/>
          <a:ext cx="5146275" cy="559055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74501"/>
                <a:gridCol w="3971774"/>
              </a:tblGrid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zh-CN" sz="1200" b="1" kern="100" dirty="0">
                          <a:effectLst/>
                        </a:rPr>
                        <a:t>特征值</a:t>
                      </a:r>
                      <a:endParaRPr lang="zh-CN" sz="1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 kern="100" dirty="0">
                          <a:effectLst/>
                        </a:rPr>
                        <a:t>说明</a:t>
                      </a:r>
                      <a:endParaRPr lang="zh-CN" sz="1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未知的机器类型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0x0001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重定位信息已被移除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0x0002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可执行文件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0x0004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行号信息已被移除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0x0008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本地符号信息已被移除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0x0010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内存使用策略为最小化内存使用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0x0020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支持大地址空间的可执行文件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0x0080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字节反转，低字节在前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0x0100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32</a:t>
                      </a:r>
                      <a:r>
                        <a:rPr lang="zh-CN" sz="1200" kern="100">
                          <a:effectLst/>
                        </a:rPr>
                        <a:t>位机器类型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0x0200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调试信息已被移除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0x0400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可移动文件，可从交换文件中运行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0x0800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网络文件，可从交换文件中运行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0x1000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系统文件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0x2000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DLL</a:t>
                      </a:r>
                      <a:r>
                        <a:rPr lang="zh-CN" sz="1200" kern="100" dirty="0">
                          <a:effectLst/>
                        </a:rPr>
                        <a:t>文件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0x4000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该文件应该仅运行在单处理器系统上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0x8000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字节反转，高字节在前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34837" y="1849181"/>
            <a:ext cx="5051564" cy="2792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Characteristics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表示文件的特征标志，包括了一系列位标志，用于描述文件的一些特性，如是否为可执行文件、是否为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文件、是否需要对齐等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0284" y="1763191"/>
            <a:ext cx="5207206" cy="333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可选头（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Optional Header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）包含了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文件的许多关键属性，如程序入口点地址、文件对齐方式、基址、数据目录等。这些属性对于操作系统来说是非常重要的，直接影响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文件的加载和执行过程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7597" y="121383"/>
            <a:ext cx="5849566" cy="6485511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5999770" y="1681768"/>
            <a:ext cx="48076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999770" y="2271912"/>
            <a:ext cx="48076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999770" y="2447011"/>
            <a:ext cx="48076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999770" y="2661019"/>
            <a:ext cx="48076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0831" y="1008534"/>
            <a:ext cx="11578823" cy="535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读一个文件用到的</a:t>
            </a:r>
            <a:r>
              <a:rPr lang="en-US" altLang="zh-CN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Windows API</a:t>
            </a: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函数：</a:t>
            </a: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CreateFile</a:t>
            </a: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SetFilePointer</a:t>
            </a: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ReadFile</a:t>
            </a: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CloseHandle</a:t>
            </a: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2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文件读操作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7103" y="1853896"/>
            <a:ext cx="7777794" cy="4317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21028" y="1108004"/>
            <a:ext cx="716342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+mj-lt"/>
              <a:buAutoNum type="arabicParenR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文件的文件名，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peviewer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程序调用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 API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函数，打开指定的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文件；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buFont typeface="+mj-lt"/>
              <a:buAutoNum type="arabicParenR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从文件的头部开始，读取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IMAGE_DOS_HEADER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结构中的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e_magic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e_lfanew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字段的值；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buFont typeface="+mj-lt"/>
              <a:buAutoNum type="arabicParenR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继续读取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IMAGE_NT_HEADER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结构中的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Signature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字段的值；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buFont typeface="+mj-lt"/>
              <a:buAutoNum type="arabicParenR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继续读取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IMAGE_NT_HEADER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结构中的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IMAGE_FILE_HEADER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结构，从中读取出字段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NumberOfSections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TimeDateStamp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Characteristics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的值；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buFont typeface="+mj-lt"/>
              <a:buAutoNum type="arabicParenR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继续读取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IMAGE_NT_HEADER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结构中的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IMAGE_OPTIONAL_HEADER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结构，从中读取字段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AddressOfEntryPoint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ImageBase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SectionAlignment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FileAlignment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的值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578058" y="1624843"/>
            <a:ext cx="4342591" cy="4407907"/>
            <a:chOff x="0" y="0"/>
            <a:chExt cx="5410554" cy="4594383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1"/>
            <a:srcRect t="72053"/>
            <a:stretch>
              <a:fillRect/>
            </a:stretch>
          </p:blipFill>
          <p:spPr>
            <a:xfrm>
              <a:off x="0" y="3012921"/>
              <a:ext cx="5410554" cy="1581462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1"/>
            <a:srcRect b="45697"/>
            <a:stretch>
              <a:fillRect/>
            </a:stretch>
          </p:blipFill>
          <p:spPr>
            <a:xfrm>
              <a:off x="0" y="0"/>
              <a:ext cx="5410554" cy="307288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15343" y="1218095"/>
            <a:ext cx="10761314" cy="289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peviewer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程序的设计说明和控制流图</a:t>
            </a:r>
            <a:endParaRPr lang="zh-CN" altLang="en-US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peviewer.asm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的源代码和注释</a:t>
            </a:r>
            <a:endParaRPr lang="zh-CN" altLang="en-US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peviewer.exe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运行截图</a:t>
            </a:r>
            <a:endParaRPr lang="zh-CN" altLang="en-US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1456</Words>
  <Application>WPS 演示</Application>
  <PresentationFormat>宽屏</PresentationFormat>
  <Paragraphs>119</Paragraphs>
  <Slides>10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方正姚体</vt:lpstr>
      <vt:lpstr>微软雅黑</vt:lpstr>
      <vt:lpstr>OPPOSans B</vt:lpstr>
      <vt:lpstr>Times New Roman</vt:lpstr>
      <vt:lpstr>等线</vt:lpstr>
      <vt:lpstr>Calibri</vt:lpstr>
      <vt:lpstr>Arial Unicode MS</vt:lpstr>
      <vt:lpstr>Office 主题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言</cp:lastModifiedBy>
  <cp:revision>69</cp:revision>
  <dcterms:created xsi:type="dcterms:W3CDTF">2020-05-18T06:41:00Z</dcterms:created>
  <dcterms:modified xsi:type="dcterms:W3CDTF">2025-11-24T08:17:33Z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F2ED19E6E0EA436FAF258B254652A44B_13</vt:lpwstr>
  </property>
  <property fmtid="{D5CDD505-2E9C-101B-9397-08002B2CF9AE}" pid="3" name="KSOProductBuildVer">
    <vt:lpwstr>2052-12.1.0.23542</vt:lpwstr>
  </property>
</Properties>
</file>