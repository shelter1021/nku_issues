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281" r:id="rId5"/>
    <p:sldId id="362" r:id="rId6"/>
    <p:sldId id="353" r:id="rId7"/>
    <p:sldId id="330" r:id="rId8"/>
    <p:sldId id="354" r:id="rId9"/>
    <p:sldId id="355" r:id="rId10"/>
    <p:sldId id="356" r:id="rId11"/>
    <p:sldId id="357" r:id="rId12"/>
    <p:sldId id="359" r:id="rId13"/>
    <p:sldId id="360" r:id="rId14"/>
    <p:sldId id="348" r:id="rId15"/>
    <p:sldId id="361" r:id="rId16"/>
    <p:sldId id="34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5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816" y="72"/>
      </p:cViewPr>
      <p:guideLst>
        <p:guide pos="445"/>
        <p:guide pos="7265"/>
        <p:guide orient="horz" pos="648"/>
        <p:guide orient="horz" pos="712"/>
        <p:guide orient="horz" pos="3959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Lab6 - ImportExportTable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1028" y="1108004"/>
            <a:ext cx="7163421" cy="388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文件的文件名，调用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函数，打开指定的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文件；</a:t>
            </a:r>
            <a:endParaRPr lang="zh-CN" altLang="en-US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读取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文件的导入表，显示导入表中引入的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文件名和对应的库函数名字；</a:t>
            </a:r>
            <a:endParaRPr lang="zh-CN" altLang="en-US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读入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文件的导出表，显示导出函数的函数名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b="13513"/>
          <a:stretch>
            <a:fillRect/>
          </a:stretch>
        </p:blipFill>
        <p:spPr bwMode="auto">
          <a:xfrm>
            <a:off x="7570531" y="1935804"/>
            <a:ext cx="4511778" cy="25394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597" y="121383"/>
            <a:ext cx="5849566" cy="648551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0284" y="1763191"/>
            <a:ext cx="5207206" cy="333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可选头（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Optional Header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）包含了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文件的许多关键属性，如程序入口点地址、文件对齐方式、基址、数据目录等。这些属性对于操作系统来说是非常重要的，直接影响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文件的加载和执行过程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5" y="894776"/>
            <a:ext cx="11515770" cy="177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文件的可选头中，数据目录位于可选头结构的末尾，包含一个或多个数据目录项（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IMAGE_DATA_DIRECTORY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）。数据目录的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第一个成员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指向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导出表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第二个成员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向导入表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750" y="3062945"/>
          <a:ext cx="9334500" cy="3222046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4613413"/>
                <a:gridCol w="4721087"/>
              </a:tblGrid>
              <a:tr h="512086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数据目录成员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数据块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导出表（</a:t>
                      </a:r>
                      <a:r>
                        <a:rPr lang="en-US" sz="1800" kern="100">
                          <a:effectLst/>
                        </a:rPr>
                        <a:t>Export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IMAGE_DIRECTORY_ENTRY_EXPORT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导入表（</a:t>
                      </a:r>
                      <a:r>
                        <a:rPr lang="en-US" sz="1800" kern="100" dirty="0">
                          <a:effectLst/>
                        </a:rPr>
                        <a:t>Import Table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IMAGE_DIRECTORY_ENTRY_IMPORT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资源表（</a:t>
                      </a:r>
                      <a:r>
                        <a:rPr lang="en-US" sz="1800" kern="100">
                          <a:effectLst/>
                        </a:rPr>
                        <a:t>Resource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IMAGE_DIRECTORY_ENTRY_RESOURCE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重定位表（</a:t>
                      </a:r>
                      <a:r>
                        <a:rPr lang="en-US" sz="1800" kern="100" dirty="0">
                          <a:effectLst/>
                        </a:rPr>
                        <a:t>Base Relocation Table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IMAGE_DIRECTORY_ENTRY_BASERELOC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调试表（</a:t>
                      </a:r>
                      <a:r>
                        <a:rPr lang="en-US" sz="1800" kern="100">
                          <a:effectLst/>
                        </a:rPr>
                        <a:t>Debug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IMAGE_DIRECTORY_ENTRY_DEBUG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7580" y="1924464"/>
            <a:ext cx="11515770" cy="259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导入表（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Table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）用于存储程序运行时所需的外部函数或变量的引用信息。当一个程序需要调用另一个模块（通常是一个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文件）中的函数或访问其全局变量时，它会使用导入表来跟踪这些外部符号，并在运行时解析这些引用。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5" y="1119394"/>
            <a:ext cx="1151577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导入表是由一个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IMAGE_IMPORT_DESCRIPTOR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）数组开始的，每一个被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文件隐式链接的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文件都有一个相应的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。在可选头中，并没有特别指定一个字段来指出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数组的条目数，不过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数组通常都以“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NULL”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单元结尾，故可以通过这个空单元来确定是否已经读取到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数组的尾部。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6" y="2950290"/>
            <a:ext cx="12034867" cy="2963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4" y="943778"/>
            <a:ext cx="1151577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OriginalFirstThunk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：包含指向导入名称表（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Name Table, 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，该表中存储了被导入模块中每个导入函数的标识信息。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结构的数组，数组中每个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结构都指向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IMAGE_IMPORT_BY_NAME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数组也是以一个空单元作为结束标志。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6" y="2950290"/>
            <a:ext cx="12034867" cy="2963932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1043909" y="3817472"/>
            <a:ext cx="711611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4" y="943778"/>
            <a:ext cx="1151577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FirstThunk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：包含指向导入地址表（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Address Table, 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存储了被导入模块中每个导入函数的地址。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5" y="2335506"/>
            <a:ext cx="12034867" cy="2963932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1073092" y="4780510"/>
            <a:ext cx="711611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4" y="943778"/>
            <a:ext cx="1151577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OriginalFirstThunk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FirstThunk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两个字段很相似，它们分别指向两个本质上相同的数组，描述了导入模块的导入名称表（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）和 导入地址表（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 的位置。前者用于获取导入函数的名称，后者用于获取导入函数的地址。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9816" y="2519834"/>
          <a:ext cx="11792365" cy="327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1" imgW="7718425" imgH="2162810" progId="Visio.Drawing.15">
                  <p:embed/>
                </p:oleObj>
              </mc:Choice>
              <mc:Fallback>
                <p:oleObj name="Visio" r:id="rId1" imgW="7718425" imgH="2162810" progId="Visio.Drawing.15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16" y="2519834"/>
                        <a:ext cx="11792365" cy="32780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3" y="1082446"/>
            <a:ext cx="1151577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数组中都包含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结构类型的元素，每个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元素对应于一个从其他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文件中导入的函数。两个数组的结束都是由一个空单元来表示。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460" y="2243961"/>
            <a:ext cx="10755348" cy="29001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8844" y="5456365"/>
            <a:ext cx="75365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Union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：允许在相同的内存位置存储不同类型数据的数据结构。</a:t>
            </a:r>
            <a:endParaRPr lang="zh-CN" altLang="en-US" sz="20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8114" y="927031"/>
            <a:ext cx="1151577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结构的最高位为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时，表示函数是以序号的方式导入，此时第一个字段的低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位被看作是一个函数序号。当这个字段的最高位为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时，表示函数以字符串类型的函数名方式导入，此时这个字段的值是一个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，指向一个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IMAGE_IMPORT_BY_NAME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21" y="4951137"/>
            <a:ext cx="11160157" cy="1648833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1208494" y="6094821"/>
            <a:ext cx="785768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681" y="2429759"/>
            <a:ext cx="9350636" cy="25213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导出表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2853" y="1045252"/>
            <a:ext cx="10280567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导出表（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Export Table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）用于记录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文件所导出的函数和数据，使得其他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文件或者可执行文件够访问和调用这些导出的函数和数据。在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文件的可选头中，数据目录的第一个成员就是导出表。导出表指向一个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IMAGE_EXPORT_DESCRIPTOR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IED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）结构。</a:t>
            </a:r>
            <a:endParaRPr lang="zh-CN" altLang="en-US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54" y="2331502"/>
            <a:ext cx="9236466" cy="4058447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1734148" y="5733821"/>
            <a:ext cx="743797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导出表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2975" y="919081"/>
            <a:ext cx="10280567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导出表（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Export Table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）用于记录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文件所导出的函数和数据，使得其他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文件或者可执行文件够访问和调用这些导出的函数和数据。在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文件的可选头中，数据目录的第一个成员就是导出表。导出表指向一个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IMAGE_EXPORT_DESCRIPTOR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IED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）结构。</a:t>
            </a:r>
            <a:endParaRPr lang="zh-CN" altLang="en-US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692611" y="1750978"/>
            <a:ext cx="200504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480930" y="2399306"/>
            <a:ext cx="18463102" cy="4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80930" y="2399307"/>
          <a:ext cx="8052192" cy="4055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5800725" imgH="2929890" progId="Visio.Drawing.15">
                  <p:embed/>
                </p:oleObj>
              </mc:Choice>
              <mc:Fallback>
                <p:oleObj name="Visio" r:id="rId1" imgW="5800725" imgH="292989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930" y="2399307"/>
                        <a:ext cx="8052192" cy="4055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15343" y="1218095"/>
            <a:ext cx="10761314" cy="486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描述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文件的导入表的作用和数据结构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描述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文件的导出表的作用和数据结构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程序的汇编语言源代码和注释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程序测试时，输出结果的截图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讨论导入表的安全问题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1921</Words>
  <Application>WPS 演示</Application>
  <PresentationFormat>宽屏</PresentationFormat>
  <Paragraphs>93</Paragraphs>
  <Slides>14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等线</vt:lpstr>
      <vt:lpstr>Calibri</vt:lpstr>
      <vt:lpstr>Arial Unicode MS</vt:lpstr>
      <vt:lpstr>Office 主题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言</cp:lastModifiedBy>
  <cp:revision>77</cp:revision>
  <dcterms:created xsi:type="dcterms:W3CDTF">2020-05-18T06:41:00Z</dcterms:created>
  <dcterms:modified xsi:type="dcterms:W3CDTF">2025-12-05T01:00:17Z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C65EC0B58C7F4992BE15B5B44E6059F2_13</vt:lpwstr>
  </property>
  <property fmtid="{D5CDD505-2E9C-101B-9397-08002B2CF9AE}" pid="3" name="KSOProductBuildVer">
    <vt:lpwstr>2052-12.1.0.24034</vt:lpwstr>
  </property>
</Properties>
</file>