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9" r:id="rId3"/>
    <p:sldId id="368" r:id="rId5"/>
    <p:sldId id="369" r:id="rId6"/>
    <p:sldId id="372" r:id="rId7"/>
    <p:sldId id="373" r:id="rId8"/>
    <p:sldId id="374" r:id="rId9"/>
    <p:sldId id="376" r:id="rId10"/>
    <p:sldId id="377" r:id="rId11"/>
    <p:sldId id="378" r:id="rId12"/>
    <p:sldId id="34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1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 showGuides="1">
      <p:cViewPr varScale="1">
        <p:scale>
          <a:sx n="98" d="100"/>
          <a:sy n="98" d="100"/>
        </p:scale>
        <p:origin x="114" y="-12"/>
      </p:cViewPr>
      <p:guideLst>
        <p:guide pos="445"/>
        <p:guide pos="7265"/>
        <p:guide orient="horz" pos="648"/>
        <p:guide orient="horz" pos="701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Type</a:t>
            </a:r>
            <a:r>
              <a:rPr lang="zh-CN" altLang="en-US">
                <a:sym typeface="+mn-ea"/>
              </a:rPr>
              <a:t>修改的是数据的类型定义，从底层改变，而</a:t>
            </a:r>
            <a:r>
              <a:rPr lang="en-US" altLang="zh-CN">
                <a:sym typeface="+mn-ea"/>
              </a:rPr>
              <a:t>Display as</a:t>
            </a:r>
            <a:r>
              <a:rPr lang="zh-CN" altLang="en-US">
                <a:sym typeface="+mn-ea"/>
              </a:rPr>
              <a:t>修改的是数据的显示方式，</a:t>
            </a:r>
            <a:r>
              <a:rPr lang="zh-CN" altLang="en-US"/>
              <a:t>方便人工阅读和验证。如果你确信这个数据在程序中就应该是一个浮点数，那么就可以使用</a:t>
            </a:r>
            <a:r>
              <a:rPr lang="en-US" altLang="zh-CN"/>
              <a:t>Type</a:t>
            </a:r>
            <a:r>
              <a:rPr lang="zh-CN" altLang="en-US"/>
              <a:t>修改，后续这个数据都会被</a:t>
            </a:r>
            <a:r>
              <a:rPr lang="en-US" altLang="zh-CN"/>
              <a:t>BinaryNinja</a:t>
            </a:r>
            <a:r>
              <a:rPr lang="zh-CN" altLang="en-US"/>
              <a:t>当做是浮点数。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Type</a:t>
            </a:r>
            <a:r>
              <a:rPr lang="zh-CN" altLang="en-US">
                <a:sym typeface="+mn-ea"/>
              </a:rPr>
              <a:t>修改的是数据的类型定义，从底层改变，而</a:t>
            </a:r>
            <a:r>
              <a:rPr lang="en-US" altLang="zh-CN">
                <a:sym typeface="+mn-ea"/>
              </a:rPr>
              <a:t>Display as</a:t>
            </a:r>
            <a:r>
              <a:rPr lang="zh-CN" altLang="en-US">
                <a:sym typeface="+mn-ea"/>
              </a:rPr>
              <a:t>修改的是数据的显示方式，</a:t>
            </a:r>
            <a:r>
              <a:rPr lang="zh-CN" altLang="en-US"/>
              <a:t>方便人工阅读和验证。如果你确信这个数据在程序中就应该是一个浮点数，那么就可以使用</a:t>
            </a:r>
            <a:r>
              <a:rPr lang="en-US" altLang="zh-CN"/>
              <a:t>Type</a:t>
            </a:r>
            <a:r>
              <a:rPr lang="zh-CN" altLang="en-US"/>
              <a:t>修改，后续这个数据都会被</a:t>
            </a:r>
            <a:r>
              <a:rPr lang="en-US" altLang="zh-CN"/>
              <a:t>BinaryNinja</a:t>
            </a:r>
            <a:r>
              <a:rPr lang="zh-CN" altLang="en-US"/>
              <a:t>当做是浮点数。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Type</a:t>
            </a:r>
            <a:r>
              <a:rPr lang="zh-CN" altLang="en-US">
                <a:sym typeface="+mn-ea"/>
              </a:rPr>
              <a:t>修改的是数据的类型定义，从底层改变，而</a:t>
            </a:r>
            <a:r>
              <a:rPr lang="en-US" altLang="zh-CN">
                <a:sym typeface="+mn-ea"/>
              </a:rPr>
              <a:t>Display as</a:t>
            </a:r>
            <a:r>
              <a:rPr lang="zh-CN" altLang="en-US">
                <a:sym typeface="+mn-ea"/>
              </a:rPr>
              <a:t>修改的是数据的显示方式，</a:t>
            </a:r>
            <a:r>
              <a:rPr lang="zh-CN" altLang="en-US"/>
              <a:t>方便人工阅读和验证。如果你确信这个数据在程序中就应该是一个浮点数，那么就可以使用</a:t>
            </a:r>
            <a:r>
              <a:rPr lang="en-US" altLang="zh-CN"/>
              <a:t>Type</a:t>
            </a:r>
            <a:r>
              <a:rPr lang="zh-CN" altLang="en-US"/>
              <a:t>修改，后续这个数据都会被</a:t>
            </a:r>
            <a:r>
              <a:rPr lang="en-US" altLang="zh-CN"/>
              <a:t>BinaryNinja</a:t>
            </a:r>
            <a:r>
              <a:rPr lang="zh-CN" altLang="en-US"/>
              <a:t>当做是浮点数。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Type</a:t>
            </a:r>
            <a:r>
              <a:rPr lang="zh-CN" altLang="en-US">
                <a:sym typeface="+mn-ea"/>
              </a:rPr>
              <a:t>修改的是数据的类型定义，从底层改变，而</a:t>
            </a:r>
            <a:r>
              <a:rPr lang="en-US" altLang="zh-CN">
                <a:sym typeface="+mn-ea"/>
              </a:rPr>
              <a:t>Display as</a:t>
            </a:r>
            <a:r>
              <a:rPr lang="zh-CN" altLang="en-US">
                <a:sym typeface="+mn-ea"/>
              </a:rPr>
              <a:t>修改的是数据的显示方式，</a:t>
            </a:r>
            <a:r>
              <a:rPr lang="zh-CN" altLang="en-US"/>
              <a:t>方便人工阅读和验证。如果你确信这个数据在程序中就应该是一个浮点数，那么就可以使用</a:t>
            </a:r>
            <a:r>
              <a:rPr lang="en-US" altLang="zh-CN"/>
              <a:t>Type</a:t>
            </a:r>
            <a:r>
              <a:rPr lang="zh-CN" altLang="en-US"/>
              <a:t>修改，后续这个数据都会被</a:t>
            </a:r>
            <a:r>
              <a:rPr lang="en-US" altLang="zh-CN"/>
              <a:t>BinaryNinja</a:t>
            </a:r>
            <a:r>
              <a:rPr lang="zh-CN" altLang="en-US"/>
              <a:t>当做是浮点数。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Type</a:t>
            </a:r>
            <a:r>
              <a:rPr lang="zh-CN" altLang="en-US">
                <a:sym typeface="+mn-ea"/>
              </a:rPr>
              <a:t>修改的是数据的类型定义，从底层改变，而</a:t>
            </a:r>
            <a:r>
              <a:rPr lang="en-US" altLang="zh-CN">
                <a:sym typeface="+mn-ea"/>
              </a:rPr>
              <a:t>Display as</a:t>
            </a:r>
            <a:r>
              <a:rPr lang="zh-CN" altLang="en-US">
                <a:sym typeface="+mn-ea"/>
              </a:rPr>
              <a:t>修改的是数据的显示方式，</a:t>
            </a:r>
            <a:r>
              <a:rPr lang="zh-CN" altLang="en-US"/>
              <a:t>方便人工阅读和验证。如果你确信这个数据在程序中就应该是一个浮点数，那么就可以使用</a:t>
            </a:r>
            <a:r>
              <a:rPr lang="en-US" altLang="zh-CN"/>
              <a:t>Type</a:t>
            </a:r>
            <a:r>
              <a:rPr lang="zh-CN" altLang="en-US"/>
              <a:t>修改，后续这个数据都会被</a:t>
            </a:r>
            <a:r>
              <a:rPr lang="en-US" altLang="zh-CN"/>
              <a:t>BinaryNinja</a:t>
            </a:r>
            <a:r>
              <a:rPr lang="zh-CN" altLang="en-US"/>
              <a:t>当做是浮点数。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Type</a:t>
            </a:r>
            <a:r>
              <a:rPr lang="zh-CN" altLang="en-US">
                <a:sym typeface="+mn-ea"/>
              </a:rPr>
              <a:t>修改的是数据的类型定义，从底层改变，而</a:t>
            </a:r>
            <a:r>
              <a:rPr lang="en-US" altLang="zh-CN">
                <a:sym typeface="+mn-ea"/>
              </a:rPr>
              <a:t>Display as</a:t>
            </a:r>
            <a:r>
              <a:rPr lang="zh-CN" altLang="en-US">
                <a:sym typeface="+mn-ea"/>
              </a:rPr>
              <a:t>修改的是数据的显示方式，</a:t>
            </a:r>
            <a:r>
              <a:rPr lang="zh-CN" altLang="en-US"/>
              <a:t>方便人工阅读和验证。如果你确信这个数据在程序中就应该是一个浮点数，那么就可以使用</a:t>
            </a:r>
            <a:r>
              <a:rPr lang="en-US" altLang="zh-CN"/>
              <a:t>Type</a:t>
            </a:r>
            <a:r>
              <a:rPr lang="zh-CN" altLang="en-US"/>
              <a:t>修改，后续这个数据都会被</a:t>
            </a:r>
            <a:r>
              <a:rPr lang="en-US" altLang="zh-CN"/>
              <a:t>BinaryNinja</a:t>
            </a:r>
            <a:r>
              <a:rPr lang="zh-CN" altLang="en-US"/>
              <a:t>当做是浮点数。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Type</a:t>
            </a:r>
            <a:r>
              <a:rPr lang="zh-CN" altLang="en-US">
                <a:sym typeface="+mn-ea"/>
              </a:rPr>
              <a:t>修改的是数据的类型定义，从底层改变，而</a:t>
            </a:r>
            <a:r>
              <a:rPr lang="en-US" altLang="zh-CN">
                <a:sym typeface="+mn-ea"/>
              </a:rPr>
              <a:t>Display as</a:t>
            </a:r>
            <a:r>
              <a:rPr lang="zh-CN" altLang="en-US">
                <a:sym typeface="+mn-ea"/>
              </a:rPr>
              <a:t>修改的是数据的显示方式，</a:t>
            </a:r>
            <a:r>
              <a:rPr lang="zh-CN" altLang="en-US"/>
              <a:t>方便人工阅读和验证。如果你确信这个数据在程序中就应该是一个浮点数，那么就可以使用</a:t>
            </a:r>
            <a:r>
              <a:rPr lang="en-US" altLang="zh-CN"/>
              <a:t>Type</a:t>
            </a:r>
            <a:r>
              <a:rPr lang="zh-CN" altLang="en-US"/>
              <a:t>修改，后续这个数据都会被</a:t>
            </a:r>
            <a:r>
              <a:rPr lang="en-US" altLang="zh-CN"/>
              <a:t>BinaryNinja</a:t>
            </a:r>
            <a:r>
              <a:rPr lang="zh-CN" altLang="en-US"/>
              <a:t>当做是浮点数。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Lab10 - </a:t>
            </a:r>
            <a:r>
              <a:rPr lang="en-US" altLang="zh-CN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CaptureTheFlag</a:t>
            </a:r>
            <a:endParaRPr lang="zh-CN" altLang="en-US" sz="48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  <a:p>
            <a:pPr algn="ctr">
              <a:lnSpc>
                <a:spcPct val="160000"/>
              </a:lnSpc>
            </a:pPr>
            <a:endParaRPr lang="zh-CN" altLang="en-US" sz="48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2025</a:t>
            </a:r>
            <a:r>
              <a:rPr lang="zh-CN" altLang="en-US" sz="2400" dirty="0"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ea typeface="微软雅黑" panose="020B0503020204020204" pitchFamily="34" charset="-122"/>
              </a:rPr>
              <a:t>月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0939" y="870580"/>
            <a:ext cx="10912003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运行、观察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game.exe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，并对程序进行逆向分析。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Flag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隐藏在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game.exe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的二进制代码中。通过对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game.exe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的修改，使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game.exe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能够顺利的执行，完成对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Flag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的解密。</a:t>
            </a:r>
            <a:endParaRPr lang="zh-CN" altLang="en-US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0005" y="2099945"/>
            <a:ext cx="6880225" cy="44126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实验技巧A: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利用Binary Ninja修改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静态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资源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945" y="1113155"/>
            <a:ext cx="11694160" cy="13836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50000"/>
              </a:lnSpc>
            </a:pPr>
            <a:r>
              <a:rPr lang="zh-CN" sz="2800" b="1">
                <a:latin typeface="Times New Roman" panose="02020603050405020304"/>
                <a:ea typeface="宋体" panose="02010600030101010101" pitchFamily="2" charset="-122"/>
              </a:rPr>
              <a:t>第一步，在反汇编代码的线性试图中找到需要修改的静态资源，右键点击数值选择</a:t>
            </a:r>
            <a:r>
              <a:rPr lang="en-US" sz="2800" b="1">
                <a:latin typeface="Times New Roman" panose="02020603050405020304"/>
                <a:ea typeface="宋体" panose="02010600030101010101" pitchFamily="2" charset="-122"/>
              </a:rPr>
              <a:t>Type</a:t>
            </a:r>
            <a:r>
              <a:rPr lang="zh-CN" sz="2800" b="1">
                <a:latin typeface="Times New Roman" panose="02020603050405020304"/>
                <a:ea typeface="宋体" panose="02010600030101010101" pitchFamily="2" charset="-122"/>
              </a:rPr>
              <a:t>可以转换数据的解析类型。</a:t>
            </a:r>
            <a:endParaRPr lang="zh-CN" altLang="en-US" sz="28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940435"/>
            <a:ext cx="10134600" cy="5819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实验技巧A: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利用Binary Ninja修改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静态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资源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945" y="1113155"/>
            <a:ext cx="11694160" cy="13836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第二步，在十六进制视图中（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</a:rPr>
              <a:t>Hex View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）找到指定区域，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点击右下角解锁按钮后，对资源进行修改。</a:t>
            </a:r>
            <a:endParaRPr lang="zh-CN" altLang="en-US" sz="28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55853977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0595" y="868680"/>
            <a:ext cx="7300595" cy="598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53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实验技巧A: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利用Binary Ninja修改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静态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资源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945" y="1113155"/>
            <a:ext cx="11694160" cy="13836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第三步，点击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</a:rPr>
              <a:t>File-&gt;Save As…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，选择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</a:rPr>
              <a:t>Save file contents only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，点击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</a:rPr>
              <a:t>Save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按钮完成修改。注意留存备份，避免覆盖原始程序。</a:t>
            </a:r>
            <a:endParaRPr lang="zh-CN" altLang="en-US" sz="28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120" y="2569210"/>
            <a:ext cx="5854700" cy="3781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B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利用Binary Ninja修改反汇编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指令</a:t>
            </a:r>
            <a:endParaRPr lang="zh-CN" altLang="en-US" sz="3200" b="1" dirty="0">
              <a:solidFill>
                <a:srgbClr val="FF0000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945" y="1113155"/>
            <a:ext cx="11694160" cy="73723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第一步，在反汇编代码中的线性视图找到需要修改的反汇编指令。</a:t>
            </a:r>
            <a:endParaRPr lang="zh-CN" altLang="en-US" sz="28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7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25" y="2767330"/>
            <a:ext cx="9269095" cy="591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B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利用Binary Ninja修改反汇编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指令</a:t>
            </a:r>
            <a:endParaRPr lang="zh-CN" altLang="en-US" sz="3200" b="1" dirty="0">
              <a:solidFill>
                <a:srgbClr val="FF0000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945" y="1113155"/>
            <a:ext cx="11694160" cy="13836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第二步，右键点击指令，选择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</a:rPr>
              <a:t>Patch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，可以将跳转方式反转，或修改成无条件跳转、不跳转等。</a:t>
            </a:r>
            <a:endParaRPr lang="en-US" altLang="zh-CN" sz="28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430" y="2892425"/>
            <a:ext cx="10391775" cy="2811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B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利用Binary Ninja修改反汇编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指令</a:t>
            </a:r>
            <a:endParaRPr lang="zh-CN" altLang="en-US" sz="3200" b="1" dirty="0">
              <a:solidFill>
                <a:srgbClr val="FF0000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945" y="1113155"/>
            <a:ext cx="11694160" cy="73723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如需修改整条反汇编指令，可以选择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</a:rPr>
              <a:t>Patch-&gt;Edit Current Line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en-US" sz="28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4443"/>
          <a:stretch>
            <a:fillRect/>
          </a:stretch>
        </p:blipFill>
        <p:spPr>
          <a:xfrm>
            <a:off x="761365" y="2945765"/>
            <a:ext cx="10815320" cy="1390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实验技巧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B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利用Binary Ninja修改反汇编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指令</a:t>
            </a:r>
            <a:endParaRPr lang="zh-CN" altLang="en-US" sz="3200" b="1" dirty="0">
              <a:solidFill>
                <a:srgbClr val="FF0000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945" y="1113155"/>
            <a:ext cx="11694160" cy="13836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第三步，点击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File-&gt;Save As…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，选择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Save file contents only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，点击</a:t>
            </a:r>
            <a:r>
              <a:rPr lang="en-US" altLang="zh-CN" sz="28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Save</a:t>
            </a:r>
            <a:r>
              <a:rPr lang="zh-CN" altLang="en-US" sz="28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按钮完成修改。</a:t>
            </a:r>
            <a:endParaRPr lang="en-US" altLang="zh-CN" sz="28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0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645" y="2427605"/>
            <a:ext cx="5680075" cy="36696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Oval 7"/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9" name="直接连接符 8"/>
              <p:cNvCxnSpPr/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/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ea typeface="微软雅黑" panose="020B0503020204020204" pitchFamily="34" charset="-122"/>
                  </a:rPr>
                  <a:t>选中图片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Delete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，点击中间图标即可插入新图片</a:t>
                </a: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21272" y="1047284"/>
            <a:ext cx="11132946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逆向分析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game.exe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二进制代码的主要逻辑结构和重要数据。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game.exe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二进制代码，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在实验报告中说明代码修改的具体过程。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提供最后取得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Flag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的截图。</a:t>
            </a: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indent="0" algn="just">
              <a:lnSpc>
                <a:spcPct val="150000"/>
              </a:lnSpc>
              <a:buFont typeface="+mj-lt"/>
              <a:buNone/>
            </a:pPr>
            <a:endParaRPr lang="zh-CN" altLang="en-US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WPS 演示</Application>
  <PresentationFormat>宽屏</PresentationFormat>
  <Paragraphs>47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方正姚体</vt:lpstr>
      <vt:lpstr>微软雅黑</vt:lpstr>
      <vt:lpstr>OPPOSans B</vt:lpstr>
      <vt:lpstr>Times New Roman</vt:lpstr>
      <vt:lpstr>Calibri</vt:lpstr>
      <vt:lpstr>Arial Unicode MS</vt:lpstr>
      <vt:lpstr>等线</vt:lpstr>
      <vt:lpstr>OPPOSans B</vt:lpstr>
      <vt:lpstr>Segoe Print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邓邓邓邓</cp:lastModifiedBy>
  <cp:revision>79</cp:revision>
  <dcterms:created xsi:type="dcterms:W3CDTF">2020-05-18T06:41:00Z</dcterms:created>
  <dcterms:modified xsi:type="dcterms:W3CDTF">2025-12-25T06:10:03Z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42FB70A8DCFF4AFA97616FBEBEE0F935_12</vt:lpwstr>
  </property>
</Properties>
</file>