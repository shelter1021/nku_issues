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</p:sldMasterIdLst>
  <p:notesMasterIdLst>
    <p:notesMasterId r:id="rId123"/>
  </p:notesMasterIdLst>
  <p:sldIdLst>
    <p:sldId id="332" r:id="rId2"/>
    <p:sldId id="356" r:id="rId3"/>
    <p:sldId id="788" r:id="rId4"/>
    <p:sldId id="790" r:id="rId5"/>
    <p:sldId id="656" r:id="rId6"/>
    <p:sldId id="791" r:id="rId7"/>
    <p:sldId id="792" r:id="rId8"/>
    <p:sldId id="793" r:id="rId9"/>
    <p:sldId id="682" r:id="rId10"/>
    <p:sldId id="683" r:id="rId11"/>
    <p:sldId id="684" r:id="rId12"/>
    <p:sldId id="685" r:id="rId13"/>
    <p:sldId id="686" r:id="rId14"/>
    <p:sldId id="691" r:id="rId15"/>
    <p:sldId id="681" r:id="rId16"/>
    <p:sldId id="777" r:id="rId17"/>
    <p:sldId id="779" r:id="rId18"/>
    <p:sldId id="780" r:id="rId19"/>
    <p:sldId id="778" r:id="rId20"/>
    <p:sldId id="657" r:id="rId21"/>
    <p:sldId id="659" r:id="rId22"/>
    <p:sldId id="660" r:id="rId23"/>
    <p:sldId id="658" r:id="rId24"/>
    <p:sldId id="661" r:id="rId25"/>
    <p:sldId id="662" r:id="rId26"/>
    <p:sldId id="663" r:id="rId27"/>
    <p:sldId id="664" r:id="rId28"/>
    <p:sldId id="665" r:id="rId29"/>
    <p:sldId id="690" r:id="rId30"/>
    <p:sldId id="666" r:id="rId31"/>
    <p:sldId id="667" r:id="rId32"/>
    <p:sldId id="668" r:id="rId33"/>
    <p:sldId id="669" r:id="rId34"/>
    <p:sldId id="670" r:id="rId35"/>
    <p:sldId id="674" r:id="rId36"/>
    <p:sldId id="672" r:id="rId37"/>
    <p:sldId id="673" r:id="rId38"/>
    <p:sldId id="678" r:id="rId39"/>
    <p:sldId id="679" r:id="rId40"/>
    <p:sldId id="671" r:id="rId41"/>
    <p:sldId id="676" r:id="rId42"/>
    <p:sldId id="677" r:id="rId43"/>
    <p:sldId id="680" r:id="rId44"/>
    <p:sldId id="688" r:id="rId45"/>
    <p:sldId id="689" r:id="rId46"/>
    <p:sldId id="692" r:id="rId47"/>
    <p:sldId id="693" r:id="rId48"/>
    <p:sldId id="694" r:id="rId49"/>
    <p:sldId id="695" r:id="rId50"/>
    <p:sldId id="696" r:id="rId51"/>
    <p:sldId id="697" r:id="rId52"/>
    <p:sldId id="698" r:id="rId53"/>
    <p:sldId id="699" r:id="rId54"/>
    <p:sldId id="700" r:id="rId55"/>
    <p:sldId id="701" r:id="rId56"/>
    <p:sldId id="702" r:id="rId57"/>
    <p:sldId id="703" r:id="rId58"/>
    <p:sldId id="704" r:id="rId59"/>
    <p:sldId id="705" r:id="rId60"/>
    <p:sldId id="706" r:id="rId61"/>
    <p:sldId id="707" r:id="rId62"/>
    <p:sldId id="708" r:id="rId63"/>
    <p:sldId id="709" r:id="rId64"/>
    <p:sldId id="710" r:id="rId65"/>
    <p:sldId id="711" r:id="rId66"/>
    <p:sldId id="712" r:id="rId67"/>
    <p:sldId id="713" r:id="rId68"/>
    <p:sldId id="714" r:id="rId69"/>
    <p:sldId id="716" r:id="rId70"/>
    <p:sldId id="721" r:id="rId71"/>
    <p:sldId id="717" r:id="rId72"/>
    <p:sldId id="718" r:id="rId73"/>
    <p:sldId id="719" r:id="rId74"/>
    <p:sldId id="720" r:id="rId75"/>
    <p:sldId id="722" r:id="rId76"/>
    <p:sldId id="723" r:id="rId77"/>
    <p:sldId id="724" r:id="rId78"/>
    <p:sldId id="747" r:id="rId79"/>
    <p:sldId id="725" r:id="rId80"/>
    <p:sldId id="726" r:id="rId81"/>
    <p:sldId id="727" r:id="rId82"/>
    <p:sldId id="728" r:id="rId83"/>
    <p:sldId id="729" r:id="rId84"/>
    <p:sldId id="730" r:id="rId85"/>
    <p:sldId id="731" r:id="rId86"/>
    <p:sldId id="782" r:id="rId87"/>
    <p:sldId id="783" r:id="rId88"/>
    <p:sldId id="746" r:id="rId89"/>
    <p:sldId id="734" r:id="rId90"/>
    <p:sldId id="732" r:id="rId91"/>
    <p:sldId id="733" r:id="rId92"/>
    <p:sldId id="735" r:id="rId93"/>
    <p:sldId id="737" r:id="rId94"/>
    <p:sldId id="739" r:id="rId95"/>
    <p:sldId id="740" r:id="rId96"/>
    <p:sldId id="741" r:id="rId97"/>
    <p:sldId id="742" r:id="rId98"/>
    <p:sldId id="743" r:id="rId99"/>
    <p:sldId id="744" r:id="rId100"/>
    <p:sldId id="745" r:id="rId101"/>
    <p:sldId id="748" r:id="rId102"/>
    <p:sldId id="749" r:id="rId103"/>
    <p:sldId id="750" r:id="rId104"/>
    <p:sldId id="751" r:id="rId105"/>
    <p:sldId id="752" r:id="rId106"/>
    <p:sldId id="763" r:id="rId107"/>
    <p:sldId id="753" r:id="rId108"/>
    <p:sldId id="764" r:id="rId109"/>
    <p:sldId id="765" r:id="rId110"/>
    <p:sldId id="766" r:id="rId111"/>
    <p:sldId id="767" r:id="rId112"/>
    <p:sldId id="768" r:id="rId113"/>
    <p:sldId id="754" r:id="rId114"/>
    <p:sldId id="755" r:id="rId115"/>
    <p:sldId id="757" r:id="rId116"/>
    <p:sldId id="756" r:id="rId117"/>
    <p:sldId id="758" r:id="rId118"/>
    <p:sldId id="760" r:id="rId119"/>
    <p:sldId id="761" r:id="rId120"/>
    <p:sldId id="776" r:id="rId121"/>
    <p:sldId id="786" r:id="rId1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0607" autoAdjust="0"/>
  </p:normalViewPr>
  <p:slideViewPr>
    <p:cSldViewPr snapToGrid="0" snapToObjects="1">
      <p:cViewPr varScale="1">
        <p:scale>
          <a:sx n="77" d="100"/>
          <a:sy n="77" d="100"/>
        </p:scale>
        <p:origin x="267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2025/12/19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7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3015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207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8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C764DE79-268F-4C1A-8933-263129D2AF90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11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20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80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9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50824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2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174939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3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58766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4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798810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2" descr="7">
            <a:extLst>
              <a:ext uri="{FF2B5EF4-FFF2-40B4-BE49-F238E27FC236}">
                <a16:creationId xmlns:a16="http://schemas.microsoft.com/office/drawing/2014/main" id="{45EC0469-6790-451E-B201-C8367CAEA4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>
            <a:extLst>
              <a:ext uri="{FF2B5EF4-FFF2-40B4-BE49-F238E27FC236}">
                <a16:creationId xmlns:a16="http://schemas.microsoft.com/office/drawing/2014/main" id="{31CDA450-A5B8-4330-99E3-F9B6A772B6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>
            <a:extLst>
              <a:ext uri="{FF2B5EF4-FFF2-40B4-BE49-F238E27FC236}">
                <a16:creationId xmlns:a16="http://schemas.microsoft.com/office/drawing/2014/main" id="{B546B0F0-D40D-4BF2-9D82-6DCDE4268A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>
            <a:extLst>
              <a:ext uri="{FF2B5EF4-FFF2-40B4-BE49-F238E27FC236}">
                <a16:creationId xmlns:a16="http://schemas.microsoft.com/office/drawing/2014/main" id="{81FBDE5C-7887-4AA5-A708-FF2C1014AA7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>
            <a:extLst>
              <a:ext uri="{FF2B5EF4-FFF2-40B4-BE49-F238E27FC236}">
                <a16:creationId xmlns:a16="http://schemas.microsoft.com/office/drawing/2014/main" id="{E2DE8516-21A4-469E-B6D9-28E869766E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3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34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tmp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image" Target="../media/image10.tmp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napshots.x64dbg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10" Type="http://schemas.openxmlformats.org/officeDocument/2006/relationships/tags" Target="../tags/tag36.xml"/><Relationship Id="rId19" Type="http://schemas.openxmlformats.org/officeDocument/2006/relationships/image" Target="../media/image10.tmp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" Type="http://schemas.openxmlformats.org/officeDocument/2006/relationships/tags" Target="../tags/tag46.xml"/><Relationship Id="rId21" Type="http://schemas.openxmlformats.org/officeDocument/2006/relationships/image" Target="../media/image10.tmp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slideLayout" Target="../slideLayouts/slideLayout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19" Type="http://schemas.openxmlformats.org/officeDocument/2006/relationships/image" Target="../media/image10.tmp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19" Type="http://schemas.openxmlformats.org/officeDocument/2006/relationships/image" Target="../media/image10.tmp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tags" Target="../tags/tag109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17" Type="http://schemas.openxmlformats.org/officeDocument/2006/relationships/tags" Target="../tags/tag113.xml"/><Relationship Id="rId2" Type="http://schemas.openxmlformats.org/officeDocument/2006/relationships/tags" Target="../tags/tag98.xml"/><Relationship Id="rId16" Type="http://schemas.openxmlformats.org/officeDocument/2006/relationships/tags" Target="../tags/tag112.xml"/><Relationship Id="rId20" Type="http://schemas.openxmlformats.org/officeDocument/2006/relationships/image" Target="../media/image10.tmp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5" Type="http://schemas.openxmlformats.org/officeDocument/2006/relationships/tags" Target="../tags/tag111.xml"/><Relationship Id="rId10" Type="http://schemas.openxmlformats.org/officeDocument/2006/relationships/tags" Target="../tags/tag106.xml"/><Relationship Id="rId19" Type="http://schemas.openxmlformats.org/officeDocument/2006/relationships/image" Target="../media/image28.png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tags" Target="../tags/tag126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tags" Target="../tags/tag125.xml"/><Relationship Id="rId17" Type="http://schemas.openxmlformats.org/officeDocument/2006/relationships/tags" Target="../tags/tag130.xml"/><Relationship Id="rId2" Type="http://schemas.openxmlformats.org/officeDocument/2006/relationships/tags" Target="../tags/tag115.xml"/><Relationship Id="rId16" Type="http://schemas.openxmlformats.org/officeDocument/2006/relationships/tags" Target="../tags/tag129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5" Type="http://schemas.openxmlformats.org/officeDocument/2006/relationships/tags" Target="../tags/tag128.xml"/><Relationship Id="rId10" Type="http://schemas.openxmlformats.org/officeDocument/2006/relationships/tags" Target="../tags/tag123.xml"/><Relationship Id="rId19" Type="http://schemas.openxmlformats.org/officeDocument/2006/relationships/image" Target="../media/image10.tmp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tags" Target="../tags/tag12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19" Type="http://schemas.openxmlformats.org/officeDocument/2006/relationships/image" Target="../media/image10.tmp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13" Type="http://schemas.openxmlformats.org/officeDocument/2006/relationships/tags" Target="../tags/tag160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12" Type="http://schemas.openxmlformats.org/officeDocument/2006/relationships/tags" Target="../tags/tag159.xml"/><Relationship Id="rId17" Type="http://schemas.openxmlformats.org/officeDocument/2006/relationships/tags" Target="../tags/tag164.xml"/><Relationship Id="rId2" Type="http://schemas.openxmlformats.org/officeDocument/2006/relationships/tags" Target="../tags/tag149.xml"/><Relationship Id="rId16" Type="http://schemas.openxmlformats.org/officeDocument/2006/relationships/tags" Target="../tags/tag163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tags" Target="../tags/tag158.xml"/><Relationship Id="rId5" Type="http://schemas.openxmlformats.org/officeDocument/2006/relationships/tags" Target="../tags/tag152.xml"/><Relationship Id="rId15" Type="http://schemas.openxmlformats.org/officeDocument/2006/relationships/tags" Target="../tags/tag162.xml"/><Relationship Id="rId10" Type="http://schemas.openxmlformats.org/officeDocument/2006/relationships/tags" Target="../tags/tag157.xml"/><Relationship Id="rId19" Type="http://schemas.openxmlformats.org/officeDocument/2006/relationships/image" Target="../media/image10.tmp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4" Type="http://schemas.openxmlformats.org/officeDocument/2006/relationships/tags" Target="../tags/tag161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10" Type="http://schemas.openxmlformats.org/officeDocument/2006/relationships/tags" Target="../tags/tag174.xml"/><Relationship Id="rId19" Type="http://schemas.openxmlformats.org/officeDocument/2006/relationships/image" Target="../media/image10.tmp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13" Type="http://schemas.openxmlformats.org/officeDocument/2006/relationships/tags" Target="../tags/tag194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tags" Target="../tags/tag193.xml"/><Relationship Id="rId17" Type="http://schemas.openxmlformats.org/officeDocument/2006/relationships/tags" Target="../tags/tag198.xml"/><Relationship Id="rId2" Type="http://schemas.openxmlformats.org/officeDocument/2006/relationships/tags" Target="../tags/tag183.xml"/><Relationship Id="rId16" Type="http://schemas.openxmlformats.org/officeDocument/2006/relationships/tags" Target="../tags/tag197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tags" Target="../tags/tag192.xml"/><Relationship Id="rId5" Type="http://schemas.openxmlformats.org/officeDocument/2006/relationships/tags" Target="../tags/tag186.xml"/><Relationship Id="rId15" Type="http://schemas.openxmlformats.org/officeDocument/2006/relationships/tags" Target="../tags/tag196.xml"/><Relationship Id="rId10" Type="http://schemas.openxmlformats.org/officeDocument/2006/relationships/tags" Target="../tags/tag191.xml"/><Relationship Id="rId19" Type="http://schemas.openxmlformats.org/officeDocument/2006/relationships/image" Target="../media/image10.tmp"/><Relationship Id="rId4" Type="http://schemas.openxmlformats.org/officeDocument/2006/relationships/tags" Target="../tags/tag185.xml"/><Relationship Id="rId9" Type="http://schemas.openxmlformats.org/officeDocument/2006/relationships/tags" Target="../tags/tag190.xml"/><Relationship Id="rId14" Type="http://schemas.openxmlformats.org/officeDocument/2006/relationships/tags" Target="../tags/tag19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tags" Target="../tags/tag215.xml"/><Relationship Id="rId2" Type="http://schemas.openxmlformats.org/officeDocument/2006/relationships/tags" Target="../tags/tag200.xml"/><Relationship Id="rId16" Type="http://schemas.openxmlformats.org/officeDocument/2006/relationships/tags" Target="../tags/tag214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tags" Target="../tags/tag213.xml"/><Relationship Id="rId10" Type="http://schemas.openxmlformats.org/officeDocument/2006/relationships/tags" Target="../tags/tag208.xml"/><Relationship Id="rId19" Type="http://schemas.openxmlformats.org/officeDocument/2006/relationships/image" Target="../media/image10.tmp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tags" Target="../tags/tag21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13" Type="http://schemas.openxmlformats.org/officeDocument/2006/relationships/tags" Target="../tags/tag228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tags" Target="../tags/tag227.xml"/><Relationship Id="rId17" Type="http://schemas.openxmlformats.org/officeDocument/2006/relationships/tags" Target="../tags/tag232.xml"/><Relationship Id="rId2" Type="http://schemas.openxmlformats.org/officeDocument/2006/relationships/tags" Target="../tags/tag217.xml"/><Relationship Id="rId16" Type="http://schemas.openxmlformats.org/officeDocument/2006/relationships/tags" Target="../tags/tag231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tags" Target="../tags/tag226.xml"/><Relationship Id="rId5" Type="http://schemas.openxmlformats.org/officeDocument/2006/relationships/tags" Target="../tags/tag220.xml"/><Relationship Id="rId15" Type="http://schemas.openxmlformats.org/officeDocument/2006/relationships/tags" Target="../tags/tag230.xml"/><Relationship Id="rId10" Type="http://schemas.openxmlformats.org/officeDocument/2006/relationships/tags" Target="../tags/tag225.xml"/><Relationship Id="rId19" Type="http://schemas.openxmlformats.org/officeDocument/2006/relationships/image" Target="../media/image10.tmp"/><Relationship Id="rId4" Type="http://schemas.openxmlformats.org/officeDocument/2006/relationships/tags" Target="../tags/tag219.xml"/><Relationship Id="rId9" Type="http://schemas.openxmlformats.org/officeDocument/2006/relationships/tags" Target="../tags/tag224.xml"/><Relationship Id="rId14" Type="http://schemas.openxmlformats.org/officeDocument/2006/relationships/tags" Target="../tags/tag22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13" Type="http://schemas.openxmlformats.org/officeDocument/2006/relationships/tags" Target="../tags/tag245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35.xml"/><Relationship Id="rId7" Type="http://schemas.openxmlformats.org/officeDocument/2006/relationships/tags" Target="../tags/tag239.xml"/><Relationship Id="rId12" Type="http://schemas.openxmlformats.org/officeDocument/2006/relationships/tags" Target="../tags/tag244.xml"/><Relationship Id="rId17" Type="http://schemas.openxmlformats.org/officeDocument/2006/relationships/tags" Target="../tags/tag249.xml"/><Relationship Id="rId2" Type="http://schemas.openxmlformats.org/officeDocument/2006/relationships/tags" Target="../tags/tag234.xml"/><Relationship Id="rId16" Type="http://schemas.openxmlformats.org/officeDocument/2006/relationships/tags" Target="../tags/tag248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tags" Target="../tags/tag243.xml"/><Relationship Id="rId5" Type="http://schemas.openxmlformats.org/officeDocument/2006/relationships/tags" Target="../tags/tag237.xml"/><Relationship Id="rId15" Type="http://schemas.openxmlformats.org/officeDocument/2006/relationships/tags" Target="../tags/tag247.xml"/><Relationship Id="rId10" Type="http://schemas.openxmlformats.org/officeDocument/2006/relationships/tags" Target="../tags/tag242.xml"/><Relationship Id="rId19" Type="http://schemas.openxmlformats.org/officeDocument/2006/relationships/image" Target="../media/image10.tmp"/><Relationship Id="rId4" Type="http://schemas.openxmlformats.org/officeDocument/2006/relationships/tags" Target="../tags/tag236.xml"/><Relationship Id="rId9" Type="http://schemas.openxmlformats.org/officeDocument/2006/relationships/tags" Target="../tags/tag241.xml"/><Relationship Id="rId14" Type="http://schemas.openxmlformats.org/officeDocument/2006/relationships/tags" Target="../tags/tag246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13" Type="http://schemas.openxmlformats.org/officeDocument/2006/relationships/tags" Target="../tags/tag262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12" Type="http://schemas.openxmlformats.org/officeDocument/2006/relationships/tags" Target="../tags/tag261.xml"/><Relationship Id="rId17" Type="http://schemas.openxmlformats.org/officeDocument/2006/relationships/tags" Target="../tags/tag266.xml"/><Relationship Id="rId2" Type="http://schemas.openxmlformats.org/officeDocument/2006/relationships/tags" Target="../tags/tag251.xml"/><Relationship Id="rId16" Type="http://schemas.openxmlformats.org/officeDocument/2006/relationships/tags" Target="../tags/tag265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tags" Target="../tags/tag260.xml"/><Relationship Id="rId5" Type="http://schemas.openxmlformats.org/officeDocument/2006/relationships/tags" Target="../tags/tag254.xml"/><Relationship Id="rId15" Type="http://schemas.openxmlformats.org/officeDocument/2006/relationships/tags" Target="../tags/tag264.xml"/><Relationship Id="rId10" Type="http://schemas.openxmlformats.org/officeDocument/2006/relationships/tags" Target="../tags/tag259.xml"/><Relationship Id="rId19" Type="http://schemas.openxmlformats.org/officeDocument/2006/relationships/image" Target="../media/image10.tmp"/><Relationship Id="rId4" Type="http://schemas.openxmlformats.org/officeDocument/2006/relationships/tags" Target="../tags/tag253.xml"/><Relationship Id="rId9" Type="http://schemas.openxmlformats.org/officeDocument/2006/relationships/tags" Target="../tags/tag258.xml"/><Relationship Id="rId14" Type="http://schemas.openxmlformats.org/officeDocument/2006/relationships/tags" Target="../tags/tag26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tags" Target="../tags/tag274.xml"/><Relationship Id="rId13" Type="http://schemas.openxmlformats.org/officeDocument/2006/relationships/tags" Target="../tags/tag279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69.xml"/><Relationship Id="rId7" Type="http://schemas.openxmlformats.org/officeDocument/2006/relationships/tags" Target="../tags/tag273.xml"/><Relationship Id="rId12" Type="http://schemas.openxmlformats.org/officeDocument/2006/relationships/tags" Target="../tags/tag278.xml"/><Relationship Id="rId17" Type="http://schemas.openxmlformats.org/officeDocument/2006/relationships/tags" Target="../tags/tag283.xml"/><Relationship Id="rId2" Type="http://schemas.openxmlformats.org/officeDocument/2006/relationships/tags" Target="../tags/tag268.xml"/><Relationship Id="rId16" Type="http://schemas.openxmlformats.org/officeDocument/2006/relationships/tags" Target="../tags/tag282.xml"/><Relationship Id="rId1" Type="http://schemas.openxmlformats.org/officeDocument/2006/relationships/tags" Target="../tags/tag267.xml"/><Relationship Id="rId6" Type="http://schemas.openxmlformats.org/officeDocument/2006/relationships/tags" Target="../tags/tag272.xml"/><Relationship Id="rId11" Type="http://schemas.openxmlformats.org/officeDocument/2006/relationships/tags" Target="../tags/tag277.xml"/><Relationship Id="rId5" Type="http://schemas.openxmlformats.org/officeDocument/2006/relationships/tags" Target="../tags/tag271.xml"/><Relationship Id="rId15" Type="http://schemas.openxmlformats.org/officeDocument/2006/relationships/tags" Target="../tags/tag281.xml"/><Relationship Id="rId10" Type="http://schemas.openxmlformats.org/officeDocument/2006/relationships/tags" Target="../tags/tag276.xml"/><Relationship Id="rId19" Type="http://schemas.openxmlformats.org/officeDocument/2006/relationships/image" Target="../media/image10.tmp"/><Relationship Id="rId4" Type="http://schemas.openxmlformats.org/officeDocument/2006/relationships/tags" Target="../tags/tag270.xml"/><Relationship Id="rId9" Type="http://schemas.openxmlformats.org/officeDocument/2006/relationships/tags" Target="../tags/tag275.xml"/><Relationship Id="rId14" Type="http://schemas.openxmlformats.org/officeDocument/2006/relationships/tags" Target="../tags/tag280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tags" Target="../tags/tag291.xml"/><Relationship Id="rId13" Type="http://schemas.openxmlformats.org/officeDocument/2006/relationships/tags" Target="../tags/tag296.xml"/><Relationship Id="rId18" Type="http://schemas.openxmlformats.org/officeDocument/2006/relationships/slideLayout" Target="../slideLayouts/slideLayout5.xml"/><Relationship Id="rId3" Type="http://schemas.openxmlformats.org/officeDocument/2006/relationships/tags" Target="../tags/tag286.xml"/><Relationship Id="rId7" Type="http://schemas.openxmlformats.org/officeDocument/2006/relationships/tags" Target="../tags/tag290.xml"/><Relationship Id="rId12" Type="http://schemas.openxmlformats.org/officeDocument/2006/relationships/tags" Target="../tags/tag295.xml"/><Relationship Id="rId17" Type="http://schemas.openxmlformats.org/officeDocument/2006/relationships/tags" Target="../tags/tag300.xml"/><Relationship Id="rId2" Type="http://schemas.openxmlformats.org/officeDocument/2006/relationships/tags" Target="../tags/tag285.xml"/><Relationship Id="rId16" Type="http://schemas.openxmlformats.org/officeDocument/2006/relationships/tags" Target="../tags/tag299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tags" Target="../tags/tag294.xml"/><Relationship Id="rId5" Type="http://schemas.openxmlformats.org/officeDocument/2006/relationships/tags" Target="../tags/tag288.xml"/><Relationship Id="rId15" Type="http://schemas.openxmlformats.org/officeDocument/2006/relationships/tags" Target="../tags/tag298.xml"/><Relationship Id="rId10" Type="http://schemas.openxmlformats.org/officeDocument/2006/relationships/tags" Target="../tags/tag293.xml"/><Relationship Id="rId19" Type="http://schemas.openxmlformats.org/officeDocument/2006/relationships/image" Target="../media/image10.tmp"/><Relationship Id="rId4" Type="http://schemas.openxmlformats.org/officeDocument/2006/relationships/tags" Target="../tags/tag287.xml"/><Relationship Id="rId9" Type="http://schemas.openxmlformats.org/officeDocument/2006/relationships/tags" Target="../tags/tag292.xml"/><Relationship Id="rId14" Type="http://schemas.openxmlformats.org/officeDocument/2006/relationships/tags" Target="../tags/tag29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12</a:t>
            </a:r>
            <a:r>
              <a:rPr lang="zh-CN" altLang="en-US" sz="3600" b="1" dirty="0">
                <a:solidFill>
                  <a:srgbClr val="7030A0"/>
                </a:solidFill>
              </a:rPr>
              <a:t>章 动态调试分析技术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9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339" y="1668628"/>
            <a:ext cx="10077938" cy="495881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动态逆向分析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加载程序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的界面</a:t>
            </a:r>
            <a:endParaRPr lang="en-US" altLang="zh-CN" dirty="0"/>
          </a:p>
          <a:p>
            <a:r>
              <a:rPr lang="en-US" altLang="zh-CN" dirty="0"/>
              <a:t>Memory Map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难点：重定位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执行指令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难点：执行到返回、执行到用户代码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断点</a:t>
            </a:r>
            <a:r>
              <a:rPr lang="en-US" altLang="zh-CN" dirty="0"/>
              <a:t> Breakpoint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难点：软件断点、硬件断点、内存断点、条件断点、消息断点</a:t>
            </a:r>
          </a:p>
        </p:txBody>
      </p:sp>
    </p:spTree>
    <p:extLst>
      <p:ext uri="{BB962C8B-B14F-4D97-AF65-F5344CB8AC3E}">
        <p14:creationId xmlns:p14="http://schemas.microsoft.com/office/powerpoint/2010/main" val="403257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C93A9B1-A80C-40A4-BEBE-2A2F0EECC4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思考题：逆向分析程序时，如何实时查看程序执行中的指令、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寄存器、内存、栈的信息？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FFD764A-AC09-4C8D-BAAD-F7FF6C5DFFB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10D6BA-334B-44F8-ADE1-C0D45AF4877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4B000870-2DA3-4A99-ADF5-BCECFA5D1C5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10FEDC3A-4699-4FA4-8F9F-B1E1BAEDA32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F0F19E1-4A50-4216-8875-E11ECC3F0A4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04FCF5D2-AAA8-4D4E-A941-AC63B18780CE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C9725C9-43A8-4C6A-8B5C-D76B07610C4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6363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4AA152-D639-2DB1-0CC6-12BF5AA9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538" y="1847715"/>
            <a:ext cx="6163299" cy="494497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AAA5A-42A0-40FC-B8E9-2ED4CFDE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动态调试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AA2F7-B7B1-49F1-B9D1-477DBF98A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26" y="3157719"/>
            <a:ext cx="2259013" cy="80021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反汇编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dirty="0">
                <a:latin typeface="Arial" panose="020B0604020202020204" pitchFamily="34" charset="0"/>
              </a:rPr>
              <a:t>高亮显示的是下一条要执行的指令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98ECA-F5A1-47A9-864C-5FD5FA6E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196" y="3326119"/>
            <a:ext cx="1049759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寄存器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40583-1173-4FC5-AB44-29EC34A0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702" y="5573644"/>
            <a:ext cx="1584325" cy="36988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栈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7FA4A-CDBD-40DF-85C5-C36FC6C8E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1" y="5758866"/>
            <a:ext cx="1582738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内存转储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动态逆向分析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25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1A33E-A812-4BAE-87C2-2B450EF0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静态逆向分析面临的挑战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B683E-A72C-4376-9128-F99245839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无法处理代码混淆与加壳</a:t>
            </a:r>
            <a:endParaRPr lang="en-US" altLang="zh-CN" dirty="0"/>
          </a:p>
          <a:p>
            <a:pPr lvl="1"/>
            <a:r>
              <a:rPr lang="zh-CN" altLang="en-US" dirty="0"/>
              <a:t>加壳保护：二进制文件是 “壳代码”（如 </a:t>
            </a:r>
            <a:r>
              <a:rPr lang="en-US" altLang="zh-CN" dirty="0"/>
              <a:t>UPX</a:t>
            </a:r>
            <a:r>
              <a:rPr lang="zh-CN" altLang="en-US" dirty="0"/>
              <a:t>、</a:t>
            </a:r>
            <a:r>
              <a:rPr lang="en-US" altLang="zh-CN" dirty="0" err="1"/>
              <a:t>VMProtect</a:t>
            </a:r>
            <a:r>
              <a:rPr lang="zh-CN" altLang="en-US" dirty="0"/>
              <a:t>、</a:t>
            </a:r>
            <a:r>
              <a:rPr lang="en-US" altLang="zh-CN" dirty="0" err="1"/>
              <a:t>Themida</a:t>
            </a:r>
            <a:r>
              <a:rPr lang="zh-CN" altLang="en-US" dirty="0"/>
              <a:t>），而非真实业务逻辑。静态分析只能看到壳的解压 </a:t>
            </a:r>
            <a:r>
              <a:rPr lang="en-US" altLang="zh-CN" dirty="0"/>
              <a:t>/ </a:t>
            </a:r>
            <a:r>
              <a:rPr lang="zh-CN" altLang="en-US" dirty="0"/>
              <a:t>解密代码，无法还原被保护的核心功能；</a:t>
            </a:r>
          </a:p>
          <a:p>
            <a:pPr lvl="1"/>
            <a:r>
              <a:rPr lang="zh-CN" altLang="en-US" dirty="0"/>
              <a:t>代码混淆：通过控制流平坦化（</a:t>
            </a:r>
            <a:r>
              <a:rPr lang="en-US" altLang="zh-CN" dirty="0"/>
              <a:t>Control Flow Flattening</a:t>
            </a:r>
            <a:r>
              <a:rPr lang="zh-CN" altLang="en-US" dirty="0"/>
              <a:t>）、虚假分支插入、字符串加密、指令替换等方式，破坏代码的逻辑结构。</a:t>
            </a:r>
          </a:p>
        </p:txBody>
      </p:sp>
    </p:spTree>
    <p:extLst>
      <p:ext uri="{BB962C8B-B14F-4D97-AF65-F5344CB8AC3E}">
        <p14:creationId xmlns:p14="http://schemas.microsoft.com/office/powerpoint/2010/main" val="235366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1A33E-A812-4BAE-87C2-2B450EF0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动态逆向分析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6B683E-A72C-4376-9128-F99245839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动态逆向分析（</a:t>
            </a:r>
            <a:r>
              <a:rPr lang="en-US" altLang="zh-CN" dirty="0"/>
              <a:t>Dynamic Reverse Engineering</a:t>
            </a:r>
            <a:r>
              <a:rPr lang="zh-CN" altLang="en-US" dirty="0"/>
              <a:t>）是在可控环境中运行目标程序（如恶意代码、软件漏洞），通过监控其运行时行为、内存状态、系统交互等方式，还原程序真实逻辑与功能的逆向技术。</a:t>
            </a:r>
            <a:endParaRPr lang="en-US" altLang="zh-CN" dirty="0"/>
          </a:p>
          <a:p>
            <a:pPr lvl="1"/>
            <a:r>
              <a:rPr lang="zh-CN" altLang="en-US" dirty="0"/>
              <a:t>其核心区别于静态分析的 “</a:t>
            </a:r>
            <a:r>
              <a:rPr lang="zh-CN" altLang="en-US" dirty="0">
                <a:solidFill>
                  <a:srgbClr val="FF0000"/>
                </a:solidFill>
              </a:rPr>
              <a:t>不运行程序</a:t>
            </a:r>
            <a:r>
              <a:rPr lang="zh-CN" altLang="en-US" dirty="0"/>
              <a:t>”，而是以 “</a:t>
            </a:r>
            <a:r>
              <a:rPr lang="zh-CN" altLang="en-US" dirty="0">
                <a:solidFill>
                  <a:srgbClr val="FF0000"/>
                </a:solidFill>
              </a:rPr>
              <a:t>执行 </a:t>
            </a:r>
            <a:r>
              <a:rPr lang="en-US" altLang="zh-CN" dirty="0">
                <a:solidFill>
                  <a:srgbClr val="FF0000"/>
                </a:solidFill>
              </a:rPr>
              <a:t>+ </a:t>
            </a:r>
            <a:r>
              <a:rPr lang="zh-CN" altLang="en-US" dirty="0">
                <a:solidFill>
                  <a:srgbClr val="FF0000"/>
                </a:solidFill>
              </a:rPr>
              <a:t>监控</a:t>
            </a:r>
            <a:r>
              <a:rPr lang="zh-CN" altLang="en-US" dirty="0"/>
              <a:t>” 为核心，精准弥补静态分析的缺陷，是恶意代码分析、漏洞挖掘、软件逆向等场景中不可或缺的关键技术。</a:t>
            </a:r>
          </a:p>
        </p:txBody>
      </p:sp>
    </p:spTree>
    <p:extLst>
      <p:ext uri="{BB962C8B-B14F-4D97-AF65-F5344CB8AC3E}">
        <p14:creationId xmlns:p14="http://schemas.microsoft.com/office/powerpoint/2010/main" val="127750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CF170-BBDB-461E-994A-56B735A5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静态和动态逆向分析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4C7B7CA-5800-462B-9D3A-F21350E2E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645388"/>
              </p:ext>
            </p:extLst>
          </p:nvPr>
        </p:nvGraphicFramePr>
        <p:xfrm>
          <a:off x="838200" y="2149634"/>
          <a:ext cx="10515600" cy="2880360"/>
        </p:xfrm>
        <a:graphic>
          <a:graphicData uri="http://schemas.openxmlformats.org/drawingml/2006/table">
            <a:tbl>
              <a:tblPr/>
              <a:tblGrid>
                <a:gridCol w="1718388">
                  <a:extLst>
                    <a:ext uri="{9D8B030D-6E8A-4147-A177-3AD203B41FA5}">
                      <a16:colId xmlns:a16="http://schemas.microsoft.com/office/drawing/2014/main" val="4042179964"/>
                    </a:ext>
                  </a:extLst>
                </a:gridCol>
                <a:gridCol w="3956179">
                  <a:extLst>
                    <a:ext uri="{9D8B030D-6E8A-4147-A177-3AD203B41FA5}">
                      <a16:colId xmlns:a16="http://schemas.microsoft.com/office/drawing/2014/main" val="3856767945"/>
                    </a:ext>
                  </a:extLst>
                </a:gridCol>
                <a:gridCol w="4841033">
                  <a:extLst>
                    <a:ext uri="{9D8B030D-6E8A-4147-A177-3AD203B41FA5}">
                      <a16:colId xmlns:a16="http://schemas.microsoft.com/office/drawing/2014/main" val="3352548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对比维度</a:t>
                      </a:r>
                      <a:r>
                        <a:rPr lang="en-US" altLang="zh-CN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</a:t>
                      </a: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304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1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静态逆向分析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9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动态逆向分析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4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F0C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59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核心方式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F0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1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5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不运行程序，分析二进制 </a:t>
                      </a:r>
                      <a:r>
                        <a:rPr lang="en-US" altLang="zh-CN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汇编代码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F05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5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5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905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运行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程序，</a:t>
                      </a:r>
                      <a:r>
                        <a:rPr lang="zh-CN" alt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监控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 </a:t>
                      </a:r>
                      <a:r>
                        <a:rPr lang="en-US" altLang="zh-CN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行为 </a:t>
                      </a:r>
                      <a:r>
                        <a:rPr lang="en-US" altLang="zh-CN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系统交互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5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1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F0C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00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200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优势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F060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505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5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可深度还原代码结构、无运行风险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505B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5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F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还原真实执行逻辑、捕获运行时数据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1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00C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40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34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缺陷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D063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706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F06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无法处理加壳 </a:t>
                      </a:r>
                      <a:r>
                        <a:rPr lang="en-US" altLang="zh-CN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混淆、依赖运行时环境、控制流断裂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706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F06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6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难以覆盖所有分支、运行时易触发反调试、分析效率较低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4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40D2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00E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375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典型工具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6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6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F06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907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Binary Ninja</a:t>
                      </a:r>
                      <a:r>
                        <a:rPr lang="zh-CN" alt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IDA </a:t>
                      </a:r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Pro、Ghidra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6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B05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6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7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x64dbg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ollydgb</a:t>
                      </a:r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b="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GDB、Frida、Pin</a:t>
                      </a:r>
                      <a:endParaRPr lang="en-US" b="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B05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D04C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00E8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10E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61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 b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适用场景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307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B07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907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7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代码结构梳理、初步扫描、静态特征提取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B076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507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5077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加壳程序脱壳、恶意行为捕获、漏洞验证、运行时数据获取</a:t>
                      </a:r>
                    </a:p>
                  </a:txBody>
                  <a:tcPr marL="85725" marR="85725" marT="57150" marB="57150" anchor="ctr">
                    <a:lnL w="3172" cap="flat" cmpd="sng" algn="ctr">
                      <a:solidFill>
                        <a:srgbClr val="905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2" cap="flat" cmpd="sng" algn="ctr">
                      <a:solidFill>
                        <a:srgbClr val="104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2" cap="flat" cmpd="sng" algn="ctr">
                      <a:solidFill>
                        <a:srgbClr val="10E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2" cap="flat" cmpd="sng" algn="ctr">
                      <a:solidFill>
                        <a:srgbClr val="304F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817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05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AF50C-2B34-471F-B5DC-DBDB3987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动态逆向分析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E1AEAE-2D48-4947-AA42-06AEA099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动态分析技术中，最重要的是调试器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用户模式的调试器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内核模式的调试器</a:t>
            </a:r>
          </a:p>
        </p:txBody>
      </p:sp>
    </p:spTree>
    <p:extLst>
      <p:ext uri="{BB962C8B-B14F-4D97-AF65-F5344CB8AC3E}">
        <p14:creationId xmlns:p14="http://schemas.microsoft.com/office/powerpoint/2010/main" val="381289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F9CBE-86DD-4C79-80E7-B64BBB39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用户模式调试器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6BB84-8827-4B26-A751-367DF1B9A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调试用户模式的应用程序</a:t>
            </a:r>
          </a:p>
          <a:p>
            <a:pPr lvl="1"/>
            <a:r>
              <a:rPr lang="en-US" altLang="zh-CN" dirty="0"/>
              <a:t>CPU </a:t>
            </a:r>
            <a:r>
              <a:rPr lang="en-US" altLang="zh-CN" dirty="0">
                <a:solidFill>
                  <a:srgbClr val="FF0000"/>
                </a:solidFill>
              </a:rPr>
              <a:t>Ring3</a:t>
            </a:r>
            <a:r>
              <a:rPr lang="zh-CN" altLang="en-US" dirty="0"/>
              <a:t>级</a:t>
            </a:r>
          </a:p>
          <a:p>
            <a:pPr lvl="1"/>
            <a:r>
              <a:rPr lang="en-US" altLang="zh-CN" dirty="0"/>
              <a:t>x64dbg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0547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64D7C-5451-4C7C-B572-BBA21D1E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内核模式调试器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8CCB5-30B3-4021-B4D5-D142D6529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调试操作系统内核程序</a:t>
            </a:r>
          </a:p>
          <a:p>
            <a:r>
              <a:rPr lang="en-US" altLang="zh-CN" dirty="0"/>
              <a:t>CPU </a:t>
            </a:r>
            <a:r>
              <a:rPr lang="en-US" altLang="zh-CN" dirty="0">
                <a:solidFill>
                  <a:srgbClr val="FF0000"/>
                </a:solidFill>
              </a:rPr>
              <a:t>Ring0</a:t>
            </a:r>
            <a:r>
              <a:rPr lang="zh-CN" altLang="en-US" dirty="0"/>
              <a:t>级</a:t>
            </a:r>
          </a:p>
          <a:p>
            <a:r>
              <a:rPr lang="en-US" altLang="zh-CN" dirty="0" err="1"/>
              <a:t>WinDbg</a:t>
            </a:r>
            <a:endParaRPr lang="en-US" altLang="zh-CN" dirty="0"/>
          </a:p>
          <a:p>
            <a:r>
              <a:rPr lang="zh-CN" altLang="en-US" dirty="0"/>
              <a:t>需要双系统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98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4BF3EC-89DC-4BAF-8DAA-FF2D37CF8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060" y="1942011"/>
            <a:ext cx="9961880" cy="364961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x64dbg</a:t>
            </a:r>
            <a:r>
              <a:rPr lang="zh-CN" altLang="en-US" dirty="0"/>
              <a:t>是一款具有</a:t>
            </a:r>
            <a:r>
              <a:rPr lang="zh-CN" altLang="en-US" dirty="0">
                <a:solidFill>
                  <a:srgbClr val="FF0000"/>
                </a:solidFill>
              </a:rPr>
              <a:t>可视化</a:t>
            </a:r>
            <a:r>
              <a:rPr lang="zh-CN" altLang="en-US" dirty="0"/>
              <a:t>界面的用户模式调试器</a:t>
            </a:r>
          </a:p>
          <a:p>
            <a:r>
              <a:rPr lang="en-US" altLang="zh-CN" dirty="0"/>
              <a:t>x64dbg</a:t>
            </a:r>
            <a:r>
              <a:rPr lang="zh-CN" altLang="en-US" dirty="0"/>
              <a:t>结合了</a:t>
            </a:r>
            <a:r>
              <a:rPr lang="zh-CN" altLang="en-US" dirty="0">
                <a:solidFill>
                  <a:srgbClr val="FF0000"/>
                </a:solidFill>
              </a:rPr>
              <a:t>静态反汇编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动态调试</a:t>
            </a:r>
          </a:p>
          <a:p>
            <a:r>
              <a:rPr lang="en-US" altLang="zh-CN" dirty="0"/>
              <a:t>x64dbg</a:t>
            </a:r>
            <a:r>
              <a:rPr lang="zh-CN" altLang="en-US" dirty="0"/>
              <a:t>界面</a:t>
            </a:r>
            <a:r>
              <a:rPr lang="zh-CN" altLang="en-US" dirty="0">
                <a:solidFill>
                  <a:srgbClr val="FF0000"/>
                </a:solidFill>
              </a:rPr>
              <a:t>简洁优雅</a:t>
            </a:r>
            <a:r>
              <a:rPr lang="zh-CN" altLang="en-US" dirty="0"/>
              <a:t>，显示的信息丰富而不杂乱</a:t>
            </a:r>
          </a:p>
          <a:p>
            <a:r>
              <a:rPr lang="en-US" altLang="zh-CN" dirty="0"/>
              <a:t>x64dbg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最受欢迎</a:t>
            </a:r>
            <a:r>
              <a:rPr lang="zh-CN" altLang="en-US" dirty="0"/>
              <a:t>的用户模式调适器之一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的外观与使用方法与经典的</a:t>
            </a:r>
            <a:r>
              <a:rPr lang="en-US" altLang="zh-CN" dirty="0" err="1"/>
              <a:t>OllyDbg</a:t>
            </a:r>
            <a:r>
              <a:rPr lang="zh-CN" altLang="en-US" dirty="0"/>
              <a:t>调试器基本一致</a:t>
            </a:r>
            <a:endParaRPr lang="en-US" altLang="zh-CN" dirty="0"/>
          </a:p>
          <a:p>
            <a:pPr lvl="1"/>
            <a:r>
              <a:rPr lang="en-US" altLang="zh-CN" dirty="0" err="1"/>
              <a:t>OllyDbg</a:t>
            </a:r>
            <a:r>
              <a:rPr lang="zh-CN" altLang="en-US" dirty="0"/>
              <a:t>已经停止开发</a:t>
            </a:r>
            <a:endParaRPr lang="en-US" altLang="zh-CN" dirty="0"/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基本功能已经十分稳定，但仍时常有新功能加入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31B1960-2C46-1601-7F27-FC7AF20E2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3569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76B34-2670-49FA-9110-2BC72356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C31CB6-1717-44B5-AD34-800EA6E73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可识别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Windows</a:t>
            </a:r>
            <a:r>
              <a:rPr lang="zh-CN" altLang="en-US" dirty="0"/>
              <a:t>编程中常用的函数</a:t>
            </a:r>
          </a:p>
          <a:p>
            <a:pPr lvl="1"/>
            <a:r>
              <a:rPr lang="zh-CN" altLang="en-US" dirty="0"/>
              <a:t>能将</a:t>
            </a:r>
            <a:r>
              <a:rPr lang="zh-CN" altLang="en-US" dirty="0">
                <a:solidFill>
                  <a:srgbClr val="FF0000"/>
                </a:solidFill>
              </a:rPr>
              <a:t>参数</a:t>
            </a:r>
            <a:r>
              <a:rPr lang="zh-CN" altLang="en-US" dirty="0"/>
              <a:t>注释出来。</a:t>
            </a:r>
          </a:p>
          <a:p>
            <a:pPr lvl="1"/>
            <a:r>
              <a:rPr lang="zh-CN" altLang="en-US" dirty="0"/>
              <a:t>自动分析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  <a:r>
              <a:rPr lang="zh-CN" altLang="en-US" dirty="0"/>
              <a:t>过程、</a:t>
            </a:r>
            <a:r>
              <a:rPr lang="zh-CN" altLang="en-US" dirty="0">
                <a:solidFill>
                  <a:srgbClr val="FF0000"/>
                </a:solidFill>
              </a:rPr>
              <a:t>循环</a:t>
            </a:r>
            <a:r>
              <a:rPr lang="zh-CN" altLang="en-US" dirty="0"/>
              <a:t>语句、代码中的</a:t>
            </a:r>
            <a:r>
              <a:rPr lang="zh-CN" altLang="en-US" dirty="0">
                <a:solidFill>
                  <a:srgbClr val="FF0000"/>
                </a:solidFill>
              </a:rPr>
              <a:t>字符串</a:t>
            </a:r>
          </a:p>
          <a:p>
            <a:pPr lvl="1"/>
            <a:r>
              <a:rPr lang="zh-CN" altLang="en-US" dirty="0"/>
              <a:t>提供开放的</a:t>
            </a:r>
            <a:r>
              <a:rPr lang="zh-CN" altLang="en-US" dirty="0">
                <a:solidFill>
                  <a:srgbClr val="FF0000"/>
                </a:solidFill>
              </a:rPr>
              <a:t>调试接口</a:t>
            </a:r>
          </a:p>
          <a:p>
            <a:pPr lvl="1"/>
            <a:r>
              <a:rPr lang="zh-CN" altLang="en-US" dirty="0"/>
              <a:t>大量的</a:t>
            </a:r>
            <a:r>
              <a:rPr lang="zh-CN" altLang="en-US" dirty="0">
                <a:solidFill>
                  <a:srgbClr val="FF0000"/>
                </a:solidFill>
              </a:rPr>
              <a:t>插件</a:t>
            </a:r>
            <a:r>
              <a:rPr lang="zh-CN" altLang="en-US" dirty="0"/>
              <a:t>可以选择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795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8128050-7857-4520-A001-BFE11363E70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可以调试以下哪种级别的程序？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05BCD4-E5C0-4098-ABA6-2B1E45483B4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755891-895E-457C-A7C2-5F13DE52081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363C60-6561-43C2-8250-9B38B1E766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EBE7D9-5F57-4BD4-8299-3F2B7624AC6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Ring3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EA495C3-C828-4F50-9D21-04AD0DA0F6D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BAA539D-5B78-49F5-BE7F-78C8F9BB040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666DFC5-F493-4BE8-BD10-F3E52F7272F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6E48CE1-9366-4948-B91A-AA820405EAA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7350FFE-0AFD-4176-B8C0-44D30B28D2C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404CF03-E1AD-4B57-AF03-F31CC05CD0A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B5D2341-7601-4A3D-A750-D31A58271B1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A4CB965-315F-4307-A47F-584C89CB7CC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7F4F69EB-FA7B-4C92-802A-3742E5CFD41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1B4A752-895B-4ACB-BAA3-697A40A0DEA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8C23FBE1-83C2-40E0-8EEB-281FC27E712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640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/>
              <a:t>x64dbg</a:t>
            </a:r>
            <a:r>
              <a:rPr lang="zh-CN" altLang="en-US" dirty="0">
                <a:solidFill>
                  <a:schemeClr val="tx1"/>
                </a:solidFill>
              </a:rPr>
              <a:t>的下载和安装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44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A006-7C52-490A-7265-874F447C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下载与安装</a:t>
            </a:r>
            <a:r>
              <a:rPr lang="en-US" altLang="zh-CN" dirty="0"/>
              <a:t>x64dbg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83B1-9564-A503-5C6D-2CAD0FA5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下载地址</a:t>
            </a:r>
            <a:r>
              <a:rPr lang="en-US" altLang="zh-CN" dirty="0">
                <a:hlinkClick r:id="rId2"/>
              </a:rPr>
              <a:t>https://snapshots.x64dbg.com/</a:t>
            </a:r>
            <a:endParaRPr lang="en-US" altLang="zh-CN" dirty="0"/>
          </a:p>
          <a:p>
            <a:pPr lvl="1"/>
            <a:r>
              <a:rPr lang="zh-CN" altLang="en-US" dirty="0"/>
              <a:t>通常下载最新版即可</a:t>
            </a:r>
            <a:endParaRPr lang="en-US" altLang="zh-CN" dirty="0"/>
          </a:p>
          <a:p>
            <a:pPr lvl="1"/>
            <a:r>
              <a:rPr lang="zh-CN" altLang="en-US" dirty="0"/>
              <a:t>亦可根据课程安排统一下载指定版本</a:t>
            </a:r>
            <a:endParaRPr lang="en-US" altLang="zh-CN" dirty="0"/>
          </a:p>
          <a:p>
            <a:r>
              <a:rPr lang="zh-CN" altLang="en-US" dirty="0"/>
              <a:t>下载后得到一个压缩包，将其解压到任意位置</a:t>
            </a:r>
            <a:endParaRPr lang="en-US" altLang="zh-CN" dirty="0"/>
          </a:p>
          <a:p>
            <a:r>
              <a:rPr lang="zh-CN" altLang="en-US" dirty="0"/>
              <a:t>运行</a:t>
            </a:r>
            <a:r>
              <a:rPr lang="en-US" altLang="zh-CN" dirty="0" err="1"/>
              <a:t>snapshot_xxxxxxxxx</a:t>
            </a:r>
            <a:r>
              <a:rPr lang="en-US" altLang="zh-CN" dirty="0"/>
              <a:t>\release</a:t>
            </a:r>
            <a:r>
              <a:rPr lang="zh-CN" altLang="en-US" dirty="0"/>
              <a:t>文件夹内的</a:t>
            </a:r>
            <a:r>
              <a:rPr lang="en-US" altLang="zh-CN" dirty="0"/>
              <a:t>x96dbg.exe</a:t>
            </a:r>
          </a:p>
          <a:p>
            <a:pPr lvl="1"/>
            <a:r>
              <a:rPr lang="zh-CN" altLang="en-US" dirty="0"/>
              <a:t>在弹出的对话框中选择“是”</a:t>
            </a:r>
            <a:endParaRPr lang="en-US" altLang="zh-CN" dirty="0"/>
          </a:p>
          <a:p>
            <a:pPr lvl="1"/>
            <a:r>
              <a:rPr lang="zh-CN" altLang="en-US" dirty="0"/>
              <a:t>该操作将</a:t>
            </a:r>
            <a:r>
              <a:rPr lang="en-US" altLang="zh-CN" dirty="0"/>
              <a:t>x64dbg</a:t>
            </a:r>
            <a:r>
              <a:rPr lang="zh-CN" altLang="en-US" dirty="0"/>
              <a:t>调试器注册为</a:t>
            </a:r>
            <a:r>
              <a:rPr lang="en-US" altLang="zh-CN" dirty="0"/>
              <a:t>shell</a:t>
            </a:r>
            <a:r>
              <a:rPr lang="zh-CN" altLang="en-US" dirty="0"/>
              <a:t>扩展</a:t>
            </a:r>
            <a:endParaRPr lang="en-US" altLang="zh-CN" dirty="0"/>
          </a:p>
          <a:p>
            <a:pPr lvl="1"/>
            <a:r>
              <a:rPr lang="zh-CN" altLang="en-US" dirty="0"/>
              <a:t>这样在文件浏览器中右键单击一个</a:t>
            </a:r>
            <a:r>
              <a:rPr lang="en-US" altLang="zh-CN" dirty="0"/>
              <a:t>.exe</a:t>
            </a:r>
            <a:r>
              <a:rPr lang="zh-CN" altLang="en-US" dirty="0"/>
              <a:t>文件即可开始调试，无需预先打开</a:t>
            </a:r>
            <a:r>
              <a:rPr lang="en-US" altLang="zh-CN" dirty="0"/>
              <a:t>x64dbg</a:t>
            </a:r>
          </a:p>
        </p:txBody>
      </p:sp>
    </p:spTree>
    <p:extLst>
      <p:ext uri="{BB962C8B-B14F-4D97-AF65-F5344CB8AC3E}">
        <p14:creationId xmlns:p14="http://schemas.microsoft.com/office/powerpoint/2010/main" val="2324671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A006-7C52-490A-7265-874F447C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</a:t>
            </a:r>
            <a:r>
              <a:rPr lang="en-US" dirty="0"/>
              <a:t>32dbg</a:t>
            </a:r>
            <a:r>
              <a:rPr lang="zh-CN" altLang="en-US" dirty="0"/>
              <a:t>与</a:t>
            </a:r>
            <a:r>
              <a:rPr lang="en-US" altLang="zh-CN" dirty="0"/>
              <a:t>x64dbg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83B1-9564-A503-5C6D-2CAD0FA5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目前最新的</a:t>
            </a:r>
            <a:r>
              <a:rPr lang="en-US" altLang="zh-CN" dirty="0"/>
              <a:t>Windows</a:t>
            </a:r>
            <a:r>
              <a:rPr lang="zh-CN" altLang="en-US" dirty="0"/>
              <a:t>操作系统一般位</a:t>
            </a:r>
            <a:r>
              <a:rPr lang="en-US" altLang="zh-CN" dirty="0"/>
              <a:t>64</a:t>
            </a:r>
            <a:r>
              <a:rPr lang="zh-CN" altLang="en-US" dirty="0"/>
              <a:t>位系统，既可以运行</a:t>
            </a:r>
            <a:r>
              <a:rPr lang="en-US" altLang="zh-CN" dirty="0"/>
              <a:t>64</a:t>
            </a:r>
            <a:r>
              <a:rPr lang="zh-CN" altLang="en-US" dirty="0"/>
              <a:t>位程序，也可以运行</a:t>
            </a:r>
            <a:r>
              <a:rPr lang="en-US" altLang="zh-CN" dirty="0"/>
              <a:t>32</a:t>
            </a:r>
            <a:r>
              <a:rPr lang="zh-CN" altLang="en-US" dirty="0"/>
              <a:t>位程序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其实包含两个可执行文件</a:t>
            </a:r>
            <a:endParaRPr lang="en-US" altLang="zh-CN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x32dbg.exe</a:t>
            </a:r>
            <a:r>
              <a:rPr lang="zh-CN" altLang="en-US" dirty="0"/>
              <a:t>用于调试</a:t>
            </a:r>
            <a:r>
              <a:rPr lang="en-US" altLang="zh-CN" dirty="0"/>
              <a:t>32</a:t>
            </a:r>
            <a:r>
              <a:rPr lang="zh-CN" altLang="en-US" dirty="0"/>
              <a:t>位程序，它位于</a:t>
            </a:r>
            <a:r>
              <a:rPr lang="en-US" altLang="zh-CN" dirty="0"/>
              <a:t>release\x32</a:t>
            </a:r>
            <a:r>
              <a:rPr lang="zh-CN" altLang="en-US" dirty="0"/>
              <a:t>文件夹</a:t>
            </a:r>
            <a:endParaRPr lang="en-US" altLang="zh-CN" dirty="0"/>
          </a:p>
          <a:p>
            <a:pPr lvl="1"/>
            <a:r>
              <a:rPr lang="en-US" altLang="zh-CN" dirty="0"/>
              <a:t>x</a:t>
            </a:r>
            <a:r>
              <a:rPr lang="en-US" dirty="0"/>
              <a:t>64dbg.exe</a:t>
            </a:r>
            <a:r>
              <a:rPr lang="zh-CN" altLang="en-US" dirty="0"/>
              <a:t>用于调试</a:t>
            </a:r>
            <a:r>
              <a:rPr lang="en-US" altLang="zh-CN" dirty="0"/>
              <a:t>64</a:t>
            </a:r>
            <a:r>
              <a:rPr lang="zh-CN" altLang="en-US" dirty="0"/>
              <a:t>位程序，它位于</a:t>
            </a:r>
            <a:r>
              <a:rPr lang="en-US" altLang="zh-CN" dirty="0"/>
              <a:t>release\x64</a:t>
            </a:r>
            <a:r>
              <a:rPr lang="zh-CN" altLang="en-US" dirty="0"/>
              <a:t>文件夹</a:t>
            </a:r>
            <a:endParaRPr lang="en-US" altLang="zh-CN" dirty="0"/>
          </a:p>
          <a:p>
            <a:r>
              <a:rPr lang="zh-CN" altLang="en-US" dirty="0"/>
              <a:t>本课程主要学习</a:t>
            </a:r>
            <a:r>
              <a:rPr lang="en-US" altLang="zh-CN" dirty="0"/>
              <a:t>32</a:t>
            </a:r>
            <a:r>
              <a:rPr lang="zh-CN" altLang="en-US" dirty="0"/>
              <a:t>位程序，所以用到的是</a:t>
            </a:r>
            <a:r>
              <a:rPr lang="en-US" altLang="zh-CN" dirty="0"/>
              <a:t>x32dbg.exe</a:t>
            </a:r>
          </a:p>
          <a:p>
            <a:pPr lvl="1"/>
            <a:r>
              <a:rPr lang="zh-CN" altLang="en-US" dirty="0"/>
              <a:t>但习惯上一般还是称其为</a:t>
            </a:r>
            <a:r>
              <a:rPr lang="en-US" altLang="zh-CN" dirty="0"/>
              <a:t>x64dbg</a:t>
            </a:r>
          </a:p>
          <a:p>
            <a:r>
              <a:rPr lang="zh-CN" altLang="en-US" dirty="0"/>
              <a:t>在文件管理器内右键单击一个</a:t>
            </a:r>
            <a:r>
              <a:rPr lang="en-US" altLang="zh-CN" dirty="0"/>
              <a:t>.exe</a:t>
            </a:r>
            <a:r>
              <a:rPr lang="zh-CN" altLang="en-US" dirty="0"/>
              <a:t>文件，然后选择“</a:t>
            </a:r>
            <a:r>
              <a:rPr lang="en-US" altLang="zh-CN" dirty="0"/>
              <a:t>Debug with x64dbg</a:t>
            </a:r>
            <a:r>
              <a:rPr lang="zh-CN" altLang="en-US" dirty="0"/>
              <a:t>”，</a:t>
            </a:r>
            <a:r>
              <a:rPr lang="en-US" altLang="zh-CN" dirty="0"/>
              <a:t>x64dbg</a:t>
            </a:r>
            <a:r>
              <a:rPr lang="zh-CN" altLang="en-US" dirty="0"/>
              <a:t>会自动根据该文件是</a:t>
            </a:r>
            <a:r>
              <a:rPr lang="en-US" altLang="zh-CN" dirty="0"/>
              <a:t>32</a:t>
            </a:r>
            <a:r>
              <a:rPr lang="zh-CN" altLang="en-US" dirty="0"/>
              <a:t>位还是</a:t>
            </a:r>
            <a:r>
              <a:rPr lang="en-US" altLang="zh-CN" dirty="0"/>
              <a:t>64</a:t>
            </a:r>
            <a:r>
              <a:rPr lang="zh-CN" altLang="en-US" dirty="0"/>
              <a:t>位选择恰当的</a:t>
            </a:r>
            <a:r>
              <a:rPr lang="en-US" altLang="zh-CN" dirty="0"/>
              <a:t>x32dbg/x64dbg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494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6A006-7C52-490A-7265-874F447C9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8688"/>
            <a:ext cx="10515600" cy="762000"/>
          </a:xfrm>
        </p:spPr>
        <p:txBody>
          <a:bodyPr anchor="ctr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3400"/>
              <a:t>初次配置</a:t>
            </a:r>
            <a:r>
              <a:rPr lang="en-US" altLang="zh-CN" sz="3400"/>
              <a:t>x64dbg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183B1-9564-A503-5C6D-2CAD0FA54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2550" cy="435133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600" dirty="0"/>
              <a:t>打开</a:t>
            </a:r>
            <a:r>
              <a:rPr lang="en-US" altLang="zh-CN" sz="2600" dirty="0"/>
              <a:t>x64dbg</a:t>
            </a:r>
            <a:r>
              <a:rPr lang="zh-CN" altLang="en-US" sz="2600" dirty="0"/>
              <a:t>，在</a:t>
            </a:r>
            <a:r>
              <a:rPr lang="en-US" altLang="zh-CN" sz="2600" dirty="0"/>
              <a:t>Options-Languages</a:t>
            </a:r>
            <a:r>
              <a:rPr lang="zh-CN" altLang="en-US" sz="2600" dirty="0"/>
              <a:t>菜单中将语言设置为中文，并重新打开</a:t>
            </a:r>
            <a:r>
              <a:rPr lang="en-US" altLang="zh-CN" sz="2600" dirty="0"/>
              <a:t>x64dbg</a:t>
            </a:r>
          </a:p>
          <a:p>
            <a:pPr>
              <a:lnSpc>
                <a:spcPct val="140000"/>
              </a:lnSpc>
            </a:pPr>
            <a:r>
              <a:rPr lang="zh-CN" altLang="en-US" sz="2600" dirty="0"/>
              <a:t>菜单</a:t>
            </a:r>
            <a:r>
              <a:rPr lang="en-US" altLang="zh-CN" sz="2600" dirty="0"/>
              <a:t>-</a:t>
            </a:r>
            <a:r>
              <a:rPr lang="zh-CN" altLang="en-US" sz="2600" dirty="0"/>
              <a:t>选项</a:t>
            </a:r>
            <a:r>
              <a:rPr lang="en-US" altLang="zh-CN" sz="2600" dirty="0"/>
              <a:t>-</a:t>
            </a:r>
            <a:r>
              <a:rPr lang="zh-CN" altLang="en-US" sz="2600" dirty="0"/>
              <a:t>选项</a:t>
            </a:r>
            <a:r>
              <a:rPr lang="en-US" altLang="zh-CN" sz="2600" dirty="0"/>
              <a:t>-</a:t>
            </a:r>
            <a:r>
              <a:rPr lang="zh-CN" altLang="en-US" sz="2600" dirty="0"/>
              <a:t>引擎，然后在弹出的对话框中勾选</a:t>
            </a:r>
            <a:r>
              <a:rPr lang="zh-CN" altLang="en-US" sz="2600" dirty="0">
                <a:solidFill>
                  <a:srgbClr val="FF0000"/>
                </a:solidFill>
              </a:rPr>
              <a:t>“禁用</a:t>
            </a:r>
            <a:r>
              <a:rPr lang="en-US" altLang="zh-CN" sz="2600" dirty="0">
                <a:solidFill>
                  <a:srgbClr val="FF0000"/>
                </a:solidFill>
              </a:rPr>
              <a:t>ASLR”</a:t>
            </a:r>
          </a:p>
          <a:p>
            <a:pPr lvl="1">
              <a:lnSpc>
                <a:spcPct val="140000"/>
              </a:lnSpc>
            </a:pPr>
            <a:r>
              <a:rPr lang="zh-CN" altLang="en-US" sz="2600" dirty="0"/>
              <a:t>禁用</a:t>
            </a:r>
            <a:r>
              <a:rPr lang="en-US" altLang="zh-CN" sz="2600" dirty="0"/>
              <a:t>ASLR</a:t>
            </a:r>
            <a:r>
              <a:rPr lang="zh-CN" altLang="en-US" sz="2600" dirty="0"/>
              <a:t>可以保证每次</a:t>
            </a:r>
            <a:r>
              <a:rPr lang="en-US" altLang="zh-CN" sz="2600" dirty="0"/>
              <a:t>EXE</a:t>
            </a:r>
            <a:r>
              <a:rPr lang="zh-CN" altLang="en-US" sz="2600" dirty="0"/>
              <a:t>被加载的地址一致</a:t>
            </a:r>
            <a:endParaRPr lang="en-US" altLang="zh-CN" sz="2600" dirty="0"/>
          </a:p>
        </p:txBody>
      </p:sp>
      <p:pic>
        <p:nvPicPr>
          <p:cNvPr id="2050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B2B4040A-15DF-1058-2773-FF2D4299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49" r="-2" b="7724"/>
          <a:stretch/>
        </p:blipFill>
        <p:spPr bwMode="auto">
          <a:xfrm>
            <a:off x="6191250" y="1825625"/>
            <a:ext cx="5162550" cy="4351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1802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/>
              <a:t>x64dbg</a:t>
            </a:r>
            <a:r>
              <a:rPr lang="zh-CN" altLang="en-US" dirty="0">
                <a:solidFill>
                  <a:schemeClr val="tx1"/>
                </a:solidFill>
              </a:rPr>
              <a:t>加载程序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91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FDAC6-BF42-4123-8286-B0BC175F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r>
              <a:rPr lang="zh-CN" altLang="en-US" dirty="0"/>
              <a:t>加载程序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7819F5-595B-41CD-887F-6A4662381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直接加载</a:t>
            </a:r>
            <a:endParaRPr lang="en-US" altLang="zh-CN" sz="28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Times New Roman" panose="02020603050405020304" pitchFamily="18" charset="0"/>
              </a:rPr>
              <a:t>EXE</a:t>
            </a:r>
            <a:r>
              <a:rPr lang="zh-CN" altLang="en-US" sz="2400" dirty="0">
                <a:cs typeface="Times New Roman" panose="02020603050405020304" pitchFamily="18" charset="0"/>
              </a:rPr>
              <a:t>可执行文件</a:t>
            </a: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400" dirty="0">
                <a:cs typeface="Times New Roman" panose="02020603050405020304" pitchFamily="18" charset="0"/>
              </a:rPr>
              <a:t>DLL</a:t>
            </a:r>
            <a:r>
              <a:rPr lang="zh-CN" altLang="en-US" sz="2400" dirty="0">
                <a:cs typeface="Times New Roman" panose="02020603050405020304" pitchFamily="18" charset="0"/>
              </a:rPr>
              <a:t>动态链接库程序</a:t>
            </a:r>
          </a:p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dirty="0">
                <a:cs typeface="Times New Roman" panose="02020603050405020304" pitchFamily="18" charset="0"/>
              </a:rPr>
              <a:t>如果程序已经在系统上运行，可以通过</a:t>
            </a:r>
            <a:r>
              <a:rPr lang="zh-CN" altLang="en-US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附加进程</a:t>
            </a:r>
            <a:r>
              <a:rPr lang="zh-CN" altLang="en-US" sz="2800" dirty="0">
                <a:cs typeface="Times New Roman" panose="02020603050405020304" pitchFamily="18" charset="0"/>
              </a:rPr>
              <a:t>的方式调试（</a:t>
            </a:r>
            <a:r>
              <a:rPr lang="en-US" altLang="zh-CN" sz="2800" dirty="0">
                <a:cs typeface="Times New Roman" panose="02020603050405020304" pitchFamily="18" charset="0"/>
              </a:rPr>
              <a:t>Attach</a:t>
            </a:r>
            <a:r>
              <a:rPr lang="zh-CN" altLang="en-US" sz="2800" dirty="0"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910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45B9A-924B-4878-AEB5-86ED6C42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直接加载程序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6426668D-0141-4317-8605-90FA9F7D0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6363" y="1825625"/>
            <a:ext cx="57192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0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D8EFC-B67F-44B2-94A9-7EAAB9F1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打开一个可执行文件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8F970-609A-49FA-BE2D-8FD224865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x64dbg</a:t>
            </a:r>
            <a:r>
              <a:rPr lang="zh-CN" altLang="en-US" dirty="0"/>
              <a:t>会在软件</a:t>
            </a:r>
            <a:r>
              <a:rPr lang="en-US" altLang="zh-CN" dirty="0"/>
              <a:t>PE</a:t>
            </a:r>
            <a:r>
              <a:rPr lang="zh-CN" altLang="en-US" dirty="0"/>
              <a:t>头部提供的入口点（</a:t>
            </a:r>
            <a:r>
              <a:rPr lang="en-US" altLang="zh-CN" dirty="0">
                <a:solidFill>
                  <a:srgbClr val="FF0000"/>
                </a:solidFill>
              </a:rPr>
              <a:t>Entry Point</a:t>
            </a:r>
            <a:r>
              <a:rPr lang="zh-CN" altLang="en-US" dirty="0"/>
              <a:t>）处中断。</a:t>
            </a:r>
            <a:endParaRPr lang="en-US" altLang="zh-CN" dirty="0"/>
          </a:p>
          <a:p>
            <a:r>
              <a:rPr lang="zh-CN" altLang="en-US" dirty="0"/>
              <a:t>如果想要调试</a:t>
            </a:r>
            <a:r>
              <a:rPr lang="en-US" altLang="zh-CN" dirty="0"/>
              <a:t>main</a:t>
            </a:r>
            <a:r>
              <a:rPr lang="zh-CN" altLang="en-US" dirty="0"/>
              <a:t>函数的代码，需要在</a:t>
            </a:r>
            <a:r>
              <a:rPr lang="en-US" altLang="zh-CN" dirty="0"/>
              <a:t>main</a:t>
            </a:r>
            <a:r>
              <a:rPr lang="zh-CN" altLang="en-US" dirty="0"/>
              <a:t>函数所在的地址添加一个断点并恢复执行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1022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91A44-8AD6-4504-96C7-997837F5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附加进程</a:t>
            </a:r>
          </a:p>
        </p:txBody>
      </p:sp>
      <p:pic>
        <p:nvPicPr>
          <p:cNvPr id="6" name="Picture 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E1FD6FD-5BC1-4810-B5E9-841377A9D9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620" y="1844431"/>
            <a:ext cx="6886760" cy="3899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1371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6C7EE-1C37-4BF4-9776-D94EC1B4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附加进程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385F5-8BF2-479F-9736-FC63289CF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x64dbg</a:t>
            </a:r>
            <a:r>
              <a:rPr lang="zh-CN" altLang="en-US" dirty="0"/>
              <a:t>会立即暂停程序以及它所有的线程；</a:t>
            </a:r>
          </a:p>
          <a:p>
            <a:r>
              <a:rPr lang="zh-CN" altLang="en-US" dirty="0"/>
              <a:t>被附加的程序会暂停在</a:t>
            </a:r>
            <a:r>
              <a:rPr lang="en-US" altLang="zh-CN" dirty="0"/>
              <a:t>Ntdll.dll</a:t>
            </a:r>
            <a:r>
              <a:rPr lang="zh-CN" altLang="en-US" dirty="0"/>
              <a:t>的</a:t>
            </a:r>
            <a:r>
              <a:rPr lang="en-US" altLang="zh-CN" dirty="0" err="1"/>
              <a:t>DbgBreakPoint</a:t>
            </a:r>
            <a:r>
              <a:rPr lang="zh-CN" altLang="en-US" dirty="0"/>
              <a:t>处；</a:t>
            </a:r>
          </a:p>
        </p:txBody>
      </p:sp>
    </p:spTree>
    <p:extLst>
      <p:ext uri="{BB962C8B-B14F-4D97-AF65-F5344CB8AC3E}">
        <p14:creationId xmlns:p14="http://schemas.microsoft.com/office/powerpoint/2010/main" val="1887248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410C1-8F0F-416B-9967-2629D6B25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附加进程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16AFE5-4140-42F9-823F-595E6BB06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不希望调试</a:t>
            </a:r>
            <a:r>
              <a:rPr lang="en-US" altLang="zh-CN" dirty="0"/>
              <a:t>Windows</a:t>
            </a:r>
            <a:r>
              <a:rPr lang="zh-CN" altLang="en-US" dirty="0"/>
              <a:t>库，回到主代码最简单的方法就是在整个代码段中设置一个</a:t>
            </a:r>
            <a:r>
              <a:rPr lang="zh-CN" altLang="en-US" dirty="0">
                <a:solidFill>
                  <a:srgbClr val="FF0000"/>
                </a:solidFill>
              </a:rPr>
              <a:t>内存访问断点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打开内存窗口，查看程序的内存空间，设置断点。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6347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B046D-6F63-4570-BF90-5BC16FC6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内存访问断点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D234A659-8B0A-4987-A826-772E9F5F8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962"/>
          <a:stretch/>
        </p:blipFill>
        <p:spPr>
          <a:xfrm>
            <a:off x="2155776" y="1811827"/>
            <a:ext cx="7880448" cy="428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1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BDF71-69D2-46CE-B0C3-C718BC8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隐藏进程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F14EF9-8DA3-41DF-A76C-F6A848300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系统的</a:t>
            </a:r>
            <a:r>
              <a:rPr lang="zh-CN" altLang="en-US" dirty="0">
                <a:solidFill>
                  <a:srgbClr val="FF0000"/>
                </a:solidFill>
              </a:rPr>
              <a:t>隐藏进程</a:t>
            </a:r>
            <a:r>
              <a:rPr lang="zh-CN" altLang="en-US" dirty="0"/>
              <a:t>不能使用上述方法进行附加；</a:t>
            </a:r>
          </a:p>
          <a:p>
            <a:pPr lvl="1"/>
            <a:r>
              <a:rPr lang="en-US" altLang="zh-CN" dirty="0"/>
              <a:t>PC Hunter</a:t>
            </a:r>
            <a:r>
              <a:rPr lang="zh-CN" altLang="en-US" dirty="0"/>
              <a:t>、</a:t>
            </a:r>
            <a:r>
              <a:rPr lang="en-US" altLang="zh-CN" dirty="0"/>
              <a:t>GMER</a:t>
            </a:r>
            <a:r>
              <a:rPr lang="zh-CN" altLang="en-US" dirty="0"/>
              <a:t>等工具获得隐藏进程的</a:t>
            </a:r>
            <a:r>
              <a:rPr lang="en-US" altLang="zh-CN" dirty="0" err="1"/>
              <a:t>pid</a:t>
            </a:r>
            <a:r>
              <a:rPr lang="zh-CN" altLang="en-US" dirty="0"/>
              <a:t>；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的</a:t>
            </a:r>
            <a:r>
              <a:rPr lang="en-US" altLang="zh-CN" dirty="0"/>
              <a:t>-p</a:t>
            </a:r>
            <a:r>
              <a:rPr lang="zh-CN" altLang="en-US" dirty="0"/>
              <a:t>参数，通过隐藏进程的</a:t>
            </a:r>
            <a:r>
              <a:rPr lang="en-US" altLang="zh-CN" dirty="0" err="1"/>
              <a:t>pid</a:t>
            </a:r>
            <a:r>
              <a:rPr lang="zh-CN" altLang="en-US" dirty="0"/>
              <a:t>进行附加。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1254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29B95-D088-4E6A-8D18-F9DF77354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重新装载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FAC09D-7C08-4D5B-9C66-47B247346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Ctrl+F2</a:t>
            </a:r>
            <a:r>
              <a:rPr lang="zh-CN" altLang="en-US" dirty="0"/>
              <a:t>可以重新装载当前调试的进程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F2</a:t>
            </a:r>
            <a:r>
              <a:rPr lang="zh-CN" altLang="en-US" dirty="0"/>
              <a:t>断点，记录之前的调试位置</a:t>
            </a:r>
          </a:p>
        </p:txBody>
      </p:sp>
    </p:spTree>
    <p:extLst>
      <p:ext uri="{BB962C8B-B14F-4D97-AF65-F5344CB8AC3E}">
        <p14:creationId xmlns:p14="http://schemas.microsoft.com/office/powerpoint/2010/main" val="2219628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40ACC9A-B6FA-4DD8-8848-5810306B1F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可以调试以下哪种类型的程序？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3214E3C-AB8C-4BE3-B81B-AD58AF1643D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exe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程序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F0E679-DBB1-477D-AE54-13326CFA0F3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程序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70D743-C4AA-489D-91DD-68EF72A65E7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驱动程序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812EAC-7DB6-4E24-B70C-90C11A5D90E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正在执行的程序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2A7409-367C-4DD1-B63D-30CBD3065118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40A64C-54BD-4A53-8F1E-795D9EF544A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755258-665C-4B57-97DC-92D155F764B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A409E2-826C-46C0-8FFC-B1B9A5A3D4C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A5F7359-1BAB-4C8C-858D-50CDF054470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579DC33-E9D6-4F76-A9FD-183795974AE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6DA3752-65FF-4D4B-B65F-75EE5FBA4C9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F5276B4-D2D7-4D8B-B50D-D6E8693F22A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80FBF64D-ADFA-4DB4-BF59-92CEA0D56AF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50DBFFED-0798-41BE-B2B4-425FAFD9230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3EB2555-6F7D-4911-8F1F-49A885D63D0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7478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x64dbg</a:t>
            </a:r>
            <a:r>
              <a:rPr lang="zh-CN" altLang="en-US" dirty="0">
                <a:solidFill>
                  <a:schemeClr val="tx1"/>
                </a:solidFill>
              </a:rPr>
              <a:t>的界面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54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4AA152-D639-2DB1-0CC6-12BF5AA9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538" y="1847715"/>
            <a:ext cx="6163299" cy="494497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10AAA5A-42A0-40FC-B8E9-2ED4CFDE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x64dbg</a:t>
            </a:r>
            <a:r>
              <a:rPr lang="zh-CN" altLang="en-US" dirty="0"/>
              <a:t>界面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AA2F7-B7B1-49F1-B9D1-477DBF98A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826" y="3157719"/>
            <a:ext cx="2259013" cy="800219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反汇编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400" dirty="0">
                <a:latin typeface="Arial" panose="020B0604020202020204" pitchFamily="34" charset="0"/>
              </a:rPr>
              <a:t>高亮显示的是下一条要执行的指令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98ECA-F5A1-47A9-864C-5FD5FA6E0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6196" y="3326119"/>
            <a:ext cx="1049759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寄存器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40583-1173-4FC5-AB44-29EC34A0C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4702" y="5573644"/>
            <a:ext cx="1584325" cy="36988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栈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7FA4A-CDBD-40DF-85C5-C36FC6C8E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1" y="5758866"/>
            <a:ext cx="1582738" cy="369332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dirty="0">
                <a:latin typeface="Arial" panose="020B0604020202020204" pitchFamily="34" charset="0"/>
              </a:rPr>
              <a:t>内存转储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9825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F710D-B4F4-488A-85E1-828CEEDE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反汇编窗口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49D09C-67D1-4788-812A-D9ABB59B3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9457" y="1849439"/>
            <a:ext cx="7940675" cy="4092575"/>
          </a:xfrm>
        </p:spPr>
        <p:txBody>
          <a:bodyPr/>
          <a:lstStyle/>
          <a:p>
            <a:r>
              <a:rPr lang="zh-CN" altLang="en-US" dirty="0"/>
              <a:t>反汇编面板窗口</a:t>
            </a:r>
            <a:r>
              <a:rPr lang="en-US" altLang="zh-CN" dirty="0"/>
              <a:t>(Disassembler window)</a:t>
            </a:r>
            <a:r>
              <a:rPr lang="zh-CN" altLang="en-US" dirty="0"/>
              <a:t>显示被调试程序的代码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地址</a:t>
            </a:r>
            <a:r>
              <a:rPr lang="en-US" altLang="zh-CN" dirty="0"/>
              <a:t>(Address 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十六进制的机器码</a:t>
            </a:r>
            <a:r>
              <a:rPr lang="en-US" altLang="zh-CN" dirty="0"/>
              <a:t>(Hex dump 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反汇编代码</a:t>
            </a:r>
            <a:r>
              <a:rPr lang="en-US" altLang="zh-CN" dirty="0"/>
              <a:t>(Disassembly)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注释</a:t>
            </a:r>
            <a:r>
              <a:rPr lang="en-US" altLang="zh-CN" dirty="0"/>
              <a:t>(Comment )</a:t>
            </a:r>
            <a:r>
              <a:rPr lang="zh-CN" altLang="en-US" dirty="0"/>
              <a:t>，相关</a:t>
            </a:r>
            <a:r>
              <a:rPr lang="en-US" altLang="zh-CN" dirty="0"/>
              <a:t>API</a:t>
            </a:r>
            <a:r>
              <a:rPr lang="zh-CN" altLang="en-US" dirty="0"/>
              <a:t>参数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381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C4333D-9267-4323-B3A9-6FC653A1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反汇编窗口的双击操作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2B9F0E-3511-4502-9555-260E6F86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Address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/>
              <a:t>显示相对地址，再次双击返回标准地址模式。</a:t>
            </a:r>
          </a:p>
          <a:p>
            <a:r>
              <a:rPr lang="en-US" altLang="zh-CN" dirty="0"/>
              <a:t>Hex dump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/>
              <a:t>设置或取消无条件断点，对应的快捷键是“</a:t>
            </a:r>
            <a:r>
              <a:rPr lang="en-US" altLang="zh-CN" dirty="0"/>
              <a:t>F2"</a:t>
            </a:r>
            <a:r>
              <a:rPr lang="zh-CN" altLang="en-US" dirty="0"/>
              <a:t>键。</a:t>
            </a:r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E11242-1A2C-1D5F-0EC6-1CBA9037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47" y="3464581"/>
            <a:ext cx="4999153" cy="142506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642F4-AB54-151F-0371-B6C14780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556" y="3464581"/>
            <a:ext cx="4922947" cy="1425063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082A16-B9A6-CE60-F0E6-FC284111D6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72"/>
          <a:stretch/>
        </p:blipFill>
        <p:spPr>
          <a:xfrm>
            <a:off x="3543079" y="5190309"/>
            <a:ext cx="5105842" cy="1338289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020699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959BB-57D2-439F-BE54-50851A0BE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反汇编窗口的双击操作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E6A096-605F-4C1C-860B-8E88D995B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Disassembly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>
                <a:solidFill>
                  <a:srgbClr val="FF0000"/>
                </a:solidFill>
              </a:rPr>
              <a:t>修改汇编代码</a:t>
            </a:r>
            <a:r>
              <a:rPr lang="zh-CN" altLang="en-US" dirty="0"/>
              <a:t>，对应的快捷键是空格键。</a:t>
            </a:r>
          </a:p>
          <a:p>
            <a:r>
              <a:rPr lang="en-US" altLang="zh-CN" dirty="0"/>
              <a:t>Comment</a:t>
            </a:r>
            <a:r>
              <a:rPr lang="zh-CN" altLang="en-US" dirty="0"/>
              <a:t>列</a:t>
            </a:r>
            <a:r>
              <a:rPr lang="en-US" altLang="zh-CN" dirty="0"/>
              <a:t>:</a:t>
            </a:r>
            <a:r>
              <a:rPr lang="zh-CN" altLang="en-US" dirty="0"/>
              <a:t>增加或编辑注释，对应的快捷键是“</a:t>
            </a:r>
            <a:r>
              <a:rPr lang="en-US" altLang="zh-CN" dirty="0"/>
              <a:t>;”</a:t>
            </a:r>
            <a:r>
              <a:rPr lang="zh-CN" altLang="en-US" dirty="0"/>
              <a:t>键。</a:t>
            </a: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AB2FA-D059-5EAD-01E5-2C1BE9488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74" y="4389121"/>
            <a:ext cx="6264183" cy="1699407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A2EC8-0A73-861D-EF34-0AF7335F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181" y="4389121"/>
            <a:ext cx="5328345" cy="1699406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546256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B5FE6-F82C-403A-A33F-4E7BB8C2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信息窗口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F0800-39D9-4065-9551-8E543C82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在进行动态跟踪时，信息窗口</a:t>
            </a:r>
            <a:r>
              <a:rPr lang="en-US" altLang="zh-CN" dirty="0"/>
              <a:t>(Information window)</a:t>
            </a:r>
            <a:r>
              <a:rPr lang="zh-CN" altLang="en-US" dirty="0"/>
              <a:t>显示与指令相关的各寄存器的值、</a:t>
            </a:r>
            <a:r>
              <a:rPr lang="en-US" altLang="zh-CN" dirty="0"/>
              <a:t>API</a:t>
            </a:r>
            <a:r>
              <a:rPr lang="zh-CN" altLang="en-US" dirty="0"/>
              <a:t>函数调用提示和跳转提示等信息。</a:t>
            </a:r>
          </a:p>
          <a:p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45243-15A8-88E7-A523-8EEFD7954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584" y="3528540"/>
            <a:ext cx="8968832" cy="181852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3593916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80F44-305D-4653-A012-766FBB2F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08812C-612D-4C55-B3D4-EDC38292A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数据窗口</a:t>
            </a:r>
            <a:r>
              <a:rPr lang="en-US" altLang="zh-CN" dirty="0"/>
              <a:t>〔Dump window)</a:t>
            </a:r>
            <a:r>
              <a:rPr lang="zh-CN" altLang="en-US" dirty="0"/>
              <a:t>以十六进制和字符方式显示可执行文件内存中的数据</a:t>
            </a:r>
          </a:p>
          <a:p>
            <a:r>
              <a:rPr lang="zh-CN" altLang="en-US" dirty="0"/>
              <a:t>要显示指定内存地址的数据，可单击右键快捷菜单中的“</a:t>
            </a:r>
            <a:r>
              <a:rPr lang="en-US" altLang="zh-CN" dirty="0"/>
              <a:t>Go to expression”</a:t>
            </a:r>
            <a:r>
              <a:rPr lang="zh-CN" altLang="en-US" dirty="0"/>
              <a:t>命令或按“</a:t>
            </a:r>
            <a:r>
              <a:rPr lang="en-US" altLang="zh-CN" dirty="0">
                <a:solidFill>
                  <a:srgbClr val="FF0000"/>
                </a:solidFill>
              </a:rPr>
              <a:t>Ctrl</a:t>
            </a:r>
            <a:r>
              <a:rPr lang="zh-CN" altLang="en-US" dirty="0">
                <a:solidFill>
                  <a:srgbClr val="FF0000"/>
                </a:solidFill>
              </a:rPr>
              <a:t>十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dirty="0"/>
              <a:t>"</a:t>
            </a:r>
            <a:r>
              <a:rPr lang="zh-CN" altLang="en-US" dirty="0"/>
              <a:t>快捷键，打开地址窗口，输人地址</a:t>
            </a: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18025-045F-40D6-1040-524CEF22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57" y="4515679"/>
            <a:ext cx="4648697" cy="234011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511489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0FE52-77D7-4B1E-99EE-C7760833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数据窗口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5A0B1C8-1F5D-40A7-89F0-2D1F2C718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699"/>
          <a:stretch/>
        </p:blipFill>
        <p:spPr>
          <a:xfrm>
            <a:off x="2369630" y="2090615"/>
            <a:ext cx="7452739" cy="349597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060135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A4A27-C73F-46C0-A0BD-A38B6B65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在数据窗口中跟踪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642217F-5B02-4498-99FE-B4E01A80BB2C}"/>
              </a:ext>
            </a:extLst>
          </p:cNvPr>
          <p:cNvSpPr/>
          <p:nvPr/>
        </p:nvSpPr>
        <p:spPr>
          <a:xfrm>
            <a:off x="5426697" y="3073139"/>
            <a:ext cx="1357460" cy="452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32C5B8-3F88-4961-805A-00A54527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70" y="1850405"/>
            <a:ext cx="7864522" cy="2027096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2C148A-860E-FD3E-7FBA-D6E9DBEBA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006" y="4018159"/>
            <a:ext cx="6453436" cy="2077545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C5A32E9-3455-43DE-928F-5E9213707CC7}"/>
              </a:ext>
            </a:extLst>
          </p:cNvPr>
          <p:cNvSpPr/>
          <p:nvPr/>
        </p:nvSpPr>
        <p:spPr>
          <a:xfrm>
            <a:off x="2923855" y="4409503"/>
            <a:ext cx="970178" cy="2771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53326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F11C59-8706-4998-A807-692C5071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数据编辑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A250DA-1DB7-1F80-FB9E-3D641664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009" y="1919208"/>
            <a:ext cx="4861981" cy="444284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7822516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C4570-B13D-40D9-9642-CC0B1604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寄存器窗口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CE3E3B-18AF-4947-8532-E5557BD0E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寄存器面板窗口</a:t>
            </a:r>
            <a:r>
              <a:rPr lang="en-US" altLang="zh-CN" dirty="0"/>
              <a:t>( Registers window)</a:t>
            </a:r>
            <a:r>
              <a:rPr lang="zh-CN" altLang="en-US" dirty="0"/>
              <a:t>显示</a:t>
            </a:r>
            <a:r>
              <a:rPr lang="en-US" altLang="zh-CN" dirty="0"/>
              <a:t>CPU</a:t>
            </a:r>
            <a:r>
              <a:rPr lang="zh-CN" altLang="en-US" dirty="0"/>
              <a:t>各寄存器的值，支持浮点、</a:t>
            </a:r>
            <a:r>
              <a:rPr lang="en-US" altLang="zh-CN" dirty="0"/>
              <a:t>MMX</a:t>
            </a:r>
            <a:r>
              <a:rPr lang="zh-CN" altLang="en-US" dirty="0"/>
              <a:t>寄存器。</a:t>
            </a:r>
          </a:p>
          <a:p>
            <a:r>
              <a:rPr lang="zh-CN" altLang="en-US" dirty="0"/>
              <a:t>红色用来高亮显示，上一条</a:t>
            </a:r>
            <a:r>
              <a:rPr lang="en-US" altLang="zh-CN" dirty="0"/>
              <a:t>CPU</a:t>
            </a:r>
            <a:r>
              <a:rPr lang="zh-CN" altLang="en-US" dirty="0"/>
              <a:t>指令执行之后，数值发生变化的寄存器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470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80128-389A-4AF1-BABF-A811C724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寄存器窗口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B4E810-6E6E-4DF4-8095-37EB8D4C7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通过双击一个寄存器值，修改该寄存器的数值</a:t>
            </a:r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0C93B-5722-3DDF-7C19-48B7B9C3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866" y="2933094"/>
            <a:ext cx="5166268" cy="276231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2640913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46685-656D-43E6-9229-57687E6D7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栈窗口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FB45B1-4A43-45DC-BA12-4606D1F49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栈窗口</a:t>
            </a:r>
            <a:r>
              <a:rPr lang="en-US" altLang="zh-CN" dirty="0"/>
              <a:t>(Stack  window)</a:t>
            </a:r>
            <a:r>
              <a:rPr lang="zh-CN" altLang="en-US" dirty="0"/>
              <a:t>显示栈的内容，即</a:t>
            </a:r>
            <a:r>
              <a:rPr lang="en-US" altLang="zh-CN" dirty="0"/>
              <a:t>ESP</a:t>
            </a:r>
            <a:r>
              <a:rPr lang="zh-CN" altLang="en-US" dirty="0"/>
              <a:t>指向内存地址的内容。</a:t>
            </a:r>
          </a:p>
          <a:p>
            <a:r>
              <a:rPr lang="zh-CN" altLang="en-US" dirty="0"/>
              <a:t>栈中有函数的参数、局部变量、函数的返回地址等重要信息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63812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0FEF9EE-C7D7-4261-A5FA-40B7FDD175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界面有哪几个窗口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15E58D-4E7E-4A6F-A30E-3591EAA917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反汇编窗口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Disassembler window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643436-8478-4B8A-B32C-AA0A5FC8030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4718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信息窗口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(Information Window)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7CCCB3-6048-42E7-B28D-38E3D3D335A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(Register Window)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E77D012-2B36-46B4-9059-BFFBE2B624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数据窗口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(Dump Window)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3AE5AA-FA94-4F2E-B000-E6D67324FB6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284B21-885B-454C-A859-89A218C595A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536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6BDABB-7B68-4E14-98DF-5004E1D4240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8D88A5-EC5F-4A3B-8DC7-176CC851A5D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A256A8-A51B-4FAA-9C86-7DDC561B546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F9538C9-D625-4DD1-8F53-6DC6F36D0C3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352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栈窗口（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Stack Window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F60F8B-6FD6-45B2-8F08-4FCB1929265F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2638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01CBE43-80FB-4947-87C1-9EDBD09843A3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5C18D2C2-CB64-47C7-B09A-FC122941215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1499720-D8E2-4B30-B8AD-F2D4C7C185B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71FB40E-28A3-4C44-8AA6-334BCBACE343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D80D0086-46BB-4A52-82FD-02140EC75DFE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3909FD5-5C4D-4977-894B-BDA1BB586D8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7094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4321A75-CC65-41CB-9EBB-3AAD3EA7E8F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的栈窗口可以看到下面哪些信息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8DB205-F19A-48B4-B93C-FA59C47FD4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函数返回地址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3C8638-E0E5-4D3B-8D80-3F9AA73A73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函数的参数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B61420-9C79-41F0-957A-8D74522F74D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函数的局部变量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CA6A64-C090-4FA8-B726-9A96EB626FE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全局变量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62F16A-1118-4AB8-8DDB-390C51039EB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768CD4-AA4E-4B3A-878A-038A7FB62F6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39950-509C-4BAD-B71B-4FA1887E11A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8A168A-D0AB-4988-B785-3714D2FDF366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D329A62-F495-4BF8-9EDC-09222D6223A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B58B60E-31DD-4B6A-9561-2BE9B4C1A08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4B7A03C-1176-4612-B553-06BCB771DB6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BF0CF76-31B2-4D1D-943A-58239D071FE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AC3B5F53-7A76-40A3-A460-3CF3590DA51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91AEFFD-55AF-4617-B583-53B65016429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A572D9E-EC3E-4B66-869D-ECBB9749C05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10860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01E8BE-98D9-4382-B650-B831A0ECB0B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1722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中可以修改以下哪些内容？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355F6D-B7FF-4834-A669-E9B5F02F660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内存数据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910B6F-D514-45CF-BA47-E94DAE14FD1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32C6CC-83D3-4A01-B781-A05B2F3EEA2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栈上的数据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F97419-72CF-49C4-8D6A-7710A591376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CPU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E3D701-84F6-4037-A7A6-08A755AEAF5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A6D005-2B37-47FE-8667-B1478236968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E91312-7DCB-4BCE-B5A4-10C0CE864F6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B907CF-E04C-4F64-A336-E941D5F7105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4774787-5BEF-4A43-91CB-D20B160DABF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E8B0DFF-03A0-44AC-BD42-FE9ECD5ED6A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1623429C-8637-4256-9ED7-D5A60AA6AD4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FBF6581-B9D8-481E-821A-085D3138FCC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05AF453-FAAA-408B-BE46-AF4BC579CC2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5EF74475-6CAA-44F3-87A3-291DC76B2C0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D7B29B6-9CC2-4A56-BD6F-2A9EA40C04C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8429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Memory Map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30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BDABC-AB1C-49A4-8D47-B6855A97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Memory Map</a:t>
            </a:r>
            <a:endParaRPr lang="zh-CN" altLang="en-US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CAB6B777-BB46-43F4-9B3A-C9A300AC4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859" y="1882750"/>
            <a:ext cx="7628281" cy="423708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876588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F0462-12D0-4417-AD91-CE61C085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Memory Map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28873C-4F2B-4F0F-896F-7F91175E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内存中的</a:t>
            </a:r>
            <a:r>
              <a:rPr lang="en-US" altLang="zh-CN" dirty="0"/>
              <a:t>exe</a:t>
            </a:r>
            <a:r>
              <a:rPr lang="zh-CN" altLang="en-US" dirty="0"/>
              <a:t>和</a:t>
            </a:r>
            <a:r>
              <a:rPr lang="en-US" altLang="zh-CN" dirty="0" err="1"/>
              <a:t>dll</a:t>
            </a:r>
            <a:r>
              <a:rPr lang="zh-CN" altLang="en-US" dirty="0"/>
              <a:t>程序的位置被</a:t>
            </a:r>
            <a:r>
              <a:rPr lang="en-US" altLang="zh-CN" dirty="0"/>
              <a:t>x64dbg</a:t>
            </a:r>
            <a:r>
              <a:rPr lang="zh-CN" altLang="en-US" dirty="0"/>
              <a:t>识别</a:t>
            </a:r>
            <a:endParaRPr lang="en-US" altLang="zh-CN" dirty="0"/>
          </a:p>
          <a:p>
            <a:r>
              <a:rPr lang="zh-CN" altLang="en-US" dirty="0"/>
              <a:t>双击有可执行属性的行，会跳转到反汇编窗口</a:t>
            </a:r>
            <a:endParaRPr lang="en-US" altLang="zh-CN" dirty="0"/>
          </a:p>
          <a:p>
            <a:r>
              <a:rPr lang="zh-CN" altLang="en-US" dirty="0"/>
              <a:t>双击没有可执行属性的行，会跳转到数据窗口</a:t>
            </a:r>
          </a:p>
        </p:txBody>
      </p:sp>
    </p:spTree>
    <p:extLst>
      <p:ext uri="{BB962C8B-B14F-4D97-AF65-F5344CB8AC3E}">
        <p14:creationId xmlns:p14="http://schemas.microsoft.com/office/powerpoint/2010/main" val="18072505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63ADD-2E3E-474A-8125-6160ACCE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重定位（</a:t>
            </a:r>
            <a:r>
              <a:rPr lang="en-US" altLang="zh-CN" dirty="0"/>
              <a:t>Rebasing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DED4A6-0128-4374-84AA-964D5DF70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重定位发生在</a:t>
            </a:r>
            <a:r>
              <a:rPr lang="en-US" altLang="zh-CN" dirty="0"/>
              <a:t>PE</a:t>
            </a:r>
            <a:r>
              <a:rPr lang="zh-CN" altLang="en-US" dirty="0"/>
              <a:t>文件装载时，没有装载到指定的</a:t>
            </a:r>
            <a:r>
              <a:rPr lang="en-US" altLang="zh-CN" dirty="0"/>
              <a:t>Image Base</a:t>
            </a:r>
            <a:r>
              <a:rPr lang="zh-CN" altLang="en-US" dirty="0"/>
              <a:t>地址时</a:t>
            </a:r>
            <a:endParaRPr lang="en-US" altLang="zh-CN" dirty="0"/>
          </a:p>
          <a:p>
            <a:r>
              <a:rPr lang="en-US" altLang="zh-CN" dirty="0"/>
              <a:t>PE</a:t>
            </a:r>
            <a:r>
              <a:rPr lang="zh-CN" altLang="en-US" dirty="0"/>
              <a:t>文件头中</a:t>
            </a:r>
            <a:r>
              <a:rPr lang="en-US" altLang="zh-CN" dirty="0"/>
              <a:t>Image Base</a:t>
            </a:r>
          </a:p>
          <a:p>
            <a:pPr lvl="1"/>
            <a:r>
              <a:rPr lang="en-US" altLang="zh-CN" dirty="0"/>
              <a:t>exe</a:t>
            </a:r>
            <a:r>
              <a:rPr lang="zh-CN" altLang="en-US" dirty="0"/>
              <a:t>文件会装载到</a:t>
            </a:r>
            <a:r>
              <a:rPr lang="en-US" altLang="zh-CN" dirty="0"/>
              <a:t>Image Base</a:t>
            </a:r>
          </a:p>
          <a:p>
            <a:pPr lvl="1"/>
            <a:r>
              <a:rPr lang="zh-CN" altLang="en-US" dirty="0"/>
              <a:t>大部分</a:t>
            </a:r>
            <a:r>
              <a:rPr lang="en-US" altLang="zh-CN" dirty="0"/>
              <a:t>exe</a:t>
            </a:r>
            <a:r>
              <a:rPr lang="zh-CN" altLang="en-US" dirty="0"/>
              <a:t>的</a:t>
            </a:r>
            <a:r>
              <a:rPr lang="en-US" altLang="zh-CN" dirty="0"/>
              <a:t>Image Base</a:t>
            </a:r>
            <a:r>
              <a:rPr lang="zh-CN" altLang="en-US" dirty="0"/>
              <a:t>是</a:t>
            </a:r>
            <a:r>
              <a:rPr lang="en-US" altLang="zh-CN" dirty="0">
                <a:solidFill>
                  <a:srgbClr val="FF0000"/>
                </a:solidFill>
              </a:rPr>
              <a:t>0x00400000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ASLR</a:t>
            </a:r>
            <a:r>
              <a:rPr lang="zh-CN" altLang="en-US" dirty="0"/>
              <a:t>（</a:t>
            </a:r>
            <a:r>
              <a:rPr lang="en-US" altLang="zh-CN" dirty="0"/>
              <a:t>Address Space Layout Randomization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37663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54284-AD02-403D-A3B4-49AB84CE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dll</a:t>
            </a:r>
            <a:r>
              <a:rPr lang="zh-CN" altLang="en-US" dirty="0"/>
              <a:t>重定位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6010EA-4C28-4404-82E9-6BE4F9738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dll</a:t>
            </a:r>
            <a:r>
              <a:rPr lang="zh-CN" altLang="en-US" dirty="0"/>
              <a:t>经常发生重定位</a:t>
            </a:r>
            <a:endParaRPr lang="en-US" altLang="zh-CN" dirty="0"/>
          </a:p>
          <a:p>
            <a:pPr lvl="1"/>
            <a:r>
              <a:rPr lang="zh-CN" altLang="en-US" dirty="0"/>
              <a:t>一个应用程序会装载多个</a:t>
            </a:r>
            <a:r>
              <a:rPr lang="en-US" altLang="zh-CN" dirty="0" err="1"/>
              <a:t>dll</a:t>
            </a:r>
            <a:endParaRPr lang="en-US" altLang="zh-CN" dirty="0"/>
          </a:p>
          <a:p>
            <a:pPr lvl="1"/>
            <a:r>
              <a:rPr lang="en-US" altLang="zh-CN" dirty="0"/>
              <a:t>Windows</a:t>
            </a:r>
            <a:r>
              <a:rPr lang="zh-CN" altLang="en-US" dirty="0"/>
              <a:t>的</a:t>
            </a:r>
            <a:r>
              <a:rPr lang="en-US" altLang="zh-CN" dirty="0" err="1"/>
              <a:t>dll</a:t>
            </a:r>
            <a:r>
              <a:rPr lang="zh-CN" altLang="en-US" dirty="0"/>
              <a:t>文件通常会使用不同的</a:t>
            </a:r>
            <a:r>
              <a:rPr lang="en-US" altLang="zh-CN" dirty="0"/>
              <a:t>Image Base</a:t>
            </a:r>
          </a:p>
          <a:p>
            <a:pPr lvl="2"/>
            <a:r>
              <a:rPr lang="en-US" altLang="zh-CN" dirty="0"/>
              <a:t>kernel32.dll </a:t>
            </a:r>
            <a:r>
              <a:rPr lang="en-US" altLang="zh-CN" dirty="0">
                <a:solidFill>
                  <a:srgbClr val="FF0000"/>
                </a:solidFill>
              </a:rPr>
              <a:t>6B800000</a:t>
            </a:r>
            <a:r>
              <a:rPr lang="zh-CN" altLang="en-US" dirty="0"/>
              <a:t>， </a:t>
            </a:r>
            <a:r>
              <a:rPr lang="en-US" altLang="zh-CN" dirty="0"/>
              <a:t>user32.dll </a:t>
            </a:r>
            <a:r>
              <a:rPr lang="en-US" altLang="zh-CN" dirty="0">
                <a:solidFill>
                  <a:srgbClr val="FF0000"/>
                </a:solidFill>
              </a:rPr>
              <a:t>69E00000</a:t>
            </a:r>
          </a:p>
          <a:p>
            <a:pPr lvl="1"/>
            <a:r>
              <a:rPr lang="zh-CN" altLang="en-US" dirty="0"/>
              <a:t>第三方的</a:t>
            </a:r>
            <a:r>
              <a:rPr lang="en-US" altLang="zh-CN" dirty="0" err="1"/>
              <a:t>dll</a:t>
            </a:r>
            <a:r>
              <a:rPr lang="zh-CN" altLang="en-US" dirty="0"/>
              <a:t>通常都是用相同的</a:t>
            </a:r>
            <a:r>
              <a:rPr lang="en-US" altLang="zh-CN" dirty="0"/>
              <a:t>Image Base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45630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BD531-3204-4E83-9793-6E92B881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绝对地址对相对地址</a:t>
            </a:r>
          </a:p>
        </p:txBody>
      </p:sp>
      <p:pic>
        <p:nvPicPr>
          <p:cNvPr id="4" name="Content Placeholder 3" descr="Screen Shot 2013-10-07 at 8.07.12 AM.png">
            <a:extLst>
              <a:ext uri="{FF2B5EF4-FFF2-40B4-BE49-F238E27FC236}">
                <a16:creationId xmlns:a16="http://schemas.microsoft.com/office/drawing/2014/main" id="{D97AF40F-78BC-467E-A370-71F31F149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588" y="2283447"/>
            <a:ext cx="5076825" cy="1390650"/>
          </a:xfrm>
          <a:prstGeom prst="rect">
            <a:avLst/>
          </a:prstGeom>
          <a:noFill/>
          <a:ln w="9525">
            <a:solidFill>
              <a:srgbClr val="703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F886E99-23E2-4FE8-B467-362A3B40CC93}"/>
              </a:ext>
            </a:extLst>
          </p:cNvPr>
          <p:cNvSpPr txBox="1">
            <a:spLocks/>
          </p:cNvSpPr>
          <p:nvPr/>
        </p:nvSpPr>
        <p:spPr bwMode="auto">
          <a:xfrm>
            <a:off x="2135189" y="3883843"/>
            <a:ext cx="7940675" cy="2197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2"/>
              <a:buChar char="l"/>
              <a:defRPr sz="3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2"/>
              <a:buChar char="l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zh-CN" altLang="en-US" dirty="0"/>
              <a:t>相对地址（</a:t>
            </a:r>
            <a:r>
              <a:rPr lang="en-US" altLang="zh-CN" dirty="0"/>
              <a:t>Relative Address</a:t>
            </a:r>
            <a:r>
              <a:rPr lang="zh-CN" altLang="en-US" dirty="0"/>
              <a:t>）不受重定向影响</a:t>
            </a:r>
            <a:endParaRPr lang="en-US" altLang="zh-CN" dirty="0"/>
          </a:p>
          <a:p>
            <a:pPr defTabSz="914400"/>
            <a:r>
              <a:rPr lang="zh-CN" altLang="en-US" dirty="0"/>
              <a:t>绝对地址（</a:t>
            </a:r>
            <a:r>
              <a:rPr lang="en-US" altLang="zh-CN" dirty="0"/>
              <a:t>Absolute Address</a:t>
            </a:r>
            <a:r>
              <a:rPr lang="zh-CN" altLang="en-US" dirty="0"/>
              <a:t>）受影响</a:t>
            </a:r>
          </a:p>
        </p:txBody>
      </p:sp>
    </p:spTree>
    <p:extLst>
      <p:ext uri="{BB962C8B-B14F-4D97-AF65-F5344CB8AC3E}">
        <p14:creationId xmlns:p14="http://schemas.microsoft.com/office/powerpoint/2010/main" val="36915249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383BA1A-DFFA-4A06-9648-4B262525C71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选出图中相对地址？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5A4935-8B1D-49DF-B942-8AA5684CBEE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ebp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+ var_8]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FFB8C2-9880-4832-95B4-AA0CEEFBBDA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[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ebp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+ var_4]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76269A4-401F-4D2E-B8F5-657AA750158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jnz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 loc_0040120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BA30994-942C-40D8-90D6-7D8DE54FE0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dword_40CF60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CB1D10-9647-4FE1-89A0-72162D67E42D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D0301A-C82A-4B5C-9F71-E6C33C38FF3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EEF68D-63EC-4542-9344-EBF58E4DE5B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5D20AD-9827-411A-A4EB-217E172CD54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9C30618-215B-4D3C-B18B-34DB3509ED6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2" name="Picture 3" descr="Screen Shot 2013-10-07 at 8.07.12 AM.png">
            <a:extLst>
              <a:ext uri="{FF2B5EF4-FFF2-40B4-BE49-F238E27FC236}">
                <a16:creationId xmlns:a16="http://schemas.microsoft.com/office/drawing/2014/main" id="{9F7AA874-26DD-4477-BF78-4B1E77DB2CC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7330" y="1156891"/>
            <a:ext cx="5076825" cy="1390650"/>
          </a:xfrm>
          <a:prstGeom prst="rect">
            <a:avLst/>
          </a:prstGeom>
          <a:noFill/>
          <a:ln w="9525">
            <a:solidFill>
              <a:srgbClr val="4F81B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272657-A4C6-4C5C-850D-5F56A2EE051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557ED344-8A7E-4C13-A9B8-760CA5DE8FD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8EFA0D9-BEFD-4FA0-BCFD-9E5DA1F4B53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7F7A82E-0E36-4013-B887-5BE9FADAE99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2A4D130C-3A5C-4AFB-B55C-CA7240F581C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A24BC9A-2EC2-4ED5-99C3-C107C2221FA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32347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DFAB18-5887-4791-81B7-7D2A09A4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修改绝对地址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6E7E38-5E8E-4269-BA9B-688CB8C43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大部分</a:t>
            </a:r>
            <a:r>
              <a:rPr lang="en-US" altLang="zh-CN" dirty="0" err="1"/>
              <a:t>dll</a:t>
            </a:r>
            <a:r>
              <a:rPr lang="zh-CN" altLang="en-US" dirty="0"/>
              <a:t>文件，都有一个</a:t>
            </a:r>
            <a:r>
              <a:rPr lang="en-US" altLang="zh-CN" dirty="0"/>
              <a:t>.</a:t>
            </a:r>
            <a:r>
              <a:rPr lang="en-US" altLang="zh-CN" dirty="0" err="1"/>
              <a:t>reloc</a:t>
            </a:r>
            <a:r>
              <a:rPr lang="zh-CN" altLang="en-US" dirty="0"/>
              <a:t>节，用于重定位发生时的修复</a:t>
            </a:r>
            <a:endParaRPr lang="en-US" altLang="zh-CN" dirty="0"/>
          </a:p>
          <a:p>
            <a:r>
              <a:rPr lang="en-US" altLang="zh-CN" dirty="0" err="1"/>
              <a:t>dll</a:t>
            </a:r>
            <a:r>
              <a:rPr lang="zh-CN" altLang="en-US" dirty="0"/>
              <a:t>文件的装载顺序是</a:t>
            </a:r>
            <a:r>
              <a:rPr lang="zh-CN" altLang="en-US" dirty="0">
                <a:solidFill>
                  <a:srgbClr val="FF0000"/>
                </a:solidFill>
              </a:rPr>
              <a:t>不固定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重定位的位置也是</a:t>
            </a:r>
            <a:r>
              <a:rPr lang="zh-CN" altLang="en-US" dirty="0">
                <a:solidFill>
                  <a:srgbClr val="FF0000"/>
                </a:solidFill>
              </a:rPr>
              <a:t>不可预测</a:t>
            </a:r>
            <a:r>
              <a:rPr lang="zh-CN" altLang="en-US" dirty="0"/>
              <a:t>的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78630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654F8-CE51-4D5A-B8B7-E30DE65B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.</a:t>
            </a:r>
            <a:r>
              <a:rPr lang="en-US" altLang="zh-CN" dirty="0" err="1"/>
              <a:t>reloc</a:t>
            </a:r>
            <a:r>
              <a:rPr lang="zh-CN" altLang="en-US" dirty="0"/>
              <a:t>节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809B28C-EDC5-4C8A-BA29-9A5E35FF1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0802" y="2114348"/>
            <a:ext cx="4377121" cy="462724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496153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F9F72-BE55-4590-AC05-274DC49E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dll</a:t>
            </a:r>
            <a:r>
              <a:rPr lang="zh-CN" altLang="en-US" dirty="0"/>
              <a:t>重定位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7E284F-F8E3-4931-95D2-76B4AF7F5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如果删除</a:t>
            </a:r>
            <a:r>
              <a:rPr lang="en-US" altLang="zh-CN" dirty="0" err="1"/>
              <a:t>dll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  <a:r>
              <a:rPr lang="en-US" altLang="zh-CN" dirty="0" err="1"/>
              <a:t>reloc</a:t>
            </a:r>
            <a:r>
              <a:rPr lang="zh-CN" altLang="en-US" dirty="0"/>
              <a:t>节</a:t>
            </a:r>
            <a:endParaRPr lang="en-US" altLang="zh-CN" dirty="0"/>
          </a:p>
          <a:p>
            <a:pPr lvl="1"/>
            <a:r>
              <a:rPr lang="en-US" altLang="zh-CN" dirty="0" err="1"/>
              <a:t>dll</a:t>
            </a:r>
            <a:r>
              <a:rPr lang="zh-CN" altLang="en-US" dirty="0"/>
              <a:t>不能进行重定位</a:t>
            </a:r>
            <a:endParaRPr lang="en-US" altLang="zh-CN" dirty="0"/>
          </a:p>
          <a:p>
            <a:pPr lvl="1"/>
            <a:r>
              <a:rPr lang="zh-CN" altLang="en-US" dirty="0"/>
              <a:t>必须装载到</a:t>
            </a:r>
            <a:r>
              <a:rPr lang="en-US" altLang="zh-CN" dirty="0"/>
              <a:t>PE</a:t>
            </a:r>
            <a:r>
              <a:rPr lang="zh-CN" altLang="en-US" dirty="0"/>
              <a:t>文件头指定的</a:t>
            </a:r>
            <a:r>
              <a:rPr lang="en-US" altLang="zh-CN" dirty="0"/>
              <a:t>Image Base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zh-CN" altLang="en-US" dirty="0"/>
              <a:t>重定位会影响程序的装载时间</a:t>
            </a:r>
            <a:endParaRPr lang="en-US" altLang="zh-CN" dirty="0"/>
          </a:p>
          <a:p>
            <a:pPr lvl="1"/>
            <a:r>
              <a:rPr lang="en-US" altLang="zh-CN" dirty="0"/>
              <a:t>Good programmer specifies </a:t>
            </a:r>
            <a:r>
              <a:rPr lang="en-US" altLang="zh-CN" dirty="0">
                <a:solidFill>
                  <a:srgbClr val="FF0000"/>
                </a:solidFill>
              </a:rPr>
              <a:t>non-default</a:t>
            </a:r>
            <a:r>
              <a:rPr lang="en-US" altLang="zh-CN" dirty="0"/>
              <a:t> base image for </a:t>
            </a:r>
            <a:r>
              <a:rPr lang="en-US" altLang="zh-CN" dirty="0" err="1"/>
              <a:t>dlls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82090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5F3FF-169A-4C9E-AF0F-CADE05D9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Binary Ninja </a:t>
            </a:r>
            <a:r>
              <a:rPr lang="zh-CN" altLang="en-US" dirty="0"/>
              <a:t>和 </a:t>
            </a:r>
            <a:r>
              <a:rPr lang="en-US" altLang="zh-CN" dirty="0"/>
              <a:t>x64dbg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C678D3-4F14-42F7-B839-616919F92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重定位</a:t>
            </a:r>
            <a:endParaRPr lang="en-US" altLang="zh-CN" dirty="0"/>
          </a:p>
          <a:p>
            <a:pPr lvl="1"/>
            <a:r>
              <a:rPr lang="en-US" altLang="zh-CN" dirty="0"/>
              <a:t>Binary Ninja</a:t>
            </a:r>
            <a:r>
              <a:rPr lang="zh-CN" altLang="en-US" dirty="0"/>
              <a:t>静态反汇编是会将可执行文件加载到其默认地址</a:t>
            </a:r>
            <a:endParaRPr lang="en-US" altLang="zh-CN" dirty="0"/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的动态调试，是重定位之后的结果</a:t>
            </a:r>
            <a:endParaRPr lang="en-US" altLang="zh-CN" dirty="0"/>
          </a:p>
          <a:p>
            <a:pPr lvl="1"/>
            <a:r>
              <a:rPr lang="en-US" altLang="zh-CN" dirty="0"/>
              <a:t>Binary Ninja </a:t>
            </a:r>
            <a:r>
              <a:rPr lang="zh-CN" altLang="en-US" dirty="0"/>
              <a:t>和</a:t>
            </a:r>
            <a:r>
              <a:rPr lang="en-US" altLang="zh-CN" dirty="0"/>
              <a:t>x64dbg</a:t>
            </a:r>
            <a:r>
              <a:rPr lang="zh-CN" altLang="en-US" dirty="0"/>
              <a:t>的反汇编地址有可能</a:t>
            </a:r>
            <a:r>
              <a:rPr lang="zh-CN" altLang="en-US" dirty="0">
                <a:solidFill>
                  <a:srgbClr val="FF0000"/>
                </a:solidFill>
              </a:rPr>
              <a:t>不一致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sz="2400" dirty="0"/>
              <a:t>可以在</a:t>
            </a:r>
            <a:r>
              <a:rPr lang="en-US" altLang="zh-CN" sz="2400" dirty="0"/>
              <a:t>Binary Ninja</a:t>
            </a:r>
            <a:r>
              <a:rPr lang="zh-CN" altLang="en-US" sz="2400" dirty="0"/>
              <a:t>中进行</a:t>
            </a:r>
            <a:r>
              <a:rPr lang="en-US" altLang="zh-CN" sz="2400" dirty="0"/>
              <a:t>rebase</a:t>
            </a:r>
            <a:r>
              <a:rPr lang="zh-CN" altLang="en-US" sz="2400" dirty="0"/>
              <a:t>以匹配调试过程中的实际加载地址</a:t>
            </a:r>
            <a:endParaRPr lang="en-US" altLang="zh-CN" sz="2400" dirty="0"/>
          </a:p>
          <a:p>
            <a:pPr lvl="2"/>
            <a:r>
              <a:rPr lang="zh-CN" altLang="en-US" sz="2400" dirty="0"/>
              <a:t>或者可以在</a:t>
            </a:r>
            <a:r>
              <a:rPr lang="en-US" altLang="zh-CN" sz="2400" dirty="0"/>
              <a:t>x64dbg</a:t>
            </a:r>
            <a:r>
              <a:rPr lang="zh-CN" altLang="en-US" sz="2400" dirty="0"/>
              <a:t>中关闭</a:t>
            </a:r>
            <a:r>
              <a:rPr lang="en-US" altLang="zh-CN" sz="2400" dirty="0"/>
              <a:t>ASLR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281064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B0C18-0440-45C0-9DEB-942BEAE5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线程和栈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E48C9E-5D47-4584-918F-ECF15CFC6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Memory Map</a:t>
            </a:r>
            <a:r>
              <a:rPr lang="zh-CN" altLang="en-US" dirty="0"/>
              <a:t>窗口，除了</a:t>
            </a:r>
            <a:r>
              <a:rPr lang="en-US" altLang="zh-CN" dirty="0"/>
              <a:t>exe</a:t>
            </a:r>
            <a:r>
              <a:rPr lang="zh-CN" altLang="en-US" dirty="0"/>
              <a:t>和</a:t>
            </a:r>
            <a:r>
              <a:rPr lang="en-US" altLang="zh-CN" dirty="0" err="1"/>
              <a:t>dll</a:t>
            </a:r>
            <a:r>
              <a:rPr lang="zh-CN" altLang="en-US" dirty="0"/>
              <a:t>，还有栈的信息</a:t>
            </a:r>
            <a:endParaRPr lang="en-US" altLang="zh-CN" dirty="0"/>
          </a:p>
          <a:p>
            <a:r>
              <a:rPr lang="zh-CN" altLang="en-US" dirty="0"/>
              <a:t>每个线程都有一个自己私有的栈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2DC3B-22A1-C5E2-D348-CFC288E30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3" y="3429000"/>
            <a:ext cx="8641074" cy="2675709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2651378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F265FED-6615-4F4B-9A42-97E6DAB79C9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97723" y="64293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如何解决和避免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的重定位问题？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F81CF3-3769-402B-B157-56184EE17CF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使用不同的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 Base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28EC7C-11E6-4E6D-A46C-85F498F189C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使用编译器默认的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Image Base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C8C7F8-DF49-479B-A634-48433C5BEB4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.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reloc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节记录需要修改的信息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2818A74-E962-400C-BF97-33F85CEC14C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指定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的装载顺序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6F4183-CAE0-4B83-9328-1CD3622E132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C33CC1-B660-4C68-8CE3-4452E30C5E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EEA40A-EDA1-4ECA-8188-8C6936CCAC3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016CA2-F881-4E5E-BDB2-9EEECFC7371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B766802-C355-46F6-A860-6F231DCD2CA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87EE090-D244-4294-8558-31F87C9FF1F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18E5170-E89C-4FFC-9729-71C44222FE2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42EB2000-6600-4A02-993F-6F66DD7356B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6CE00FE1-FA89-431B-8784-DEB56CEB120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49A1DE6-F05D-4595-92FA-30DBD917377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7660BC5-C868-45F5-9E19-CE71BFDA9C64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42846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B0676C-2073-4D6D-A669-79C3FD72CD3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以下哪些是线程私有的？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4FC13B-2E34-41FE-B174-BE46D314EE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16576-ECC5-4A7B-9281-9C228A0C47A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寄存器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DD2395-37B7-4575-9407-B085F859FD2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内存空间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4F6835-AFD0-4BEE-9A5E-3851343CA88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代码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550CDA-6880-4302-86F0-FDA28F65A78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E0838A-866B-48FE-A85E-074C1115980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E826E1-FFCB-451C-B8B3-BAA9F3A0881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12F78B-9774-49FC-9C7B-68AB5E93CDB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66CD77F-7AF1-4317-BBAA-EF4742D87B5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DE85D41-E029-40A0-B71D-EA6D2C2C109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7BB7B53-5D49-45D8-8B62-3D9260C5ECA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747CCA3D-7370-433D-A719-1456385016A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70B6C4C-C89E-4B73-9341-89B531431D9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2187513-C6E3-4A3A-9855-905FFFABFE0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B6F116C-06BE-4174-B3AE-1B908A3F8EC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694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执行指令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53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3-10-07 at 2.17.22 PM.png">
            <a:extLst>
              <a:ext uri="{FF2B5EF4-FFF2-40B4-BE49-F238E27FC236}">
                <a16:creationId xmlns:a16="http://schemas.microsoft.com/office/drawing/2014/main" id="{3F1059A5-43AD-4427-B0E3-528420E08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55"/>
          <a:stretch/>
        </p:blipFill>
        <p:spPr bwMode="auto">
          <a:xfrm>
            <a:off x="2885831" y="1968137"/>
            <a:ext cx="6641527" cy="3981814"/>
          </a:xfrm>
          <a:prstGeom prst="rect">
            <a:avLst/>
          </a:prstGeom>
          <a:noFill/>
          <a:ln w="9525">
            <a:solidFill>
              <a:srgbClr val="4F81B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F408B334-2763-4F2B-BD24-031E76372829}"/>
              </a:ext>
            </a:extLst>
          </p:cNvPr>
          <p:cNvSpPr/>
          <p:nvPr/>
        </p:nvSpPr>
        <p:spPr>
          <a:xfrm>
            <a:off x="2885831" y="2582944"/>
            <a:ext cx="1975259" cy="33670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0802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20E13-08C6-44D8-BEE1-489553004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运行和暂停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394286-505D-44B5-8B33-9B91AE877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运行调试应用程序（</a:t>
            </a:r>
            <a:r>
              <a:rPr lang="en-US" altLang="zh-CN" dirty="0"/>
              <a:t>F9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暂停调试程序（</a:t>
            </a:r>
            <a:r>
              <a:rPr lang="en-US" altLang="zh-CN" dirty="0"/>
              <a:t>F12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1B5630-1E1B-46BE-5AFD-0D585BEA9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611" y="3888083"/>
            <a:ext cx="4850778" cy="190627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D3317038-38F7-49A8-A726-669E6B32D253}"/>
              </a:ext>
            </a:extLst>
          </p:cNvPr>
          <p:cNvSpPr/>
          <p:nvPr/>
        </p:nvSpPr>
        <p:spPr>
          <a:xfrm>
            <a:off x="4940208" y="3885907"/>
            <a:ext cx="810705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9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1DEE3-022B-4ECA-8A4A-933EA8B0C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执行直到返回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00803-2D6E-4EED-AD29-4FDE6F39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“执行直到返回”当前函数执行到返回指令之前的指令。</a:t>
            </a:r>
            <a:endParaRPr lang="en-US" altLang="zh-CN" dirty="0"/>
          </a:p>
          <a:p>
            <a:r>
              <a:rPr lang="zh-CN" altLang="en-US" dirty="0"/>
              <a:t>结束当前调试的函数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45F8E8-809B-0F2C-08A5-954B20DD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986" y="3836955"/>
            <a:ext cx="7191782" cy="1388512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697931CD-8559-49FA-9ACE-0CC3B929F1CE}"/>
              </a:ext>
            </a:extLst>
          </p:cNvPr>
          <p:cNvSpPr/>
          <p:nvPr/>
        </p:nvSpPr>
        <p:spPr>
          <a:xfrm>
            <a:off x="5146765" y="3742035"/>
            <a:ext cx="383177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0B10F3-3090-43C7-AB40-79E48D913FD6}"/>
              </a:ext>
            </a:extLst>
          </p:cNvPr>
          <p:cNvSpPr/>
          <p:nvPr/>
        </p:nvSpPr>
        <p:spPr>
          <a:xfrm>
            <a:off x="6447932" y="4789528"/>
            <a:ext cx="997897" cy="4359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28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50B40-909F-4635-80AB-70FC7798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执行到用户代码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D363E-E410-4264-95E4-0D30E5EC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“执行到用户代码”会从库函数中返回到程序的代码节，例如</a:t>
            </a:r>
            <a:r>
              <a:rPr lang="en-US" altLang="zh-CN" dirty="0"/>
              <a:t>.text</a:t>
            </a:r>
            <a:r>
              <a:rPr lang="zh-CN" altLang="en-US" dirty="0"/>
              <a:t>节的代码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C8FC06-BE95-48A4-AFE9-6584E216F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031" y="3429000"/>
            <a:ext cx="7479937" cy="2481823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61F8AAB9-063D-4562-9FFF-8E8B7704C27C}"/>
              </a:ext>
            </a:extLst>
          </p:cNvPr>
          <p:cNvSpPr/>
          <p:nvPr/>
        </p:nvSpPr>
        <p:spPr>
          <a:xfrm>
            <a:off x="5242560" y="3338208"/>
            <a:ext cx="374469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16A0DF-A4F1-4D52-A689-C0148DF5C11E}"/>
              </a:ext>
            </a:extLst>
          </p:cNvPr>
          <p:cNvSpPr/>
          <p:nvPr/>
        </p:nvSpPr>
        <p:spPr>
          <a:xfrm>
            <a:off x="3232901" y="4002701"/>
            <a:ext cx="909556" cy="46191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26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5F2BB-AF6E-45FD-939C-40BBBCC7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按步执行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977A6-1B8D-4B8E-81F1-27A7B9F85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步入（</a:t>
            </a:r>
            <a:r>
              <a:rPr lang="en-US" altLang="zh-CN" dirty="0"/>
              <a:t>F7</a:t>
            </a:r>
            <a:r>
              <a:rPr lang="zh-CN" altLang="en-US" dirty="0"/>
              <a:t>），也叫做单步执行</a:t>
            </a:r>
            <a:endParaRPr lang="en-US" altLang="zh-CN" dirty="0"/>
          </a:p>
          <a:p>
            <a:r>
              <a:rPr lang="zh-CN" altLang="en-US" dirty="0"/>
              <a:t>步过（</a:t>
            </a:r>
            <a:r>
              <a:rPr lang="en-US" altLang="zh-CN" dirty="0"/>
              <a:t>F8</a:t>
            </a:r>
            <a:r>
              <a:rPr lang="zh-CN" altLang="en-US" dirty="0"/>
              <a:t>），对于函数，可以使用步过，执行完整个函数后暂停。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D2CDF2-4755-D0CA-5371-F47EBFCE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228" y="3741698"/>
            <a:ext cx="5084176" cy="1711020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C62D152F-DB94-4168-911F-529F847C4FB4}"/>
              </a:ext>
            </a:extLst>
          </p:cNvPr>
          <p:cNvSpPr/>
          <p:nvPr/>
        </p:nvSpPr>
        <p:spPr>
          <a:xfrm rot="19187910">
            <a:off x="5209908" y="4189415"/>
            <a:ext cx="726374" cy="197849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FBD040AB-BBA6-4F2C-9584-F4895560923A}"/>
              </a:ext>
            </a:extLst>
          </p:cNvPr>
          <p:cNvSpPr/>
          <p:nvPr/>
        </p:nvSpPr>
        <p:spPr>
          <a:xfrm rot="13703203">
            <a:off x="6305163" y="4197352"/>
            <a:ext cx="654130" cy="188026"/>
          </a:xfrm>
          <a:prstGeom prst="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72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6242687-286C-4D13-940E-F9DFC1E1F42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支持哪些代码执行操作？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92AFBE-2E30-4B09-AE5B-FFF4D8D3483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执行和暂停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FED8EA-167B-4ADD-AC17-3CBE12A75BB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执行直到返回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4E0521-8B60-45A8-BF38-EADDA044785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执行到用户代码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F4A0D9-B870-4EBB-BAD1-27D25A40AC51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按步执行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1FFB8C-D222-4CDF-BBAD-DEB2DBA995E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F3B717-4083-4D3E-9C62-31B6F8CAB64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62B777-F148-47F5-B3F1-E8E4C2E0D8B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9032F-D07C-4A46-A351-C100FC258AF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6038CAD-3EB2-4C3F-9E8A-A162CD6D14B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F7E9C1C-F70C-4DCF-911E-F07A5BF2DE9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A924FE9-ECA5-4371-87A9-502121597B8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18F6989-1631-434F-B33D-F06E87520CD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E95036B-00D5-497A-B71D-6B23F13DE0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2" name="TipText">
              <a:extLst>
                <a:ext uri="{FF2B5EF4-FFF2-40B4-BE49-F238E27FC236}">
                  <a16:creationId xmlns:a16="http://schemas.microsoft.com/office/drawing/2014/main" id="{C246B5E0-0B84-4279-8853-0630C63EEE8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504F16C-F53D-4C08-BEAE-6E0D79D66F29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19556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07B37C-CB9C-40BB-970F-D34CB81B4E3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调试中，如果想快速执行完当前函数，需要选择哪种执行方式？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0C6A71-2EAB-4389-9BED-858447D690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执行和暂停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8B2CC8-6C35-4381-9895-56D7F7DDC45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执行直到返回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E45E32-F14C-4B08-9B29-3258D8FB572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执行到用户代码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2806E6-6925-42B1-9DB2-C4B7DB6F326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按步执行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4AAFDE4-370B-4AC3-8BA8-952EE58C841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E794C54-B5B3-41DD-8204-8C917A986DF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B630300-2678-4499-A815-09FDD655E82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AC90DC9-C911-4E84-B7EF-BDEDA0A081C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3D4F5C5-174D-4950-BB95-54DB794269A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622FAB5-C82C-4B72-9B8F-89F0895F66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E91849A8-A86F-440D-9DE4-759483F07CC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D27406BC-00FA-4513-A963-2A95F60EB92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3C3F1221-3B60-4BE8-B6E3-ACDBA1EA18D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C73B94E1-7990-4FE1-AADA-06290ED6DE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111254D-D5FC-4F56-A867-EAA8D108A9B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6082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5F31DE-511E-419D-8542-453B8353370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调试中，如果想快速从</a:t>
            </a:r>
            <a:r>
              <a:rPr lang="en-US" altLang="zh-CN" sz="26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dll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库代码空间回到用户代码空间，需要选择哪种执行方式？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FCA6A5-09B4-43BF-9821-FAF232C076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执行和暂停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CE6660-14C7-4580-9D7D-EC6918090FB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执行直到返回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E317B7-9D1C-4D3D-8C9E-653F464E499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执行到用户代码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8B0BAC-02A7-4783-85FC-9DABFAF38C8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按步执行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87B01B7-7962-43AA-94E9-1578717EF57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4295A68-5685-4ABD-B6A5-B0B8356B734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B3BAC67-96A2-4ADE-8B11-CC00D3CF783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47B777-F33C-4F6A-81E2-09D6594DF63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E2D496-F366-47C8-AB2E-3D3D5C60486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D449735-BB54-495F-9E0A-169C8E18B9A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686F46C-36D4-4543-A798-4835FA302A6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A1C2A3DE-0DED-4150-913D-E3C455BC97C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90D0C568-0C78-41F3-8D5F-C09ABB47854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C4225194-601C-44AF-9904-4A63CCF7187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B25DAE9-059B-4A39-841B-4C8637B8C55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107221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断点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2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AB78B-9A63-41FE-B801-26DC2FC05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断点（</a:t>
            </a:r>
            <a:r>
              <a:rPr lang="en-US" altLang="zh-CN" dirty="0"/>
              <a:t>Breakpoint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AA6214-4E3C-4680-8AC7-474F96744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1762896"/>
            <a:ext cx="7940675" cy="4355101"/>
          </a:xfrm>
        </p:spPr>
        <p:txBody>
          <a:bodyPr/>
          <a:lstStyle/>
          <a:p>
            <a:r>
              <a:rPr lang="zh-CN" altLang="en-US" dirty="0"/>
              <a:t>断点（</a:t>
            </a:r>
            <a:r>
              <a:rPr lang="en-US" altLang="zh-CN" dirty="0"/>
              <a:t>Breakpoint</a:t>
            </a:r>
            <a:r>
              <a:rPr lang="zh-CN" altLang="en-US" dirty="0"/>
              <a:t>）是调试器的重要功能，使执行的程序中断在指定的地方，从而方便对其进行分析。</a:t>
            </a:r>
          </a:p>
          <a:p>
            <a:pPr lvl="1"/>
            <a:r>
              <a:rPr lang="zh-CN" altLang="en-US" dirty="0"/>
              <a:t>     查看间接跳转的位置</a:t>
            </a:r>
          </a:p>
          <a:p>
            <a:pPr lvl="1"/>
            <a:r>
              <a:rPr lang="zh-CN" altLang="en-US" dirty="0"/>
              <a:t>     查看函数的参数</a:t>
            </a:r>
          </a:p>
          <a:p>
            <a:pPr lvl="1"/>
            <a:r>
              <a:rPr lang="zh-CN" altLang="en-US" dirty="0"/>
              <a:t>     快速执行循环结构体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2391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548CD-3E3B-431D-B70D-0BF15425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断点类型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C6884B-087A-4B6C-BF22-7E5042531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软件断点</a:t>
            </a:r>
            <a:endParaRPr lang="en-US" altLang="zh-CN" dirty="0"/>
          </a:p>
          <a:p>
            <a:r>
              <a:rPr lang="zh-CN" altLang="en-US" dirty="0"/>
              <a:t>硬件断点</a:t>
            </a:r>
            <a:endParaRPr lang="en-US" altLang="zh-CN" dirty="0"/>
          </a:p>
          <a:p>
            <a:r>
              <a:rPr lang="zh-CN" altLang="en-US" dirty="0"/>
              <a:t>内存断点</a:t>
            </a:r>
            <a:endParaRPr lang="en-US" altLang="zh-CN" dirty="0"/>
          </a:p>
          <a:p>
            <a:r>
              <a:rPr lang="zh-CN" altLang="en-US" dirty="0"/>
              <a:t>消息断点</a:t>
            </a:r>
            <a:endParaRPr lang="en-US" altLang="zh-CN" dirty="0"/>
          </a:p>
          <a:p>
            <a:r>
              <a:rPr lang="zh-CN" altLang="en-US" dirty="0"/>
              <a:t>条件断点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08336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371BF9-E8BB-4165-BE2A-1B876EC1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断点窗口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D6BE5-B28B-1E82-C70D-95E1E86E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9" y="2449745"/>
            <a:ext cx="11361041" cy="2618644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8166405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D4C2C-B573-4F94-A366-D3F48244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保存断点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4DEE25-69E2-40D7-9A57-F330BF6CC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关闭</a:t>
            </a:r>
            <a:r>
              <a:rPr lang="en-US" altLang="zh-CN" dirty="0"/>
              <a:t>x64dbg</a:t>
            </a:r>
            <a:r>
              <a:rPr lang="zh-CN" altLang="en-US" dirty="0"/>
              <a:t>之后，</a:t>
            </a:r>
            <a:r>
              <a:rPr lang="en-US" altLang="zh-CN" dirty="0"/>
              <a:t> x64dbg</a:t>
            </a:r>
            <a:r>
              <a:rPr lang="zh-CN" altLang="en-US" dirty="0"/>
              <a:t>会自动保存调试时设置的断点信息。</a:t>
            </a:r>
            <a:endParaRPr lang="en-US" altLang="zh-CN" dirty="0"/>
          </a:p>
          <a:p>
            <a:r>
              <a:rPr lang="zh-CN" altLang="en-US" dirty="0"/>
              <a:t>再次打开</a:t>
            </a:r>
            <a:r>
              <a:rPr lang="en-US" altLang="zh-CN" dirty="0"/>
              <a:t>x64dbg</a:t>
            </a:r>
            <a:r>
              <a:rPr lang="zh-CN" altLang="en-US" dirty="0"/>
              <a:t>调试相同的程序，断点信息还在。</a:t>
            </a:r>
          </a:p>
        </p:txBody>
      </p:sp>
    </p:spTree>
    <p:extLst>
      <p:ext uri="{BB962C8B-B14F-4D97-AF65-F5344CB8AC3E}">
        <p14:creationId xmlns:p14="http://schemas.microsoft.com/office/powerpoint/2010/main" val="8843623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5DBED-A96B-49C1-B7AF-D74CAB7F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2F754-F9FE-4A65-9BC7-D21ADCB90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8"/>
            <a:ext cx="7940675" cy="4534210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x64dbg</a:t>
            </a:r>
            <a:r>
              <a:rPr lang="zh-CN" altLang="en-US" dirty="0"/>
              <a:t>中可以使用</a:t>
            </a:r>
            <a:r>
              <a:rPr lang="en-US" altLang="zh-CN" dirty="0"/>
              <a:t>bp</a:t>
            </a:r>
            <a:r>
              <a:rPr lang="zh-CN" altLang="en-US" dirty="0"/>
              <a:t>命令或者“</a:t>
            </a:r>
            <a:r>
              <a:rPr lang="en-US" altLang="zh-CN" dirty="0"/>
              <a:t>F2”</a:t>
            </a:r>
            <a:r>
              <a:rPr lang="zh-CN" altLang="en-US" dirty="0"/>
              <a:t>快捷键来设置</a:t>
            </a:r>
            <a:r>
              <a:rPr lang="en-US" altLang="zh-CN" dirty="0"/>
              <a:t>/</a:t>
            </a:r>
            <a:r>
              <a:rPr lang="zh-CN" altLang="en-US" dirty="0"/>
              <a:t>消断点。</a:t>
            </a:r>
          </a:p>
          <a:p>
            <a:pPr lvl="1"/>
            <a:r>
              <a:rPr lang="en-US" altLang="zh-CN" dirty="0"/>
              <a:t>INT 3</a:t>
            </a:r>
            <a:r>
              <a:rPr lang="zh-CN" altLang="en-US" dirty="0"/>
              <a:t>指令替换原始</a:t>
            </a:r>
            <a:r>
              <a:rPr lang="en-US" altLang="zh-CN" dirty="0"/>
              <a:t>CPU</a:t>
            </a:r>
            <a:r>
              <a:rPr lang="zh-CN" altLang="en-US" dirty="0"/>
              <a:t>指令，操作码是</a:t>
            </a:r>
            <a:r>
              <a:rPr lang="en-US" altLang="zh-CN" dirty="0">
                <a:solidFill>
                  <a:srgbClr val="FF0000"/>
                </a:solidFill>
              </a:rPr>
              <a:t>0xCC</a:t>
            </a:r>
          </a:p>
          <a:p>
            <a:pPr lvl="1"/>
            <a:r>
              <a:rPr lang="en-US" altLang="zh-CN" dirty="0"/>
              <a:t>INT 3</a:t>
            </a:r>
            <a:r>
              <a:rPr lang="zh-CN" altLang="en-US" dirty="0"/>
              <a:t>指令产生异常，停止程序执行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捕获异常</a:t>
            </a:r>
          </a:p>
          <a:p>
            <a:pPr lvl="1"/>
            <a:r>
              <a:rPr lang="zh-CN" altLang="en-US" dirty="0"/>
              <a:t>恢复原始的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57633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3D2E0-FDDE-4996-9C3D-D8BF6038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2CCE5-20D5-4F76-ADD2-B9026EC84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</a:p>
          <a:p>
            <a:pPr lvl="1"/>
            <a:r>
              <a:rPr lang="zh-CN" altLang="en-US" dirty="0"/>
              <a:t>可以设置无数个断点</a:t>
            </a:r>
          </a:p>
          <a:p>
            <a:r>
              <a:rPr lang="zh-CN" altLang="en-US" dirty="0"/>
              <a:t>缺点</a:t>
            </a:r>
          </a:p>
          <a:p>
            <a:pPr lvl="1"/>
            <a:r>
              <a:rPr lang="zh-CN" altLang="en-US" dirty="0"/>
              <a:t>修改了原始程序的机器码</a:t>
            </a:r>
          </a:p>
          <a:p>
            <a:pPr lvl="1"/>
            <a:r>
              <a:rPr lang="zh-CN" altLang="en-US" dirty="0"/>
              <a:t>容易被软件检测到</a:t>
            </a:r>
          </a:p>
          <a:p>
            <a:pPr lvl="2"/>
            <a:r>
              <a:rPr lang="zh-CN" altLang="en-US" dirty="0"/>
              <a:t>检测</a:t>
            </a:r>
            <a:r>
              <a:rPr lang="en-US" altLang="zh-CN" dirty="0"/>
              <a:t>API</a:t>
            </a:r>
            <a:r>
              <a:rPr lang="zh-CN" altLang="en-US" dirty="0"/>
              <a:t>函数入口点是否为</a:t>
            </a:r>
            <a:r>
              <a:rPr lang="en-US" altLang="zh-CN" dirty="0">
                <a:solidFill>
                  <a:srgbClr val="FF0000"/>
                </a:solidFill>
              </a:rPr>
              <a:t>0xCC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84471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79A76-1D27-40C6-80A4-32AE901E9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C8965A-8290-4B67-A275-C00AC1966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一些软件会检测</a:t>
            </a:r>
            <a:r>
              <a:rPr lang="en-US" altLang="zh-CN" dirty="0"/>
              <a:t>API</a:t>
            </a:r>
            <a:r>
              <a:rPr lang="zh-CN" altLang="en-US" dirty="0"/>
              <a:t>的首地址是否为</a:t>
            </a:r>
            <a:r>
              <a:rPr lang="en-US" altLang="zh-CN" dirty="0"/>
              <a:t>0xCC</a:t>
            </a:r>
            <a:r>
              <a:rPr lang="zh-CN" altLang="en-US" dirty="0"/>
              <a:t>来检测</a:t>
            </a:r>
            <a:r>
              <a:rPr lang="en-US" altLang="zh-CN" dirty="0"/>
              <a:t>INT 3</a:t>
            </a:r>
            <a:r>
              <a:rPr lang="zh-CN" altLang="en-US" dirty="0"/>
              <a:t>断点。方法是取得检测函数的地址，然后读取它的第</a:t>
            </a:r>
            <a:r>
              <a:rPr lang="en-US" altLang="zh-CN" dirty="0"/>
              <a:t>1</a:t>
            </a:r>
            <a:r>
              <a:rPr lang="zh-CN" altLang="en-US" dirty="0"/>
              <a:t>个字节，判断它是否等于“</a:t>
            </a:r>
            <a:r>
              <a:rPr lang="en-US" altLang="zh-CN" dirty="0"/>
              <a:t>CC"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0B7343-5A18-48D1-AA34-841D2C8EB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590" y="4190351"/>
            <a:ext cx="7380820" cy="142594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2525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3B6FA-E867-4257-9EE2-0CEA9FD76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软件断点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052A76-AC1D-4791-83D3-6F8245F67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将软件断点设在函数</a:t>
            </a:r>
            <a:r>
              <a:rPr lang="zh-CN" altLang="en-US" dirty="0">
                <a:solidFill>
                  <a:srgbClr val="FF0000"/>
                </a:solidFill>
              </a:rPr>
              <a:t>内部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00"/>
                </a:solidFill>
              </a:rPr>
              <a:t>末尾</a:t>
            </a:r>
            <a:r>
              <a:rPr lang="zh-CN" altLang="en-US" dirty="0"/>
              <a:t>，例如将断点设在函数入口的下一行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硬件断点</a:t>
            </a:r>
          </a:p>
        </p:txBody>
      </p:sp>
    </p:spTree>
    <p:extLst>
      <p:ext uri="{BB962C8B-B14F-4D97-AF65-F5344CB8AC3E}">
        <p14:creationId xmlns:p14="http://schemas.microsoft.com/office/powerpoint/2010/main" val="4789425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319EE08-DD52-4423-90B6-C0287E531B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软件断点同时可以设置多少个？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D3C553-7C0A-4375-89D0-8F5F7F0F7AA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43A5D7-065A-479E-ABF2-675BA885D91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A6BC5DB-297A-4B00-8CD3-471F7024C9C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ACD821-9B07-4696-8344-068A973962F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任意多个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570680-E3F9-4313-8360-7F940BA35D5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EC152B-A625-43B7-A233-AF07023B216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76310D-904E-4D5B-8D15-C7DD258CD60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86AE92-0BC8-4F78-92E7-DF1F7F76841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FE3D45B-91E4-4CF5-A388-ABD04608555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C1EE8A6-AFF8-451B-B37A-F6BA99742FB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8916B6F8-1704-4628-A9CF-F74F21ED273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D9A9333F-3CBA-443E-B213-C3E5B7B9A76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6A1EBDD0-0737-4420-8EE3-EF7F78B2C0D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032836D-BD37-4C6A-8171-F220C459DA3B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663815E-D7B3-4134-8B00-7C0BF70BC6D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47505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57D82-E4E4-4311-9C54-DB1F26F7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B4EEBD-5201-4F15-9B09-69D0C21D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不需要将</a:t>
            </a:r>
            <a:r>
              <a:rPr lang="en-US" altLang="zh-CN" dirty="0"/>
              <a:t>CPU</a:t>
            </a:r>
            <a:r>
              <a:rPr lang="zh-CN" altLang="en-US" dirty="0"/>
              <a:t>指令首字节修改为</a:t>
            </a:r>
            <a:r>
              <a:rPr lang="en-US" altLang="zh-CN" dirty="0"/>
              <a:t>"CC"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基于</a:t>
            </a:r>
            <a:r>
              <a:rPr lang="en-US" altLang="zh-CN" dirty="0"/>
              <a:t>CPU</a:t>
            </a:r>
            <a:r>
              <a:rPr lang="zh-CN" altLang="en-US" dirty="0"/>
              <a:t>中断</a:t>
            </a:r>
            <a:r>
              <a:rPr lang="en-US" altLang="zh-CN" dirty="0" err="1">
                <a:solidFill>
                  <a:srgbClr val="FF0000"/>
                </a:solidFill>
              </a:rPr>
              <a:t>DRx</a:t>
            </a:r>
            <a:r>
              <a:rPr lang="zh-CN" altLang="en-US" dirty="0">
                <a:solidFill>
                  <a:srgbClr val="FF0000"/>
                </a:solidFill>
              </a:rPr>
              <a:t>寄存器</a:t>
            </a:r>
            <a:r>
              <a:rPr lang="zh-CN" altLang="en-US" dirty="0"/>
              <a:t>设置</a:t>
            </a:r>
            <a:endParaRPr lang="en-US" altLang="zh-CN" dirty="0"/>
          </a:p>
          <a:p>
            <a:r>
              <a:rPr lang="zh-CN" altLang="en-US" dirty="0"/>
              <a:t>硬件断点分为三类：</a:t>
            </a:r>
            <a:endParaRPr lang="en-US" altLang="zh-CN" dirty="0"/>
          </a:p>
          <a:p>
            <a:pPr lvl="1"/>
            <a:r>
              <a:rPr lang="zh-CN" altLang="en-US" dirty="0"/>
              <a:t>硬件执行断点</a:t>
            </a:r>
            <a:endParaRPr lang="en-US" altLang="zh-CN" dirty="0"/>
          </a:p>
          <a:p>
            <a:pPr lvl="1"/>
            <a:r>
              <a:rPr lang="zh-CN" altLang="en-US" dirty="0"/>
              <a:t>硬件读取断点</a:t>
            </a:r>
            <a:endParaRPr lang="en-US" altLang="zh-CN" dirty="0"/>
          </a:p>
          <a:p>
            <a:pPr lvl="1"/>
            <a:r>
              <a:rPr lang="zh-CN" altLang="en-US" dirty="0"/>
              <a:t>硬件写入断点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11498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C8C83-BDFF-4282-96B5-ED88FD6F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95A72E-09C4-49F6-9926-676B83E03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实现方式</a:t>
            </a:r>
          </a:p>
          <a:p>
            <a:pPr lvl="1"/>
            <a:r>
              <a:rPr lang="zh-CN" altLang="en-US" dirty="0"/>
              <a:t>将断点的内存地址存储到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 err="1"/>
              <a:t>DRx</a:t>
            </a:r>
            <a:r>
              <a:rPr lang="zh-CN" altLang="en-US" dirty="0"/>
              <a:t>寄存器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执行过程中会判断下一条指令的地址与</a:t>
            </a:r>
            <a:r>
              <a:rPr lang="en-US" altLang="zh-CN" dirty="0" err="1"/>
              <a:t>DRx</a:t>
            </a:r>
            <a:r>
              <a:rPr lang="zh-CN" altLang="en-US" dirty="0"/>
              <a:t>寄存器中的地址是否一致</a:t>
            </a:r>
          </a:p>
          <a:p>
            <a:pPr lvl="1"/>
            <a:r>
              <a:rPr lang="zh-CN" altLang="en-US" dirty="0"/>
              <a:t>如果一致，</a:t>
            </a:r>
            <a:r>
              <a:rPr lang="en-US" altLang="zh-CN" dirty="0"/>
              <a:t>CPU</a:t>
            </a:r>
            <a:r>
              <a:rPr lang="zh-CN" altLang="en-US" dirty="0"/>
              <a:t>产生异常，中止程序执行，将控制权转移给调试器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3291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B9F68-EBB1-407A-9625-125AF442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5E16BA7-9181-4523-8723-B9FE82C0D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854" y="1825625"/>
            <a:ext cx="5624291" cy="4351338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31646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BB0AA-3FAB-4BAE-AD0D-9174611A6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E12D39-8E6A-4A2A-BABF-52FBFF07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优点</a:t>
            </a:r>
          </a:p>
          <a:p>
            <a:pPr lvl="1"/>
            <a:r>
              <a:rPr lang="zh-CN" altLang="en-US" dirty="0"/>
              <a:t>隐蔽性强，不修改</a:t>
            </a:r>
            <a:r>
              <a:rPr lang="en-US" altLang="zh-CN" dirty="0"/>
              <a:t>CPU</a:t>
            </a:r>
            <a:r>
              <a:rPr lang="zh-CN" altLang="en-US" dirty="0"/>
              <a:t>指令，更难检测到</a:t>
            </a:r>
          </a:p>
          <a:p>
            <a:pPr lvl="1"/>
            <a:r>
              <a:rPr lang="zh-CN" altLang="en-US" dirty="0"/>
              <a:t>速度快，在</a:t>
            </a:r>
            <a:r>
              <a:rPr lang="en-US" altLang="zh-CN" dirty="0"/>
              <a:t>CPU</a:t>
            </a:r>
            <a:r>
              <a:rPr lang="zh-CN" altLang="en-US" dirty="0"/>
              <a:t>内部进行判断</a:t>
            </a:r>
          </a:p>
          <a:p>
            <a:r>
              <a:rPr lang="zh-CN" altLang="en-US" dirty="0"/>
              <a:t>缺点</a:t>
            </a:r>
          </a:p>
          <a:p>
            <a:pPr lvl="1"/>
            <a:r>
              <a:rPr lang="zh-CN" altLang="en-US" dirty="0"/>
              <a:t>只有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CPU</a:t>
            </a:r>
            <a:r>
              <a:rPr lang="zh-CN" altLang="en-US" dirty="0"/>
              <a:t>寄存器存储断点地址，</a:t>
            </a:r>
            <a:r>
              <a:rPr lang="en-US" altLang="zh-CN" dirty="0"/>
              <a:t>DR0</a:t>
            </a:r>
            <a:r>
              <a:rPr lang="zh-CN" altLang="en-US" dirty="0"/>
              <a:t>到</a:t>
            </a:r>
            <a:r>
              <a:rPr lang="en-US" altLang="zh-CN" dirty="0"/>
              <a:t>DR3</a:t>
            </a:r>
          </a:p>
          <a:p>
            <a:pPr lvl="1"/>
            <a:r>
              <a:rPr lang="zh-CN" altLang="en-US" dirty="0"/>
              <a:t>所有硬件断点共享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 err="1"/>
              <a:t>DRx</a:t>
            </a:r>
            <a:r>
              <a:rPr lang="zh-CN" altLang="en-US" dirty="0"/>
              <a:t>寄存器，包括后面介绍的硬件读取</a:t>
            </a:r>
            <a:r>
              <a:rPr lang="en-US" altLang="zh-CN" dirty="0"/>
              <a:t>/</a:t>
            </a:r>
            <a:r>
              <a:rPr lang="zh-CN" altLang="en-US" dirty="0"/>
              <a:t>写入断点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01624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4DDAE-FD48-4604-A726-5DFF6F11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1D527A-2EF1-4DDB-8C31-13D72D064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在指定的代码行单击右键，执行快捷菜单中的“断点</a:t>
            </a:r>
            <a:r>
              <a:rPr lang="en-US" altLang="zh-CN" dirty="0"/>
              <a:t>”→“</a:t>
            </a:r>
            <a:r>
              <a:rPr lang="zh-CN" altLang="en-US" dirty="0"/>
              <a:t>硬件断点”</a:t>
            </a:r>
          </a:p>
          <a:p>
            <a:r>
              <a:rPr lang="zh-CN" altLang="en-US" dirty="0"/>
              <a:t>在命令行中，输入命令“</a:t>
            </a:r>
            <a:r>
              <a:rPr lang="en-US" altLang="zh-CN" dirty="0"/>
              <a:t>he </a:t>
            </a:r>
            <a:r>
              <a:rPr lang="zh-CN" altLang="en-US" dirty="0"/>
              <a:t>断点地址”</a:t>
            </a:r>
          </a:p>
        </p:txBody>
      </p:sp>
    </p:spTree>
    <p:extLst>
      <p:ext uri="{BB962C8B-B14F-4D97-AF65-F5344CB8AC3E}">
        <p14:creationId xmlns:p14="http://schemas.microsoft.com/office/powerpoint/2010/main" val="27896634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424BD-4DF7-4798-AB1C-74FD6D84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硬件执行断点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7FB56C4C-EB6B-46AB-913A-AFEAF763E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895" y="2765074"/>
            <a:ext cx="10394209" cy="226801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28201421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ADA38-9D59-4273-AE46-4EAE31E8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查看和管理硬件断点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6FE80-B2F5-4D56-92D7-680C1A4D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1784351"/>
            <a:ext cx="7940675" cy="4092575"/>
          </a:xfrm>
        </p:spPr>
        <p:txBody>
          <a:bodyPr/>
          <a:lstStyle/>
          <a:p>
            <a:r>
              <a:rPr lang="zh-CN" altLang="en-US" dirty="0"/>
              <a:t>单击菜单项“查看</a:t>
            </a:r>
            <a:r>
              <a:rPr lang="en-US" altLang="zh-CN" dirty="0"/>
              <a:t>” →“</a:t>
            </a:r>
            <a:r>
              <a:rPr lang="zh-CN" altLang="en-US" dirty="0"/>
              <a:t>硬件断点</a:t>
            </a:r>
            <a:r>
              <a:rPr lang="en-US" altLang="zh-CN" dirty="0"/>
              <a:t>"</a:t>
            </a:r>
            <a:r>
              <a:rPr lang="zh-CN" altLang="en-US" dirty="0"/>
              <a:t>，打开硬件断点面板</a:t>
            </a:r>
          </a:p>
          <a:p>
            <a:r>
              <a:rPr lang="zh-CN" altLang="en-US" dirty="0"/>
              <a:t>单击“</a:t>
            </a:r>
            <a:r>
              <a:rPr lang="en-US" altLang="zh-CN" dirty="0"/>
              <a:t>Delete"</a:t>
            </a:r>
            <a:r>
              <a:rPr lang="zh-CN" altLang="en-US" dirty="0"/>
              <a:t>按钮删除相应的硬件断点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453284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ADA38-9D59-4273-AE46-4EAE31E8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硬件写入</a:t>
            </a:r>
            <a:r>
              <a:rPr lang="en-US" altLang="zh-CN" dirty="0"/>
              <a:t>/</a:t>
            </a:r>
            <a:r>
              <a:rPr lang="zh-CN" altLang="en-US" dirty="0"/>
              <a:t>读取断点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6FE80-B2F5-4D56-92D7-680C1A4D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663" y="1784351"/>
            <a:ext cx="7940675" cy="4092575"/>
          </a:xfrm>
        </p:spPr>
        <p:txBody>
          <a:bodyPr>
            <a:normAutofit/>
          </a:bodyPr>
          <a:lstStyle/>
          <a:p>
            <a:r>
              <a:rPr lang="zh-CN" altLang="en-US" dirty="0"/>
              <a:t>硬件断点除了可以在特定指令被执行时触发，还可以在特定字节被读取时触发</a:t>
            </a:r>
            <a:endParaRPr lang="en-US" altLang="zh-CN" dirty="0"/>
          </a:p>
          <a:p>
            <a:r>
              <a:rPr lang="zh-CN" altLang="en-US" dirty="0"/>
              <a:t>可以用于发现内存中的数据何时被修改</a:t>
            </a:r>
            <a:endParaRPr lang="en-US" altLang="zh-CN" dirty="0"/>
          </a:p>
          <a:p>
            <a:r>
              <a:rPr lang="zh-CN" altLang="en-US" dirty="0"/>
              <a:t>这样的断点我们成为</a:t>
            </a:r>
            <a:r>
              <a:rPr lang="zh-CN" altLang="en-US" dirty="0">
                <a:solidFill>
                  <a:srgbClr val="FF0000"/>
                </a:solidFill>
              </a:rPr>
              <a:t>硬件写入断点</a:t>
            </a:r>
            <a:r>
              <a:rPr lang="zh-CN" altLang="en-US" dirty="0"/>
              <a:t>或者</a:t>
            </a:r>
            <a:r>
              <a:rPr lang="zh-CN" altLang="en-US" dirty="0">
                <a:solidFill>
                  <a:srgbClr val="FF0000"/>
                </a:solidFill>
              </a:rPr>
              <a:t>硬件读取断点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8118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DE247-6CF0-4B6D-8FCA-F3A33D36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设置硬件读取</a:t>
            </a:r>
            <a:r>
              <a:rPr lang="en-US" altLang="zh-CN" dirty="0"/>
              <a:t>/</a:t>
            </a:r>
            <a:r>
              <a:rPr lang="zh-CN" altLang="en-US" dirty="0"/>
              <a:t>写入断点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4AF51-7B77-A24F-4B0C-3491AFEB5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096" y="1951066"/>
            <a:ext cx="6942425" cy="4257890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503D2CC-9D3A-764B-D55A-798E5A59C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025" y="1861784"/>
            <a:ext cx="3882434" cy="4092575"/>
          </a:xfrm>
        </p:spPr>
        <p:txBody>
          <a:bodyPr>
            <a:normAutofit/>
          </a:bodyPr>
          <a:lstStyle/>
          <a:p>
            <a:r>
              <a:rPr lang="zh-CN" altLang="en-US" dirty="0"/>
              <a:t>硬件写入</a:t>
            </a:r>
            <a:r>
              <a:rPr lang="en-US" altLang="zh-CN" dirty="0"/>
              <a:t>/</a:t>
            </a:r>
            <a:r>
              <a:rPr lang="zh-CN" altLang="en-US" dirty="0"/>
              <a:t>读取断点可以设置触发条件为读取</a:t>
            </a:r>
            <a:r>
              <a:rPr lang="en-US" altLang="zh-CN" dirty="0"/>
              <a:t>/</a:t>
            </a:r>
            <a:r>
              <a:rPr lang="zh-CN" altLang="en-US" dirty="0"/>
              <a:t>写入</a:t>
            </a:r>
            <a:r>
              <a:rPr lang="en-US" altLang="zh-CN" dirty="0"/>
              <a:t>/</a:t>
            </a:r>
            <a:r>
              <a:rPr lang="zh-CN" altLang="en-US" dirty="0"/>
              <a:t>执行</a:t>
            </a:r>
          </a:p>
          <a:p>
            <a:r>
              <a:rPr lang="zh-CN" altLang="en-US" dirty="0"/>
              <a:t>硬件写入</a:t>
            </a:r>
            <a:r>
              <a:rPr lang="en-US" altLang="zh-CN" dirty="0"/>
              <a:t>/</a:t>
            </a:r>
            <a:r>
              <a:rPr lang="zh-CN" altLang="en-US" dirty="0"/>
              <a:t>读取断点可以设置大小位</a:t>
            </a:r>
            <a:r>
              <a:rPr lang="en-US" altLang="zh-CN" dirty="0"/>
              <a:t>1/2/4</a:t>
            </a:r>
            <a:r>
              <a:rPr lang="zh-CN" altLang="en-US" dirty="0"/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409872846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5DE13CD-9F0B-45AA-96BE-B99C2E88E3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硬件断点同时最多可以设置几个？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F185AE-EA20-45E0-83EE-108068BD4F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81DA1F-C2FD-45E4-AA13-B7741EC5FB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2A9245-48C4-4A43-BB74-D6CF160ABA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DAAA469-30AB-4CD9-9E35-B49431AA271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任意多个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47AC203-C3B0-4DF7-A7E7-9FE83F5568D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18353BD-C330-44B2-B50F-08634B93503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127DFD3-9522-4EA2-9085-418EF258D2AF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AA36301-FF29-45D1-9966-0055A7ACB10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68A68BC-4764-436C-857E-527DBB0EF08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CBA3DCC-F31F-485D-B757-C242C9DD9755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468F3DE8-D9A9-427A-8580-DB3C904FDE4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AB84781-F6CA-462F-8A32-C30006EA1B8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9D9F5C7E-3316-4FAB-BC4A-07A545D2F21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F9D4AE8-BE1E-49C1-B5E7-7CCB0A10536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5844E54-1AF8-442B-91D9-4D983868456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13784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EE5CA-1AF2-42E7-8160-C5A6E2FF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9BBD4-95B2-4DF9-9078-2EFD17597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内存页的属性</a:t>
            </a:r>
          </a:p>
          <a:p>
            <a:pPr lvl="1"/>
            <a:r>
              <a:rPr lang="zh-CN" altLang="en-US" dirty="0"/>
              <a:t>可读 </a:t>
            </a:r>
            <a:r>
              <a:rPr lang="en-US" altLang="zh-CN" dirty="0"/>
              <a:t>readable</a:t>
            </a:r>
          </a:p>
          <a:p>
            <a:pPr lvl="1"/>
            <a:r>
              <a:rPr lang="zh-CN" altLang="en-US" dirty="0"/>
              <a:t>可写 </a:t>
            </a:r>
            <a:r>
              <a:rPr lang="en-US" altLang="zh-CN" dirty="0"/>
              <a:t>writable</a:t>
            </a:r>
          </a:p>
          <a:p>
            <a:pPr lvl="1"/>
            <a:r>
              <a:rPr lang="zh-CN" altLang="en-US" dirty="0"/>
              <a:t>可执行 </a:t>
            </a:r>
            <a:r>
              <a:rPr lang="en-US" altLang="zh-CN" dirty="0"/>
              <a:t>executable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40D232-33C9-4BB4-876D-070E4C59D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29" y="4620754"/>
            <a:ext cx="8020743" cy="1008112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75730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14853-8C27-4BB5-802B-7AD16D3A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3CF61-A805-4B1E-97CD-72D73EF44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对所设的内存地址页设置不可访问或者不可写属性</a:t>
            </a:r>
          </a:p>
          <a:p>
            <a:r>
              <a:rPr lang="zh-CN" altLang="en-US" dirty="0"/>
              <a:t> 当被调试程序访问或者写入内存页时，产生异常，中断执行</a:t>
            </a:r>
          </a:p>
          <a:p>
            <a:r>
              <a:rPr lang="en-US" altLang="zh-CN" dirty="0"/>
              <a:t>CPU</a:t>
            </a:r>
            <a:r>
              <a:rPr lang="zh-CN" altLang="en-US" dirty="0"/>
              <a:t>将控制权交给</a:t>
            </a:r>
            <a:r>
              <a:rPr lang="en-US" altLang="zh-CN" dirty="0"/>
              <a:t>x64dbg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477940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A7F77-C48F-4051-A6BF-950B8D22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981076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内存断点原理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E2A10-99BD-464F-9729-547139697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7940675" cy="4092575"/>
          </a:xfrm>
        </p:spPr>
        <p:txBody>
          <a:bodyPr/>
          <a:lstStyle/>
          <a:p>
            <a:r>
              <a:rPr lang="zh-CN" altLang="en-US" dirty="0"/>
              <a:t> </a:t>
            </a:r>
            <a:r>
              <a:rPr lang="en-US" altLang="zh-CN" dirty="0"/>
              <a:t>x64dbg</a:t>
            </a:r>
            <a:r>
              <a:rPr lang="zh-CN" altLang="en-US" dirty="0"/>
              <a:t>比较异常地址是不是断点地址</a:t>
            </a:r>
          </a:p>
          <a:p>
            <a:r>
              <a:rPr lang="zh-CN" altLang="en-US" dirty="0"/>
              <a:t>如果是断点地址，就继续中断程序执行</a:t>
            </a:r>
          </a:p>
          <a:p>
            <a:r>
              <a:rPr lang="zh-CN" altLang="en-US" dirty="0"/>
              <a:t>如果不是断点地址，恢复程序的执行</a:t>
            </a:r>
          </a:p>
        </p:txBody>
      </p:sp>
    </p:spTree>
    <p:extLst>
      <p:ext uri="{BB962C8B-B14F-4D97-AF65-F5344CB8AC3E}">
        <p14:creationId xmlns:p14="http://schemas.microsoft.com/office/powerpoint/2010/main" val="36689380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DE247-6CF0-4B6D-8FCA-F3A33D36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设置内存断点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79C85DAB-C3EC-40D2-B7FD-5255DE2C0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9587" y="1977292"/>
            <a:ext cx="5812826" cy="4002134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57472789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2C5E6-A636-4A87-88D5-E89361BD9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22F38E-E790-4EC7-8DDA-627F10C4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程序中断在访问内存的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</a:p>
          <a:p>
            <a:pPr lvl="1"/>
            <a:r>
              <a:rPr lang="zh-CN" altLang="en-US" dirty="0"/>
              <a:t>还没有访问或者写入内存</a:t>
            </a:r>
          </a:p>
          <a:p>
            <a:r>
              <a:rPr lang="zh-CN" altLang="en-US" dirty="0"/>
              <a:t>硬件断点，程序中断在访问内存</a:t>
            </a:r>
            <a:r>
              <a:rPr lang="en-US" altLang="zh-CN" dirty="0"/>
              <a:t>CPU</a:t>
            </a:r>
            <a:r>
              <a:rPr lang="zh-CN" altLang="en-US" dirty="0"/>
              <a:t>指令的下一条指令</a:t>
            </a:r>
          </a:p>
          <a:p>
            <a:pPr lvl="1"/>
            <a:r>
              <a:rPr lang="zh-CN" altLang="en-US" dirty="0"/>
              <a:t>内存的访问或者写操作已经完成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46127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CC6CB-A898-47E3-8B07-193A13BD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6F057-1A1B-469B-9FF2-11C7A3F86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内存中的数据可以设置内存断点，内存中的</a:t>
            </a:r>
            <a:r>
              <a:rPr lang="zh-CN" altLang="en-US" dirty="0">
                <a:solidFill>
                  <a:srgbClr val="FF0000"/>
                </a:solidFill>
              </a:rPr>
              <a:t>指令</a:t>
            </a:r>
            <a:r>
              <a:rPr lang="zh-CN" altLang="en-US" dirty="0"/>
              <a:t>也可以设置内存断点</a:t>
            </a:r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指令存储在内存中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CPU</a:t>
            </a:r>
            <a:r>
              <a:rPr lang="zh-CN" altLang="en-US" dirty="0"/>
              <a:t>指令被执行的时候，</a:t>
            </a:r>
            <a:r>
              <a:rPr lang="en-US" altLang="zh-CN" dirty="0"/>
              <a:t>CPU</a:t>
            </a:r>
            <a:r>
              <a:rPr lang="zh-CN" altLang="en-US" dirty="0"/>
              <a:t>会访问内存读取下一条指令</a:t>
            </a:r>
          </a:p>
          <a:p>
            <a:pPr lvl="1"/>
            <a:r>
              <a:rPr lang="zh-CN" altLang="en-US" dirty="0"/>
              <a:t>触发内存访问异常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92294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C6B11-9AD6-4DE1-9A33-201C1641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1C6B3-0474-4C62-83A2-ED7402500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优点：</a:t>
            </a:r>
          </a:p>
          <a:p>
            <a:pPr lvl="1"/>
            <a:r>
              <a:rPr lang="zh-CN" altLang="en-US" dirty="0"/>
              <a:t>不需要修改</a:t>
            </a:r>
            <a:r>
              <a:rPr lang="en-US" altLang="zh-CN" dirty="0"/>
              <a:t>CPU</a:t>
            </a:r>
            <a:r>
              <a:rPr lang="zh-CN" altLang="en-US" dirty="0"/>
              <a:t>指令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INT 3</a:t>
            </a:r>
            <a:r>
              <a:rPr lang="zh-CN" altLang="en-US" dirty="0"/>
              <a:t>断点和硬件断点无效的时候可以使用内存断点</a:t>
            </a:r>
          </a:p>
        </p:txBody>
      </p:sp>
    </p:spTree>
    <p:extLst>
      <p:ext uri="{BB962C8B-B14F-4D97-AF65-F5344CB8AC3E}">
        <p14:creationId xmlns:p14="http://schemas.microsoft.com/office/powerpoint/2010/main" val="385450153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96AB1-3D4A-49B5-8BB8-837EE87A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057BF9-A9D3-4B72-BE51-F0BDA299F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缺点：</a:t>
            </a:r>
          </a:p>
          <a:p>
            <a:pPr lvl="1"/>
            <a:r>
              <a:rPr lang="zh-CN" altLang="en-US" dirty="0"/>
              <a:t>执行速度慢</a:t>
            </a:r>
          </a:p>
          <a:p>
            <a:pPr lvl="1"/>
            <a:r>
              <a:rPr lang="zh-CN" altLang="en-US" dirty="0"/>
              <a:t>每次出现内存异常时，都要通过比较来确定是否应该中断程序执行</a:t>
            </a:r>
          </a:p>
          <a:p>
            <a:pPr lvl="1"/>
            <a:r>
              <a:rPr lang="zh-CN" altLang="en-US" dirty="0"/>
              <a:t>内存断点会降低</a:t>
            </a:r>
            <a:r>
              <a:rPr lang="en-US" altLang="zh-CN" dirty="0"/>
              <a:t>x64dbg</a:t>
            </a:r>
            <a:r>
              <a:rPr lang="zh-CN" altLang="en-US" dirty="0"/>
              <a:t>的执行速度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同一时间，同一内存页上，只能设置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个内存断点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102105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B9D954-FE55-426E-A2D5-22AAD58C0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2F41BD2-655C-4A0B-B925-9F827A0A2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1452"/>
          <a:stretch/>
        </p:blipFill>
        <p:spPr>
          <a:xfrm>
            <a:off x="1485582" y="2657231"/>
            <a:ext cx="9220836" cy="2172791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10667637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8BD5B-DBEC-4A93-BDB3-BFC415BB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内存断点的删除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19F116-4E5A-E3FE-2FE7-3DFB3FDCD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488" y="2257054"/>
            <a:ext cx="7351023" cy="2359000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37058815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E52A3E9-7EAA-4FAE-A86D-B099E2B517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支持哪些内存访问行为的断点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8B50E4-70FD-432E-971E-76F1095332C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内存读断点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47CFBB-5145-40F8-AAD5-328015EE597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内存写断点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C23827-B605-46FC-8146-17AF57F37A4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内存执行断点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E5D95D-70CA-40CA-BE89-F48CA7047C2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内存读、写、执行组合的断点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5783D1-FEBE-4997-B9E1-F9FAEF58264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4D941C-0992-4151-B229-69AA2A00C14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2505EA-56DB-40FF-83D6-0E7C6A0EE88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BAFF63-A4CF-4A15-AE5F-B7A8BAFC939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B5C73E8-5332-40A3-BB91-432DACDAD54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E4ABBDB-42F1-4A42-879C-61CFD421AC2F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4A6DBBD-2EB2-4DB7-86D7-F52297BC97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7D7BF51-DD78-4BB3-83BA-B62EAD64298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BEEED7F2-902A-41F2-A454-7F9A6E25ED7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38FF4138-3C99-46CB-817E-39C520D94E9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44569E77-3FC2-401D-90D9-59F9B9C6A1A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707452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7706E26-F264-4943-B086-A0371C5D83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对于同一地址，内存断点同时可以设置几个？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415562-EB34-4F4C-8DFE-83CE75133A9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E49342-1376-45CF-9A93-5C182EEE5C6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1C2015-EF06-4404-AF0D-E25F072BE80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63F9C1-A547-4964-8D68-D5159CEF24F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任意多个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82F0374-324E-4537-8651-F9548CAF9A4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47EAA2E-62B5-4155-828A-F483B406452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6CDEA4E-671F-4738-951B-AF15DA1BBED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ADF22A8-8558-41A7-BCBB-D2800A7FBF0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4C472E-FFE7-4961-A32A-736931FAEA5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E74953E-4BD8-4EB6-AE32-6D234D15858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0AD5A73-FFFD-456C-B572-311D4EF3914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6D980F7-B03E-4F4A-9080-22E78E2F576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160EE42-A1DC-46C8-A9EB-E40F17ED6E5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28E09BD-9758-41CF-AF70-ED4E0C763337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FFD1DF8-4648-4F9D-929B-F0CF294A1DC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16257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942A5-668A-4FFB-B07F-FF1E46CF7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2E260E-4B98-4836-AAA5-7B904CDAE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是由消息驱动的</a:t>
            </a:r>
          </a:p>
          <a:p>
            <a:r>
              <a:rPr lang="zh-CN" altLang="en-US" dirty="0"/>
              <a:t>消息断点：当某个特定窗口函数接收到某个特定消息时，消息断点将使程序中断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38202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6F47C-A158-4E0F-9F74-2D0382E7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65378-1B7D-46A2-906D-71F7D1EB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消息断点与</a:t>
            </a:r>
            <a:r>
              <a:rPr lang="en-US" altLang="zh-CN" dirty="0"/>
              <a:t>INT 3</a:t>
            </a:r>
            <a:r>
              <a:rPr lang="zh-CN" altLang="en-US" dirty="0"/>
              <a:t>断点的区别</a:t>
            </a:r>
          </a:p>
          <a:p>
            <a:pPr lvl="1"/>
            <a:r>
              <a:rPr lang="en-US" altLang="zh-CN" dirty="0"/>
              <a:t>INT 3</a:t>
            </a:r>
            <a:r>
              <a:rPr lang="zh-CN" altLang="en-US" dirty="0"/>
              <a:t>断点可以在程序启动之前设置</a:t>
            </a:r>
          </a:p>
          <a:p>
            <a:pPr lvl="1"/>
            <a:r>
              <a:rPr lang="zh-CN" altLang="en-US" dirty="0"/>
              <a:t>消息断点只有在</a:t>
            </a:r>
            <a:r>
              <a:rPr lang="zh-CN" altLang="en-US" dirty="0">
                <a:solidFill>
                  <a:srgbClr val="FF0000"/>
                </a:solidFill>
              </a:rPr>
              <a:t>窗口</a:t>
            </a:r>
            <a:r>
              <a:rPr lang="zh-CN" altLang="en-US" dirty="0"/>
              <a:t>被创建之后才能被设置并拦截消息。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11721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EA008-01D5-4700-B222-A859C8B04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D0250E-8B3A-4B0D-B4A3-94F689576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7940675" cy="4562491"/>
          </a:xfrm>
        </p:spPr>
        <p:txBody>
          <a:bodyPr/>
          <a:lstStyle/>
          <a:p>
            <a:r>
              <a:rPr lang="zh-CN" altLang="en-US" dirty="0"/>
              <a:t>当用户单击一个按钮、移动光标时，都会产生消息发送给当前窗体。</a:t>
            </a:r>
          </a:p>
          <a:p>
            <a:r>
              <a:rPr lang="en-US" altLang="zh-CN" dirty="0"/>
              <a:t>Windows</a:t>
            </a:r>
            <a:r>
              <a:rPr lang="zh-CN" altLang="en-US" dirty="0"/>
              <a:t>消息有</a:t>
            </a:r>
            <a:r>
              <a:rPr lang="en-US" altLang="zh-CN" dirty="0"/>
              <a:t>4</a:t>
            </a:r>
            <a:r>
              <a:rPr lang="zh-CN" altLang="en-US" dirty="0"/>
              <a:t>个参数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个窗口句柄</a:t>
            </a:r>
            <a:r>
              <a:rPr lang="en-US" altLang="zh-CN" dirty="0"/>
              <a:t>(</a:t>
            </a:r>
            <a:r>
              <a:rPr lang="en-US" altLang="zh-CN" dirty="0" err="1"/>
              <a:t>hwnd</a:t>
            </a:r>
            <a:r>
              <a:rPr lang="en-US" altLang="zh-CN" dirty="0"/>
              <a:t> )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个消息编号</a:t>
            </a:r>
            <a:r>
              <a:rPr lang="en-US" altLang="zh-CN" dirty="0"/>
              <a:t>(msg)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32</a:t>
            </a:r>
            <a:r>
              <a:rPr lang="zh-CN" altLang="en-US" dirty="0"/>
              <a:t>位长</a:t>
            </a:r>
            <a:r>
              <a:rPr lang="en-US" altLang="zh-CN" dirty="0"/>
              <a:t>(long)</a:t>
            </a:r>
            <a:r>
              <a:rPr lang="zh-CN" altLang="en-US" dirty="0"/>
              <a:t>的参数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662105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F2B-32A2-4DFB-915A-5FBF03EA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3219E6-A714-495F-AE34-C00B4EA0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通过</a:t>
            </a:r>
            <a:r>
              <a:rPr lang="zh-CN" altLang="en-US" dirty="0">
                <a:solidFill>
                  <a:srgbClr val="FF0000"/>
                </a:solidFill>
              </a:rPr>
              <a:t>句柄</a:t>
            </a:r>
            <a:r>
              <a:rPr lang="zh-CN" altLang="en-US" dirty="0"/>
              <a:t>来标识它所代表的对象。</a:t>
            </a:r>
          </a:p>
          <a:p>
            <a:r>
              <a:rPr lang="zh-CN" altLang="en-US" dirty="0"/>
              <a:t>在单击某个按钮时，</a:t>
            </a:r>
            <a:r>
              <a:rPr lang="en-US" altLang="zh-CN" dirty="0"/>
              <a:t>Windows</a:t>
            </a:r>
            <a:r>
              <a:rPr lang="zh-CN" altLang="en-US" dirty="0"/>
              <a:t>通过句柄来判断单击了哪一个按钮，然后发送相应的</a:t>
            </a:r>
            <a:r>
              <a:rPr lang="zh-CN" altLang="en-US" dirty="0">
                <a:solidFill>
                  <a:srgbClr val="FF0000"/>
                </a:solidFill>
              </a:rPr>
              <a:t>消息</a:t>
            </a:r>
            <a:r>
              <a:rPr lang="zh-CN" altLang="en-US" dirty="0"/>
              <a:t>来通知程序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370312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AD7C4-7D7F-4BFD-BAF1-8A312E9D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31B704A-78FC-47A9-B8C9-5F7D01332AA8}"/>
              </a:ext>
            </a:extLst>
          </p:cNvPr>
          <p:cNvSpPr txBox="1">
            <a:spLocks/>
          </p:cNvSpPr>
          <p:nvPr/>
        </p:nvSpPr>
        <p:spPr bwMode="auto">
          <a:xfrm>
            <a:off x="1464629" y="1752220"/>
            <a:ext cx="8602480" cy="272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charset="2"/>
              <a:buChar char="l"/>
              <a:defRPr sz="32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742950" indent="-28575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charset="2"/>
              <a:buChar char="l"/>
              <a:defRPr sz="2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11430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4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6002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2057400" indent="-22860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charset="2"/>
              <a:buChar char="l"/>
              <a:defRPr sz="2000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zh-CN" altLang="en-US" sz="2200" dirty="0"/>
              <a:t>在句柄页签中，单击右键</a:t>
            </a:r>
            <a:r>
              <a:rPr lang="en-US" altLang="zh-CN" sz="2200" dirty="0"/>
              <a:t>-</a:t>
            </a:r>
            <a:r>
              <a:rPr lang="zh-CN" altLang="en-US" sz="2200" dirty="0"/>
              <a:t>刷新，即可查看被调试进程所有窗口的信息</a:t>
            </a:r>
            <a:endParaRPr lang="en-US" altLang="zh-CN" sz="2200" dirty="0"/>
          </a:p>
          <a:p>
            <a:pPr defTabSz="914400"/>
            <a:r>
              <a:rPr lang="zh-CN" altLang="en-US" sz="2200" dirty="0"/>
              <a:t>因为更新该信息会占用较多资源，所以</a:t>
            </a:r>
            <a:r>
              <a:rPr lang="en-US" altLang="zh-CN" sz="2200" dirty="0"/>
              <a:t>x64dbg</a:t>
            </a:r>
            <a:r>
              <a:rPr lang="zh-CN" altLang="en-US" sz="2200" dirty="0"/>
              <a:t>不会自动刷新，需要手动刷新才能看到最新的信息</a:t>
            </a:r>
            <a:endParaRPr lang="en-US" altLang="zh-CN" sz="2200" dirty="0"/>
          </a:p>
          <a:p>
            <a:pPr defTabSz="914400"/>
            <a:endParaRPr lang="zh-CN" altLang="en-US" sz="2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E62DCD-F01D-E39F-095D-135D1AC0710C}"/>
              </a:ext>
            </a:extLst>
          </p:cNvPr>
          <p:cNvGrpSpPr/>
          <p:nvPr/>
        </p:nvGrpSpPr>
        <p:grpSpPr>
          <a:xfrm>
            <a:off x="1363570" y="4076269"/>
            <a:ext cx="9464860" cy="2095682"/>
            <a:chOff x="1373096" y="4953022"/>
            <a:chExt cx="9464860" cy="209568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A20030-AE0E-0B89-36DB-B5910F1E5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3096" y="4953022"/>
              <a:ext cx="9464860" cy="2095682"/>
            </a:xfrm>
            <a:prstGeom prst="rect">
              <a:avLst/>
            </a:prstGeom>
            <a:ln>
              <a:solidFill>
                <a:srgbClr val="7030A0"/>
              </a:solidFill>
            </a:ln>
          </p:spPr>
        </p:pic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FEE82EF-CAEC-4E67-98FF-0AB3D8812024}"/>
                </a:ext>
              </a:extLst>
            </p:cNvPr>
            <p:cNvSpPr/>
            <p:nvPr/>
          </p:nvSpPr>
          <p:spPr>
            <a:xfrm>
              <a:off x="9271668" y="4953022"/>
              <a:ext cx="641023" cy="358218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7">
              <a:extLst>
                <a:ext uri="{FF2B5EF4-FFF2-40B4-BE49-F238E27FC236}">
                  <a16:creationId xmlns:a16="http://schemas.microsoft.com/office/drawing/2014/main" id="{A8268AF0-388E-1382-F9F8-FB8B9EF7714E}"/>
                </a:ext>
              </a:extLst>
            </p:cNvPr>
            <p:cNvSpPr/>
            <p:nvPr/>
          </p:nvSpPr>
          <p:spPr>
            <a:xfrm>
              <a:off x="5024487" y="5750203"/>
              <a:ext cx="1363743" cy="358218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10518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CDCD3-9A6A-478D-A2C5-8FF91CD8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消息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2B67DE-17C8-BB6E-19ED-6A5D6A746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53" y="2405584"/>
            <a:ext cx="11329093" cy="2054647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41461848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667472-917D-4622-888E-021B96A25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A1103D-C4B9-448D-9EE9-10359DBAB63A}"/>
              </a:ext>
            </a:extLst>
          </p:cNvPr>
          <p:cNvSpPr/>
          <p:nvPr/>
        </p:nvSpPr>
        <p:spPr>
          <a:xfrm>
            <a:off x="2386504" y="1750238"/>
            <a:ext cx="7520338" cy="65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400">
              <a:lnSpc>
                <a:spcPct val="150000"/>
              </a:lnSpc>
              <a:spcBef>
                <a:spcPts val="1000"/>
              </a:spcBef>
            </a:pPr>
            <a:r>
              <a:rPr lang="zh-CN" altLang="en-US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右键单击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Check</a:t>
            </a:r>
            <a:r>
              <a:rPr lang="zh-CN" altLang="en-US" sz="28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按钮，在菜单中选择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消息断点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kumimoji="1" lang="zh-CN" altLang="en-US" sz="28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00D0BB-AEF2-424B-67E3-BF971083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46" y="2595605"/>
            <a:ext cx="6624707" cy="3040324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57961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800D71-B3BC-86F3-848D-DB6722ACF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411" y="2744298"/>
            <a:ext cx="4004224" cy="2842078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6CD33B2-F05C-4688-8548-F7FFA71B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77073E-AE9C-45F8-A11F-DE125D96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在弹出的消息窗口中，</a:t>
            </a:r>
            <a:r>
              <a:rPr lang="zh-CN" altLang="en-US" dirty="0"/>
              <a:t>输入</a:t>
            </a:r>
            <a:r>
              <a:rPr lang="zh-CN" altLang="en-US" sz="2800" dirty="0"/>
              <a:t>“</a:t>
            </a:r>
            <a:r>
              <a:rPr lang="en-US" altLang="zh-CN" sz="2800" dirty="0">
                <a:solidFill>
                  <a:srgbClr val="FF0000"/>
                </a:solidFill>
              </a:rPr>
              <a:t>WM_COMMAND</a:t>
            </a:r>
            <a:r>
              <a:rPr lang="en-US" altLang="zh-CN" sz="2800" dirty="0"/>
              <a:t>”</a:t>
            </a:r>
            <a:r>
              <a:rPr lang="zh-CN" altLang="en-US" sz="2800" dirty="0"/>
              <a:t>消息。</a:t>
            </a:r>
          </a:p>
          <a:p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B7F40B3-6A6B-43D1-926D-A1E6622379E7}"/>
              </a:ext>
            </a:extLst>
          </p:cNvPr>
          <p:cNvSpPr/>
          <p:nvPr/>
        </p:nvSpPr>
        <p:spPr>
          <a:xfrm>
            <a:off x="4523188" y="3197144"/>
            <a:ext cx="1330691" cy="3940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21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55FBB-05F8-4702-92A8-3427F026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A6B23B-72CE-4702-BFA6-67F098B90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点击</a:t>
            </a:r>
            <a:r>
              <a:rPr lang="en-US" altLang="zh-CN" sz="2800" dirty="0"/>
              <a:t>Check</a:t>
            </a:r>
            <a:r>
              <a:rPr lang="zh-CN" altLang="en-US" sz="2800" dirty="0"/>
              <a:t>按钮，程序中断在</a:t>
            </a:r>
            <a:r>
              <a:rPr lang="en-US" altLang="zh-CN" sz="2800" dirty="0"/>
              <a:t>Windows</a:t>
            </a:r>
            <a:r>
              <a:rPr lang="zh-CN" altLang="en-US" sz="2800" dirty="0"/>
              <a:t>系统代码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08982-D024-7991-CDBE-62A8637BE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192" y="2827504"/>
            <a:ext cx="5357608" cy="431750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795DAE-CD1E-217E-0E53-121ECD4F1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777" y="3429000"/>
            <a:ext cx="6908446" cy="2656373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6193357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1672A-27DB-4DDA-BCC7-C0662D9C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1CCD07-A073-4676-9ECF-353F81A54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打开内存窗口，对</a:t>
            </a:r>
            <a:r>
              <a:rPr lang="en-US" altLang="zh-CN" sz="2800" dirty="0"/>
              <a:t>crackme1</a:t>
            </a:r>
            <a:r>
              <a:rPr lang="zh-CN" altLang="en-US" sz="2800" dirty="0"/>
              <a:t>的</a:t>
            </a:r>
            <a:r>
              <a:rPr lang="en-US" altLang="zh-CN" sz="2800" dirty="0">
                <a:solidFill>
                  <a:srgbClr val="FF0000"/>
                </a:solidFill>
              </a:rPr>
              <a:t>.text</a:t>
            </a:r>
            <a:r>
              <a:rPr lang="zh-CN" altLang="en-US" sz="2800" dirty="0"/>
              <a:t>段设置内存访问断点</a:t>
            </a: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54B3C1-CB8C-FB71-2986-137DEBA23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25" y="2765705"/>
            <a:ext cx="7071973" cy="409229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6524390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B54B99-EA06-41F2-886B-5B1E69D17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684" y="3429000"/>
            <a:ext cx="7516556" cy="2580165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733CEEC-A7F6-47DD-8687-CD46C811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ECD1D-61A7-4CCB-9DA8-2BAA7E80F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57209"/>
          </a:xfrm>
        </p:spPr>
        <p:txBody>
          <a:bodyPr>
            <a:normAutofit fontScale="92500"/>
          </a:bodyPr>
          <a:lstStyle/>
          <a:p>
            <a:r>
              <a:rPr lang="en-US" altLang="zh-CN" sz="2800" dirty="0"/>
              <a:t>F9</a:t>
            </a:r>
            <a:r>
              <a:rPr lang="zh-CN" altLang="en-US" sz="2800" dirty="0"/>
              <a:t>运行程序，中断在</a:t>
            </a:r>
            <a:r>
              <a:rPr lang="en-US" altLang="zh-CN" sz="2800" dirty="0"/>
              <a:t>0x00401090</a:t>
            </a:r>
            <a:r>
              <a:rPr lang="zh-CN" altLang="en-US" sz="2800" dirty="0"/>
              <a:t>，</a:t>
            </a:r>
            <a:r>
              <a:rPr lang="en-US" altLang="zh-CN" sz="2800" dirty="0"/>
              <a:t>crackme1</a:t>
            </a:r>
            <a:r>
              <a:rPr lang="zh-CN" altLang="en-US" sz="2800" dirty="0"/>
              <a:t>的消息处理循环的位置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896759E-5B88-453C-8486-AE8906F9CC35}"/>
              </a:ext>
            </a:extLst>
          </p:cNvPr>
          <p:cNvSpPr/>
          <p:nvPr/>
        </p:nvSpPr>
        <p:spPr>
          <a:xfrm>
            <a:off x="3013165" y="3646007"/>
            <a:ext cx="957943" cy="28155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244232-A012-FF00-8CB5-F6946B785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2395" y="2824717"/>
            <a:ext cx="8036552" cy="35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9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A56C5-CAF1-4A6D-A190-CA006077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消息断点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E9871-90D0-4DED-934A-F866C96A9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1880" cy="4351338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浏览消息循环的代码，发现</a:t>
            </a:r>
            <a:r>
              <a:rPr lang="en-US" altLang="zh-CN" dirty="0"/>
              <a:t>crackme1</a:t>
            </a:r>
            <a:r>
              <a:rPr lang="zh-CN" altLang="en-US" dirty="0"/>
              <a:t>使用</a:t>
            </a:r>
            <a:r>
              <a:rPr lang="en-US" altLang="zh-CN" dirty="0" err="1"/>
              <a:t>GetDlgItemTextA</a:t>
            </a:r>
            <a:r>
              <a:rPr lang="zh-CN" altLang="en-US" dirty="0"/>
              <a:t>读取用户输入的字符串，并与一个常量字符串比较，然后根据结果弹出不同的</a:t>
            </a:r>
            <a:r>
              <a:rPr lang="en-US" altLang="zh-CN" dirty="0" err="1"/>
              <a:t>MessageBoxA</a:t>
            </a:r>
            <a:endParaRPr lang="zh-CN" alt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314A52-B4B3-2577-63B9-B72881FAA1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89" r="7352"/>
          <a:stretch/>
        </p:blipFill>
        <p:spPr>
          <a:xfrm>
            <a:off x="4772297" y="1913224"/>
            <a:ext cx="7036526" cy="4016088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7784975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9613F-061B-4C59-AC1D-D8D36AC5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5CFDC-7E54-465A-B2AD-B1D8F441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在调试过程中，在满足一定条件时断点才会触发，这类断点称为</a:t>
            </a:r>
            <a:r>
              <a:rPr lang="zh-CN" altLang="en-US" dirty="0">
                <a:solidFill>
                  <a:srgbClr val="FF0000"/>
                </a:solidFill>
              </a:rPr>
              <a:t>条件断点</a:t>
            </a:r>
            <a:br>
              <a:rPr lang="zh-CN" altLang="en-US" dirty="0"/>
            </a:br>
            <a:r>
              <a:rPr lang="en-US" altLang="zh-CN" dirty="0"/>
              <a:t>x64dbg</a:t>
            </a:r>
            <a:r>
              <a:rPr lang="zh-CN" altLang="en-US" dirty="0"/>
              <a:t>的条件断点可以按</a:t>
            </a:r>
            <a:r>
              <a:rPr lang="zh-CN" altLang="en-US" dirty="0">
                <a:solidFill>
                  <a:srgbClr val="FF0000"/>
                </a:solidFill>
              </a:rPr>
              <a:t>寄存器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内存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消息</a:t>
            </a:r>
            <a:r>
              <a:rPr lang="zh-CN" altLang="en-US" dirty="0"/>
              <a:t>等设断点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809379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5D87A-A005-4419-95D8-56C1CB57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20B1E-79B8-4EA0-A494-537EA74A1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条件断点是带有条件表达式的</a:t>
            </a:r>
            <a:r>
              <a:rPr lang="en-US" altLang="zh-CN" dirty="0"/>
              <a:t>INT 3</a:t>
            </a:r>
            <a:r>
              <a:rPr lang="zh-CN" altLang="en-US" dirty="0"/>
              <a:t>断点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INT3</a:t>
            </a:r>
            <a:r>
              <a:rPr lang="zh-CN" altLang="en-US" dirty="0"/>
              <a:t>断点的基础上添加一个</a:t>
            </a:r>
            <a:r>
              <a:rPr lang="zh-CN" altLang="en-US" dirty="0">
                <a:solidFill>
                  <a:srgbClr val="FF0000"/>
                </a:solidFill>
              </a:rPr>
              <a:t>条件表达式</a:t>
            </a:r>
          </a:p>
          <a:p>
            <a:pPr lvl="1"/>
            <a:r>
              <a:rPr lang="en-US" altLang="zh-CN" dirty="0"/>
              <a:t>INT3</a:t>
            </a:r>
            <a:r>
              <a:rPr lang="zh-CN" altLang="en-US" dirty="0"/>
              <a:t>断点中断程序执行</a:t>
            </a:r>
          </a:p>
          <a:p>
            <a:pPr lvl="1"/>
            <a:r>
              <a:rPr lang="en-US" altLang="zh-CN" dirty="0"/>
              <a:t>x64dbg</a:t>
            </a:r>
            <a:r>
              <a:rPr lang="zh-CN" altLang="en-US" dirty="0"/>
              <a:t>判断表达式的值，如果是非零的值，则继续中断程序</a:t>
            </a:r>
          </a:p>
          <a:p>
            <a:pPr lvl="1"/>
            <a:r>
              <a:rPr lang="zh-CN" altLang="en-US" dirty="0"/>
              <a:t>如果是</a:t>
            </a:r>
            <a:r>
              <a:rPr lang="en-US" altLang="zh-CN" dirty="0"/>
              <a:t>0</a:t>
            </a:r>
            <a:r>
              <a:rPr lang="zh-CN" altLang="en-US" dirty="0"/>
              <a:t>，恢复程序继续执行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1291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4296C-D4D6-48D8-BCFA-FFF78050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1C1A6C-9E0E-E3DA-D953-C66F503D7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570" y="1865535"/>
            <a:ext cx="7241973" cy="3954377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3595DB32-26BB-4893-B742-4DC1B444B93A}"/>
              </a:ext>
            </a:extLst>
          </p:cNvPr>
          <p:cNvSpPr/>
          <p:nvPr/>
        </p:nvSpPr>
        <p:spPr>
          <a:xfrm>
            <a:off x="4232366" y="3100317"/>
            <a:ext cx="1341116" cy="4691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6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D98ED3-881C-459D-A1E7-74D2FD65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981076"/>
            <a:ext cx="7345362" cy="868363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条件断点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12DCF-240C-4FA9-823E-826035BF3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989139"/>
            <a:ext cx="7940675" cy="4092575"/>
          </a:xfrm>
        </p:spPr>
        <p:txBody>
          <a:bodyPr/>
          <a:lstStyle/>
          <a:p>
            <a:r>
              <a:rPr lang="zh-CN" altLang="en-US"/>
              <a:t>命令行设置条件断点</a:t>
            </a:r>
            <a:endParaRPr lang="en-US" altLang="zh-CN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75E380-E661-4D6D-B1F1-8E697906E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0462" y="3268745"/>
            <a:ext cx="8255065" cy="271758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66510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AD715-43CA-4770-94E0-8F3785C4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条件断点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820C25-4E4F-439F-9A2F-AD2DC72E5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除了具有条件断点的功能</a:t>
            </a:r>
          </a:p>
          <a:p>
            <a:r>
              <a:rPr lang="zh-CN" altLang="en-US" dirty="0"/>
              <a:t>还能记录断点处函数表达式或参数的值</a:t>
            </a:r>
          </a:p>
          <a:p>
            <a:r>
              <a:rPr lang="zh-CN" altLang="en-US" dirty="0"/>
              <a:t>可以设置断点的次数，每次符合条件的中断，记数器的值就减一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39237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0B06774-5DAF-4E10-9B7E-9B28A6AD9F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x64dbg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支持的断点类型？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EDFFB8-B554-4B40-8AEE-CA78340797F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软件断点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D7A6D5-FC07-4E86-B15E-01C4A2DBA2E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硬件断点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D3FEAF-FCF2-426D-8720-2DF5D5758E9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条件断点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DB1C2E-9865-4211-9B03-65281F48A57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内存访问断点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6917D1-9960-4458-B613-41027597E25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E8EF70-5791-4011-9F21-52DB4A8ADD2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9E5B63-01D5-483F-9E00-8B2A2456D55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BE6796-7C5E-4AB4-889D-0375082B9C7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4A09147-B063-4839-A5CC-F960C53968B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E7BCB4D-078D-45F5-8EDB-5CB23F72CF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A4A76515-6835-4685-A871-184784DC078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36589B01-738F-413E-A460-93891225B4D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0ED2CDE4-5930-4797-9DB8-D5B82EBC583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9684BB2E-D9D2-4D51-AD75-01223A6DBD2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EB6E068-4C73-4956-B2A9-133C94BC257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08788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54102B-14D9-4756-8F9B-172CFD1893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下面哪些断点会使程序执行速度变慢？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22368B-E807-4BA0-8463-0597DA9836D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软件断点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5D7255-9A37-459A-96A5-AC540DD36CD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硬件断点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D1009C-0FB7-4941-8EF5-2E5FFDFE04E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条件断点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EFB6AA-E45B-47C4-A608-5247B56B5C5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内存访问断点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4CCD95-1990-48F6-9CCC-843A24082A9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152BAE-3EBC-47D9-A7C0-C7DA901305D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5609C4-435D-4E63-93B5-A3C266E33C9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20F5C2-B479-419A-961D-CDF4EA29E4C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354E8BF-5BF5-474A-BEDF-A1B9F4D097A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A987DF-770A-42AC-A048-6C6369AF329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40241F6B-FABE-469D-9C41-2004ACB5699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33E9BBEB-D681-43F0-925B-82AD52C1430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687A959-8198-4667-8558-C74FEFDBCEB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A9AAF1C9-054D-40C3-AE57-429DA52915F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1F988F7-56A9-4B73-B8D0-9FD2220B1CE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015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339" y="1668628"/>
            <a:ext cx="10077938" cy="495881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动态逆向分析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加载程序</a:t>
            </a:r>
            <a:endParaRPr lang="en-US" altLang="zh-CN" dirty="0"/>
          </a:p>
          <a:p>
            <a:r>
              <a:rPr lang="en-US" altLang="zh-CN" dirty="0"/>
              <a:t>x64dbg</a:t>
            </a:r>
            <a:r>
              <a:rPr lang="zh-CN" altLang="en-US" dirty="0"/>
              <a:t>的界面</a:t>
            </a:r>
            <a:endParaRPr lang="en-US" altLang="zh-CN" dirty="0"/>
          </a:p>
          <a:p>
            <a:r>
              <a:rPr lang="en-US" altLang="zh-CN" dirty="0"/>
              <a:t>Memory Map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难点：重定位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执行指令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难点：执行到返回、执行到用户代码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断点</a:t>
            </a:r>
            <a:r>
              <a:rPr lang="en-US" altLang="zh-CN" dirty="0"/>
              <a:t> Breakpoint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难点：软件断点、硬件断点、内存断点、条件断点、消息断点</a:t>
            </a:r>
          </a:p>
        </p:txBody>
      </p:sp>
    </p:spTree>
    <p:extLst>
      <p:ext uri="{BB962C8B-B14F-4D97-AF65-F5344CB8AC3E}">
        <p14:creationId xmlns:p14="http://schemas.microsoft.com/office/powerpoint/2010/main" val="221320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12</a:t>
            </a:r>
            <a:r>
              <a:rPr lang="zh-CN" altLang="en-US" sz="3600" b="1" dirty="0">
                <a:solidFill>
                  <a:srgbClr val="7030A0"/>
                </a:solidFill>
              </a:rPr>
              <a:t>章 动态调试分析技术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5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0.0"/>
  <p:tag name="RAINPROBLEMTYPE" val="MultipleChoiceMA"/>
  <p:tag name="RAINPROBLEM" val="MultipleChoiceMA"/>
  <p:tag name="PROBLEMSCORE_HALF" val="0.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Correct"/>
  <p:tag name="RAINPROBLEMTYPE" val="MultipleChoiceM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10.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3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2820</TotalTime>
  <Words>3666</Words>
  <Application>Microsoft Office PowerPoint</Application>
  <PresentationFormat>宽屏</PresentationFormat>
  <Paragraphs>589</Paragraphs>
  <Slides>121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121</vt:i4>
      </vt:variant>
    </vt:vector>
  </HeadingPairs>
  <TitlesOfParts>
    <vt:vector size="128" baseType="lpstr">
      <vt:lpstr>DengXian</vt:lpstr>
      <vt:lpstr>Microsoft Yahei</vt:lpstr>
      <vt:lpstr>Arial</vt:lpstr>
      <vt:lpstr>Calibri</vt:lpstr>
      <vt:lpstr>Times New Roman</vt:lpstr>
      <vt:lpstr>Wingdings</vt:lpstr>
      <vt:lpstr>3_400TGp_globalcity_light_ani</vt:lpstr>
      <vt:lpstr>汇编语言与逆向技术 第12章 动态调试分析技术</vt:lpstr>
      <vt:lpstr>本章知识点</vt:lpstr>
      <vt:lpstr>PowerPoint 演示文稿</vt:lpstr>
      <vt:lpstr>动态调试</vt:lpstr>
      <vt:lpstr>动态逆向分析</vt:lpstr>
      <vt:lpstr>静态逆向分析面临的挑战</vt:lpstr>
      <vt:lpstr>动态逆向分析</vt:lpstr>
      <vt:lpstr>静态和动态逆向分析</vt:lpstr>
      <vt:lpstr>动态逆向分析</vt:lpstr>
      <vt:lpstr>用户模式调试器</vt:lpstr>
      <vt:lpstr>内核模式调试器</vt:lpstr>
      <vt:lpstr>x64dbg</vt:lpstr>
      <vt:lpstr>x64dbg</vt:lpstr>
      <vt:lpstr>PowerPoint 演示文稿</vt:lpstr>
      <vt:lpstr>x64dbg的下载和安装</vt:lpstr>
      <vt:lpstr>下载与安装x64dbg</vt:lpstr>
      <vt:lpstr>x32dbg与x64dbg</vt:lpstr>
      <vt:lpstr>初次配置x64dbg</vt:lpstr>
      <vt:lpstr>x64dbg加载程序</vt:lpstr>
      <vt:lpstr>x64dbg加载程序</vt:lpstr>
      <vt:lpstr>直接加载程序</vt:lpstr>
      <vt:lpstr>打开一个可执行文件</vt:lpstr>
      <vt:lpstr>附加进程</vt:lpstr>
      <vt:lpstr>附加进程</vt:lpstr>
      <vt:lpstr>附加进程</vt:lpstr>
      <vt:lpstr>内存访问断点</vt:lpstr>
      <vt:lpstr>隐藏进程</vt:lpstr>
      <vt:lpstr>重新装载</vt:lpstr>
      <vt:lpstr>PowerPoint 演示文稿</vt:lpstr>
      <vt:lpstr>x64dbg的界面</vt:lpstr>
      <vt:lpstr>x64dbg界面</vt:lpstr>
      <vt:lpstr>反汇编窗口</vt:lpstr>
      <vt:lpstr>反汇编窗口的双击操作</vt:lpstr>
      <vt:lpstr>反汇编窗口的双击操作</vt:lpstr>
      <vt:lpstr>信息窗口</vt:lpstr>
      <vt:lpstr>数据窗口</vt:lpstr>
      <vt:lpstr>数据窗口</vt:lpstr>
      <vt:lpstr>在数据窗口中跟踪</vt:lpstr>
      <vt:lpstr>数据编辑</vt:lpstr>
      <vt:lpstr>寄存器窗口</vt:lpstr>
      <vt:lpstr>寄存器窗口</vt:lpstr>
      <vt:lpstr>栈窗口</vt:lpstr>
      <vt:lpstr>PowerPoint 演示文稿</vt:lpstr>
      <vt:lpstr>PowerPoint 演示文稿</vt:lpstr>
      <vt:lpstr>PowerPoint 演示文稿</vt:lpstr>
      <vt:lpstr>Memory Map</vt:lpstr>
      <vt:lpstr>Memory Map</vt:lpstr>
      <vt:lpstr>Memory Map</vt:lpstr>
      <vt:lpstr>重定位（Rebasing）</vt:lpstr>
      <vt:lpstr>dll重定位</vt:lpstr>
      <vt:lpstr>绝对地址对相对地址</vt:lpstr>
      <vt:lpstr>PowerPoint 演示文稿</vt:lpstr>
      <vt:lpstr>修改绝对地址</vt:lpstr>
      <vt:lpstr>.reloc节</vt:lpstr>
      <vt:lpstr>dll重定位</vt:lpstr>
      <vt:lpstr>Binary Ninja 和 x64dbg</vt:lpstr>
      <vt:lpstr>线程和栈</vt:lpstr>
      <vt:lpstr>PowerPoint 演示文稿</vt:lpstr>
      <vt:lpstr>PowerPoint 演示文稿</vt:lpstr>
      <vt:lpstr>执行指令</vt:lpstr>
      <vt:lpstr>PowerPoint 演示文稿</vt:lpstr>
      <vt:lpstr>运行和暂停</vt:lpstr>
      <vt:lpstr>执行直到返回</vt:lpstr>
      <vt:lpstr>执行到用户代码</vt:lpstr>
      <vt:lpstr>按步执行</vt:lpstr>
      <vt:lpstr>PowerPoint 演示文稿</vt:lpstr>
      <vt:lpstr>PowerPoint 演示文稿</vt:lpstr>
      <vt:lpstr>PowerPoint 演示文稿</vt:lpstr>
      <vt:lpstr>断点</vt:lpstr>
      <vt:lpstr>断点（Breakpoint）</vt:lpstr>
      <vt:lpstr>断点类型</vt:lpstr>
      <vt:lpstr>断点窗口</vt:lpstr>
      <vt:lpstr>保存断点</vt:lpstr>
      <vt:lpstr>软件断点</vt:lpstr>
      <vt:lpstr>软件断点</vt:lpstr>
      <vt:lpstr>软件断点</vt:lpstr>
      <vt:lpstr>软件断点</vt:lpstr>
      <vt:lpstr>PowerPoint 演示文稿</vt:lpstr>
      <vt:lpstr>硬件断点</vt:lpstr>
      <vt:lpstr>硬件执行断点</vt:lpstr>
      <vt:lpstr>硬件执行断点</vt:lpstr>
      <vt:lpstr>硬件执行断点</vt:lpstr>
      <vt:lpstr>硬件执行断点设置</vt:lpstr>
      <vt:lpstr>硬件执行断点</vt:lpstr>
      <vt:lpstr>查看和管理硬件断点</vt:lpstr>
      <vt:lpstr>硬件写入/读取断点</vt:lpstr>
      <vt:lpstr>设置硬件读取/写入断点</vt:lpstr>
      <vt:lpstr>PowerPoint 演示文稿</vt:lpstr>
      <vt:lpstr>内存断点</vt:lpstr>
      <vt:lpstr>内存断点原理</vt:lpstr>
      <vt:lpstr>内存断点原理</vt:lpstr>
      <vt:lpstr>设置内存断点</vt:lpstr>
      <vt:lpstr>内存断点</vt:lpstr>
      <vt:lpstr>内存断点</vt:lpstr>
      <vt:lpstr>内存断点</vt:lpstr>
      <vt:lpstr>内存断点</vt:lpstr>
      <vt:lpstr>内存断点</vt:lpstr>
      <vt:lpstr>内存断点的删除</vt:lpstr>
      <vt:lpstr>PowerPoint 演示文稿</vt:lpstr>
      <vt:lpstr>PowerPoint 演示文稿</vt:lpstr>
      <vt:lpstr>消息断点</vt:lpstr>
      <vt:lpstr>消息断点</vt:lpstr>
      <vt:lpstr>Windows消息</vt:lpstr>
      <vt:lpstr>Windows消息</vt:lpstr>
      <vt:lpstr>Windows消息</vt:lpstr>
      <vt:lpstr>Windows消息</vt:lpstr>
      <vt:lpstr>消息断点</vt:lpstr>
      <vt:lpstr>消息断点</vt:lpstr>
      <vt:lpstr>消息断点</vt:lpstr>
      <vt:lpstr>消息断点</vt:lpstr>
      <vt:lpstr>消息断点</vt:lpstr>
      <vt:lpstr>消息断点</vt:lpstr>
      <vt:lpstr>条件断点</vt:lpstr>
      <vt:lpstr>条件断点</vt:lpstr>
      <vt:lpstr>条件断点</vt:lpstr>
      <vt:lpstr>条件断点</vt:lpstr>
      <vt:lpstr>条件断点</vt:lpstr>
      <vt:lpstr>PowerPoint 演示文稿</vt:lpstr>
      <vt:lpstr>PowerPoint 演示文稿</vt:lpstr>
      <vt:lpstr>本章知识点</vt:lpstr>
      <vt:lpstr>汇编语言与逆向技术 第12章 动态调试分析技术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第6章 PE文件结构</dc:title>
  <dc:creator>zwang</dc:creator>
  <cp:lastModifiedBy>志 王</cp:lastModifiedBy>
  <cp:revision>438</cp:revision>
  <dcterms:created xsi:type="dcterms:W3CDTF">2020-04-06T07:26:55Z</dcterms:created>
  <dcterms:modified xsi:type="dcterms:W3CDTF">2025-12-19T12:48:37Z</dcterms:modified>
</cp:coreProperties>
</file>