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notesSlides/notesSlide4.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2" r:id="rId1"/>
  </p:sldMasterIdLst>
  <p:notesMasterIdLst>
    <p:notesMasterId r:id="rId75"/>
  </p:notesMasterIdLst>
  <p:sldIdLst>
    <p:sldId id="332" r:id="rId2"/>
    <p:sldId id="356" r:id="rId3"/>
    <p:sldId id="803" r:id="rId4"/>
    <p:sldId id="815" r:id="rId5"/>
    <p:sldId id="802" r:id="rId6"/>
    <p:sldId id="816" r:id="rId7"/>
    <p:sldId id="804" r:id="rId8"/>
    <p:sldId id="817" r:id="rId9"/>
    <p:sldId id="798" r:id="rId10"/>
    <p:sldId id="805" r:id="rId11"/>
    <p:sldId id="809" r:id="rId12"/>
    <p:sldId id="707" r:id="rId13"/>
    <p:sldId id="806" r:id="rId14"/>
    <p:sldId id="710" r:id="rId15"/>
    <p:sldId id="711" r:id="rId16"/>
    <p:sldId id="712" r:id="rId17"/>
    <p:sldId id="796" r:id="rId18"/>
    <p:sldId id="728" r:id="rId19"/>
    <p:sldId id="795" r:id="rId20"/>
    <p:sldId id="797" r:id="rId21"/>
    <p:sldId id="799" r:id="rId22"/>
    <p:sldId id="800" r:id="rId23"/>
    <p:sldId id="801" r:id="rId24"/>
    <p:sldId id="722" r:id="rId25"/>
    <p:sldId id="726" r:id="rId26"/>
    <p:sldId id="730" r:id="rId27"/>
    <p:sldId id="818" r:id="rId28"/>
    <p:sldId id="807" r:id="rId29"/>
    <p:sldId id="808" r:id="rId30"/>
    <p:sldId id="810" r:id="rId31"/>
    <p:sldId id="811" r:id="rId32"/>
    <p:sldId id="639" r:id="rId33"/>
    <p:sldId id="819" r:id="rId34"/>
    <p:sldId id="640" r:id="rId35"/>
    <p:sldId id="641" r:id="rId36"/>
    <p:sldId id="769" r:id="rId37"/>
    <p:sldId id="642" r:id="rId38"/>
    <p:sldId id="700" r:id="rId39"/>
    <p:sldId id="701" r:id="rId40"/>
    <p:sldId id="702" r:id="rId41"/>
    <p:sldId id="703" r:id="rId42"/>
    <p:sldId id="770" r:id="rId43"/>
    <p:sldId id="772" r:id="rId44"/>
    <p:sldId id="771" r:id="rId45"/>
    <p:sldId id="704" r:id="rId46"/>
    <p:sldId id="773" r:id="rId47"/>
    <p:sldId id="775" r:id="rId48"/>
    <p:sldId id="774" r:id="rId49"/>
    <p:sldId id="790" r:id="rId50"/>
    <p:sldId id="776" r:id="rId51"/>
    <p:sldId id="783" r:id="rId52"/>
    <p:sldId id="784" r:id="rId53"/>
    <p:sldId id="779" r:id="rId54"/>
    <p:sldId id="777" r:id="rId55"/>
    <p:sldId id="780" r:id="rId56"/>
    <p:sldId id="782" r:id="rId57"/>
    <p:sldId id="792" r:id="rId58"/>
    <p:sldId id="793" r:id="rId59"/>
    <p:sldId id="820" r:id="rId60"/>
    <p:sldId id="732" r:id="rId61"/>
    <p:sldId id="821" r:id="rId62"/>
    <p:sldId id="733" r:id="rId63"/>
    <p:sldId id="734" r:id="rId64"/>
    <p:sldId id="735" r:id="rId65"/>
    <p:sldId id="736" r:id="rId66"/>
    <p:sldId id="737" r:id="rId67"/>
    <p:sldId id="738" r:id="rId68"/>
    <p:sldId id="739" r:id="rId69"/>
    <p:sldId id="812" r:id="rId70"/>
    <p:sldId id="756" r:id="rId71"/>
    <p:sldId id="813" r:id="rId72"/>
    <p:sldId id="814" r:id="rId73"/>
    <p:sldId id="794" r:id="rId7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2" autoAdjust="0"/>
    <p:restoredTop sz="89023" autoAdjust="0"/>
  </p:normalViewPr>
  <p:slideViewPr>
    <p:cSldViewPr snapToGrid="0" snapToObjects="1">
      <p:cViewPr varScale="1">
        <p:scale>
          <a:sx n="68" d="100"/>
          <a:sy n="68" d="100"/>
        </p:scale>
        <p:origin x="606" y="48"/>
      </p:cViewPr>
      <p:guideLst>
        <p:guide orient="horz" pos="2160"/>
        <p:guide pos="3840"/>
      </p:guideLst>
    </p:cSldViewPr>
  </p:slideViewPr>
  <p:outlineViewPr>
    <p:cViewPr>
      <p:scale>
        <a:sx n="33" d="100"/>
        <a:sy n="33" d="100"/>
      </p:scale>
      <p:origin x="0" y="-37220"/>
    </p:cViewPr>
  </p:outlineViewPr>
  <p:notesTextViewPr>
    <p:cViewPr>
      <p:scale>
        <a:sx n="100" d="100"/>
        <a:sy n="100" d="100"/>
      </p:scale>
      <p:origin x="0" y="0"/>
    </p:cViewPr>
  </p:notesTextViewPr>
  <p:sorterViewPr>
    <p:cViewPr>
      <p:scale>
        <a:sx n="80" d="100"/>
        <a:sy n="80" d="100"/>
      </p:scale>
      <p:origin x="0" y="0"/>
    </p:cViewPr>
  </p:sorterViewPr>
  <p:notesViewPr>
    <p:cSldViewPr snapToGrid="0" snapToObjects="1">
      <p:cViewPr varScale="1">
        <p:scale>
          <a:sx n="48" d="100"/>
          <a:sy n="48" d="100"/>
        </p:scale>
        <p:origin x="2184"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0B8E9B-9938-FE4B-AE28-1C6AC5DA2731}" type="datetimeFigureOut">
              <a:rPr kumimoji="1" lang="zh-CN" altLang="en-US" smtClean="0"/>
              <a:t>2025/11/10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B215D2-4FF9-AF41-91A8-41FD4B9A9275}" type="slidenum">
              <a:rPr kumimoji="1" lang="zh-CN" altLang="en-US" smtClean="0"/>
              <a:t>‹#›</a:t>
            </a:fld>
            <a:endParaRPr kumimoji="1" lang="zh-CN" altLang="en-US"/>
          </a:p>
        </p:txBody>
      </p:sp>
    </p:spTree>
    <p:extLst>
      <p:ext uri="{BB962C8B-B14F-4D97-AF65-F5344CB8AC3E}">
        <p14:creationId xmlns:p14="http://schemas.microsoft.com/office/powerpoint/2010/main" val="741771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B215D2-4FF9-AF41-91A8-41FD4B9A9275}" type="slidenum">
              <a:rPr kumimoji="1" lang="zh-CN" altLang="en-US" smtClean="0"/>
              <a:t>1</a:t>
            </a:fld>
            <a:endParaRPr kumimoji="1" lang="zh-CN" altLang="en-US"/>
          </a:p>
        </p:txBody>
      </p:sp>
    </p:spTree>
    <p:extLst>
      <p:ext uri="{BB962C8B-B14F-4D97-AF65-F5344CB8AC3E}">
        <p14:creationId xmlns:p14="http://schemas.microsoft.com/office/powerpoint/2010/main" val="1473015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B215D2-4FF9-AF41-91A8-41FD4B9A9275}" type="slidenum">
              <a:rPr kumimoji="1" lang="zh-CN" altLang="en-US" smtClean="0"/>
              <a:t>38</a:t>
            </a:fld>
            <a:endParaRPr kumimoji="1" lang="zh-CN" altLang="en-US"/>
          </a:p>
        </p:txBody>
      </p:sp>
    </p:spTree>
    <p:extLst>
      <p:ext uri="{BB962C8B-B14F-4D97-AF65-F5344CB8AC3E}">
        <p14:creationId xmlns:p14="http://schemas.microsoft.com/office/powerpoint/2010/main" val="3270141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B215D2-4FF9-AF41-91A8-41FD4B9A9275}" type="slidenum">
              <a:rPr kumimoji="1" lang="zh-CN" altLang="en-US" smtClean="0"/>
              <a:t>45</a:t>
            </a:fld>
            <a:endParaRPr kumimoji="1" lang="zh-CN" altLang="en-US"/>
          </a:p>
        </p:txBody>
      </p:sp>
    </p:spTree>
    <p:extLst>
      <p:ext uri="{BB962C8B-B14F-4D97-AF65-F5344CB8AC3E}">
        <p14:creationId xmlns:p14="http://schemas.microsoft.com/office/powerpoint/2010/main" val="3945134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B215D2-4FF9-AF41-91A8-41FD4B9A9275}" type="slidenum">
              <a:rPr kumimoji="1" lang="zh-CN" altLang="en-US" smtClean="0"/>
              <a:t>66</a:t>
            </a:fld>
            <a:endParaRPr kumimoji="1" lang="zh-CN" altLang="en-US"/>
          </a:p>
        </p:txBody>
      </p:sp>
    </p:spTree>
    <p:extLst>
      <p:ext uri="{BB962C8B-B14F-4D97-AF65-F5344CB8AC3E}">
        <p14:creationId xmlns:p14="http://schemas.microsoft.com/office/powerpoint/2010/main" val="2779480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B215D2-4FF9-AF41-91A8-41FD4B9A9275}" type="slidenum">
              <a:rPr kumimoji="1" lang="zh-CN" altLang="en-US" smtClean="0"/>
              <a:t>73</a:t>
            </a:fld>
            <a:endParaRPr kumimoji="1" lang="zh-CN" altLang="en-US"/>
          </a:p>
        </p:txBody>
      </p:sp>
    </p:spTree>
    <p:extLst>
      <p:ext uri="{BB962C8B-B14F-4D97-AF65-F5344CB8AC3E}">
        <p14:creationId xmlns:p14="http://schemas.microsoft.com/office/powerpoint/2010/main" val="1426991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lnSpc>
                <a:spcPct val="150000"/>
              </a:lnSpc>
              <a:defRPr>
                <a:latin typeface="Times New Roman" panose="02020603050405020304" pitchFamily="18" charset="0"/>
                <a:ea typeface="宋体" panose="02010600030101010101" pitchFamily="2" charset="-122"/>
                <a:cs typeface="Times New Roman" panose="02020603050405020304" pitchFamily="18" charset="0"/>
              </a:defRPr>
            </a:lvl1pPr>
            <a:lvl2pPr>
              <a:lnSpc>
                <a:spcPct val="150000"/>
              </a:lnSpc>
              <a:defRPr>
                <a:latin typeface="Times New Roman" panose="02020603050405020304" pitchFamily="18" charset="0"/>
                <a:ea typeface="宋体" panose="02010600030101010101" pitchFamily="2" charset="-122"/>
                <a:cs typeface="Times New Roman" panose="02020603050405020304" pitchFamily="18" charset="0"/>
              </a:defRPr>
            </a:lvl2pPr>
            <a:lvl3pPr>
              <a:lnSpc>
                <a:spcPct val="150000"/>
              </a:lnSpc>
              <a:defRPr>
                <a:latin typeface="Times New Roman" panose="02020603050405020304" pitchFamily="18" charset="0"/>
                <a:ea typeface="宋体" panose="02010600030101010101" pitchFamily="2" charset="-122"/>
                <a:cs typeface="Times New Roman" panose="02020603050405020304" pitchFamily="18" charset="0"/>
              </a:defRPr>
            </a:lvl3pPr>
            <a:lvl4pPr>
              <a:lnSpc>
                <a:spcPct val="150000"/>
              </a:lnSpc>
              <a:defRPr>
                <a:latin typeface="Times New Roman" panose="02020603050405020304" pitchFamily="18" charset="0"/>
                <a:ea typeface="宋体" panose="02010600030101010101" pitchFamily="2" charset="-122"/>
                <a:cs typeface="Times New Roman" panose="02020603050405020304" pitchFamily="18" charset="0"/>
              </a:defRPr>
            </a:lvl4pPr>
            <a:lvl5pPr>
              <a:lnSpc>
                <a:spcPct val="150000"/>
              </a:lnSpc>
              <a:defRPr>
                <a:latin typeface="Times New Roman" panose="02020603050405020304" pitchFamily="18" charset="0"/>
                <a:ea typeface="宋体" panose="02010600030101010101" pitchFamily="2" charset="-122"/>
                <a:cs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C764DE79-268F-4C1A-8933-263129D2AF90}" type="datetimeFigureOut">
              <a:rPr lang="en-US" smtClean="0"/>
              <a:pPr/>
              <a:t>11/10/2025</a:t>
            </a:fld>
            <a:endParaRPr lang="en-US" dirty="0"/>
          </a:p>
        </p:txBody>
      </p:sp>
      <p:sp>
        <p:nvSpPr>
          <p:cNvPr id="5" name="Footer Placeholder 4"/>
          <p:cNvSpPr>
            <a:spLocks noGrp="1"/>
          </p:cNvSpPr>
          <p:nvPr>
            <p:ph type="ftr" sz="quarter" idx="11"/>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385292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2549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95657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userDrawn="1">
  <p:cSld name="1_标题幻灯片">
    <p:bg>
      <p:bgPr>
        <a:gradFill rotWithShape="0">
          <a:gsLst>
            <a:gs pos="0">
              <a:schemeClr val="bg1"/>
            </a:gs>
            <a:gs pos="100000">
              <a:srgbClr val="3366FF"/>
            </a:gs>
          </a:gsLst>
          <a:lin ang="5400000" scaled="1"/>
        </a:gradFill>
        <a:effectLst/>
      </p:bgPr>
    </p:bg>
    <p:spTree>
      <p:nvGrpSpPr>
        <p:cNvPr id="1" name=""/>
        <p:cNvGrpSpPr/>
        <p:nvPr/>
      </p:nvGrpSpPr>
      <p:grpSpPr>
        <a:xfrm>
          <a:off x="0" y="0"/>
          <a:ext cx="0" cy="0"/>
          <a:chOff x="0" y="0"/>
          <a:chExt cx="0" cy="0"/>
        </a:xfrm>
      </p:grpSpPr>
      <p:pic>
        <p:nvPicPr>
          <p:cNvPr id="4231" name="Picture 135" descr="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8717" cy="1638300"/>
          </a:xfrm>
          <a:prstGeom prst="rect">
            <a:avLst/>
          </a:prstGeom>
          <a:noFill/>
          <a:extLst>
            <a:ext uri="{909E8E84-426E-40DD-AFC4-6F175D3DCCD1}">
              <a14:hiddenFill xmlns:a14="http://schemas.microsoft.com/office/drawing/2010/main">
                <a:solidFill>
                  <a:srgbClr val="FFFFFF"/>
                </a:solidFill>
              </a14:hiddenFill>
            </a:ext>
          </a:extLst>
        </p:spPr>
      </p:pic>
      <p:sp>
        <p:nvSpPr>
          <p:cNvPr id="4223" name="Rectangle 127"/>
          <p:cNvSpPr>
            <a:spLocks noChangeArrowheads="1"/>
          </p:cNvSpPr>
          <p:nvPr userDrawn="1"/>
        </p:nvSpPr>
        <p:spPr bwMode="gray">
          <a:xfrm>
            <a:off x="0" y="1"/>
            <a:ext cx="12192000" cy="1628775"/>
          </a:xfrm>
          <a:prstGeom prst="rect">
            <a:avLst/>
          </a:prstGeom>
          <a:gradFill rotWithShape="1">
            <a:gsLst>
              <a:gs pos="0">
                <a:srgbClr val="3366FF">
                  <a:alpha val="30000"/>
                </a:srgbClr>
              </a:gs>
              <a:gs pos="100000">
                <a:schemeClr val="bg1">
                  <a:alpha val="78999"/>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sz="1800"/>
          </a:p>
        </p:txBody>
      </p:sp>
      <p:grpSp>
        <p:nvGrpSpPr>
          <p:cNvPr id="4111" name="Group 15"/>
          <p:cNvGrpSpPr>
            <a:grpSpLocks/>
          </p:cNvGrpSpPr>
          <p:nvPr/>
        </p:nvGrpSpPr>
        <p:grpSpPr bwMode="auto">
          <a:xfrm>
            <a:off x="0" y="1773238"/>
            <a:ext cx="12192000" cy="4895850"/>
            <a:chOff x="664" y="1951"/>
            <a:chExt cx="4308" cy="2120"/>
          </a:xfrm>
        </p:grpSpPr>
        <p:sp>
          <p:nvSpPr>
            <p:cNvPr id="4112" name="Freeform 16"/>
            <p:cNvSpPr>
              <a:spLocks/>
            </p:cNvSpPr>
            <p:nvPr/>
          </p:nvSpPr>
          <p:spPr bwMode="invGray">
            <a:xfrm>
              <a:off x="743" y="2045"/>
              <a:ext cx="1267" cy="1938"/>
            </a:xfrm>
            <a:custGeom>
              <a:avLst/>
              <a:gdLst>
                <a:gd name="T0" fmla="*/ 116 w 1692"/>
                <a:gd name="T1" fmla="*/ 258 h 2586"/>
                <a:gd name="T2" fmla="*/ 320 w 1692"/>
                <a:gd name="T3" fmla="*/ 210 h 2586"/>
                <a:gd name="T4" fmla="*/ 434 w 1692"/>
                <a:gd name="T5" fmla="*/ 240 h 2586"/>
                <a:gd name="T6" fmla="*/ 416 w 1692"/>
                <a:gd name="T7" fmla="*/ 444 h 2586"/>
                <a:gd name="T8" fmla="*/ 272 w 1692"/>
                <a:gd name="T9" fmla="*/ 582 h 2586"/>
                <a:gd name="T10" fmla="*/ 218 w 1692"/>
                <a:gd name="T11" fmla="*/ 714 h 2586"/>
                <a:gd name="T12" fmla="*/ 284 w 1692"/>
                <a:gd name="T13" fmla="*/ 964 h 2586"/>
                <a:gd name="T14" fmla="*/ 316 w 1692"/>
                <a:gd name="T15" fmla="*/ 960 h 2586"/>
                <a:gd name="T16" fmla="*/ 328 w 1692"/>
                <a:gd name="T17" fmla="*/ 906 h 2586"/>
                <a:gd name="T18" fmla="*/ 478 w 1692"/>
                <a:gd name="T19" fmla="*/ 1154 h 2586"/>
                <a:gd name="T20" fmla="*/ 650 w 1692"/>
                <a:gd name="T21" fmla="*/ 1200 h 2586"/>
                <a:gd name="T22" fmla="*/ 794 w 1692"/>
                <a:gd name="T23" fmla="*/ 1350 h 2586"/>
                <a:gd name="T24" fmla="*/ 854 w 1692"/>
                <a:gd name="T25" fmla="*/ 1422 h 2586"/>
                <a:gd name="T26" fmla="*/ 770 w 1692"/>
                <a:gd name="T27" fmla="*/ 1608 h 2586"/>
                <a:gd name="T28" fmla="*/ 916 w 1692"/>
                <a:gd name="T29" fmla="*/ 1782 h 2586"/>
                <a:gd name="T30" fmla="*/ 1034 w 1692"/>
                <a:gd name="T31" fmla="*/ 2022 h 2586"/>
                <a:gd name="T32" fmla="*/ 1094 w 1692"/>
                <a:gd name="T33" fmla="*/ 2310 h 2586"/>
                <a:gd name="T34" fmla="*/ 1194 w 1692"/>
                <a:gd name="T35" fmla="*/ 2540 h 2586"/>
                <a:gd name="T36" fmla="*/ 1280 w 1692"/>
                <a:gd name="T37" fmla="*/ 2520 h 2586"/>
                <a:gd name="T38" fmla="*/ 1244 w 1692"/>
                <a:gd name="T39" fmla="*/ 2394 h 2586"/>
                <a:gd name="T40" fmla="*/ 1288 w 1692"/>
                <a:gd name="T41" fmla="*/ 2306 h 2586"/>
                <a:gd name="T42" fmla="*/ 1368 w 1692"/>
                <a:gd name="T43" fmla="*/ 2228 h 2586"/>
                <a:gd name="T44" fmla="*/ 1448 w 1692"/>
                <a:gd name="T45" fmla="*/ 2076 h 2586"/>
                <a:gd name="T46" fmla="*/ 1568 w 1692"/>
                <a:gd name="T47" fmla="*/ 1950 h 2586"/>
                <a:gd name="T48" fmla="*/ 1622 w 1692"/>
                <a:gd name="T49" fmla="*/ 1746 h 2586"/>
                <a:gd name="T50" fmla="*/ 1552 w 1692"/>
                <a:gd name="T51" fmla="*/ 1538 h 2586"/>
                <a:gd name="T52" fmla="*/ 1376 w 1692"/>
                <a:gd name="T53" fmla="*/ 1410 h 2586"/>
                <a:gd name="T54" fmla="*/ 1104 w 1692"/>
                <a:gd name="T55" fmla="*/ 1280 h 2586"/>
                <a:gd name="T56" fmla="*/ 974 w 1692"/>
                <a:gd name="T57" fmla="*/ 1260 h 2586"/>
                <a:gd name="T58" fmla="*/ 904 w 1692"/>
                <a:gd name="T59" fmla="*/ 1268 h 2586"/>
                <a:gd name="T60" fmla="*/ 794 w 1692"/>
                <a:gd name="T61" fmla="*/ 1308 h 2586"/>
                <a:gd name="T62" fmla="*/ 758 w 1692"/>
                <a:gd name="T63" fmla="*/ 1174 h 2586"/>
                <a:gd name="T64" fmla="*/ 736 w 1692"/>
                <a:gd name="T65" fmla="*/ 1062 h 2586"/>
                <a:gd name="T66" fmla="*/ 632 w 1692"/>
                <a:gd name="T67" fmla="*/ 1104 h 2586"/>
                <a:gd name="T68" fmla="*/ 568 w 1692"/>
                <a:gd name="T69" fmla="*/ 950 h 2586"/>
                <a:gd name="T70" fmla="*/ 740 w 1692"/>
                <a:gd name="T71" fmla="*/ 912 h 2586"/>
                <a:gd name="T72" fmla="*/ 842 w 1692"/>
                <a:gd name="T73" fmla="*/ 906 h 2586"/>
                <a:gd name="T74" fmla="*/ 896 w 1692"/>
                <a:gd name="T75" fmla="*/ 900 h 2586"/>
                <a:gd name="T76" fmla="*/ 1058 w 1692"/>
                <a:gd name="T77" fmla="*/ 750 h 2586"/>
                <a:gd name="T78" fmla="*/ 1184 w 1692"/>
                <a:gd name="T79" fmla="*/ 678 h 2586"/>
                <a:gd name="T80" fmla="*/ 1278 w 1692"/>
                <a:gd name="T81" fmla="*/ 636 h 2586"/>
                <a:gd name="T82" fmla="*/ 1340 w 1692"/>
                <a:gd name="T83" fmla="*/ 538 h 2586"/>
                <a:gd name="T84" fmla="*/ 1288 w 1692"/>
                <a:gd name="T85" fmla="*/ 512 h 2586"/>
                <a:gd name="T86" fmla="*/ 1526 w 1692"/>
                <a:gd name="T87" fmla="*/ 456 h 2586"/>
                <a:gd name="T88" fmla="*/ 1406 w 1692"/>
                <a:gd name="T89" fmla="*/ 342 h 2586"/>
                <a:gd name="T90" fmla="*/ 1328 w 1692"/>
                <a:gd name="T91" fmla="*/ 264 h 2586"/>
                <a:gd name="T92" fmla="*/ 1222 w 1692"/>
                <a:gd name="T93" fmla="*/ 364 h 2586"/>
                <a:gd name="T94" fmla="*/ 1110 w 1692"/>
                <a:gd name="T95" fmla="*/ 444 h 2586"/>
                <a:gd name="T96" fmla="*/ 1022 w 1692"/>
                <a:gd name="T97" fmla="*/ 304 h 2586"/>
                <a:gd name="T98" fmla="*/ 1212 w 1692"/>
                <a:gd name="T99" fmla="*/ 240 h 2586"/>
                <a:gd name="T100" fmla="*/ 1266 w 1692"/>
                <a:gd name="T101" fmla="*/ 198 h 2586"/>
                <a:gd name="T102" fmla="*/ 1328 w 1692"/>
                <a:gd name="T103" fmla="*/ 172 h 2586"/>
                <a:gd name="T104" fmla="*/ 1286 w 1692"/>
                <a:gd name="T105" fmla="*/ 144 h 2586"/>
                <a:gd name="T106" fmla="*/ 1262 w 1692"/>
                <a:gd name="T107" fmla="*/ 120 h 2586"/>
                <a:gd name="T108" fmla="*/ 1202 w 1692"/>
                <a:gd name="T109" fmla="*/ 102 h 2586"/>
                <a:gd name="T110" fmla="*/ 1106 w 1692"/>
                <a:gd name="T111" fmla="*/ 136 h 2586"/>
                <a:gd name="T112" fmla="*/ 950 w 1692"/>
                <a:gd name="T113" fmla="*/ 120 h 2586"/>
                <a:gd name="T114" fmla="*/ 550 w 1692"/>
                <a:gd name="T115" fmla="*/ 0 h 2586"/>
                <a:gd name="T116" fmla="*/ 344 w 1692"/>
                <a:gd name="T117" fmla="*/ 32 h 2586"/>
                <a:gd name="T118" fmla="*/ 290 w 1692"/>
                <a:gd name="T119" fmla="*/ 102 h 2586"/>
                <a:gd name="T120" fmla="*/ 128 w 1692"/>
                <a:gd name="T121" fmla="*/ 174 h 2586"/>
                <a:gd name="T122" fmla="*/ 128 w 1692"/>
                <a:gd name="T123" fmla="*/ 216 h 2586"/>
                <a:gd name="T124" fmla="*/ 2 w 1692"/>
                <a:gd name="T125" fmla="*/ 252 h 2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13" name="Freeform 17"/>
            <p:cNvSpPr>
              <a:spLocks/>
            </p:cNvSpPr>
            <p:nvPr/>
          </p:nvSpPr>
          <p:spPr bwMode="invGray">
            <a:xfrm>
              <a:off x="703" y="2230"/>
              <a:ext cx="34" cy="28"/>
            </a:xfrm>
            <a:custGeom>
              <a:avLst/>
              <a:gdLst>
                <a:gd name="T0" fmla="*/ 16 w 46"/>
                <a:gd name="T1" fmla="*/ 4 h 38"/>
                <a:gd name="T2" fmla="*/ 0 w 46"/>
                <a:gd name="T3" fmla="*/ 22 h 38"/>
                <a:gd name="T4" fmla="*/ 22 w 46"/>
                <a:gd name="T5" fmla="*/ 38 h 38"/>
                <a:gd name="T6" fmla="*/ 46 w 46"/>
                <a:gd name="T7" fmla="*/ 26 h 38"/>
                <a:gd name="T8" fmla="*/ 30 w 46"/>
                <a:gd name="T9" fmla="*/ 0 h 38"/>
                <a:gd name="T10" fmla="*/ 16 w 46"/>
                <a:gd name="T11" fmla="*/ 4 h 38"/>
              </a:gdLst>
              <a:ahLst/>
              <a:cxnLst>
                <a:cxn ang="0">
                  <a:pos x="T0" y="T1"/>
                </a:cxn>
                <a:cxn ang="0">
                  <a:pos x="T2" y="T3"/>
                </a:cxn>
                <a:cxn ang="0">
                  <a:pos x="T4" y="T5"/>
                </a:cxn>
                <a:cxn ang="0">
                  <a:pos x="T6" y="T7"/>
                </a:cxn>
                <a:cxn ang="0">
                  <a:pos x="T8" y="T9"/>
                </a:cxn>
                <a:cxn ang="0">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14" name="Freeform 18"/>
            <p:cNvSpPr>
              <a:spLocks/>
            </p:cNvSpPr>
            <p:nvPr/>
          </p:nvSpPr>
          <p:spPr bwMode="invGray">
            <a:xfrm>
              <a:off x="1010" y="2353"/>
              <a:ext cx="39" cy="32"/>
            </a:xfrm>
            <a:custGeom>
              <a:avLst/>
              <a:gdLst>
                <a:gd name="T0" fmla="*/ 12 w 52"/>
                <a:gd name="T1" fmla="*/ 0 h 44"/>
                <a:gd name="T2" fmla="*/ 26 w 52"/>
                <a:gd name="T3" fmla="*/ 44 h 44"/>
                <a:gd name="T4" fmla="*/ 42 w 52"/>
                <a:gd name="T5" fmla="*/ 42 h 44"/>
                <a:gd name="T6" fmla="*/ 38 w 52"/>
                <a:gd name="T7" fmla="*/ 16 h 44"/>
                <a:gd name="T8" fmla="*/ 26 w 52"/>
                <a:gd name="T9" fmla="*/ 2 h 44"/>
                <a:gd name="T10" fmla="*/ 12 w 52"/>
                <a:gd name="T11" fmla="*/ 0 h 44"/>
              </a:gdLst>
              <a:ahLst/>
              <a:cxnLst>
                <a:cxn ang="0">
                  <a:pos x="T0" y="T1"/>
                </a:cxn>
                <a:cxn ang="0">
                  <a:pos x="T2" y="T3"/>
                </a:cxn>
                <a:cxn ang="0">
                  <a:pos x="T4" y="T5"/>
                </a:cxn>
                <a:cxn ang="0">
                  <a:pos x="T6" y="T7"/>
                </a:cxn>
                <a:cxn ang="0">
                  <a:pos x="T8" y="T9"/>
                </a:cxn>
                <a:cxn ang="0">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15" name="Freeform 19"/>
            <p:cNvSpPr>
              <a:spLocks/>
            </p:cNvSpPr>
            <p:nvPr/>
          </p:nvSpPr>
          <p:spPr bwMode="invGray">
            <a:xfrm>
              <a:off x="1792" y="2409"/>
              <a:ext cx="98" cy="74"/>
            </a:xfrm>
            <a:custGeom>
              <a:avLst/>
              <a:gdLst>
                <a:gd name="T0" fmla="*/ 97 w 131"/>
                <a:gd name="T1" fmla="*/ 0 h 98"/>
                <a:gd name="T2" fmla="*/ 79 w 131"/>
                <a:gd name="T3" fmla="*/ 8 h 98"/>
                <a:gd name="T4" fmla="*/ 53 w 131"/>
                <a:gd name="T5" fmla="*/ 24 h 98"/>
                <a:gd name="T6" fmla="*/ 39 w 131"/>
                <a:gd name="T7" fmla="*/ 40 h 98"/>
                <a:gd name="T8" fmla="*/ 21 w 131"/>
                <a:gd name="T9" fmla="*/ 52 h 98"/>
                <a:gd name="T10" fmla="*/ 63 w 131"/>
                <a:gd name="T11" fmla="*/ 82 h 98"/>
                <a:gd name="T12" fmla="*/ 79 w 131"/>
                <a:gd name="T13" fmla="*/ 94 h 98"/>
                <a:gd name="T14" fmla="*/ 85 w 131"/>
                <a:gd name="T15" fmla="*/ 92 h 98"/>
                <a:gd name="T16" fmla="*/ 89 w 131"/>
                <a:gd name="T17" fmla="*/ 86 h 98"/>
                <a:gd name="T18" fmla="*/ 97 w 131"/>
                <a:gd name="T19" fmla="*/ 98 h 98"/>
                <a:gd name="T20" fmla="*/ 123 w 131"/>
                <a:gd name="T21" fmla="*/ 86 h 98"/>
                <a:gd name="T22" fmla="*/ 129 w 131"/>
                <a:gd name="T23" fmla="*/ 74 h 98"/>
                <a:gd name="T24" fmla="*/ 101 w 131"/>
                <a:gd name="T25" fmla="*/ 40 h 98"/>
                <a:gd name="T26" fmla="*/ 115 w 131"/>
                <a:gd name="T27" fmla="*/ 24 h 98"/>
                <a:gd name="T28" fmla="*/ 111 w 131"/>
                <a:gd name="T29" fmla="*/ 4 h 98"/>
                <a:gd name="T30" fmla="*/ 97 w 131"/>
                <a:gd name="T3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16" name="Freeform 20"/>
            <p:cNvSpPr>
              <a:spLocks/>
            </p:cNvSpPr>
            <p:nvPr/>
          </p:nvSpPr>
          <p:spPr bwMode="invGray">
            <a:xfrm>
              <a:off x="1318" y="2793"/>
              <a:ext cx="158" cy="84"/>
            </a:xfrm>
            <a:custGeom>
              <a:avLst/>
              <a:gdLst>
                <a:gd name="T0" fmla="*/ 47 w 212"/>
                <a:gd name="T1" fmla="*/ 12 h 112"/>
                <a:gd name="T2" fmla="*/ 17 w 212"/>
                <a:gd name="T3" fmla="*/ 12 h 112"/>
                <a:gd name="T4" fmla="*/ 5 w 212"/>
                <a:gd name="T5" fmla="*/ 16 h 112"/>
                <a:gd name="T6" fmla="*/ 25 w 212"/>
                <a:gd name="T7" fmla="*/ 52 h 112"/>
                <a:gd name="T8" fmla="*/ 51 w 212"/>
                <a:gd name="T9" fmla="*/ 44 h 112"/>
                <a:gd name="T10" fmla="*/ 93 w 212"/>
                <a:gd name="T11" fmla="*/ 54 h 112"/>
                <a:gd name="T12" fmla="*/ 111 w 212"/>
                <a:gd name="T13" fmla="*/ 60 h 112"/>
                <a:gd name="T14" fmla="*/ 133 w 212"/>
                <a:gd name="T15" fmla="*/ 88 h 112"/>
                <a:gd name="T16" fmla="*/ 141 w 212"/>
                <a:gd name="T17" fmla="*/ 112 h 112"/>
                <a:gd name="T18" fmla="*/ 157 w 212"/>
                <a:gd name="T19" fmla="*/ 100 h 112"/>
                <a:gd name="T20" fmla="*/ 169 w 212"/>
                <a:gd name="T21" fmla="*/ 96 h 112"/>
                <a:gd name="T22" fmla="*/ 187 w 212"/>
                <a:gd name="T23" fmla="*/ 102 h 112"/>
                <a:gd name="T24" fmla="*/ 195 w 212"/>
                <a:gd name="T25" fmla="*/ 80 h 112"/>
                <a:gd name="T26" fmla="*/ 153 w 212"/>
                <a:gd name="T27" fmla="*/ 54 h 112"/>
                <a:gd name="T28" fmla="*/ 105 w 212"/>
                <a:gd name="T29" fmla="*/ 20 h 112"/>
                <a:gd name="T30" fmla="*/ 53 w 212"/>
                <a:gd name="T31" fmla="*/ 26 h 112"/>
                <a:gd name="T32" fmla="*/ 47 w 212"/>
                <a:gd name="T33" fmla="*/ 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17" name="Freeform 21"/>
            <p:cNvSpPr>
              <a:spLocks/>
            </p:cNvSpPr>
            <p:nvPr/>
          </p:nvSpPr>
          <p:spPr bwMode="invGray">
            <a:xfrm>
              <a:off x="1448" y="2857"/>
              <a:ext cx="99" cy="41"/>
            </a:xfrm>
            <a:custGeom>
              <a:avLst/>
              <a:gdLst>
                <a:gd name="T0" fmla="*/ 57 w 133"/>
                <a:gd name="T1" fmla="*/ 0 h 54"/>
                <a:gd name="T2" fmla="*/ 43 w 133"/>
                <a:gd name="T3" fmla="*/ 6 h 54"/>
                <a:gd name="T4" fmla="*/ 31 w 133"/>
                <a:gd name="T5" fmla="*/ 30 h 54"/>
                <a:gd name="T6" fmla="*/ 15 w 133"/>
                <a:gd name="T7" fmla="*/ 34 h 54"/>
                <a:gd name="T8" fmla="*/ 3 w 133"/>
                <a:gd name="T9" fmla="*/ 42 h 54"/>
                <a:gd name="T10" fmla="*/ 13 w 133"/>
                <a:gd name="T11" fmla="*/ 54 h 54"/>
                <a:gd name="T12" fmla="*/ 133 w 133"/>
                <a:gd name="T13" fmla="*/ 34 h 54"/>
                <a:gd name="T14" fmla="*/ 123 w 133"/>
                <a:gd name="T15" fmla="*/ 16 h 54"/>
                <a:gd name="T16" fmla="*/ 105 w 133"/>
                <a:gd name="T17" fmla="*/ 8 h 54"/>
                <a:gd name="T18" fmla="*/ 101 w 133"/>
                <a:gd name="T19" fmla="*/ 24 h 54"/>
                <a:gd name="T20" fmla="*/ 89 w 133"/>
                <a:gd name="T21" fmla="*/ 18 h 54"/>
                <a:gd name="T22" fmla="*/ 67 w 133"/>
                <a:gd name="T23" fmla="*/ 14 h 54"/>
                <a:gd name="T24" fmla="*/ 57 w 133"/>
                <a:gd name="T2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18" name="Freeform 22"/>
            <p:cNvSpPr>
              <a:spLocks/>
            </p:cNvSpPr>
            <p:nvPr/>
          </p:nvSpPr>
          <p:spPr bwMode="invGray">
            <a:xfrm>
              <a:off x="1553" y="2883"/>
              <a:ext cx="38"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19" name="Freeform 23"/>
            <p:cNvSpPr>
              <a:spLocks/>
            </p:cNvSpPr>
            <p:nvPr/>
          </p:nvSpPr>
          <p:spPr bwMode="invGray">
            <a:xfrm>
              <a:off x="1609" y="2886"/>
              <a:ext cx="12" cy="25"/>
            </a:xfrm>
            <a:custGeom>
              <a:avLst/>
              <a:gdLst>
                <a:gd name="T0" fmla="*/ 14 w 16"/>
                <a:gd name="T1" fmla="*/ 0 h 34"/>
                <a:gd name="T2" fmla="*/ 0 w 16"/>
                <a:gd name="T3" fmla="*/ 14 h 34"/>
                <a:gd name="T4" fmla="*/ 16 w 16"/>
                <a:gd name="T5" fmla="*/ 34 h 34"/>
                <a:gd name="T6" fmla="*/ 12 w 16"/>
                <a:gd name="T7" fmla="*/ 18 h 34"/>
                <a:gd name="T8" fmla="*/ 16 w 16"/>
                <a:gd name="T9" fmla="*/ 6 h 34"/>
                <a:gd name="T10" fmla="*/ 14 w 16"/>
                <a:gd name="T11" fmla="*/ 0 h 34"/>
              </a:gdLst>
              <a:ahLst/>
              <a:cxnLst>
                <a:cxn ang="0">
                  <a:pos x="T0" y="T1"/>
                </a:cxn>
                <a:cxn ang="0">
                  <a:pos x="T2" y="T3"/>
                </a:cxn>
                <a:cxn ang="0">
                  <a:pos x="T4" y="T5"/>
                </a:cxn>
                <a:cxn ang="0">
                  <a:pos x="T6" y="T7"/>
                </a:cxn>
                <a:cxn ang="0">
                  <a:pos x="T8" y="T9"/>
                </a:cxn>
                <a:cxn ang="0">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20" name="Freeform 24"/>
            <p:cNvSpPr>
              <a:spLocks/>
            </p:cNvSpPr>
            <p:nvPr/>
          </p:nvSpPr>
          <p:spPr bwMode="invGray">
            <a:xfrm>
              <a:off x="1426" y="2040"/>
              <a:ext cx="180" cy="88"/>
            </a:xfrm>
            <a:custGeom>
              <a:avLst/>
              <a:gdLst>
                <a:gd name="T0" fmla="*/ 64 w 240"/>
                <a:gd name="T1" fmla="*/ 1 h 117"/>
                <a:gd name="T2" fmla="*/ 24 w 240"/>
                <a:gd name="T3" fmla="*/ 31 h 117"/>
                <a:gd name="T4" fmla="*/ 6 w 240"/>
                <a:gd name="T5" fmla="*/ 37 h 117"/>
                <a:gd name="T6" fmla="*/ 0 w 240"/>
                <a:gd name="T7" fmla="*/ 39 h 117"/>
                <a:gd name="T8" fmla="*/ 26 w 240"/>
                <a:gd name="T9" fmla="*/ 59 h 117"/>
                <a:gd name="T10" fmla="*/ 38 w 240"/>
                <a:gd name="T11" fmla="*/ 63 h 117"/>
                <a:gd name="T12" fmla="*/ 68 w 240"/>
                <a:gd name="T13" fmla="*/ 47 h 117"/>
                <a:gd name="T14" fmla="*/ 80 w 240"/>
                <a:gd name="T15" fmla="*/ 43 h 117"/>
                <a:gd name="T16" fmla="*/ 82 w 240"/>
                <a:gd name="T17" fmla="*/ 55 h 117"/>
                <a:gd name="T18" fmla="*/ 64 w 240"/>
                <a:gd name="T19" fmla="*/ 61 h 117"/>
                <a:gd name="T20" fmla="*/ 72 w 240"/>
                <a:gd name="T21" fmla="*/ 73 h 117"/>
                <a:gd name="T22" fmla="*/ 40 w 240"/>
                <a:gd name="T23" fmla="*/ 87 h 117"/>
                <a:gd name="T24" fmla="*/ 70 w 240"/>
                <a:gd name="T25" fmla="*/ 109 h 117"/>
                <a:gd name="T26" fmla="*/ 82 w 240"/>
                <a:gd name="T27" fmla="*/ 113 h 117"/>
                <a:gd name="T28" fmla="*/ 118 w 240"/>
                <a:gd name="T29" fmla="*/ 103 h 117"/>
                <a:gd name="T30" fmla="*/ 150 w 240"/>
                <a:gd name="T31" fmla="*/ 105 h 117"/>
                <a:gd name="T32" fmla="*/ 168 w 240"/>
                <a:gd name="T33" fmla="*/ 117 h 117"/>
                <a:gd name="T34" fmla="*/ 204 w 240"/>
                <a:gd name="T35" fmla="*/ 109 h 117"/>
                <a:gd name="T36" fmla="*/ 224 w 240"/>
                <a:gd name="T37" fmla="*/ 103 h 117"/>
                <a:gd name="T38" fmla="*/ 222 w 240"/>
                <a:gd name="T39" fmla="*/ 77 h 117"/>
                <a:gd name="T40" fmla="*/ 234 w 240"/>
                <a:gd name="T41" fmla="*/ 69 h 117"/>
                <a:gd name="T42" fmla="*/ 238 w 240"/>
                <a:gd name="T43" fmla="*/ 47 h 117"/>
                <a:gd name="T44" fmla="*/ 210 w 240"/>
                <a:gd name="T45" fmla="*/ 57 h 117"/>
                <a:gd name="T46" fmla="*/ 200 w 240"/>
                <a:gd name="T47" fmla="*/ 43 h 117"/>
                <a:gd name="T48" fmla="*/ 172 w 240"/>
                <a:gd name="T49" fmla="*/ 45 h 117"/>
                <a:gd name="T50" fmla="*/ 134 w 240"/>
                <a:gd name="T51" fmla="*/ 9 h 117"/>
                <a:gd name="T52" fmla="*/ 94 w 240"/>
                <a:gd name="T53" fmla="*/ 11 h 117"/>
                <a:gd name="T54" fmla="*/ 82 w 240"/>
                <a:gd name="T55" fmla="*/ 1 h 117"/>
                <a:gd name="T56" fmla="*/ 64 w 240"/>
                <a:gd name="T57" fmla="*/ 1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21" name="Freeform 25"/>
            <p:cNvSpPr>
              <a:spLocks/>
            </p:cNvSpPr>
            <p:nvPr/>
          </p:nvSpPr>
          <p:spPr bwMode="invGray">
            <a:xfrm>
              <a:off x="1506" y="1999"/>
              <a:ext cx="146" cy="60"/>
            </a:xfrm>
            <a:custGeom>
              <a:avLst/>
              <a:gdLst>
                <a:gd name="T0" fmla="*/ 97 w 194"/>
                <a:gd name="T1" fmla="*/ 10 h 80"/>
                <a:gd name="T2" fmla="*/ 13 w 194"/>
                <a:gd name="T3" fmla="*/ 24 h 80"/>
                <a:gd name="T4" fmla="*/ 9 w 194"/>
                <a:gd name="T5" fmla="*/ 34 h 80"/>
                <a:gd name="T6" fmla="*/ 57 w 194"/>
                <a:gd name="T7" fmla="*/ 52 h 80"/>
                <a:gd name="T8" fmla="*/ 135 w 194"/>
                <a:gd name="T9" fmla="*/ 74 h 80"/>
                <a:gd name="T10" fmla="*/ 175 w 194"/>
                <a:gd name="T11" fmla="*/ 68 h 80"/>
                <a:gd name="T12" fmla="*/ 187 w 194"/>
                <a:gd name="T13" fmla="*/ 64 h 80"/>
                <a:gd name="T14" fmla="*/ 175 w 194"/>
                <a:gd name="T15" fmla="*/ 44 h 80"/>
                <a:gd name="T16" fmla="*/ 163 w 194"/>
                <a:gd name="T17" fmla="*/ 36 h 80"/>
                <a:gd name="T18" fmla="*/ 129 w 194"/>
                <a:gd name="T19" fmla="*/ 26 h 80"/>
                <a:gd name="T20" fmla="*/ 97 w 194"/>
                <a:gd name="T21" fmla="*/ 1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22" name="Freeform 26"/>
            <p:cNvSpPr>
              <a:spLocks/>
            </p:cNvSpPr>
            <p:nvPr/>
          </p:nvSpPr>
          <p:spPr bwMode="invGray">
            <a:xfrm>
              <a:off x="1711" y="2069"/>
              <a:ext cx="233" cy="190"/>
            </a:xfrm>
            <a:custGeom>
              <a:avLst/>
              <a:gdLst>
                <a:gd name="T0" fmla="*/ 67 w 310"/>
                <a:gd name="T1" fmla="*/ 9 h 254"/>
                <a:gd name="T2" fmla="*/ 51 w 310"/>
                <a:gd name="T3" fmla="*/ 23 h 254"/>
                <a:gd name="T4" fmla="*/ 21 w 310"/>
                <a:gd name="T5" fmla="*/ 39 h 254"/>
                <a:gd name="T6" fmla="*/ 53 w 310"/>
                <a:gd name="T7" fmla="*/ 77 h 254"/>
                <a:gd name="T8" fmla="*/ 79 w 310"/>
                <a:gd name="T9" fmla="*/ 85 h 254"/>
                <a:gd name="T10" fmla="*/ 103 w 310"/>
                <a:gd name="T11" fmla="*/ 99 h 254"/>
                <a:gd name="T12" fmla="*/ 127 w 310"/>
                <a:gd name="T13" fmla="*/ 85 h 254"/>
                <a:gd name="T14" fmla="*/ 143 w 310"/>
                <a:gd name="T15" fmla="*/ 101 h 254"/>
                <a:gd name="T16" fmla="*/ 149 w 310"/>
                <a:gd name="T17" fmla="*/ 127 h 254"/>
                <a:gd name="T18" fmla="*/ 115 w 310"/>
                <a:gd name="T19" fmla="*/ 151 h 254"/>
                <a:gd name="T20" fmla="*/ 89 w 310"/>
                <a:gd name="T21" fmla="*/ 173 h 254"/>
                <a:gd name="T22" fmla="*/ 69 w 310"/>
                <a:gd name="T23" fmla="*/ 169 h 254"/>
                <a:gd name="T24" fmla="*/ 57 w 310"/>
                <a:gd name="T25" fmla="*/ 165 h 254"/>
                <a:gd name="T26" fmla="*/ 43 w 310"/>
                <a:gd name="T27" fmla="*/ 187 h 254"/>
                <a:gd name="T28" fmla="*/ 39 w 310"/>
                <a:gd name="T29" fmla="*/ 199 h 254"/>
                <a:gd name="T30" fmla="*/ 73 w 310"/>
                <a:gd name="T31" fmla="*/ 205 h 254"/>
                <a:gd name="T32" fmla="*/ 95 w 310"/>
                <a:gd name="T33" fmla="*/ 203 h 254"/>
                <a:gd name="T34" fmla="*/ 115 w 310"/>
                <a:gd name="T35" fmla="*/ 231 h 254"/>
                <a:gd name="T36" fmla="*/ 127 w 310"/>
                <a:gd name="T37" fmla="*/ 235 h 254"/>
                <a:gd name="T38" fmla="*/ 139 w 310"/>
                <a:gd name="T39" fmla="*/ 239 h 254"/>
                <a:gd name="T40" fmla="*/ 155 w 310"/>
                <a:gd name="T41" fmla="*/ 251 h 254"/>
                <a:gd name="T42" fmla="*/ 181 w 310"/>
                <a:gd name="T43" fmla="*/ 237 h 254"/>
                <a:gd name="T44" fmla="*/ 203 w 310"/>
                <a:gd name="T45" fmla="*/ 235 h 254"/>
                <a:gd name="T46" fmla="*/ 229 w 310"/>
                <a:gd name="T47" fmla="*/ 213 h 254"/>
                <a:gd name="T48" fmla="*/ 225 w 310"/>
                <a:gd name="T49" fmla="*/ 185 h 254"/>
                <a:gd name="T50" fmla="*/ 217 w 310"/>
                <a:gd name="T51" fmla="*/ 173 h 254"/>
                <a:gd name="T52" fmla="*/ 233 w 310"/>
                <a:gd name="T53" fmla="*/ 167 h 254"/>
                <a:gd name="T54" fmla="*/ 245 w 310"/>
                <a:gd name="T55" fmla="*/ 183 h 254"/>
                <a:gd name="T56" fmla="*/ 247 w 310"/>
                <a:gd name="T57" fmla="*/ 197 h 254"/>
                <a:gd name="T58" fmla="*/ 261 w 310"/>
                <a:gd name="T59" fmla="*/ 193 h 254"/>
                <a:gd name="T60" fmla="*/ 303 w 310"/>
                <a:gd name="T61" fmla="*/ 169 h 254"/>
                <a:gd name="T62" fmla="*/ 293 w 310"/>
                <a:gd name="T63" fmla="*/ 147 h 254"/>
                <a:gd name="T64" fmla="*/ 259 w 310"/>
                <a:gd name="T65" fmla="*/ 123 h 254"/>
                <a:gd name="T66" fmla="*/ 265 w 310"/>
                <a:gd name="T67" fmla="*/ 107 h 254"/>
                <a:gd name="T68" fmla="*/ 277 w 310"/>
                <a:gd name="T69" fmla="*/ 103 h 254"/>
                <a:gd name="T70" fmla="*/ 253 w 310"/>
                <a:gd name="T71" fmla="*/ 63 h 254"/>
                <a:gd name="T72" fmla="*/ 233 w 310"/>
                <a:gd name="T73" fmla="*/ 59 h 254"/>
                <a:gd name="T74" fmla="*/ 221 w 310"/>
                <a:gd name="T75" fmla="*/ 55 h 254"/>
                <a:gd name="T76" fmla="*/ 201 w 310"/>
                <a:gd name="T77" fmla="*/ 33 h 254"/>
                <a:gd name="T78" fmla="*/ 155 w 310"/>
                <a:gd name="T79" fmla="*/ 45 h 254"/>
                <a:gd name="T80" fmla="*/ 167 w 310"/>
                <a:gd name="T81" fmla="*/ 25 h 254"/>
                <a:gd name="T82" fmla="*/ 139 w 310"/>
                <a:gd name="T83" fmla="*/ 17 h 254"/>
                <a:gd name="T84" fmla="*/ 119 w 310"/>
                <a:gd name="T85" fmla="*/ 19 h 254"/>
                <a:gd name="T86" fmla="*/ 67 w 310"/>
                <a:gd name="T87" fmla="*/ 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23" name="Freeform 27"/>
            <p:cNvSpPr>
              <a:spLocks/>
            </p:cNvSpPr>
            <p:nvPr/>
          </p:nvSpPr>
          <p:spPr bwMode="invGray">
            <a:xfrm>
              <a:off x="1709" y="1987"/>
              <a:ext cx="44" cy="37"/>
            </a:xfrm>
            <a:custGeom>
              <a:avLst/>
              <a:gdLst>
                <a:gd name="T0" fmla="*/ 26 w 59"/>
                <a:gd name="T1" fmla="*/ 0 h 50"/>
                <a:gd name="T2" fmla="*/ 0 w 59"/>
                <a:gd name="T3" fmla="*/ 10 h 50"/>
                <a:gd name="T4" fmla="*/ 30 w 59"/>
                <a:gd name="T5" fmla="*/ 40 h 50"/>
                <a:gd name="T6" fmla="*/ 48 w 59"/>
                <a:gd name="T7" fmla="*/ 50 h 50"/>
                <a:gd name="T8" fmla="*/ 58 w 59"/>
                <a:gd name="T9" fmla="*/ 28 h 50"/>
                <a:gd name="T10" fmla="*/ 44 w 59"/>
                <a:gd name="T11" fmla="*/ 8 h 50"/>
                <a:gd name="T12" fmla="*/ 26 w 59"/>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24" name="Freeform 28"/>
            <p:cNvSpPr>
              <a:spLocks/>
            </p:cNvSpPr>
            <p:nvPr/>
          </p:nvSpPr>
          <p:spPr bwMode="invGray">
            <a:xfrm>
              <a:off x="1625" y="2057"/>
              <a:ext cx="65" cy="42"/>
            </a:xfrm>
            <a:custGeom>
              <a:avLst/>
              <a:gdLst>
                <a:gd name="T0" fmla="*/ 44 w 86"/>
                <a:gd name="T1" fmla="*/ 7 h 57"/>
                <a:gd name="T2" fmla="*/ 24 w 86"/>
                <a:gd name="T3" fmla="*/ 25 h 57"/>
                <a:gd name="T4" fmla="*/ 4 w 86"/>
                <a:gd name="T5" fmla="*/ 27 h 57"/>
                <a:gd name="T6" fmla="*/ 16 w 86"/>
                <a:gd name="T7" fmla="*/ 57 h 57"/>
                <a:gd name="T8" fmla="*/ 74 w 86"/>
                <a:gd name="T9" fmla="*/ 35 h 57"/>
                <a:gd name="T10" fmla="*/ 86 w 86"/>
                <a:gd name="T11" fmla="*/ 17 h 57"/>
                <a:gd name="T12" fmla="*/ 56 w 86"/>
                <a:gd name="T13" fmla="*/ 7 h 57"/>
                <a:gd name="T14" fmla="*/ 44 w 86"/>
                <a:gd name="T15" fmla="*/ 7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25" name="Freeform 29"/>
            <p:cNvSpPr>
              <a:spLocks/>
            </p:cNvSpPr>
            <p:nvPr/>
          </p:nvSpPr>
          <p:spPr bwMode="invGray">
            <a:xfrm>
              <a:off x="1693" y="2065"/>
              <a:ext cx="54" cy="25"/>
            </a:xfrm>
            <a:custGeom>
              <a:avLst/>
              <a:gdLst>
                <a:gd name="T0" fmla="*/ 40 w 73"/>
                <a:gd name="T1" fmla="*/ 0 h 34"/>
                <a:gd name="T2" fmla="*/ 10 w 73"/>
                <a:gd name="T3" fmla="*/ 16 h 34"/>
                <a:gd name="T4" fmla="*/ 24 w 73"/>
                <a:gd name="T5" fmla="*/ 34 h 34"/>
                <a:gd name="T6" fmla="*/ 52 w 73"/>
                <a:gd name="T7" fmla="*/ 28 h 34"/>
                <a:gd name="T8" fmla="*/ 64 w 73"/>
                <a:gd name="T9" fmla="*/ 20 h 34"/>
                <a:gd name="T10" fmla="*/ 40 w 73"/>
                <a:gd name="T11" fmla="*/ 0 h 34"/>
              </a:gdLst>
              <a:ahLst/>
              <a:cxnLst>
                <a:cxn ang="0">
                  <a:pos x="T0" y="T1"/>
                </a:cxn>
                <a:cxn ang="0">
                  <a:pos x="T2" y="T3"/>
                </a:cxn>
                <a:cxn ang="0">
                  <a:pos x="T4" y="T5"/>
                </a:cxn>
                <a:cxn ang="0">
                  <a:pos x="T6" y="T7"/>
                </a:cxn>
                <a:cxn ang="0">
                  <a:pos x="T8" y="T9"/>
                </a:cxn>
                <a:cxn ang="0">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26" name="Freeform 30"/>
            <p:cNvSpPr>
              <a:spLocks/>
            </p:cNvSpPr>
            <p:nvPr/>
          </p:nvSpPr>
          <p:spPr bwMode="invGray">
            <a:xfrm>
              <a:off x="1664" y="2029"/>
              <a:ext cx="64" cy="34"/>
            </a:xfrm>
            <a:custGeom>
              <a:avLst/>
              <a:gdLst>
                <a:gd name="T0" fmla="*/ 58 w 85"/>
                <a:gd name="T1" fmla="*/ 10 h 45"/>
                <a:gd name="T2" fmla="*/ 28 w 85"/>
                <a:gd name="T3" fmla="*/ 4 h 45"/>
                <a:gd name="T4" fmla="*/ 0 w 85"/>
                <a:gd name="T5" fmla="*/ 18 h 45"/>
                <a:gd name="T6" fmla="*/ 40 w 85"/>
                <a:gd name="T7" fmla="*/ 32 h 45"/>
                <a:gd name="T8" fmla="*/ 64 w 85"/>
                <a:gd name="T9" fmla="*/ 40 h 45"/>
                <a:gd name="T10" fmla="*/ 84 w 85"/>
                <a:gd name="T11" fmla="*/ 18 h 45"/>
                <a:gd name="T12" fmla="*/ 82 w 85"/>
                <a:gd name="T13" fmla="*/ 6 h 45"/>
                <a:gd name="T14" fmla="*/ 64 w 85"/>
                <a:gd name="T15" fmla="*/ 0 h 45"/>
                <a:gd name="T16" fmla="*/ 58 w 85"/>
                <a:gd name="T17" fmla="*/ 1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27" name="Freeform 31"/>
            <p:cNvSpPr>
              <a:spLocks/>
            </p:cNvSpPr>
            <p:nvPr/>
          </p:nvSpPr>
          <p:spPr bwMode="invGray">
            <a:xfrm>
              <a:off x="1637" y="1997"/>
              <a:ext cx="44" cy="24"/>
            </a:xfrm>
            <a:custGeom>
              <a:avLst/>
              <a:gdLst>
                <a:gd name="T0" fmla="*/ 16 w 58"/>
                <a:gd name="T1" fmla="*/ 4 h 31"/>
                <a:gd name="T2" fmla="*/ 0 w 58"/>
                <a:gd name="T3" fmla="*/ 18 h 31"/>
                <a:gd name="T4" fmla="*/ 20 w 58"/>
                <a:gd name="T5" fmla="*/ 28 h 31"/>
                <a:gd name="T6" fmla="*/ 28 w 58"/>
                <a:gd name="T7" fmla="*/ 20 h 31"/>
                <a:gd name="T8" fmla="*/ 52 w 58"/>
                <a:gd name="T9" fmla="*/ 12 h 31"/>
                <a:gd name="T10" fmla="*/ 44 w 58"/>
                <a:gd name="T11" fmla="*/ 0 h 31"/>
                <a:gd name="T12" fmla="*/ 16 w 58"/>
                <a:gd name="T13" fmla="*/ 4 h 31"/>
              </a:gdLst>
              <a:ahLst/>
              <a:cxnLst>
                <a:cxn ang="0">
                  <a:pos x="T0" y="T1"/>
                </a:cxn>
                <a:cxn ang="0">
                  <a:pos x="T2" y="T3"/>
                </a:cxn>
                <a:cxn ang="0">
                  <a:pos x="T4" y="T5"/>
                </a:cxn>
                <a:cxn ang="0">
                  <a:pos x="T6" y="T7"/>
                </a:cxn>
                <a:cxn ang="0">
                  <a:pos x="T8" y="T9"/>
                </a:cxn>
                <a:cxn ang="0">
                  <a:pos x="T10" y="T11"/>
                </a:cxn>
                <a:cxn ang="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28" name="Freeform 32"/>
            <p:cNvSpPr>
              <a:spLocks/>
            </p:cNvSpPr>
            <p:nvPr/>
          </p:nvSpPr>
          <p:spPr bwMode="invGray">
            <a:xfrm>
              <a:off x="1751" y="2000"/>
              <a:ext cx="114" cy="77"/>
            </a:xfrm>
            <a:custGeom>
              <a:avLst/>
              <a:gdLst>
                <a:gd name="T0" fmla="*/ 38 w 152"/>
                <a:gd name="T1" fmla="*/ 0 h 102"/>
                <a:gd name="T2" fmla="*/ 14 w 152"/>
                <a:gd name="T3" fmla="*/ 6 h 102"/>
                <a:gd name="T4" fmla="*/ 4 w 152"/>
                <a:gd name="T5" fmla="*/ 38 h 102"/>
                <a:gd name="T6" fmla="*/ 12 w 152"/>
                <a:gd name="T7" fmla="*/ 56 h 102"/>
                <a:gd name="T8" fmla="*/ 0 w 152"/>
                <a:gd name="T9" fmla="*/ 72 h 102"/>
                <a:gd name="T10" fmla="*/ 56 w 152"/>
                <a:gd name="T11" fmla="*/ 86 h 102"/>
                <a:gd name="T12" fmla="*/ 82 w 152"/>
                <a:gd name="T13" fmla="*/ 92 h 102"/>
                <a:gd name="T14" fmla="*/ 152 w 152"/>
                <a:gd name="T15" fmla="*/ 86 h 102"/>
                <a:gd name="T16" fmla="*/ 76 w 152"/>
                <a:gd name="T17" fmla="*/ 70 h 102"/>
                <a:gd name="T18" fmla="*/ 54 w 152"/>
                <a:gd name="T19" fmla="*/ 62 h 102"/>
                <a:gd name="T20" fmla="*/ 44 w 152"/>
                <a:gd name="T21" fmla="*/ 52 h 102"/>
                <a:gd name="T22" fmla="*/ 50 w 152"/>
                <a:gd name="T23" fmla="*/ 34 h 102"/>
                <a:gd name="T24" fmla="*/ 38 w 152"/>
                <a:gd name="T25"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29" name="Freeform 33"/>
            <p:cNvSpPr>
              <a:spLocks/>
            </p:cNvSpPr>
            <p:nvPr/>
          </p:nvSpPr>
          <p:spPr bwMode="invGray">
            <a:xfrm>
              <a:off x="664" y="2245"/>
              <a:ext cx="25" cy="15"/>
            </a:xfrm>
            <a:custGeom>
              <a:avLst/>
              <a:gdLst>
                <a:gd name="T0" fmla="*/ 34 w 34"/>
                <a:gd name="T1" fmla="*/ 0 h 20"/>
                <a:gd name="T2" fmla="*/ 24 w 34"/>
                <a:gd name="T3" fmla="*/ 20 h 20"/>
                <a:gd name="T4" fmla="*/ 4 w 34"/>
                <a:gd name="T5" fmla="*/ 18 h 20"/>
                <a:gd name="T6" fmla="*/ 4 w 34"/>
                <a:gd name="T7" fmla="*/ 6 h 20"/>
                <a:gd name="T8" fmla="*/ 34 w 34"/>
                <a:gd name="T9" fmla="*/ 0 h 20"/>
              </a:gdLst>
              <a:ahLst/>
              <a:cxnLst>
                <a:cxn ang="0">
                  <a:pos x="T0" y="T1"/>
                </a:cxn>
                <a:cxn ang="0">
                  <a:pos x="T2" y="T3"/>
                </a:cxn>
                <a:cxn ang="0">
                  <a:pos x="T4" y="T5"/>
                </a:cxn>
                <a:cxn ang="0">
                  <a:pos x="T6" y="T7"/>
                </a:cxn>
                <a:cxn ang="0">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30" name="Freeform 34"/>
            <p:cNvSpPr>
              <a:spLocks/>
            </p:cNvSpPr>
            <p:nvPr/>
          </p:nvSpPr>
          <p:spPr bwMode="invGray">
            <a:xfrm>
              <a:off x="1421" y="2756"/>
              <a:ext cx="16" cy="12"/>
            </a:xfrm>
            <a:custGeom>
              <a:avLst/>
              <a:gdLst>
                <a:gd name="T0" fmla="*/ 3 w 21"/>
                <a:gd name="T1" fmla="*/ 0 h 16"/>
                <a:gd name="T2" fmla="*/ 13 w 21"/>
                <a:gd name="T3" fmla="*/ 16 h 16"/>
                <a:gd name="T4" fmla="*/ 3 w 21"/>
                <a:gd name="T5" fmla="*/ 0 h 16"/>
              </a:gdLst>
              <a:ahLst/>
              <a:cxnLst>
                <a:cxn ang="0">
                  <a:pos x="T0" y="T1"/>
                </a:cxn>
                <a:cxn ang="0">
                  <a:pos x="T2" y="T3"/>
                </a:cxn>
                <a:cxn ang="0">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31" name="Freeform 35"/>
            <p:cNvSpPr>
              <a:spLocks/>
            </p:cNvSpPr>
            <p:nvPr/>
          </p:nvSpPr>
          <p:spPr bwMode="invGray">
            <a:xfrm>
              <a:off x="1424" y="2781"/>
              <a:ext cx="16" cy="12"/>
            </a:xfrm>
            <a:custGeom>
              <a:avLst/>
              <a:gdLst>
                <a:gd name="T0" fmla="*/ 3 w 21"/>
                <a:gd name="T1" fmla="*/ 0 h 16"/>
                <a:gd name="T2" fmla="*/ 13 w 21"/>
                <a:gd name="T3" fmla="*/ 16 h 16"/>
                <a:gd name="T4" fmla="*/ 3 w 21"/>
                <a:gd name="T5" fmla="*/ 0 h 16"/>
              </a:gdLst>
              <a:ahLst/>
              <a:cxnLst>
                <a:cxn ang="0">
                  <a:pos x="T0" y="T1"/>
                </a:cxn>
                <a:cxn ang="0">
                  <a:pos x="T2" y="T3"/>
                </a:cxn>
                <a:cxn ang="0">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32" name="Freeform 36"/>
            <p:cNvSpPr>
              <a:spLocks/>
            </p:cNvSpPr>
            <p:nvPr/>
          </p:nvSpPr>
          <p:spPr bwMode="invGray">
            <a:xfrm>
              <a:off x="1628" y="2913"/>
              <a:ext cx="15" cy="12"/>
            </a:xfrm>
            <a:custGeom>
              <a:avLst/>
              <a:gdLst>
                <a:gd name="T0" fmla="*/ 3 w 21"/>
                <a:gd name="T1" fmla="*/ 0 h 16"/>
                <a:gd name="T2" fmla="*/ 13 w 21"/>
                <a:gd name="T3" fmla="*/ 16 h 16"/>
                <a:gd name="T4" fmla="*/ 3 w 21"/>
                <a:gd name="T5" fmla="*/ 0 h 16"/>
              </a:gdLst>
              <a:ahLst/>
              <a:cxnLst>
                <a:cxn ang="0">
                  <a:pos x="T0" y="T1"/>
                </a:cxn>
                <a:cxn ang="0">
                  <a:pos x="T2" y="T3"/>
                </a:cxn>
                <a:cxn ang="0">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33" name="Freeform 37"/>
            <p:cNvSpPr>
              <a:spLocks/>
            </p:cNvSpPr>
            <p:nvPr/>
          </p:nvSpPr>
          <p:spPr bwMode="invGray">
            <a:xfrm>
              <a:off x="1752" y="2429"/>
              <a:ext cx="38"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34" name="Freeform 38"/>
            <p:cNvSpPr>
              <a:spLocks/>
            </p:cNvSpPr>
            <p:nvPr/>
          </p:nvSpPr>
          <p:spPr bwMode="invGray">
            <a:xfrm>
              <a:off x="1652" y="2224"/>
              <a:ext cx="38"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35" name="Freeform 39"/>
            <p:cNvSpPr>
              <a:spLocks/>
            </p:cNvSpPr>
            <p:nvPr/>
          </p:nvSpPr>
          <p:spPr bwMode="invGray">
            <a:xfrm>
              <a:off x="1717" y="2045"/>
              <a:ext cx="39"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36" name="Freeform 40"/>
            <p:cNvSpPr>
              <a:spLocks/>
            </p:cNvSpPr>
            <p:nvPr/>
          </p:nvSpPr>
          <p:spPr bwMode="invGray">
            <a:xfrm>
              <a:off x="1780" y="2153"/>
              <a:ext cx="38"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37" name="Freeform 41"/>
            <p:cNvSpPr>
              <a:spLocks/>
            </p:cNvSpPr>
            <p:nvPr/>
          </p:nvSpPr>
          <p:spPr bwMode="invGray">
            <a:xfrm>
              <a:off x="1796" y="1951"/>
              <a:ext cx="696" cy="346"/>
            </a:xfrm>
            <a:custGeom>
              <a:avLst/>
              <a:gdLst>
                <a:gd name="T0" fmla="*/ 28 w 929"/>
                <a:gd name="T1" fmla="*/ 56 h 462"/>
                <a:gd name="T2" fmla="*/ 6 w 929"/>
                <a:gd name="T3" fmla="*/ 92 h 462"/>
                <a:gd name="T4" fmla="*/ 36 w 929"/>
                <a:gd name="T5" fmla="*/ 100 h 462"/>
                <a:gd name="T6" fmla="*/ 16 w 929"/>
                <a:gd name="T7" fmla="*/ 116 h 462"/>
                <a:gd name="T8" fmla="*/ 104 w 929"/>
                <a:gd name="T9" fmla="*/ 136 h 462"/>
                <a:gd name="T10" fmla="*/ 142 w 929"/>
                <a:gd name="T11" fmla="*/ 130 h 462"/>
                <a:gd name="T12" fmla="*/ 250 w 929"/>
                <a:gd name="T13" fmla="*/ 78 h 462"/>
                <a:gd name="T14" fmla="*/ 300 w 929"/>
                <a:gd name="T15" fmla="*/ 66 h 462"/>
                <a:gd name="T16" fmla="*/ 324 w 929"/>
                <a:gd name="T17" fmla="*/ 80 h 462"/>
                <a:gd name="T18" fmla="*/ 272 w 929"/>
                <a:gd name="T19" fmla="*/ 88 h 462"/>
                <a:gd name="T20" fmla="*/ 242 w 929"/>
                <a:gd name="T21" fmla="*/ 112 h 462"/>
                <a:gd name="T22" fmla="*/ 254 w 929"/>
                <a:gd name="T23" fmla="*/ 120 h 462"/>
                <a:gd name="T24" fmla="*/ 260 w 929"/>
                <a:gd name="T25" fmla="*/ 158 h 462"/>
                <a:gd name="T26" fmla="*/ 350 w 929"/>
                <a:gd name="T27" fmla="*/ 192 h 462"/>
                <a:gd name="T28" fmla="*/ 336 w 929"/>
                <a:gd name="T29" fmla="*/ 210 h 462"/>
                <a:gd name="T30" fmla="*/ 368 w 929"/>
                <a:gd name="T31" fmla="*/ 246 h 462"/>
                <a:gd name="T32" fmla="*/ 348 w 929"/>
                <a:gd name="T33" fmla="*/ 266 h 462"/>
                <a:gd name="T34" fmla="*/ 324 w 929"/>
                <a:gd name="T35" fmla="*/ 294 h 462"/>
                <a:gd name="T36" fmla="*/ 294 w 929"/>
                <a:gd name="T37" fmla="*/ 324 h 462"/>
                <a:gd name="T38" fmla="*/ 292 w 929"/>
                <a:gd name="T39" fmla="*/ 420 h 462"/>
                <a:gd name="T40" fmla="*/ 332 w 929"/>
                <a:gd name="T41" fmla="*/ 446 h 462"/>
                <a:gd name="T42" fmla="*/ 388 w 929"/>
                <a:gd name="T43" fmla="*/ 448 h 462"/>
                <a:gd name="T44" fmla="*/ 412 w 929"/>
                <a:gd name="T45" fmla="*/ 422 h 462"/>
                <a:gd name="T46" fmla="*/ 506 w 929"/>
                <a:gd name="T47" fmla="*/ 356 h 462"/>
                <a:gd name="T48" fmla="*/ 572 w 929"/>
                <a:gd name="T49" fmla="*/ 334 h 462"/>
                <a:gd name="T50" fmla="*/ 646 w 929"/>
                <a:gd name="T51" fmla="*/ 308 h 462"/>
                <a:gd name="T52" fmla="*/ 720 w 929"/>
                <a:gd name="T53" fmla="*/ 290 h 462"/>
                <a:gd name="T54" fmla="*/ 762 w 929"/>
                <a:gd name="T55" fmla="*/ 260 h 462"/>
                <a:gd name="T56" fmla="*/ 800 w 929"/>
                <a:gd name="T57" fmla="*/ 200 h 462"/>
                <a:gd name="T58" fmla="*/ 802 w 929"/>
                <a:gd name="T59" fmla="*/ 154 h 462"/>
                <a:gd name="T60" fmla="*/ 802 w 929"/>
                <a:gd name="T61" fmla="*/ 124 h 462"/>
                <a:gd name="T62" fmla="*/ 832 w 929"/>
                <a:gd name="T63" fmla="*/ 90 h 462"/>
                <a:gd name="T64" fmla="*/ 876 w 929"/>
                <a:gd name="T65" fmla="*/ 94 h 462"/>
                <a:gd name="T66" fmla="*/ 922 w 929"/>
                <a:gd name="T67" fmla="*/ 52 h 462"/>
                <a:gd name="T68" fmla="*/ 888 w 929"/>
                <a:gd name="T69" fmla="*/ 56 h 462"/>
                <a:gd name="T70" fmla="*/ 848 w 929"/>
                <a:gd name="T71" fmla="*/ 46 h 462"/>
                <a:gd name="T72" fmla="*/ 794 w 929"/>
                <a:gd name="T73" fmla="*/ 22 h 462"/>
                <a:gd name="T74" fmla="*/ 642 w 929"/>
                <a:gd name="T75" fmla="*/ 26 h 462"/>
                <a:gd name="T76" fmla="*/ 584 w 929"/>
                <a:gd name="T77" fmla="*/ 38 h 462"/>
                <a:gd name="T78" fmla="*/ 556 w 929"/>
                <a:gd name="T79" fmla="*/ 38 h 462"/>
                <a:gd name="T80" fmla="*/ 516 w 929"/>
                <a:gd name="T81" fmla="*/ 54 h 462"/>
                <a:gd name="T82" fmla="*/ 478 w 929"/>
                <a:gd name="T83" fmla="*/ 30 h 462"/>
                <a:gd name="T84" fmla="*/ 432 w 929"/>
                <a:gd name="T85" fmla="*/ 40 h 462"/>
                <a:gd name="T86" fmla="*/ 366 w 929"/>
                <a:gd name="T87" fmla="*/ 52 h 462"/>
                <a:gd name="T88" fmla="*/ 410 w 929"/>
                <a:gd name="T89" fmla="*/ 38 h 462"/>
                <a:gd name="T90" fmla="*/ 352 w 929"/>
                <a:gd name="T91" fmla="*/ 8 h 462"/>
                <a:gd name="T92" fmla="*/ 334 w 929"/>
                <a:gd name="T93" fmla="*/ 2 h 462"/>
                <a:gd name="T94" fmla="*/ 314 w 929"/>
                <a:gd name="T95" fmla="*/ 8 h 462"/>
                <a:gd name="T96" fmla="*/ 240 w 929"/>
                <a:gd name="T97" fmla="*/ 16 h 462"/>
                <a:gd name="T98" fmla="*/ 160 w 929"/>
                <a:gd name="T99" fmla="*/ 28 h 462"/>
                <a:gd name="T100" fmla="*/ 108 w 929"/>
                <a:gd name="T101" fmla="*/ 26 h 462"/>
                <a:gd name="T102" fmla="*/ 114 w 929"/>
                <a:gd name="T103" fmla="*/ 68 h 462"/>
                <a:gd name="T104" fmla="*/ 104 w 929"/>
                <a:gd name="T105" fmla="*/ 52 h 462"/>
                <a:gd name="T106" fmla="*/ 60 w 929"/>
                <a:gd name="T107" fmla="*/ 42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38" name="Freeform 42"/>
            <p:cNvSpPr>
              <a:spLocks/>
            </p:cNvSpPr>
            <p:nvPr/>
          </p:nvSpPr>
          <p:spPr bwMode="invGray">
            <a:xfrm>
              <a:off x="2009" y="2135"/>
              <a:ext cx="39" cy="24"/>
            </a:xfrm>
            <a:custGeom>
              <a:avLst/>
              <a:gdLst>
                <a:gd name="T0" fmla="*/ 34 w 52"/>
                <a:gd name="T1" fmla="*/ 0 h 32"/>
                <a:gd name="T2" fmla="*/ 8 w 52"/>
                <a:gd name="T3" fmla="*/ 20 h 32"/>
                <a:gd name="T4" fmla="*/ 24 w 52"/>
                <a:gd name="T5" fmla="*/ 32 h 32"/>
                <a:gd name="T6" fmla="*/ 42 w 52"/>
                <a:gd name="T7" fmla="*/ 30 h 32"/>
                <a:gd name="T8" fmla="*/ 34 w 52"/>
                <a:gd name="T9" fmla="*/ 0 h 32"/>
              </a:gdLst>
              <a:ahLst/>
              <a:cxnLst>
                <a:cxn ang="0">
                  <a:pos x="T0" y="T1"/>
                </a:cxn>
                <a:cxn ang="0">
                  <a:pos x="T2" y="T3"/>
                </a:cxn>
                <a:cxn ang="0">
                  <a:pos x="T4" y="T5"/>
                </a:cxn>
                <a:cxn ang="0">
                  <a:pos x="T6" y="T7"/>
                </a:cxn>
                <a:cxn ang="0">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39" name="Freeform 43"/>
            <p:cNvSpPr>
              <a:spLocks/>
            </p:cNvSpPr>
            <p:nvPr/>
          </p:nvSpPr>
          <p:spPr bwMode="invGray">
            <a:xfrm>
              <a:off x="2292" y="2201"/>
              <a:ext cx="128" cy="54"/>
            </a:xfrm>
            <a:custGeom>
              <a:avLst/>
              <a:gdLst>
                <a:gd name="T0" fmla="*/ 102 w 172"/>
                <a:gd name="T1" fmla="*/ 8 h 72"/>
                <a:gd name="T2" fmla="*/ 66 w 172"/>
                <a:gd name="T3" fmla="*/ 4 h 72"/>
                <a:gd name="T4" fmla="*/ 54 w 172"/>
                <a:gd name="T5" fmla="*/ 0 h 72"/>
                <a:gd name="T6" fmla="*/ 0 w 172"/>
                <a:gd name="T7" fmla="*/ 28 h 72"/>
                <a:gd name="T8" fmla="*/ 28 w 172"/>
                <a:gd name="T9" fmla="*/ 40 h 72"/>
                <a:gd name="T10" fmla="*/ 42 w 172"/>
                <a:gd name="T11" fmla="*/ 60 h 72"/>
                <a:gd name="T12" fmla="*/ 66 w 172"/>
                <a:gd name="T13" fmla="*/ 68 h 72"/>
                <a:gd name="T14" fmla="*/ 78 w 172"/>
                <a:gd name="T15" fmla="*/ 72 h 72"/>
                <a:gd name="T16" fmla="*/ 130 w 172"/>
                <a:gd name="T17" fmla="*/ 60 h 72"/>
                <a:gd name="T18" fmla="*/ 172 w 172"/>
                <a:gd name="T19" fmla="*/ 44 h 72"/>
                <a:gd name="T20" fmla="*/ 148 w 172"/>
                <a:gd name="T21" fmla="*/ 18 h 72"/>
                <a:gd name="T22" fmla="*/ 136 w 172"/>
                <a:gd name="T23" fmla="*/ 4 h 72"/>
                <a:gd name="T24" fmla="*/ 102 w 172"/>
                <a:gd name="T25" fmla="*/ 8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40" name="Freeform 44"/>
            <p:cNvSpPr>
              <a:spLocks/>
            </p:cNvSpPr>
            <p:nvPr/>
          </p:nvSpPr>
          <p:spPr bwMode="invGray">
            <a:xfrm>
              <a:off x="2393" y="2038"/>
              <a:ext cx="39" cy="24"/>
            </a:xfrm>
            <a:custGeom>
              <a:avLst/>
              <a:gdLst>
                <a:gd name="T0" fmla="*/ 34 w 52"/>
                <a:gd name="T1" fmla="*/ 0 h 32"/>
                <a:gd name="T2" fmla="*/ 8 w 52"/>
                <a:gd name="T3" fmla="*/ 20 h 32"/>
                <a:gd name="T4" fmla="*/ 24 w 52"/>
                <a:gd name="T5" fmla="*/ 32 h 32"/>
                <a:gd name="T6" fmla="*/ 42 w 52"/>
                <a:gd name="T7" fmla="*/ 30 h 32"/>
                <a:gd name="T8" fmla="*/ 34 w 52"/>
                <a:gd name="T9" fmla="*/ 0 h 32"/>
              </a:gdLst>
              <a:ahLst/>
              <a:cxnLst>
                <a:cxn ang="0">
                  <a:pos x="T0" y="T1"/>
                </a:cxn>
                <a:cxn ang="0">
                  <a:pos x="T2" y="T3"/>
                </a:cxn>
                <a:cxn ang="0">
                  <a:pos x="T4" y="T5"/>
                </a:cxn>
                <a:cxn ang="0">
                  <a:pos x="T6" y="T7"/>
                </a:cxn>
                <a:cxn ang="0">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41" name="Freeform 45"/>
            <p:cNvSpPr>
              <a:spLocks/>
            </p:cNvSpPr>
            <p:nvPr/>
          </p:nvSpPr>
          <p:spPr bwMode="invGray">
            <a:xfrm>
              <a:off x="2662" y="2006"/>
              <a:ext cx="155" cy="63"/>
            </a:xfrm>
            <a:custGeom>
              <a:avLst/>
              <a:gdLst>
                <a:gd name="T0" fmla="*/ 191 w 206"/>
                <a:gd name="T1" fmla="*/ 7 h 85"/>
                <a:gd name="T2" fmla="*/ 103 w 206"/>
                <a:gd name="T3" fmla="*/ 9 h 85"/>
                <a:gd name="T4" fmla="*/ 109 w 206"/>
                <a:gd name="T5" fmla="*/ 25 h 85"/>
                <a:gd name="T6" fmla="*/ 107 w 206"/>
                <a:gd name="T7" fmla="*/ 33 h 85"/>
                <a:gd name="T8" fmla="*/ 89 w 206"/>
                <a:gd name="T9" fmla="*/ 27 h 85"/>
                <a:gd name="T10" fmla="*/ 77 w 206"/>
                <a:gd name="T11" fmla="*/ 19 h 85"/>
                <a:gd name="T12" fmla="*/ 23 w 206"/>
                <a:gd name="T13" fmla="*/ 27 h 85"/>
                <a:gd name="T14" fmla="*/ 31 w 206"/>
                <a:gd name="T15" fmla="*/ 49 h 85"/>
                <a:gd name="T16" fmla="*/ 55 w 206"/>
                <a:gd name="T17" fmla="*/ 53 h 85"/>
                <a:gd name="T18" fmla="*/ 75 w 206"/>
                <a:gd name="T19" fmla="*/ 73 h 85"/>
                <a:gd name="T20" fmla="*/ 89 w 206"/>
                <a:gd name="T21" fmla="*/ 85 h 85"/>
                <a:gd name="T22" fmla="*/ 109 w 206"/>
                <a:gd name="T23" fmla="*/ 67 h 85"/>
                <a:gd name="T24" fmla="*/ 121 w 206"/>
                <a:gd name="T25" fmla="*/ 59 h 85"/>
                <a:gd name="T26" fmla="*/ 127 w 206"/>
                <a:gd name="T27" fmla="*/ 47 h 85"/>
                <a:gd name="T28" fmla="*/ 167 w 206"/>
                <a:gd name="T29" fmla="*/ 35 h 85"/>
                <a:gd name="T30" fmla="*/ 187 w 206"/>
                <a:gd name="T31" fmla="*/ 31 h 85"/>
                <a:gd name="T32" fmla="*/ 199 w 206"/>
                <a:gd name="T33" fmla="*/ 27 h 85"/>
                <a:gd name="T34" fmla="*/ 191 w 206"/>
                <a:gd name="T35" fmla="*/ 7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42" name="Freeform 46"/>
            <p:cNvSpPr>
              <a:spLocks/>
            </p:cNvSpPr>
            <p:nvPr/>
          </p:nvSpPr>
          <p:spPr bwMode="invGray">
            <a:xfrm>
              <a:off x="2759" y="2039"/>
              <a:ext cx="48" cy="21"/>
            </a:xfrm>
            <a:custGeom>
              <a:avLst/>
              <a:gdLst>
                <a:gd name="T0" fmla="*/ 36 w 64"/>
                <a:gd name="T1" fmla="*/ 6 h 28"/>
                <a:gd name="T2" fmla="*/ 8 w 64"/>
                <a:gd name="T3" fmla="*/ 4 h 28"/>
                <a:gd name="T4" fmla="*/ 24 w 64"/>
                <a:gd name="T5" fmla="*/ 28 h 28"/>
                <a:gd name="T6" fmla="*/ 54 w 64"/>
                <a:gd name="T7" fmla="*/ 14 h 28"/>
                <a:gd name="T8" fmla="*/ 36 w 64"/>
                <a:gd name="T9" fmla="*/ 6 h 28"/>
              </a:gdLst>
              <a:ahLst/>
              <a:cxnLst>
                <a:cxn ang="0">
                  <a:pos x="T0" y="T1"/>
                </a:cxn>
                <a:cxn ang="0">
                  <a:pos x="T2" y="T3"/>
                </a:cxn>
                <a:cxn ang="0">
                  <a:pos x="T4" y="T5"/>
                </a:cxn>
                <a:cxn ang="0">
                  <a:pos x="T6" y="T7"/>
                </a:cxn>
                <a:cxn ang="0">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43" name="Freeform 47"/>
            <p:cNvSpPr>
              <a:spLocks/>
            </p:cNvSpPr>
            <p:nvPr/>
          </p:nvSpPr>
          <p:spPr bwMode="invGray">
            <a:xfrm>
              <a:off x="2467" y="2311"/>
              <a:ext cx="109" cy="132"/>
            </a:xfrm>
            <a:custGeom>
              <a:avLst/>
              <a:gdLst>
                <a:gd name="T0" fmla="*/ 24 w 146"/>
                <a:gd name="T1" fmla="*/ 19 h 176"/>
                <a:gd name="T2" fmla="*/ 0 w 146"/>
                <a:gd name="T3" fmla="*/ 25 h 176"/>
                <a:gd name="T4" fmla="*/ 14 w 146"/>
                <a:gd name="T5" fmla="*/ 43 h 176"/>
                <a:gd name="T6" fmla="*/ 34 w 146"/>
                <a:gd name="T7" fmla="*/ 87 h 176"/>
                <a:gd name="T8" fmla="*/ 52 w 146"/>
                <a:gd name="T9" fmla="*/ 91 h 176"/>
                <a:gd name="T10" fmla="*/ 50 w 146"/>
                <a:gd name="T11" fmla="*/ 107 h 176"/>
                <a:gd name="T12" fmla="*/ 28 w 146"/>
                <a:gd name="T13" fmla="*/ 113 h 176"/>
                <a:gd name="T14" fmla="*/ 16 w 146"/>
                <a:gd name="T15" fmla="*/ 131 h 176"/>
                <a:gd name="T16" fmla="*/ 18 w 146"/>
                <a:gd name="T17" fmla="*/ 137 h 176"/>
                <a:gd name="T18" fmla="*/ 30 w 146"/>
                <a:gd name="T19" fmla="*/ 141 h 176"/>
                <a:gd name="T20" fmla="*/ 18 w 146"/>
                <a:gd name="T21" fmla="*/ 169 h 176"/>
                <a:gd name="T22" fmla="*/ 20 w 146"/>
                <a:gd name="T23" fmla="*/ 175 h 176"/>
                <a:gd name="T24" fmla="*/ 34 w 146"/>
                <a:gd name="T25" fmla="*/ 171 h 176"/>
                <a:gd name="T26" fmla="*/ 58 w 146"/>
                <a:gd name="T27" fmla="*/ 169 h 176"/>
                <a:gd name="T28" fmla="*/ 92 w 146"/>
                <a:gd name="T29" fmla="*/ 171 h 176"/>
                <a:gd name="T30" fmla="*/ 110 w 146"/>
                <a:gd name="T31" fmla="*/ 169 h 176"/>
                <a:gd name="T32" fmla="*/ 122 w 146"/>
                <a:gd name="T33" fmla="*/ 165 h 176"/>
                <a:gd name="T34" fmla="*/ 128 w 146"/>
                <a:gd name="T35" fmla="*/ 141 h 176"/>
                <a:gd name="T36" fmla="*/ 146 w 146"/>
                <a:gd name="T37" fmla="*/ 133 h 176"/>
                <a:gd name="T38" fmla="*/ 110 w 146"/>
                <a:gd name="T39" fmla="*/ 109 h 176"/>
                <a:gd name="T40" fmla="*/ 88 w 146"/>
                <a:gd name="T41" fmla="*/ 83 h 176"/>
                <a:gd name="T42" fmla="*/ 82 w 146"/>
                <a:gd name="T43" fmla="*/ 69 h 176"/>
                <a:gd name="T44" fmla="*/ 64 w 146"/>
                <a:gd name="T45" fmla="*/ 61 h 176"/>
                <a:gd name="T46" fmla="*/ 86 w 146"/>
                <a:gd name="T47" fmla="*/ 45 h 176"/>
                <a:gd name="T48" fmla="*/ 64 w 146"/>
                <a:gd name="T49" fmla="*/ 31 h 176"/>
                <a:gd name="T50" fmla="*/ 70 w 146"/>
                <a:gd name="T51" fmla="*/ 13 h 176"/>
                <a:gd name="T52" fmla="*/ 46 w 146"/>
                <a:gd name="T53" fmla="*/ 1 h 176"/>
                <a:gd name="T54" fmla="*/ 30 w 146"/>
                <a:gd name="T55" fmla="*/ 9 h 176"/>
                <a:gd name="T56" fmla="*/ 24 w 146"/>
                <a:gd name="T57" fmla="*/ 1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44" name="Freeform 48"/>
            <p:cNvSpPr>
              <a:spLocks/>
            </p:cNvSpPr>
            <p:nvPr/>
          </p:nvSpPr>
          <p:spPr bwMode="invGray">
            <a:xfrm>
              <a:off x="2413" y="2359"/>
              <a:ext cx="69" cy="68"/>
            </a:xfrm>
            <a:custGeom>
              <a:avLst/>
              <a:gdLst>
                <a:gd name="T0" fmla="*/ 58 w 92"/>
                <a:gd name="T1" fmla="*/ 6 h 92"/>
                <a:gd name="T2" fmla="*/ 82 w 92"/>
                <a:gd name="T3" fmla="*/ 8 h 92"/>
                <a:gd name="T4" fmla="*/ 92 w 92"/>
                <a:gd name="T5" fmla="*/ 26 h 92"/>
                <a:gd name="T6" fmla="*/ 78 w 92"/>
                <a:gd name="T7" fmla="*/ 48 h 92"/>
                <a:gd name="T8" fmla="*/ 46 w 92"/>
                <a:gd name="T9" fmla="*/ 76 h 92"/>
                <a:gd name="T10" fmla="*/ 18 w 92"/>
                <a:gd name="T11" fmla="*/ 92 h 92"/>
                <a:gd name="T12" fmla="*/ 8 w 92"/>
                <a:gd name="T13" fmla="*/ 72 h 92"/>
                <a:gd name="T14" fmla="*/ 20 w 92"/>
                <a:gd name="T15" fmla="*/ 64 h 92"/>
                <a:gd name="T16" fmla="*/ 14 w 92"/>
                <a:gd name="T17" fmla="*/ 46 h 92"/>
                <a:gd name="T18" fmla="*/ 40 w 92"/>
                <a:gd name="T19" fmla="*/ 28 h 92"/>
                <a:gd name="T20" fmla="*/ 58 w 92"/>
                <a:gd name="T21" fmla="*/ 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45" name="Freeform 49"/>
            <p:cNvSpPr>
              <a:spLocks/>
            </p:cNvSpPr>
            <p:nvPr/>
          </p:nvSpPr>
          <p:spPr bwMode="invGray">
            <a:xfrm>
              <a:off x="4099" y="3502"/>
              <a:ext cx="474" cy="495"/>
            </a:xfrm>
            <a:custGeom>
              <a:avLst/>
              <a:gdLst>
                <a:gd name="T0" fmla="*/ 212 w 633"/>
                <a:gd name="T1" fmla="*/ 11 h 660"/>
                <a:gd name="T2" fmla="*/ 176 w 633"/>
                <a:gd name="T3" fmla="*/ 19 h 660"/>
                <a:gd name="T4" fmla="*/ 144 w 633"/>
                <a:gd name="T5" fmla="*/ 51 h 660"/>
                <a:gd name="T6" fmla="*/ 104 w 633"/>
                <a:gd name="T7" fmla="*/ 59 h 660"/>
                <a:gd name="T8" fmla="*/ 84 w 633"/>
                <a:gd name="T9" fmla="*/ 75 h 660"/>
                <a:gd name="T10" fmla="*/ 68 w 633"/>
                <a:gd name="T11" fmla="*/ 115 h 660"/>
                <a:gd name="T12" fmla="*/ 36 w 633"/>
                <a:gd name="T13" fmla="*/ 167 h 660"/>
                <a:gd name="T14" fmla="*/ 0 w 633"/>
                <a:gd name="T15" fmla="*/ 179 h 660"/>
                <a:gd name="T16" fmla="*/ 72 w 633"/>
                <a:gd name="T17" fmla="*/ 323 h 660"/>
                <a:gd name="T18" fmla="*/ 120 w 633"/>
                <a:gd name="T19" fmla="*/ 427 h 660"/>
                <a:gd name="T20" fmla="*/ 144 w 633"/>
                <a:gd name="T21" fmla="*/ 443 h 660"/>
                <a:gd name="T22" fmla="*/ 168 w 633"/>
                <a:gd name="T23" fmla="*/ 451 h 660"/>
                <a:gd name="T24" fmla="*/ 228 w 633"/>
                <a:gd name="T25" fmla="*/ 431 h 660"/>
                <a:gd name="T26" fmla="*/ 252 w 633"/>
                <a:gd name="T27" fmla="*/ 423 h 660"/>
                <a:gd name="T28" fmla="*/ 300 w 633"/>
                <a:gd name="T29" fmla="*/ 451 h 660"/>
                <a:gd name="T30" fmla="*/ 324 w 633"/>
                <a:gd name="T31" fmla="*/ 527 h 660"/>
                <a:gd name="T32" fmla="*/ 336 w 633"/>
                <a:gd name="T33" fmla="*/ 523 h 660"/>
                <a:gd name="T34" fmla="*/ 344 w 633"/>
                <a:gd name="T35" fmla="*/ 511 h 660"/>
                <a:gd name="T36" fmla="*/ 368 w 633"/>
                <a:gd name="T37" fmla="*/ 547 h 660"/>
                <a:gd name="T38" fmla="*/ 404 w 633"/>
                <a:gd name="T39" fmla="*/ 571 h 660"/>
                <a:gd name="T40" fmla="*/ 436 w 633"/>
                <a:gd name="T41" fmla="*/ 603 h 660"/>
                <a:gd name="T42" fmla="*/ 444 w 633"/>
                <a:gd name="T43" fmla="*/ 615 h 660"/>
                <a:gd name="T44" fmla="*/ 456 w 633"/>
                <a:gd name="T45" fmla="*/ 623 h 660"/>
                <a:gd name="T46" fmla="*/ 484 w 633"/>
                <a:gd name="T47" fmla="*/ 655 h 660"/>
                <a:gd name="T48" fmla="*/ 492 w 633"/>
                <a:gd name="T49" fmla="*/ 631 h 660"/>
                <a:gd name="T50" fmla="*/ 540 w 633"/>
                <a:gd name="T51" fmla="*/ 659 h 660"/>
                <a:gd name="T52" fmla="*/ 588 w 633"/>
                <a:gd name="T53" fmla="*/ 655 h 660"/>
                <a:gd name="T54" fmla="*/ 616 w 633"/>
                <a:gd name="T55" fmla="*/ 531 h 660"/>
                <a:gd name="T56" fmla="*/ 632 w 633"/>
                <a:gd name="T57" fmla="*/ 463 h 660"/>
                <a:gd name="T58" fmla="*/ 620 w 633"/>
                <a:gd name="T59" fmla="*/ 367 h 660"/>
                <a:gd name="T60" fmla="*/ 536 w 633"/>
                <a:gd name="T61" fmla="*/ 271 h 660"/>
                <a:gd name="T62" fmla="*/ 528 w 633"/>
                <a:gd name="T63" fmla="*/ 235 h 660"/>
                <a:gd name="T64" fmla="*/ 460 w 633"/>
                <a:gd name="T65" fmla="*/ 179 h 660"/>
                <a:gd name="T66" fmla="*/ 472 w 633"/>
                <a:gd name="T67" fmla="*/ 155 h 660"/>
                <a:gd name="T68" fmla="*/ 456 w 633"/>
                <a:gd name="T69" fmla="*/ 131 h 660"/>
                <a:gd name="T70" fmla="*/ 416 w 633"/>
                <a:gd name="T71" fmla="*/ 79 h 660"/>
                <a:gd name="T72" fmla="*/ 392 w 633"/>
                <a:gd name="T73" fmla="*/ 31 h 660"/>
                <a:gd name="T74" fmla="*/ 388 w 633"/>
                <a:gd name="T75" fmla="*/ 19 h 660"/>
                <a:gd name="T76" fmla="*/ 364 w 633"/>
                <a:gd name="T77" fmla="*/ 151 h 660"/>
                <a:gd name="T78" fmla="*/ 324 w 633"/>
                <a:gd name="T79" fmla="*/ 115 h 660"/>
                <a:gd name="T80" fmla="*/ 292 w 633"/>
                <a:gd name="T81" fmla="*/ 111 h 660"/>
                <a:gd name="T82" fmla="*/ 272 w 633"/>
                <a:gd name="T83" fmla="*/ 87 h 660"/>
                <a:gd name="T84" fmla="*/ 264 w 633"/>
                <a:gd name="T85" fmla="*/ 63 h 660"/>
                <a:gd name="T86" fmla="*/ 276 w 633"/>
                <a:gd name="T87" fmla="*/ 55 h 660"/>
                <a:gd name="T88" fmla="*/ 240 w 633"/>
                <a:gd name="T89" fmla="*/ 19 h 660"/>
                <a:gd name="T90" fmla="*/ 216 w 633"/>
                <a:gd name="T91" fmla="*/ 11 h 660"/>
                <a:gd name="T92" fmla="*/ 204 w 633"/>
                <a:gd name="T93" fmla="*/ 7 h 660"/>
                <a:gd name="T94" fmla="*/ 212 w 633"/>
                <a:gd name="T95" fmla="*/ 11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46" name="Freeform 50"/>
            <p:cNvSpPr>
              <a:spLocks/>
            </p:cNvSpPr>
            <p:nvPr/>
          </p:nvSpPr>
          <p:spPr bwMode="invGray">
            <a:xfrm>
              <a:off x="4246" y="3241"/>
              <a:ext cx="319" cy="210"/>
            </a:xfrm>
            <a:custGeom>
              <a:avLst/>
              <a:gdLst>
                <a:gd name="T0" fmla="*/ 84 w 426"/>
                <a:gd name="T1" fmla="*/ 60 h 280"/>
                <a:gd name="T2" fmla="*/ 68 w 426"/>
                <a:gd name="T3" fmla="*/ 36 h 280"/>
                <a:gd name="T4" fmla="*/ 64 w 426"/>
                <a:gd name="T5" fmla="*/ 16 h 280"/>
                <a:gd name="T6" fmla="*/ 52 w 426"/>
                <a:gd name="T7" fmla="*/ 12 h 280"/>
                <a:gd name="T8" fmla="*/ 16 w 426"/>
                <a:gd name="T9" fmla="*/ 16 h 280"/>
                <a:gd name="T10" fmla="*/ 44 w 426"/>
                <a:gd name="T11" fmla="*/ 40 h 280"/>
                <a:gd name="T12" fmla="*/ 48 w 426"/>
                <a:gd name="T13" fmla="*/ 52 h 280"/>
                <a:gd name="T14" fmla="*/ 24 w 426"/>
                <a:gd name="T15" fmla="*/ 68 h 280"/>
                <a:gd name="T16" fmla="*/ 88 w 426"/>
                <a:gd name="T17" fmla="*/ 92 h 280"/>
                <a:gd name="T18" fmla="*/ 124 w 426"/>
                <a:gd name="T19" fmla="*/ 112 h 280"/>
                <a:gd name="T20" fmla="*/ 128 w 426"/>
                <a:gd name="T21" fmla="*/ 124 h 280"/>
                <a:gd name="T22" fmla="*/ 140 w 426"/>
                <a:gd name="T23" fmla="*/ 132 h 280"/>
                <a:gd name="T24" fmla="*/ 148 w 426"/>
                <a:gd name="T25" fmla="*/ 156 h 280"/>
                <a:gd name="T26" fmla="*/ 132 w 426"/>
                <a:gd name="T27" fmla="*/ 196 h 280"/>
                <a:gd name="T28" fmla="*/ 180 w 426"/>
                <a:gd name="T29" fmla="*/ 188 h 280"/>
                <a:gd name="T30" fmla="*/ 192 w 426"/>
                <a:gd name="T31" fmla="*/ 216 h 280"/>
                <a:gd name="T32" fmla="*/ 216 w 426"/>
                <a:gd name="T33" fmla="*/ 224 h 280"/>
                <a:gd name="T34" fmla="*/ 228 w 426"/>
                <a:gd name="T35" fmla="*/ 228 h 280"/>
                <a:gd name="T36" fmla="*/ 252 w 426"/>
                <a:gd name="T37" fmla="*/ 224 h 280"/>
                <a:gd name="T38" fmla="*/ 276 w 426"/>
                <a:gd name="T39" fmla="*/ 196 h 280"/>
                <a:gd name="T40" fmla="*/ 336 w 426"/>
                <a:gd name="T41" fmla="*/ 252 h 280"/>
                <a:gd name="T42" fmla="*/ 364 w 426"/>
                <a:gd name="T43" fmla="*/ 280 h 280"/>
                <a:gd name="T44" fmla="*/ 360 w 426"/>
                <a:gd name="T45" fmla="*/ 224 h 280"/>
                <a:gd name="T46" fmla="*/ 336 w 426"/>
                <a:gd name="T47" fmla="*/ 200 h 280"/>
                <a:gd name="T48" fmla="*/ 372 w 426"/>
                <a:gd name="T49" fmla="*/ 168 h 280"/>
                <a:gd name="T50" fmla="*/ 408 w 426"/>
                <a:gd name="T51" fmla="*/ 156 h 280"/>
                <a:gd name="T52" fmla="*/ 420 w 426"/>
                <a:gd name="T53" fmla="*/ 152 h 280"/>
                <a:gd name="T54" fmla="*/ 424 w 426"/>
                <a:gd name="T55" fmla="*/ 140 h 280"/>
                <a:gd name="T56" fmla="*/ 356 w 426"/>
                <a:gd name="T57" fmla="*/ 148 h 280"/>
                <a:gd name="T58" fmla="*/ 304 w 426"/>
                <a:gd name="T59" fmla="*/ 140 h 280"/>
                <a:gd name="T60" fmla="*/ 300 w 426"/>
                <a:gd name="T61" fmla="*/ 128 h 280"/>
                <a:gd name="T62" fmla="*/ 292 w 426"/>
                <a:gd name="T63" fmla="*/ 116 h 280"/>
                <a:gd name="T64" fmla="*/ 220 w 426"/>
                <a:gd name="T65" fmla="*/ 80 h 280"/>
                <a:gd name="T66" fmla="*/ 160 w 426"/>
                <a:gd name="T67" fmla="*/ 60 h 280"/>
                <a:gd name="T68" fmla="*/ 136 w 426"/>
                <a:gd name="T69" fmla="*/ 52 h 280"/>
                <a:gd name="T70" fmla="*/ 80 w 426"/>
                <a:gd name="T71" fmla="*/ 52 h 280"/>
                <a:gd name="T72" fmla="*/ 68 w 426"/>
                <a:gd name="T73" fmla="*/ 32 h 280"/>
                <a:gd name="T74" fmla="*/ 68 w 426"/>
                <a:gd name="T7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algn="ctr" rotWithShape="0">
                      <a:srgbClr val="FEFEFE">
                        <a:gamma/>
                        <a:shade val="60000"/>
                        <a:invGamma/>
                        <a:alpha val="50000"/>
                      </a:srgbClr>
                    </a:outerShdw>
                  </a:effectLst>
                </a14:hiddenEffects>
              </a:ext>
            </a:extLst>
          </p:spPr>
          <p:txBody>
            <a:bodyPr/>
            <a:lstStyle/>
            <a:p>
              <a:endParaRPr lang="zh-CN" altLang="en-US" sz="1800"/>
            </a:p>
          </p:txBody>
        </p:sp>
        <p:sp>
          <p:nvSpPr>
            <p:cNvPr id="4147" name="Freeform 51"/>
            <p:cNvSpPr>
              <a:spLocks/>
            </p:cNvSpPr>
            <p:nvPr/>
          </p:nvSpPr>
          <p:spPr bwMode="invGray">
            <a:xfrm>
              <a:off x="4255" y="3243"/>
              <a:ext cx="311" cy="211"/>
            </a:xfrm>
            <a:custGeom>
              <a:avLst/>
              <a:gdLst>
                <a:gd name="T0" fmla="*/ 0 w 416"/>
                <a:gd name="T1" fmla="*/ 1 h 282"/>
                <a:gd name="T2" fmla="*/ 20 w 416"/>
                <a:gd name="T3" fmla="*/ 37 h 282"/>
                <a:gd name="T4" fmla="*/ 28 w 416"/>
                <a:gd name="T5" fmla="*/ 49 h 282"/>
                <a:gd name="T6" fmla="*/ 84 w 416"/>
                <a:gd name="T7" fmla="*/ 89 h 282"/>
                <a:gd name="T8" fmla="*/ 120 w 416"/>
                <a:gd name="T9" fmla="*/ 113 h 282"/>
                <a:gd name="T10" fmla="*/ 132 w 416"/>
                <a:gd name="T11" fmla="*/ 121 h 282"/>
                <a:gd name="T12" fmla="*/ 136 w 416"/>
                <a:gd name="T13" fmla="*/ 169 h 282"/>
                <a:gd name="T14" fmla="*/ 116 w 416"/>
                <a:gd name="T15" fmla="*/ 201 h 282"/>
                <a:gd name="T16" fmla="*/ 136 w 416"/>
                <a:gd name="T17" fmla="*/ 197 h 282"/>
                <a:gd name="T18" fmla="*/ 148 w 416"/>
                <a:gd name="T19" fmla="*/ 189 h 282"/>
                <a:gd name="T20" fmla="*/ 160 w 416"/>
                <a:gd name="T21" fmla="*/ 201 h 282"/>
                <a:gd name="T22" fmla="*/ 184 w 416"/>
                <a:gd name="T23" fmla="*/ 217 h 282"/>
                <a:gd name="T24" fmla="*/ 208 w 416"/>
                <a:gd name="T25" fmla="*/ 233 h 282"/>
                <a:gd name="T26" fmla="*/ 240 w 416"/>
                <a:gd name="T27" fmla="*/ 221 h 282"/>
                <a:gd name="T28" fmla="*/ 248 w 416"/>
                <a:gd name="T29" fmla="*/ 197 h 282"/>
                <a:gd name="T30" fmla="*/ 268 w 416"/>
                <a:gd name="T31" fmla="*/ 201 h 282"/>
                <a:gd name="T32" fmla="*/ 292 w 416"/>
                <a:gd name="T33" fmla="*/ 209 h 282"/>
                <a:gd name="T34" fmla="*/ 340 w 416"/>
                <a:gd name="T35" fmla="*/ 281 h 282"/>
                <a:gd name="T36" fmla="*/ 356 w 416"/>
                <a:gd name="T37" fmla="*/ 277 h 282"/>
                <a:gd name="T38" fmla="*/ 352 w 416"/>
                <a:gd name="T39" fmla="*/ 253 h 282"/>
                <a:gd name="T40" fmla="*/ 316 w 416"/>
                <a:gd name="T41" fmla="*/ 197 h 282"/>
                <a:gd name="T42" fmla="*/ 360 w 416"/>
                <a:gd name="T43" fmla="*/ 173 h 282"/>
                <a:gd name="T44" fmla="*/ 408 w 416"/>
                <a:gd name="T45" fmla="*/ 145 h 282"/>
                <a:gd name="T46" fmla="*/ 409 w 416"/>
                <a:gd name="T47" fmla="*/ 120 h 282"/>
                <a:gd name="T48" fmla="*/ 367 w 416"/>
                <a:gd name="T49" fmla="*/ 138 h 282"/>
                <a:gd name="T50" fmla="*/ 308 w 416"/>
                <a:gd name="T51" fmla="*/ 137 h 282"/>
                <a:gd name="T52" fmla="*/ 264 w 416"/>
                <a:gd name="T53" fmla="*/ 97 h 282"/>
                <a:gd name="T54" fmla="*/ 180 w 416"/>
                <a:gd name="T55" fmla="*/ 61 h 282"/>
                <a:gd name="T56" fmla="*/ 132 w 416"/>
                <a:gd name="T57" fmla="*/ 33 h 282"/>
                <a:gd name="T58" fmla="*/ 92 w 416"/>
                <a:gd name="T59" fmla="*/ 41 h 282"/>
                <a:gd name="T60" fmla="*/ 76 w 416"/>
                <a:gd name="T61" fmla="*/ 57 h 282"/>
                <a:gd name="T62" fmla="*/ 56 w 416"/>
                <a:gd name="T63" fmla="*/ 17 h 282"/>
                <a:gd name="T64" fmla="*/ 0 w 416"/>
                <a:gd name="T65" fmla="*/ 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48" name="Freeform 52"/>
            <p:cNvSpPr>
              <a:spLocks/>
            </p:cNvSpPr>
            <p:nvPr/>
          </p:nvSpPr>
          <p:spPr bwMode="invGray">
            <a:xfrm>
              <a:off x="4485" y="4013"/>
              <a:ext cx="45" cy="58"/>
            </a:xfrm>
            <a:custGeom>
              <a:avLst/>
              <a:gdLst>
                <a:gd name="T0" fmla="*/ 32 w 60"/>
                <a:gd name="T1" fmla="*/ 18 h 78"/>
                <a:gd name="T2" fmla="*/ 0 w 60"/>
                <a:gd name="T3" fmla="*/ 18 h 78"/>
                <a:gd name="T4" fmla="*/ 20 w 60"/>
                <a:gd name="T5" fmla="*/ 42 h 78"/>
                <a:gd name="T6" fmla="*/ 28 w 60"/>
                <a:gd name="T7" fmla="*/ 66 h 78"/>
                <a:gd name="T8" fmla="*/ 32 w 60"/>
                <a:gd name="T9" fmla="*/ 78 h 78"/>
                <a:gd name="T10" fmla="*/ 60 w 60"/>
                <a:gd name="T11" fmla="*/ 50 h 78"/>
                <a:gd name="T12" fmla="*/ 32 w 60"/>
                <a:gd name="T13" fmla="*/ 18 h 78"/>
              </a:gdLst>
              <a:ahLst/>
              <a:cxnLst>
                <a:cxn ang="0">
                  <a:pos x="T0" y="T1"/>
                </a:cxn>
                <a:cxn ang="0">
                  <a:pos x="T2" y="T3"/>
                </a:cxn>
                <a:cxn ang="0">
                  <a:pos x="T4" y="T5"/>
                </a:cxn>
                <a:cxn ang="0">
                  <a:pos x="T6" y="T7"/>
                </a:cxn>
                <a:cxn ang="0">
                  <a:pos x="T8" y="T9"/>
                </a:cxn>
                <a:cxn ang="0">
                  <a:pos x="T10" y="T11"/>
                </a:cxn>
                <a:cxn ang="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49" name="Freeform 53"/>
            <p:cNvSpPr>
              <a:spLocks/>
            </p:cNvSpPr>
            <p:nvPr/>
          </p:nvSpPr>
          <p:spPr bwMode="invGray">
            <a:xfrm>
              <a:off x="4621" y="3923"/>
              <a:ext cx="164" cy="85"/>
            </a:xfrm>
            <a:custGeom>
              <a:avLst/>
              <a:gdLst>
                <a:gd name="T0" fmla="*/ 47 w 219"/>
                <a:gd name="T1" fmla="*/ 73 h 113"/>
                <a:gd name="T2" fmla="*/ 39 w 219"/>
                <a:gd name="T3" fmla="*/ 61 h 113"/>
                <a:gd name="T4" fmla="*/ 15 w 219"/>
                <a:gd name="T5" fmla="*/ 69 h 113"/>
                <a:gd name="T6" fmla="*/ 39 w 219"/>
                <a:gd name="T7" fmla="*/ 113 h 113"/>
                <a:gd name="T8" fmla="*/ 123 w 219"/>
                <a:gd name="T9" fmla="*/ 89 h 113"/>
                <a:gd name="T10" fmla="*/ 147 w 219"/>
                <a:gd name="T11" fmla="*/ 73 h 113"/>
                <a:gd name="T12" fmla="*/ 171 w 219"/>
                <a:gd name="T13" fmla="*/ 65 h 113"/>
                <a:gd name="T14" fmla="*/ 219 w 219"/>
                <a:gd name="T15" fmla="*/ 19 h 113"/>
                <a:gd name="T16" fmla="*/ 210 w 219"/>
                <a:gd name="T17" fmla="*/ 0 h 113"/>
                <a:gd name="T18" fmla="*/ 179 w 219"/>
                <a:gd name="T19" fmla="*/ 17 h 113"/>
                <a:gd name="T20" fmla="*/ 107 w 219"/>
                <a:gd name="T21" fmla="*/ 41 h 113"/>
                <a:gd name="T22" fmla="*/ 83 w 219"/>
                <a:gd name="T23" fmla="*/ 45 h 113"/>
                <a:gd name="T24" fmla="*/ 59 w 219"/>
                <a:gd name="T25" fmla="*/ 53 h 113"/>
                <a:gd name="T26" fmla="*/ 47 w 219"/>
                <a:gd name="T27" fmla="*/ 7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50" name="Freeform 54"/>
            <p:cNvSpPr>
              <a:spLocks/>
            </p:cNvSpPr>
            <p:nvPr/>
          </p:nvSpPr>
          <p:spPr bwMode="invGray">
            <a:xfrm>
              <a:off x="4791" y="3873"/>
              <a:ext cx="104" cy="92"/>
            </a:xfrm>
            <a:custGeom>
              <a:avLst/>
              <a:gdLst>
                <a:gd name="T0" fmla="*/ 12 w 139"/>
                <a:gd name="T1" fmla="*/ 60 h 122"/>
                <a:gd name="T2" fmla="*/ 8 w 139"/>
                <a:gd name="T3" fmla="*/ 84 h 122"/>
                <a:gd name="T4" fmla="*/ 0 w 139"/>
                <a:gd name="T5" fmla="*/ 108 h 122"/>
                <a:gd name="T6" fmla="*/ 36 w 139"/>
                <a:gd name="T7" fmla="*/ 116 h 122"/>
                <a:gd name="T8" fmla="*/ 52 w 139"/>
                <a:gd name="T9" fmla="*/ 96 h 122"/>
                <a:gd name="T10" fmla="*/ 124 w 139"/>
                <a:gd name="T11" fmla="*/ 68 h 122"/>
                <a:gd name="T12" fmla="*/ 136 w 139"/>
                <a:gd name="T13" fmla="*/ 44 h 122"/>
                <a:gd name="T14" fmla="*/ 112 w 139"/>
                <a:gd name="T15" fmla="*/ 28 h 122"/>
                <a:gd name="T16" fmla="*/ 100 w 139"/>
                <a:gd name="T17" fmla="*/ 20 h 122"/>
                <a:gd name="T18" fmla="*/ 64 w 139"/>
                <a:gd name="T19" fmla="*/ 12 h 122"/>
                <a:gd name="T20" fmla="*/ 52 w 139"/>
                <a:gd name="T21" fmla="*/ 36 h 122"/>
                <a:gd name="T22" fmla="*/ 12 w 139"/>
                <a:gd name="T23" fmla="*/ 6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51" name="Freeform 55"/>
            <p:cNvSpPr>
              <a:spLocks/>
            </p:cNvSpPr>
            <p:nvPr/>
          </p:nvSpPr>
          <p:spPr bwMode="invGray">
            <a:xfrm>
              <a:off x="4846" y="3832"/>
              <a:ext cx="37" cy="26"/>
            </a:xfrm>
            <a:custGeom>
              <a:avLst/>
              <a:gdLst>
                <a:gd name="T0" fmla="*/ 29 w 49"/>
                <a:gd name="T1" fmla="*/ 0 h 35"/>
                <a:gd name="T2" fmla="*/ 8 w 49"/>
                <a:gd name="T3" fmla="*/ 11 h 35"/>
                <a:gd name="T4" fmla="*/ 24 w 49"/>
                <a:gd name="T5" fmla="*/ 35 h 35"/>
                <a:gd name="T6" fmla="*/ 39 w 49"/>
                <a:gd name="T7" fmla="*/ 26 h 35"/>
                <a:gd name="T8" fmla="*/ 29 w 49"/>
                <a:gd name="T9" fmla="*/ 0 h 35"/>
              </a:gdLst>
              <a:ahLst/>
              <a:cxnLst>
                <a:cxn ang="0">
                  <a:pos x="T0" y="T1"/>
                </a:cxn>
                <a:cxn ang="0">
                  <a:pos x="T2" y="T3"/>
                </a:cxn>
                <a:cxn ang="0">
                  <a:pos x="T4" y="T5"/>
                </a:cxn>
                <a:cxn ang="0">
                  <a:pos x="T6" y="T7"/>
                </a:cxn>
                <a:cxn ang="0">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52" name="Freeform 56"/>
            <p:cNvSpPr>
              <a:spLocks/>
            </p:cNvSpPr>
            <p:nvPr/>
          </p:nvSpPr>
          <p:spPr bwMode="invGray">
            <a:xfrm>
              <a:off x="3123" y="3346"/>
              <a:ext cx="123" cy="201"/>
            </a:xfrm>
            <a:custGeom>
              <a:avLst/>
              <a:gdLst>
                <a:gd name="T0" fmla="*/ 128 w 164"/>
                <a:gd name="T1" fmla="*/ 0 h 268"/>
                <a:gd name="T2" fmla="*/ 104 w 164"/>
                <a:gd name="T3" fmla="*/ 28 h 268"/>
                <a:gd name="T4" fmla="*/ 88 w 164"/>
                <a:gd name="T5" fmla="*/ 64 h 268"/>
                <a:gd name="T6" fmla="*/ 36 w 164"/>
                <a:gd name="T7" fmla="*/ 84 h 268"/>
                <a:gd name="T8" fmla="*/ 28 w 164"/>
                <a:gd name="T9" fmla="*/ 96 h 268"/>
                <a:gd name="T10" fmla="*/ 16 w 164"/>
                <a:gd name="T11" fmla="*/ 100 h 268"/>
                <a:gd name="T12" fmla="*/ 20 w 164"/>
                <a:gd name="T13" fmla="*/ 132 h 268"/>
                <a:gd name="T14" fmla="*/ 28 w 164"/>
                <a:gd name="T15" fmla="*/ 156 h 268"/>
                <a:gd name="T16" fmla="*/ 0 w 164"/>
                <a:gd name="T17" fmla="*/ 200 h 268"/>
                <a:gd name="T18" fmla="*/ 28 w 164"/>
                <a:gd name="T19" fmla="*/ 260 h 268"/>
                <a:gd name="T20" fmla="*/ 52 w 164"/>
                <a:gd name="T21" fmla="*/ 268 h 268"/>
                <a:gd name="T22" fmla="*/ 88 w 164"/>
                <a:gd name="T23" fmla="*/ 216 h 268"/>
                <a:gd name="T24" fmla="*/ 104 w 164"/>
                <a:gd name="T25" fmla="*/ 192 h 268"/>
                <a:gd name="T26" fmla="*/ 128 w 164"/>
                <a:gd name="T27" fmla="*/ 116 h 268"/>
                <a:gd name="T28" fmla="*/ 140 w 164"/>
                <a:gd name="T29" fmla="*/ 76 h 268"/>
                <a:gd name="T30" fmla="*/ 164 w 164"/>
                <a:gd name="T31" fmla="*/ 72 h 268"/>
                <a:gd name="T32" fmla="*/ 128 w 164"/>
                <a:gd name="T33" fmla="*/ 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53" name="Freeform 57"/>
            <p:cNvSpPr>
              <a:spLocks/>
            </p:cNvSpPr>
            <p:nvPr/>
          </p:nvSpPr>
          <p:spPr bwMode="invGray">
            <a:xfrm>
              <a:off x="3655" y="3034"/>
              <a:ext cx="49" cy="61"/>
            </a:xfrm>
            <a:custGeom>
              <a:avLst/>
              <a:gdLst>
                <a:gd name="T0" fmla="*/ 29 w 66"/>
                <a:gd name="T1" fmla="*/ 0 h 81"/>
                <a:gd name="T2" fmla="*/ 25 w 66"/>
                <a:gd name="T3" fmla="*/ 60 h 81"/>
                <a:gd name="T4" fmla="*/ 29 w 66"/>
                <a:gd name="T5" fmla="*/ 76 h 81"/>
                <a:gd name="T6" fmla="*/ 41 w 66"/>
                <a:gd name="T7" fmla="*/ 80 h 81"/>
                <a:gd name="T8" fmla="*/ 57 w 66"/>
                <a:gd name="T9" fmla="*/ 76 h 81"/>
                <a:gd name="T10" fmla="*/ 29 w 66"/>
                <a:gd name="T11" fmla="*/ 0 h 81"/>
              </a:gdLst>
              <a:ahLst/>
              <a:cxnLst>
                <a:cxn ang="0">
                  <a:pos x="T0" y="T1"/>
                </a:cxn>
                <a:cxn ang="0">
                  <a:pos x="T2" y="T3"/>
                </a:cxn>
                <a:cxn ang="0">
                  <a:pos x="T4" y="T5"/>
                </a:cxn>
                <a:cxn ang="0">
                  <a:pos x="T6" y="T7"/>
                </a:cxn>
                <a:cxn ang="0">
                  <a:pos x="T8" y="T9"/>
                </a:cxn>
                <a:cxn ang="0">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54" name="Freeform 58"/>
            <p:cNvSpPr>
              <a:spLocks/>
            </p:cNvSpPr>
            <p:nvPr/>
          </p:nvSpPr>
          <p:spPr bwMode="invGray">
            <a:xfrm>
              <a:off x="3988" y="3100"/>
              <a:ext cx="111" cy="183"/>
            </a:xfrm>
            <a:custGeom>
              <a:avLst/>
              <a:gdLst>
                <a:gd name="T0" fmla="*/ 96 w 148"/>
                <a:gd name="T1" fmla="*/ 0 h 244"/>
                <a:gd name="T2" fmla="*/ 60 w 148"/>
                <a:gd name="T3" fmla="*/ 84 h 244"/>
                <a:gd name="T4" fmla="*/ 36 w 148"/>
                <a:gd name="T5" fmla="*/ 92 h 244"/>
                <a:gd name="T6" fmla="*/ 12 w 148"/>
                <a:gd name="T7" fmla="*/ 108 h 244"/>
                <a:gd name="T8" fmla="*/ 40 w 148"/>
                <a:gd name="T9" fmla="*/ 188 h 244"/>
                <a:gd name="T10" fmla="*/ 52 w 148"/>
                <a:gd name="T11" fmla="*/ 224 h 244"/>
                <a:gd name="T12" fmla="*/ 60 w 148"/>
                <a:gd name="T13" fmla="*/ 236 h 244"/>
                <a:gd name="T14" fmla="*/ 84 w 148"/>
                <a:gd name="T15" fmla="*/ 244 h 244"/>
                <a:gd name="T16" fmla="*/ 96 w 148"/>
                <a:gd name="T17" fmla="*/ 196 h 244"/>
                <a:gd name="T18" fmla="*/ 124 w 148"/>
                <a:gd name="T19" fmla="*/ 168 h 244"/>
                <a:gd name="T20" fmla="*/ 112 w 148"/>
                <a:gd name="T21" fmla="*/ 68 h 244"/>
                <a:gd name="T22" fmla="*/ 140 w 148"/>
                <a:gd name="T23" fmla="*/ 48 h 244"/>
                <a:gd name="T24" fmla="*/ 112 w 148"/>
                <a:gd name="T25" fmla="*/ 20 h 244"/>
                <a:gd name="T26" fmla="*/ 96 w 148"/>
                <a:gd name="T2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55" name="Freeform 59"/>
            <p:cNvSpPr>
              <a:spLocks/>
            </p:cNvSpPr>
            <p:nvPr/>
          </p:nvSpPr>
          <p:spPr bwMode="invGray">
            <a:xfrm>
              <a:off x="3894" y="3043"/>
              <a:ext cx="72" cy="137"/>
            </a:xfrm>
            <a:custGeom>
              <a:avLst/>
              <a:gdLst>
                <a:gd name="T0" fmla="*/ 48 w 96"/>
                <a:gd name="T1" fmla="*/ 2 h 183"/>
                <a:gd name="T2" fmla="*/ 51 w 96"/>
                <a:gd name="T3" fmla="*/ 35 h 183"/>
                <a:gd name="T4" fmla="*/ 60 w 96"/>
                <a:gd name="T5" fmla="*/ 62 h 183"/>
                <a:gd name="T6" fmla="*/ 62 w 96"/>
                <a:gd name="T7" fmla="*/ 92 h 183"/>
                <a:gd name="T8" fmla="*/ 68 w 96"/>
                <a:gd name="T9" fmla="*/ 105 h 183"/>
                <a:gd name="T10" fmla="*/ 71 w 96"/>
                <a:gd name="T11" fmla="*/ 126 h 183"/>
                <a:gd name="T12" fmla="*/ 57 w 96"/>
                <a:gd name="T13" fmla="*/ 93 h 183"/>
                <a:gd name="T14" fmla="*/ 35 w 96"/>
                <a:gd name="T15" fmla="*/ 78 h 183"/>
                <a:gd name="T16" fmla="*/ 5 w 96"/>
                <a:gd name="T17" fmla="*/ 83 h 183"/>
                <a:gd name="T18" fmla="*/ 8 w 96"/>
                <a:gd name="T19" fmla="*/ 102 h 183"/>
                <a:gd name="T20" fmla="*/ 41 w 96"/>
                <a:gd name="T21" fmla="*/ 114 h 183"/>
                <a:gd name="T22" fmla="*/ 57 w 96"/>
                <a:gd name="T23" fmla="*/ 135 h 183"/>
                <a:gd name="T24" fmla="*/ 71 w 96"/>
                <a:gd name="T25" fmla="*/ 135 h 183"/>
                <a:gd name="T26" fmla="*/ 78 w 96"/>
                <a:gd name="T27" fmla="*/ 150 h 183"/>
                <a:gd name="T28" fmla="*/ 96 w 96"/>
                <a:gd name="T29" fmla="*/ 179 h 183"/>
                <a:gd name="T30" fmla="*/ 81 w 96"/>
                <a:gd name="T31" fmla="*/ 126 h 183"/>
                <a:gd name="T32" fmla="*/ 80 w 96"/>
                <a:gd name="T33" fmla="*/ 93 h 183"/>
                <a:gd name="T34" fmla="*/ 71 w 96"/>
                <a:gd name="T35" fmla="*/ 63 h 183"/>
                <a:gd name="T36" fmla="*/ 63 w 96"/>
                <a:gd name="T37" fmla="*/ 41 h 183"/>
                <a:gd name="T38" fmla="*/ 57 w 96"/>
                <a:gd name="T39" fmla="*/ 20 h 183"/>
                <a:gd name="T40" fmla="*/ 48 w 96"/>
                <a:gd name="T41" fmla="*/ 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56" name="Freeform 60"/>
            <p:cNvSpPr>
              <a:spLocks/>
            </p:cNvSpPr>
            <p:nvPr/>
          </p:nvSpPr>
          <p:spPr bwMode="invGray">
            <a:xfrm>
              <a:off x="3943" y="3153"/>
              <a:ext cx="40" cy="131"/>
            </a:xfrm>
            <a:custGeom>
              <a:avLst/>
              <a:gdLst>
                <a:gd name="T0" fmla="*/ 6 w 54"/>
                <a:gd name="T1" fmla="*/ 0 h 175"/>
                <a:gd name="T2" fmla="*/ 0 w 54"/>
                <a:gd name="T3" fmla="*/ 25 h 175"/>
                <a:gd name="T4" fmla="*/ 9 w 54"/>
                <a:gd name="T5" fmla="*/ 54 h 175"/>
                <a:gd name="T6" fmla="*/ 18 w 54"/>
                <a:gd name="T7" fmla="*/ 94 h 175"/>
                <a:gd name="T8" fmla="*/ 34 w 54"/>
                <a:gd name="T9" fmla="*/ 129 h 175"/>
                <a:gd name="T10" fmla="*/ 54 w 54"/>
                <a:gd name="T11" fmla="*/ 175 h 175"/>
                <a:gd name="T12" fmla="*/ 40 w 54"/>
                <a:gd name="T13" fmla="*/ 115 h 175"/>
                <a:gd name="T14" fmla="*/ 34 w 54"/>
                <a:gd name="T15" fmla="*/ 93 h 175"/>
                <a:gd name="T16" fmla="*/ 28 w 54"/>
                <a:gd name="T17" fmla="*/ 61 h 175"/>
                <a:gd name="T18" fmla="*/ 25 w 54"/>
                <a:gd name="T19" fmla="*/ 46 h 175"/>
                <a:gd name="T20" fmla="*/ 16 w 54"/>
                <a:gd name="T21" fmla="*/ 37 h 175"/>
                <a:gd name="T22" fmla="*/ 6 w 54"/>
                <a:gd name="T23" fmla="*/ 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57" name="Freeform 61"/>
            <p:cNvSpPr>
              <a:spLocks/>
            </p:cNvSpPr>
            <p:nvPr/>
          </p:nvSpPr>
          <p:spPr bwMode="invGray">
            <a:xfrm>
              <a:off x="3988" y="3290"/>
              <a:ext cx="65" cy="54"/>
            </a:xfrm>
            <a:custGeom>
              <a:avLst/>
              <a:gdLst>
                <a:gd name="T0" fmla="*/ 2 w 86"/>
                <a:gd name="T1" fmla="*/ 0 h 73"/>
                <a:gd name="T2" fmla="*/ 8 w 86"/>
                <a:gd name="T3" fmla="*/ 34 h 73"/>
                <a:gd name="T4" fmla="*/ 23 w 86"/>
                <a:gd name="T5" fmla="*/ 43 h 73"/>
                <a:gd name="T6" fmla="*/ 48 w 86"/>
                <a:gd name="T7" fmla="*/ 49 h 73"/>
                <a:gd name="T8" fmla="*/ 62 w 86"/>
                <a:gd name="T9" fmla="*/ 57 h 73"/>
                <a:gd name="T10" fmla="*/ 74 w 86"/>
                <a:gd name="T11" fmla="*/ 66 h 73"/>
                <a:gd name="T12" fmla="*/ 86 w 86"/>
                <a:gd name="T13" fmla="*/ 69 h 73"/>
                <a:gd name="T14" fmla="*/ 72 w 86"/>
                <a:gd name="T15" fmla="*/ 39 h 73"/>
                <a:gd name="T16" fmla="*/ 63 w 86"/>
                <a:gd name="T17" fmla="*/ 22 h 73"/>
                <a:gd name="T18" fmla="*/ 36 w 86"/>
                <a:gd name="T19" fmla="*/ 24 h 73"/>
                <a:gd name="T20" fmla="*/ 24 w 86"/>
                <a:gd name="T21" fmla="*/ 19 h 73"/>
                <a:gd name="T22" fmla="*/ 6 w 86"/>
                <a:gd name="T23" fmla="*/ 0 h 73"/>
                <a:gd name="T24" fmla="*/ 2 w 86"/>
                <a:gd name="T25"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58" name="Freeform 62"/>
            <p:cNvSpPr>
              <a:spLocks/>
            </p:cNvSpPr>
            <p:nvPr/>
          </p:nvSpPr>
          <p:spPr bwMode="invGray">
            <a:xfrm>
              <a:off x="4092" y="3195"/>
              <a:ext cx="83" cy="117"/>
            </a:xfrm>
            <a:custGeom>
              <a:avLst/>
              <a:gdLst>
                <a:gd name="T0" fmla="*/ 98 w 111"/>
                <a:gd name="T1" fmla="*/ 0 h 156"/>
                <a:gd name="T2" fmla="*/ 75 w 111"/>
                <a:gd name="T3" fmla="*/ 10 h 156"/>
                <a:gd name="T4" fmla="*/ 23 w 111"/>
                <a:gd name="T5" fmla="*/ 15 h 156"/>
                <a:gd name="T6" fmla="*/ 14 w 111"/>
                <a:gd name="T7" fmla="*/ 33 h 156"/>
                <a:gd name="T8" fmla="*/ 11 w 111"/>
                <a:gd name="T9" fmla="*/ 61 h 156"/>
                <a:gd name="T10" fmla="*/ 14 w 111"/>
                <a:gd name="T11" fmla="*/ 75 h 156"/>
                <a:gd name="T12" fmla="*/ 3 w 111"/>
                <a:gd name="T13" fmla="*/ 88 h 156"/>
                <a:gd name="T14" fmla="*/ 14 w 111"/>
                <a:gd name="T15" fmla="*/ 109 h 156"/>
                <a:gd name="T16" fmla="*/ 23 w 111"/>
                <a:gd name="T17" fmla="*/ 124 h 156"/>
                <a:gd name="T18" fmla="*/ 15 w 111"/>
                <a:gd name="T19" fmla="*/ 144 h 156"/>
                <a:gd name="T20" fmla="*/ 24 w 111"/>
                <a:gd name="T21" fmla="*/ 156 h 156"/>
                <a:gd name="T22" fmla="*/ 42 w 111"/>
                <a:gd name="T23" fmla="*/ 144 h 156"/>
                <a:gd name="T24" fmla="*/ 50 w 111"/>
                <a:gd name="T25" fmla="*/ 93 h 156"/>
                <a:gd name="T26" fmla="*/ 56 w 111"/>
                <a:gd name="T27" fmla="*/ 126 h 156"/>
                <a:gd name="T28" fmla="*/ 65 w 111"/>
                <a:gd name="T29" fmla="*/ 145 h 156"/>
                <a:gd name="T30" fmla="*/ 62 w 111"/>
                <a:gd name="T31" fmla="*/ 112 h 156"/>
                <a:gd name="T32" fmla="*/ 72 w 111"/>
                <a:gd name="T33" fmla="*/ 73 h 156"/>
                <a:gd name="T34" fmla="*/ 69 w 111"/>
                <a:gd name="T35" fmla="*/ 51 h 156"/>
                <a:gd name="T36" fmla="*/ 54 w 111"/>
                <a:gd name="T37" fmla="*/ 60 h 156"/>
                <a:gd name="T38" fmla="*/ 35 w 111"/>
                <a:gd name="T39" fmla="*/ 54 h 156"/>
                <a:gd name="T40" fmla="*/ 41 w 111"/>
                <a:gd name="T41" fmla="*/ 36 h 156"/>
                <a:gd name="T42" fmla="*/ 62 w 111"/>
                <a:gd name="T43" fmla="*/ 34 h 156"/>
                <a:gd name="T44" fmla="*/ 78 w 111"/>
                <a:gd name="T45" fmla="*/ 39 h 156"/>
                <a:gd name="T46" fmla="*/ 98 w 111"/>
                <a:gd name="T47" fmla="*/ 30 h 156"/>
                <a:gd name="T48" fmla="*/ 111 w 111"/>
                <a:gd name="T49" fmla="*/ 13 h 156"/>
                <a:gd name="T50" fmla="*/ 98 w 111"/>
                <a:gd name="T5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59" name="Freeform 63"/>
            <p:cNvSpPr>
              <a:spLocks/>
            </p:cNvSpPr>
            <p:nvPr/>
          </p:nvSpPr>
          <p:spPr bwMode="invGray">
            <a:xfrm>
              <a:off x="4064" y="2777"/>
              <a:ext cx="22" cy="71"/>
            </a:xfrm>
            <a:custGeom>
              <a:avLst/>
              <a:gdLst>
                <a:gd name="T0" fmla="*/ 12 w 30"/>
                <a:gd name="T1" fmla="*/ 0 h 94"/>
                <a:gd name="T2" fmla="*/ 0 w 30"/>
                <a:gd name="T3" fmla="*/ 16 h 94"/>
                <a:gd name="T4" fmla="*/ 6 w 30"/>
                <a:gd name="T5" fmla="*/ 37 h 94"/>
                <a:gd name="T6" fmla="*/ 1 w 30"/>
                <a:gd name="T7" fmla="*/ 61 h 94"/>
                <a:gd name="T8" fmla="*/ 16 w 30"/>
                <a:gd name="T9" fmla="*/ 94 h 94"/>
                <a:gd name="T10" fmla="*/ 30 w 30"/>
                <a:gd name="T11" fmla="*/ 82 h 94"/>
                <a:gd name="T12" fmla="*/ 22 w 30"/>
                <a:gd name="T13" fmla="*/ 61 h 94"/>
                <a:gd name="T14" fmla="*/ 12 w 30"/>
                <a:gd name="T15" fmla="*/ 0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60" name="Freeform 64"/>
            <p:cNvSpPr>
              <a:spLocks/>
            </p:cNvSpPr>
            <p:nvPr/>
          </p:nvSpPr>
          <p:spPr bwMode="invGray">
            <a:xfrm>
              <a:off x="4078" y="2896"/>
              <a:ext cx="61" cy="118"/>
            </a:xfrm>
            <a:custGeom>
              <a:avLst/>
              <a:gdLst>
                <a:gd name="T0" fmla="*/ 12 w 81"/>
                <a:gd name="T1" fmla="*/ 2 h 158"/>
                <a:gd name="T2" fmla="*/ 0 w 81"/>
                <a:gd name="T3" fmla="*/ 20 h 158"/>
                <a:gd name="T4" fmla="*/ 8 w 81"/>
                <a:gd name="T5" fmla="*/ 49 h 158"/>
                <a:gd name="T6" fmla="*/ 6 w 81"/>
                <a:gd name="T7" fmla="*/ 107 h 158"/>
                <a:gd name="T8" fmla="*/ 17 w 81"/>
                <a:gd name="T9" fmla="*/ 103 h 158"/>
                <a:gd name="T10" fmla="*/ 20 w 81"/>
                <a:gd name="T11" fmla="*/ 115 h 158"/>
                <a:gd name="T12" fmla="*/ 29 w 81"/>
                <a:gd name="T13" fmla="*/ 122 h 158"/>
                <a:gd name="T14" fmla="*/ 38 w 81"/>
                <a:gd name="T15" fmla="*/ 140 h 158"/>
                <a:gd name="T16" fmla="*/ 48 w 81"/>
                <a:gd name="T17" fmla="*/ 128 h 158"/>
                <a:gd name="T18" fmla="*/ 65 w 81"/>
                <a:gd name="T19" fmla="*/ 134 h 158"/>
                <a:gd name="T20" fmla="*/ 63 w 81"/>
                <a:gd name="T21" fmla="*/ 109 h 158"/>
                <a:gd name="T22" fmla="*/ 48 w 81"/>
                <a:gd name="T23" fmla="*/ 104 h 158"/>
                <a:gd name="T24" fmla="*/ 39 w 81"/>
                <a:gd name="T25" fmla="*/ 91 h 158"/>
                <a:gd name="T26" fmla="*/ 33 w 81"/>
                <a:gd name="T27" fmla="*/ 73 h 158"/>
                <a:gd name="T28" fmla="*/ 41 w 81"/>
                <a:gd name="T29" fmla="*/ 53 h 158"/>
                <a:gd name="T30" fmla="*/ 35 w 81"/>
                <a:gd name="T31" fmla="*/ 35 h 158"/>
                <a:gd name="T32" fmla="*/ 42 w 81"/>
                <a:gd name="T33" fmla="*/ 20 h 158"/>
                <a:gd name="T34" fmla="*/ 29 w 81"/>
                <a:gd name="T35" fmla="*/ 4 h 158"/>
                <a:gd name="T36" fmla="*/ 18 w 81"/>
                <a:gd name="T37" fmla="*/ 7 h 158"/>
                <a:gd name="T38" fmla="*/ 12 w 81"/>
                <a:gd name="T39" fmla="*/ 2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61" name="Freeform 65"/>
            <p:cNvSpPr>
              <a:spLocks/>
            </p:cNvSpPr>
            <p:nvPr/>
          </p:nvSpPr>
          <p:spPr bwMode="invGray">
            <a:xfrm>
              <a:off x="4121" y="3052"/>
              <a:ext cx="64" cy="79"/>
            </a:xfrm>
            <a:custGeom>
              <a:avLst/>
              <a:gdLst>
                <a:gd name="T0" fmla="*/ 52 w 85"/>
                <a:gd name="T1" fmla="*/ 0 h 105"/>
                <a:gd name="T2" fmla="*/ 44 w 85"/>
                <a:gd name="T3" fmla="*/ 18 h 105"/>
                <a:gd name="T4" fmla="*/ 32 w 85"/>
                <a:gd name="T5" fmla="*/ 30 h 105"/>
                <a:gd name="T6" fmla="*/ 16 w 85"/>
                <a:gd name="T7" fmla="*/ 35 h 105"/>
                <a:gd name="T8" fmla="*/ 8 w 85"/>
                <a:gd name="T9" fmla="*/ 48 h 105"/>
                <a:gd name="T10" fmla="*/ 4 w 85"/>
                <a:gd name="T11" fmla="*/ 74 h 105"/>
                <a:gd name="T12" fmla="*/ 13 w 85"/>
                <a:gd name="T13" fmla="*/ 71 h 105"/>
                <a:gd name="T14" fmla="*/ 25 w 85"/>
                <a:gd name="T15" fmla="*/ 62 h 105"/>
                <a:gd name="T16" fmla="*/ 34 w 85"/>
                <a:gd name="T17" fmla="*/ 69 h 105"/>
                <a:gd name="T18" fmla="*/ 58 w 85"/>
                <a:gd name="T19" fmla="*/ 99 h 105"/>
                <a:gd name="T20" fmla="*/ 71 w 85"/>
                <a:gd name="T21" fmla="*/ 72 h 105"/>
                <a:gd name="T22" fmla="*/ 85 w 85"/>
                <a:gd name="T23" fmla="*/ 68 h 105"/>
                <a:gd name="T24" fmla="*/ 74 w 85"/>
                <a:gd name="T25" fmla="*/ 39 h 105"/>
                <a:gd name="T26" fmla="*/ 52 w 85"/>
                <a:gd name="T27"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62" name="Freeform 66"/>
            <p:cNvSpPr>
              <a:spLocks/>
            </p:cNvSpPr>
            <p:nvPr/>
          </p:nvSpPr>
          <p:spPr bwMode="invGray">
            <a:xfrm>
              <a:off x="4197" y="3193"/>
              <a:ext cx="29" cy="49"/>
            </a:xfrm>
            <a:custGeom>
              <a:avLst/>
              <a:gdLst>
                <a:gd name="T0" fmla="*/ 6 w 38"/>
                <a:gd name="T1" fmla="*/ 27 h 66"/>
                <a:gd name="T2" fmla="*/ 26 w 38"/>
                <a:gd name="T3" fmla="*/ 66 h 66"/>
                <a:gd name="T4" fmla="*/ 30 w 38"/>
                <a:gd name="T5" fmla="*/ 52 h 66"/>
                <a:gd name="T6" fmla="*/ 38 w 38"/>
                <a:gd name="T7" fmla="*/ 40 h 66"/>
                <a:gd name="T8" fmla="*/ 30 w 38"/>
                <a:gd name="T9" fmla="*/ 25 h 66"/>
                <a:gd name="T10" fmla="*/ 20 w 38"/>
                <a:gd name="T11" fmla="*/ 13 h 66"/>
                <a:gd name="T12" fmla="*/ 11 w 38"/>
                <a:gd name="T13" fmla="*/ 1 h 66"/>
                <a:gd name="T14" fmla="*/ 2 w 38"/>
                <a:gd name="T15" fmla="*/ 12 h 66"/>
                <a:gd name="T16" fmla="*/ 6 w 38"/>
                <a:gd name="T17" fmla="*/ 2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63" name="Freeform 67"/>
            <p:cNvSpPr>
              <a:spLocks/>
            </p:cNvSpPr>
            <p:nvPr/>
          </p:nvSpPr>
          <p:spPr bwMode="invGray">
            <a:xfrm>
              <a:off x="4181" y="3275"/>
              <a:ext cx="18" cy="17"/>
            </a:xfrm>
            <a:custGeom>
              <a:avLst/>
              <a:gdLst>
                <a:gd name="T0" fmla="*/ 0 w 24"/>
                <a:gd name="T1" fmla="*/ 0 h 23"/>
                <a:gd name="T2" fmla="*/ 6 w 24"/>
                <a:gd name="T3" fmla="*/ 23 h 23"/>
                <a:gd name="T4" fmla="*/ 24 w 24"/>
                <a:gd name="T5" fmla="*/ 11 h 23"/>
                <a:gd name="T6" fmla="*/ 0 w 24"/>
                <a:gd name="T7" fmla="*/ 0 h 23"/>
              </a:gdLst>
              <a:ahLst/>
              <a:cxnLst>
                <a:cxn ang="0">
                  <a:pos x="T0" y="T1"/>
                </a:cxn>
                <a:cxn ang="0">
                  <a:pos x="T2" y="T3"/>
                </a:cxn>
                <a:cxn ang="0">
                  <a:pos x="T4" y="T5"/>
                </a:cxn>
                <a:cxn ang="0">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64" name="Freeform 68"/>
            <p:cNvSpPr>
              <a:spLocks/>
            </p:cNvSpPr>
            <p:nvPr/>
          </p:nvSpPr>
          <p:spPr bwMode="invGray">
            <a:xfrm>
              <a:off x="4208" y="3265"/>
              <a:ext cx="45" cy="37"/>
            </a:xfrm>
            <a:custGeom>
              <a:avLst/>
              <a:gdLst>
                <a:gd name="T0" fmla="*/ 9 w 60"/>
                <a:gd name="T1" fmla="*/ 0 h 49"/>
                <a:gd name="T2" fmla="*/ 0 w 60"/>
                <a:gd name="T3" fmla="*/ 18 h 49"/>
                <a:gd name="T4" fmla="*/ 28 w 60"/>
                <a:gd name="T5" fmla="*/ 33 h 49"/>
                <a:gd name="T6" fmla="*/ 42 w 60"/>
                <a:gd name="T7" fmla="*/ 46 h 49"/>
                <a:gd name="T8" fmla="*/ 60 w 60"/>
                <a:gd name="T9" fmla="*/ 42 h 49"/>
                <a:gd name="T10" fmla="*/ 49 w 60"/>
                <a:gd name="T11" fmla="*/ 24 h 49"/>
                <a:gd name="T12" fmla="*/ 28 w 60"/>
                <a:gd name="T13" fmla="*/ 3 h 49"/>
                <a:gd name="T14" fmla="*/ 19 w 60"/>
                <a:gd name="T15" fmla="*/ 16 h 49"/>
                <a:gd name="T16" fmla="*/ 9 w 60"/>
                <a:gd name="T1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65" name="Freeform 69"/>
            <p:cNvSpPr>
              <a:spLocks/>
            </p:cNvSpPr>
            <p:nvPr/>
          </p:nvSpPr>
          <p:spPr bwMode="invGray">
            <a:xfrm>
              <a:off x="4277" y="3335"/>
              <a:ext cx="24" cy="33"/>
            </a:xfrm>
            <a:custGeom>
              <a:avLst/>
              <a:gdLst>
                <a:gd name="T0" fmla="*/ 28 w 32"/>
                <a:gd name="T1" fmla="*/ 0 h 44"/>
                <a:gd name="T2" fmla="*/ 10 w 32"/>
                <a:gd name="T3" fmla="*/ 11 h 44"/>
                <a:gd name="T4" fmla="*/ 12 w 32"/>
                <a:gd name="T5" fmla="*/ 32 h 44"/>
                <a:gd name="T6" fmla="*/ 24 w 32"/>
                <a:gd name="T7" fmla="*/ 36 h 44"/>
                <a:gd name="T8" fmla="*/ 28 w 32"/>
                <a:gd name="T9" fmla="*/ 0 h 44"/>
              </a:gdLst>
              <a:ahLst/>
              <a:cxnLst>
                <a:cxn ang="0">
                  <a:pos x="T0" y="T1"/>
                </a:cxn>
                <a:cxn ang="0">
                  <a:pos x="T2" y="T3"/>
                </a:cxn>
                <a:cxn ang="0">
                  <a:pos x="T4" y="T5"/>
                </a:cxn>
                <a:cxn ang="0">
                  <a:pos x="T6" y="T7"/>
                </a:cxn>
                <a:cxn ang="0">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66" name="Freeform 70"/>
            <p:cNvSpPr>
              <a:spLocks/>
            </p:cNvSpPr>
            <p:nvPr/>
          </p:nvSpPr>
          <p:spPr bwMode="invGray">
            <a:xfrm>
              <a:off x="4544" y="3293"/>
              <a:ext cx="46" cy="47"/>
            </a:xfrm>
            <a:custGeom>
              <a:avLst/>
              <a:gdLst>
                <a:gd name="T0" fmla="*/ 7 w 61"/>
                <a:gd name="T1" fmla="*/ 0 h 63"/>
                <a:gd name="T2" fmla="*/ 0 w 61"/>
                <a:gd name="T3" fmla="*/ 14 h 63"/>
                <a:gd name="T4" fmla="*/ 24 w 61"/>
                <a:gd name="T5" fmla="*/ 35 h 63"/>
                <a:gd name="T6" fmla="*/ 36 w 61"/>
                <a:gd name="T7" fmla="*/ 54 h 63"/>
                <a:gd name="T8" fmla="*/ 46 w 61"/>
                <a:gd name="T9" fmla="*/ 63 h 63"/>
                <a:gd name="T10" fmla="*/ 61 w 61"/>
                <a:gd name="T11" fmla="*/ 56 h 63"/>
                <a:gd name="T12" fmla="*/ 33 w 61"/>
                <a:gd name="T13" fmla="*/ 17 h 63"/>
                <a:gd name="T14" fmla="*/ 7 w 61"/>
                <a:gd name="T15" fmla="*/ 0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67" name="Freeform 71"/>
            <p:cNvSpPr>
              <a:spLocks/>
            </p:cNvSpPr>
            <p:nvPr/>
          </p:nvSpPr>
          <p:spPr bwMode="invGray">
            <a:xfrm>
              <a:off x="4147" y="3352"/>
              <a:ext cx="46" cy="50"/>
            </a:xfrm>
            <a:custGeom>
              <a:avLst/>
              <a:gdLst>
                <a:gd name="T0" fmla="*/ 28 w 61"/>
                <a:gd name="T1" fmla="*/ 7 h 67"/>
                <a:gd name="T2" fmla="*/ 30 w 61"/>
                <a:gd name="T3" fmla="*/ 34 h 67"/>
                <a:gd name="T4" fmla="*/ 16 w 61"/>
                <a:gd name="T5" fmla="*/ 43 h 67"/>
                <a:gd name="T6" fmla="*/ 22 w 61"/>
                <a:gd name="T7" fmla="*/ 67 h 67"/>
                <a:gd name="T8" fmla="*/ 48 w 61"/>
                <a:gd name="T9" fmla="*/ 58 h 67"/>
                <a:gd name="T10" fmla="*/ 60 w 61"/>
                <a:gd name="T11" fmla="*/ 47 h 67"/>
                <a:gd name="T12" fmla="*/ 51 w 61"/>
                <a:gd name="T13" fmla="*/ 28 h 67"/>
                <a:gd name="T14" fmla="*/ 57 w 61"/>
                <a:gd name="T15" fmla="*/ 14 h 67"/>
                <a:gd name="T16" fmla="*/ 55 w 61"/>
                <a:gd name="T17" fmla="*/ 2 h 67"/>
                <a:gd name="T18" fmla="*/ 46 w 61"/>
                <a:gd name="T19" fmla="*/ 4 h 67"/>
                <a:gd name="T20" fmla="*/ 51 w 61"/>
                <a:gd name="T21" fmla="*/ 5 h 67"/>
                <a:gd name="T22" fmla="*/ 49 w 61"/>
                <a:gd name="T23" fmla="*/ 16 h 67"/>
                <a:gd name="T24" fmla="*/ 43 w 61"/>
                <a:gd name="T25" fmla="*/ 23 h 67"/>
                <a:gd name="T26" fmla="*/ 28 w 61"/>
                <a:gd name="T27" fmla="*/ 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68" name="Freeform 72"/>
            <p:cNvSpPr>
              <a:spLocks/>
            </p:cNvSpPr>
            <p:nvPr/>
          </p:nvSpPr>
          <p:spPr bwMode="invGray">
            <a:xfrm>
              <a:off x="4098" y="3371"/>
              <a:ext cx="32" cy="27"/>
            </a:xfrm>
            <a:custGeom>
              <a:avLst/>
              <a:gdLst>
                <a:gd name="T0" fmla="*/ 21 w 43"/>
                <a:gd name="T1" fmla="*/ 3 h 36"/>
                <a:gd name="T2" fmla="*/ 6 w 43"/>
                <a:gd name="T3" fmla="*/ 6 h 36"/>
                <a:gd name="T4" fmla="*/ 33 w 43"/>
                <a:gd name="T5" fmla="*/ 36 h 36"/>
                <a:gd name="T6" fmla="*/ 42 w 43"/>
                <a:gd name="T7" fmla="*/ 30 h 36"/>
                <a:gd name="T8" fmla="*/ 21 w 43"/>
                <a:gd name="T9" fmla="*/ 3 h 36"/>
              </a:gdLst>
              <a:ahLst/>
              <a:cxnLst>
                <a:cxn ang="0">
                  <a:pos x="T0" y="T1"/>
                </a:cxn>
                <a:cxn ang="0">
                  <a:pos x="T2" y="T3"/>
                </a:cxn>
                <a:cxn ang="0">
                  <a:pos x="T4" y="T5"/>
                </a:cxn>
                <a:cxn ang="0">
                  <a:pos x="T6" y="T7"/>
                </a:cxn>
                <a:cxn ang="0">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69" name="Freeform 73"/>
            <p:cNvSpPr>
              <a:spLocks/>
            </p:cNvSpPr>
            <p:nvPr/>
          </p:nvSpPr>
          <p:spPr bwMode="invGray">
            <a:xfrm>
              <a:off x="4077" y="3342"/>
              <a:ext cx="24" cy="31"/>
            </a:xfrm>
            <a:custGeom>
              <a:avLst/>
              <a:gdLst>
                <a:gd name="T0" fmla="*/ 21 w 32"/>
                <a:gd name="T1" fmla="*/ 0 h 41"/>
                <a:gd name="T2" fmla="*/ 0 w 32"/>
                <a:gd name="T3" fmla="*/ 26 h 41"/>
                <a:gd name="T4" fmla="*/ 16 w 32"/>
                <a:gd name="T5" fmla="*/ 24 h 41"/>
                <a:gd name="T6" fmla="*/ 19 w 32"/>
                <a:gd name="T7" fmla="*/ 29 h 41"/>
                <a:gd name="T8" fmla="*/ 16 w 32"/>
                <a:gd name="T9" fmla="*/ 35 h 41"/>
                <a:gd name="T10" fmla="*/ 30 w 32"/>
                <a:gd name="T11" fmla="*/ 21 h 41"/>
                <a:gd name="T12" fmla="*/ 24 w 32"/>
                <a:gd name="T13" fmla="*/ 9 h 41"/>
                <a:gd name="T14" fmla="*/ 21 w 32"/>
                <a:gd name="T15" fmla="*/ 0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70" name="Freeform 74"/>
            <p:cNvSpPr>
              <a:spLocks/>
            </p:cNvSpPr>
            <p:nvPr/>
          </p:nvSpPr>
          <p:spPr bwMode="invGray">
            <a:xfrm>
              <a:off x="4111" y="3353"/>
              <a:ext cx="34" cy="24"/>
            </a:xfrm>
            <a:custGeom>
              <a:avLst/>
              <a:gdLst>
                <a:gd name="T0" fmla="*/ 21 w 45"/>
                <a:gd name="T1" fmla="*/ 0 h 32"/>
                <a:gd name="T2" fmla="*/ 0 w 45"/>
                <a:gd name="T3" fmla="*/ 7 h 32"/>
                <a:gd name="T4" fmla="*/ 27 w 45"/>
                <a:gd name="T5" fmla="*/ 31 h 32"/>
                <a:gd name="T6" fmla="*/ 45 w 45"/>
                <a:gd name="T7" fmla="*/ 24 h 32"/>
                <a:gd name="T8" fmla="*/ 22 w 45"/>
                <a:gd name="T9" fmla="*/ 10 h 32"/>
                <a:gd name="T10" fmla="*/ 21 w 45"/>
                <a:gd name="T11" fmla="*/ 0 h 32"/>
              </a:gdLst>
              <a:ahLst/>
              <a:cxnLst>
                <a:cxn ang="0">
                  <a:pos x="T0" y="T1"/>
                </a:cxn>
                <a:cxn ang="0">
                  <a:pos x="T2" y="T3"/>
                </a:cxn>
                <a:cxn ang="0">
                  <a:pos x="T4" y="T5"/>
                </a:cxn>
                <a:cxn ang="0">
                  <a:pos x="T6" y="T7"/>
                </a:cxn>
                <a:cxn ang="0">
                  <a:pos x="T8" y="T9"/>
                </a:cxn>
                <a:cxn ang="0">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71" name="Freeform 75"/>
            <p:cNvSpPr>
              <a:spLocks/>
            </p:cNvSpPr>
            <p:nvPr/>
          </p:nvSpPr>
          <p:spPr bwMode="invGray">
            <a:xfrm>
              <a:off x="4062" y="3021"/>
              <a:ext cx="27" cy="55"/>
            </a:xfrm>
            <a:custGeom>
              <a:avLst/>
              <a:gdLst>
                <a:gd name="T0" fmla="*/ 30 w 35"/>
                <a:gd name="T1" fmla="*/ 0 h 74"/>
                <a:gd name="T2" fmla="*/ 21 w 35"/>
                <a:gd name="T3" fmla="*/ 15 h 74"/>
                <a:gd name="T4" fmla="*/ 9 w 35"/>
                <a:gd name="T5" fmla="*/ 36 h 74"/>
                <a:gd name="T6" fmla="*/ 0 w 35"/>
                <a:gd name="T7" fmla="*/ 59 h 74"/>
                <a:gd name="T8" fmla="*/ 8 w 35"/>
                <a:gd name="T9" fmla="*/ 74 h 74"/>
                <a:gd name="T10" fmla="*/ 20 w 35"/>
                <a:gd name="T11" fmla="*/ 59 h 74"/>
                <a:gd name="T12" fmla="*/ 35 w 35"/>
                <a:gd name="T13" fmla="*/ 32 h 74"/>
                <a:gd name="T14" fmla="*/ 30 w 3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72" name="Freeform 76"/>
            <p:cNvSpPr>
              <a:spLocks/>
            </p:cNvSpPr>
            <p:nvPr/>
          </p:nvSpPr>
          <p:spPr bwMode="invGray">
            <a:xfrm>
              <a:off x="4113" y="3012"/>
              <a:ext cx="19" cy="55"/>
            </a:xfrm>
            <a:custGeom>
              <a:avLst/>
              <a:gdLst>
                <a:gd name="T0" fmla="*/ 13 w 25"/>
                <a:gd name="T1" fmla="*/ 7 h 73"/>
                <a:gd name="T2" fmla="*/ 4 w 25"/>
                <a:gd name="T3" fmla="*/ 8 h 73"/>
                <a:gd name="T4" fmla="*/ 0 w 25"/>
                <a:gd name="T5" fmla="*/ 22 h 73"/>
                <a:gd name="T6" fmla="*/ 15 w 25"/>
                <a:gd name="T7" fmla="*/ 41 h 73"/>
                <a:gd name="T8" fmla="*/ 25 w 25"/>
                <a:gd name="T9" fmla="*/ 56 h 73"/>
                <a:gd name="T10" fmla="*/ 16 w 25"/>
                <a:gd name="T11" fmla="*/ 20 h 73"/>
                <a:gd name="T12" fmla="*/ 13 w 25"/>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73" name="Freeform 77"/>
            <p:cNvSpPr>
              <a:spLocks/>
            </p:cNvSpPr>
            <p:nvPr/>
          </p:nvSpPr>
          <p:spPr bwMode="invGray">
            <a:xfrm>
              <a:off x="4135" y="2995"/>
              <a:ext cx="10" cy="25"/>
            </a:xfrm>
            <a:custGeom>
              <a:avLst/>
              <a:gdLst>
                <a:gd name="T0" fmla="*/ 11 w 14"/>
                <a:gd name="T1" fmla="*/ 0 h 33"/>
                <a:gd name="T2" fmla="*/ 1 w 14"/>
                <a:gd name="T3" fmla="*/ 10 h 33"/>
                <a:gd name="T4" fmla="*/ 11 w 14"/>
                <a:gd name="T5" fmla="*/ 25 h 33"/>
                <a:gd name="T6" fmla="*/ 11 w 14"/>
                <a:gd name="T7" fmla="*/ 0 h 33"/>
              </a:gdLst>
              <a:ahLst/>
              <a:cxnLst>
                <a:cxn ang="0">
                  <a:pos x="T0" y="T1"/>
                </a:cxn>
                <a:cxn ang="0">
                  <a:pos x="T2" y="T3"/>
                </a:cxn>
                <a:cxn ang="0">
                  <a:pos x="T4" y="T5"/>
                </a:cxn>
                <a:cxn ang="0">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74" name="Freeform 78"/>
            <p:cNvSpPr>
              <a:spLocks/>
            </p:cNvSpPr>
            <p:nvPr/>
          </p:nvSpPr>
          <p:spPr bwMode="invGray">
            <a:xfrm>
              <a:off x="4145" y="3007"/>
              <a:ext cx="21" cy="48"/>
            </a:xfrm>
            <a:custGeom>
              <a:avLst/>
              <a:gdLst>
                <a:gd name="T0" fmla="*/ 5 w 28"/>
                <a:gd name="T1" fmla="*/ 0 h 64"/>
                <a:gd name="T2" fmla="*/ 11 w 28"/>
                <a:gd name="T3" fmla="*/ 14 h 64"/>
                <a:gd name="T4" fmla="*/ 20 w 28"/>
                <a:gd name="T5" fmla="*/ 21 h 64"/>
                <a:gd name="T6" fmla="*/ 8 w 28"/>
                <a:gd name="T7" fmla="*/ 39 h 64"/>
                <a:gd name="T8" fmla="*/ 0 w 28"/>
                <a:gd name="T9" fmla="*/ 56 h 64"/>
                <a:gd name="T10" fmla="*/ 11 w 28"/>
                <a:gd name="T11" fmla="*/ 57 h 64"/>
                <a:gd name="T12" fmla="*/ 26 w 28"/>
                <a:gd name="T13" fmla="*/ 26 h 64"/>
                <a:gd name="T14" fmla="*/ 5 w 28"/>
                <a:gd name="T15" fmla="*/ 0 h 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75" name="Freeform 79"/>
            <p:cNvSpPr>
              <a:spLocks/>
            </p:cNvSpPr>
            <p:nvPr/>
          </p:nvSpPr>
          <p:spPr bwMode="invGray">
            <a:xfrm>
              <a:off x="3876" y="3076"/>
              <a:ext cx="12" cy="27"/>
            </a:xfrm>
            <a:custGeom>
              <a:avLst/>
              <a:gdLst>
                <a:gd name="T0" fmla="*/ 14 w 16"/>
                <a:gd name="T1" fmla="*/ 3 h 36"/>
                <a:gd name="T2" fmla="*/ 0 w 16"/>
                <a:gd name="T3" fmla="*/ 7 h 36"/>
                <a:gd name="T4" fmla="*/ 8 w 16"/>
                <a:gd name="T5" fmla="*/ 22 h 36"/>
                <a:gd name="T6" fmla="*/ 14 w 16"/>
                <a:gd name="T7" fmla="*/ 3 h 36"/>
              </a:gdLst>
              <a:ahLst/>
              <a:cxnLst>
                <a:cxn ang="0">
                  <a:pos x="T0" y="T1"/>
                </a:cxn>
                <a:cxn ang="0">
                  <a:pos x="T2" y="T3"/>
                </a:cxn>
                <a:cxn ang="0">
                  <a:pos x="T4" y="T5"/>
                </a:cxn>
                <a:cxn ang="0">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76" name="Freeform 80"/>
            <p:cNvSpPr>
              <a:spLocks/>
            </p:cNvSpPr>
            <p:nvPr/>
          </p:nvSpPr>
          <p:spPr bwMode="invGray">
            <a:xfrm>
              <a:off x="3866" y="3053"/>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77" name="Freeform 81"/>
            <p:cNvSpPr>
              <a:spLocks/>
            </p:cNvSpPr>
            <p:nvPr/>
          </p:nvSpPr>
          <p:spPr bwMode="invGray">
            <a:xfrm>
              <a:off x="3862" y="3035"/>
              <a:ext cx="12" cy="14"/>
            </a:xfrm>
            <a:custGeom>
              <a:avLst/>
              <a:gdLst>
                <a:gd name="T0" fmla="*/ 10 w 16"/>
                <a:gd name="T1" fmla="*/ 5 h 19"/>
                <a:gd name="T2" fmla="*/ 0 w 16"/>
                <a:gd name="T3" fmla="*/ 10 h 19"/>
                <a:gd name="T4" fmla="*/ 12 w 16"/>
                <a:gd name="T5" fmla="*/ 19 h 19"/>
                <a:gd name="T6" fmla="*/ 10 w 16"/>
                <a:gd name="T7" fmla="*/ 5 h 19"/>
              </a:gdLst>
              <a:ahLst/>
              <a:cxnLst>
                <a:cxn ang="0">
                  <a:pos x="T0" y="T1"/>
                </a:cxn>
                <a:cxn ang="0">
                  <a:pos x="T2" y="T3"/>
                </a:cxn>
                <a:cxn ang="0">
                  <a:pos x="T4" y="T5"/>
                </a:cxn>
                <a:cxn ang="0">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78" name="Freeform 82"/>
            <p:cNvSpPr>
              <a:spLocks/>
            </p:cNvSpPr>
            <p:nvPr/>
          </p:nvSpPr>
          <p:spPr bwMode="invGray">
            <a:xfrm>
              <a:off x="3850" y="2995"/>
              <a:ext cx="11" cy="19"/>
            </a:xfrm>
            <a:custGeom>
              <a:avLst/>
              <a:gdLst>
                <a:gd name="T0" fmla="*/ 6 w 14"/>
                <a:gd name="T1" fmla="*/ 0 h 25"/>
                <a:gd name="T2" fmla="*/ 0 w 14"/>
                <a:gd name="T3" fmla="*/ 13 h 25"/>
                <a:gd name="T4" fmla="*/ 12 w 14"/>
                <a:gd name="T5" fmla="*/ 24 h 25"/>
                <a:gd name="T6" fmla="*/ 6 w 14"/>
                <a:gd name="T7" fmla="*/ 0 h 25"/>
              </a:gdLst>
              <a:ahLst/>
              <a:cxnLst>
                <a:cxn ang="0">
                  <a:pos x="T0" y="T1"/>
                </a:cxn>
                <a:cxn ang="0">
                  <a:pos x="T2" y="T3"/>
                </a:cxn>
                <a:cxn ang="0">
                  <a:pos x="T4" y="T5"/>
                </a:cxn>
                <a:cxn ang="0">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79" name="Freeform 83"/>
            <p:cNvSpPr>
              <a:spLocks/>
            </p:cNvSpPr>
            <p:nvPr/>
          </p:nvSpPr>
          <p:spPr bwMode="invGray">
            <a:xfrm>
              <a:off x="3852" y="3020"/>
              <a:ext cx="16" cy="13"/>
            </a:xfrm>
            <a:custGeom>
              <a:avLst/>
              <a:gdLst>
                <a:gd name="T0" fmla="*/ 13 w 22"/>
                <a:gd name="T1" fmla="*/ 0 h 18"/>
                <a:gd name="T2" fmla="*/ 19 w 22"/>
                <a:gd name="T3" fmla="*/ 18 h 18"/>
                <a:gd name="T4" fmla="*/ 14 w 22"/>
                <a:gd name="T5" fmla="*/ 6 h 18"/>
                <a:gd name="T6" fmla="*/ 13 w 22"/>
                <a:gd name="T7" fmla="*/ 0 h 18"/>
              </a:gdLst>
              <a:ahLst/>
              <a:cxnLst>
                <a:cxn ang="0">
                  <a:pos x="T0" y="T1"/>
                </a:cxn>
                <a:cxn ang="0">
                  <a:pos x="T2" y="T3"/>
                </a:cxn>
                <a:cxn ang="0">
                  <a:pos x="T4" y="T5"/>
                </a:cxn>
                <a:cxn ang="0">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80" name="Freeform 84"/>
            <p:cNvSpPr>
              <a:spLocks/>
            </p:cNvSpPr>
            <p:nvPr/>
          </p:nvSpPr>
          <p:spPr bwMode="invGray">
            <a:xfrm>
              <a:off x="4688" y="3643"/>
              <a:ext cx="45" cy="60"/>
            </a:xfrm>
            <a:custGeom>
              <a:avLst/>
              <a:gdLst>
                <a:gd name="T0" fmla="*/ 10 w 60"/>
                <a:gd name="T1" fmla="*/ 7 h 81"/>
                <a:gd name="T2" fmla="*/ 3 w 60"/>
                <a:gd name="T3" fmla="*/ 18 h 81"/>
                <a:gd name="T4" fmla="*/ 15 w 60"/>
                <a:gd name="T5" fmla="*/ 39 h 81"/>
                <a:gd name="T6" fmla="*/ 27 w 60"/>
                <a:gd name="T7" fmla="*/ 54 h 81"/>
                <a:gd name="T8" fmla="*/ 40 w 60"/>
                <a:gd name="T9" fmla="*/ 63 h 81"/>
                <a:gd name="T10" fmla="*/ 51 w 60"/>
                <a:gd name="T11" fmla="*/ 81 h 81"/>
                <a:gd name="T12" fmla="*/ 52 w 60"/>
                <a:gd name="T13" fmla="*/ 57 h 81"/>
                <a:gd name="T14" fmla="*/ 43 w 60"/>
                <a:gd name="T15" fmla="*/ 37 h 81"/>
                <a:gd name="T16" fmla="*/ 25 w 60"/>
                <a:gd name="T17" fmla="*/ 18 h 81"/>
                <a:gd name="T18" fmla="*/ 10 w 60"/>
                <a:gd name="T19"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81" name="Freeform 85"/>
            <p:cNvSpPr>
              <a:spLocks/>
            </p:cNvSpPr>
            <p:nvPr/>
          </p:nvSpPr>
          <p:spPr bwMode="invGray">
            <a:xfrm>
              <a:off x="4919" y="3594"/>
              <a:ext cx="53" cy="46"/>
            </a:xfrm>
            <a:custGeom>
              <a:avLst/>
              <a:gdLst>
                <a:gd name="T0" fmla="*/ 28 w 71"/>
                <a:gd name="T1" fmla="*/ 23 h 61"/>
                <a:gd name="T2" fmla="*/ 13 w 71"/>
                <a:gd name="T3" fmla="*/ 32 h 61"/>
                <a:gd name="T4" fmla="*/ 1 w 71"/>
                <a:gd name="T5" fmla="*/ 44 h 61"/>
                <a:gd name="T6" fmla="*/ 13 w 71"/>
                <a:gd name="T7" fmla="*/ 59 h 61"/>
                <a:gd name="T8" fmla="*/ 28 w 71"/>
                <a:gd name="T9" fmla="*/ 44 h 61"/>
                <a:gd name="T10" fmla="*/ 40 w 71"/>
                <a:gd name="T11" fmla="*/ 23 h 61"/>
                <a:gd name="T12" fmla="*/ 55 w 71"/>
                <a:gd name="T13" fmla="*/ 0 h 61"/>
                <a:gd name="T14" fmla="*/ 71 w 71"/>
                <a:gd name="T15" fmla="*/ 11 h 61"/>
                <a:gd name="T16" fmla="*/ 35 w 71"/>
                <a:gd name="T17" fmla="*/ 23 h 61"/>
                <a:gd name="T18" fmla="*/ 28 w 71"/>
                <a:gd name="T19" fmla="*/ 23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82" name="Freeform 86"/>
            <p:cNvSpPr>
              <a:spLocks/>
            </p:cNvSpPr>
            <p:nvPr/>
          </p:nvSpPr>
          <p:spPr bwMode="invGray">
            <a:xfrm>
              <a:off x="4759" y="3569"/>
              <a:ext cx="17" cy="23"/>
            </a:xfrm>
            <a:custGeom>
              <a:avLst/>
              <a:gdLst>
                <a:gd name="T0" fmla="*/ 9 w 23"/>
                <a:gd name="T1" fmla="*/ 0 h 30"/>
                <a:gd name="T2" fmla="*/ 0 w 23"/>
                <a:gd name="T3" fmla="*/ 14 h 30"/>
                <a:gd name="T4" fmla="*/ 12 w 23"/>
                <a:gd name="T5" fmla="*/ 30 h 30"/>
                <a:gd name="T6" fmla="*/ 9 w 23"/>
                <a:gd name="T7" fmla="*/ 0 h 30"/>
              </a:gdLst>
              <a:ahLst/>
              <a:cxnLst>
                <a:cxn ang="0">
                  <a:pos x="T0" y="T1"/>
                </a:cxn>
                <a:cxn ang="0">
                  <a:pos x="T2" y="T3"/>
                </a:cxn>
                <a:cxn ang="0">
                  <a:pos x="T4" y="T5"/>
                </a:cxn>
                <a:cxn ang="0">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83" name="Freeform 87"/>
            <p:cNvSpPr>
              <a:spLocks/>
            </p:cNvSpPr>
            <p:nvPr/>
          </p:nvSpPr>
          <p:spPr bwMode="invGray">
            <a:xfrm>
              <a:off x="4751" y="3547"/>
              <a:ext cx="20" cy="17"/>
            </a:xfrm>
            <a:custGeom>
              <a:avLst/>
              <a:gdLst>
                <a:gd name="T0" fmla="*/ 19 w 26"/>
                <a:gd name="T1" fmla="*/ 0 h 23"/>
                <a:gd name="T2" fmla="*/ 0 w 26"/>
                <a:gd name="T3" fmla="*/ 14 h 23"/>
                <a:gd name="T4" fmla="*/ 21 w 26"/>
                <a:gd name="T5" fmla="*/ 20 h 23"/>
                <a:gd name="T6" fmla="*/ 19 w 26"/>
                <a:gd name="T7" fmla="*/ 0 h 23"/>
              </a:gdLst>
              <a:ahLst/>
              <a:cxnLst>
                <a:cxn ang="0">
                  <a:pos x="T0" y="T1"/>
                </a:cxn>
                <a:cxn ang="0">
                  <a:pos x="T2" y="T3"/>
                </a:cxn>
                <a:cxn ang="0">
                  <a:pos x="T4" y="T5"/>
                </a:cxn>
                <a:cxn ang="0">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84" name="Freeform 88"/>
            <p:cNvSpPr>
              <a:spLocks/>
            </p:cNvSpPr>
            <p:nvPr/>
          </p:nvSpPr>
          <p:spPr bwMode="invGray">
            <a:xfrm>
              <a:off x="4598" y="3353"/>
              <a:ext cx="24" cy="33"/>
            </a:xfrm>
            <a:custGeom>
              <a:avLst/>
              <a:gdLst>
                <a:gd name="T0" fmla="*/ 28 w 32"/>
                <a:gd name="T1" fmla="*/ 0 h 44"/>
                <a:gd name="T2" fmla="*/ 10 w 32"/>
                <a:gd name="T3" fmla="*/ 11 h 44"/>
                <a:gd name="T4" fmla="*/ 12 w 32"/>
                <a:gd name="T5" fmla="*/ 32 h 44"/>
                <a:gd name="T6" fmla="*/ 24 w 32"/>
                <a:gd name="T7" fmla="*/ 36 h 44"/>
                <a:gd name="T8" fmla="*/ 28 w 32"/>
                <a:gd name="T9" fmla="*/ 0 h 44"/>
              </a:gdLst>
              <a:ahLst/>
              <a:cxnLst>
                <a:cxn ang="0">
                  <a:pos x="T0" y="T1"/>
                </a:cxn>
                <a:cxn ang="0">
                  <a:pos x="T2" y="T3"/>
                </a:cxn>
                <a:cxn ang="0">
                  <a:pos x="T4" y="T5"/>
                </a:cxn>
                <a:cxn ang="0">
                  <a:pos x="T6" y="T7"/>
                </a:cxn>
                <a:cxn ang="0">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85" name="Freeform 89"/>
            <p:cNvSpPr>
              <a:spLocks/>
            </p:cNvSpPr>
            <p:nvPr/>
          </p:nvSpPr>
          <p:spPr bwMode="invGray">
            <a:xfrm>
              <a:off x="4632" y="3396"/>
              <a:ext cx="26" cy="33"/>
            </a:xfrm>
            <a:custGeom>
              <a:avLst/>
              <a:gdLst>
                <a:gd name="T0" fmla="*/ 30 w 34"/>
                <a:gd name="T1" fmla="*/ 0 h 44"/>
                <a:gd name="T2" fmla="*/ 10 w 34"/>
                <a:gd name="T3" fmla="*/ 9 h 44"/>
                <a:gd name="T4" fmla="*/ 14 w 34"/>
                <a:gd name="T5" fmla="*/ 32 h 44"/>
                <a:gd name="T6" fmla="*/ 26 w 34"/>
                <a:gd name="T7" fmla="*/ 36 h 44"/>
                <a:gd name="T8" fmla="*/ 30 w 34"/>
                <a:gd name="T9" fmla="*/ 0 h 44"/>
              </a:gdLst>
              <a:ahLst/>
              <a:cxnLst>
                <a:cxn ang="0">
                  <a:pos x="T0" y="T1"/>
                </a:cxn>
                <a:cxn ang="0">
                  <a:pos x="T2" y="T3"/>
                </a:cxn>
                <a:cxn ang="0">
                  <a:pos x="T4" y="T5"/>
                </a:cxn>
                <a:cxn ang="0">
                  <a:pos x="T6" y="T7"/>
                </a:cxn>
                <a:cxn ang="0">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86" name="Freeform 90"/>
            <p:cNvSpPr>
              <a:spLocks/>
            </p:cNvSpPr>
            <p:nvPr/>
          </p:nvSpPr>
          <p:spPr bwMode="invGray">
            <a:xfrm>
              <a:off x="4659" y="3459"/>
              <a:ext cx="28" cy="28"/>
            </a:xfrm>
            <a:custGeom>
              <a:avLst/>
              <a:gdLst>
                <a:gd name="T0" fmla="*/ 34 w 38"/>
                <a:gd name="T1" fmla="*/ 2 h 37"/>
                <a:gd name="T2" fmla="*/ 10 w 38"/>
                <a:gd name="T3" fmla="*/ 2 h 37"/>
                <a:gd name="T4" fmla="*/ 14 w 38"/>
                <a:gd name="T5" fmla="*/ 25 h 37"/>
                <a:gd name="T6" fmla="*/ 26 w 38"/>
                <a:gd name="T7" fmla="*/ 29 h 37"/>
                <a:gd name="T8" fmla="*/ 34 w 38"/>
                <a:gd name="T9" fmla="*/ 2 h 37"/>
              </a:gdLst>
              <a:ahLst/>
              <a:cxnLst>
                <a:cxn ang="0">
                  <a:pos x="T0" y="T1"/>
                </a:cxn>
                <a:cxn ang="0">
                  <a:pos x="T2" y="T3"/>
                </a:cxn>
                <a:cxn ang="0">
                  <a:pos x="T4" y="T5"/>
                </a:cxn>
                <a:cxn ang="0">
                  <a:pos x="T6" y="T7"/>
                </a:cxn>
                <a:cxn ang="0">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87" name="Freeform 91"/>
            <p:cNvSpPr>
              <a:spLocks/>
            </p:cNvSpPr>
            <p:nvPr/>
          </p:nvSpPr>
          <p:spPr bwMode="invGray">
            <a:xfrm>
              <a:off x="4693" y="3449"/>
              <a:ext cx="28" cy="26"/>
            </a:xfrm>
            <a:custGeom>
              <a:avLst/>
              <a:gdLst>
                <a:gd name="T0" fmla="*/ 34 w 38"/>
                <a:gd name="T1" fmla="*/ 2 h 34"/>
                <a:gd name="T2" fmla="*/ 10 w 38"/>
                <a:gd name="T3" fmla="*/ 2 h 34"/>
                <a:gd name="T4" fmla="*/ 16 w 38"/>
                <a:gd name="T5" fmla="*/ 22 h 34"/>
                <a:gd name="T6" fmla="*/ 27 w 38"/>
                <a:gd name="T7" fmla="*/ 22 h 34"/>
                <a:gd name="T8" fmla="*/ 34 w 38"/>
                <a:gd name="T9" fmla="*/ 2 h 34"/>
              </a:gdLst>
              <a:ahLst/>
              <a:cxnLst>
                <a:cxn ang="0">
                  <a:pos x="T0" y="T1"/>
                </a:cxn>
                <a:cxn ang="0">
                  <a:pos x="T2" y="T3"/>
                </a:cxn>
                <a:cxn ang="0">
                  <a:pos x="T4" y="T5"/>
                </a:cxn>
                <a:cxn ang="0">
                  <a:pos x="T6" y="T7"/>
                </a:cxn>
                <a:cxn ang="0">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88" name="Freeform 92"/>
            <p:cNvSpPr>
              <a:spLocks/>
            </p:cNvSpPr>
            <p:nvPr/>
          </p:nvSpPr>
          <p:spPr bwMode="invGray">
            <a:xfrm>
              <a:off x="4683" y="3413"/>
              <a:ext cx="26" cy="20"/>
            </a:xfrm>
            <a:custGeom>
              <a:avLst/>
              <a:gdLst>
                <a:gd name="T0" fmla="*/ 31 w 35"/>
                <a:gd name="T1" fmla="*/ 1 h 27"/>
                <a:gd name="T2" fmla="*/ 10 w 35"/>
                <a:gd name="T3" fmla="*/ 2 h 27"/>
                <a:gd name="T4" fmla="*/ 13 w 35"/>
                <a:gd name="T5" fmla="*/ 15 h 27"/>
                <a:gd name="T6" fmla="*/ 25 w 35"/>
                <a:gd name="T7" fmla="*/ 19 h 27"/>
                <a:gd name="T8" fmla="*/ 31 w 35"/>
                <a:gd name="T9" fmla="*/ 1 h 27"/>
              </a:gdLst>
              <a:ahLst/>
              <a:cxnLst>
                <a:cxn ang="0">
                  <a:pos x="T0" y="T1"/>
                </a:cxn>
                <a:cxn ang="0">
                  <a:pos x="T2" y="T3"/>
                </a:cxn>
                <a:cxn ang="0">
                  <a:pos x="T4" y="T5"/>
                </a:cxn>
                <a:cxn ang="0">
                  <a:pos x="T6" y="T7"/>
                </a:cxn>
                <a:cxn ang="0">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89" name="Freeform 93"/>
            <p:cNvSpPr>
              <a:spLocks/>
            </p:cNvSpPr>
            <p:nvPr/>
          </p:nvSpPr>
          <p:spPr bwMode="invGray">
            <a:xfrm>
              <a:off x="4657" y="3388"/>
              <a:ext cx="26" cy="35"/>
            </a:xfrm>
            <a:custGeom>
              <a:avLst/>
              <a:gdLst>
                <a:gd name="T0" fmla="*/ 28 w 35"/>
                <a:gd name="T1" fmla="*/ 16 h 47"/>
                <a:gd name="T2" fmla="*/ 19 w 35"/>
                <a:gd name="T3" fmla="*/ 2 h 47"/>
                <a:gd name="T4" fmla="*/ 10 w 35"/>
                <a:gd name="T5" fmla="*/ 25 h 47"/>
                <a:gd name="T6" fmla="*/ 19 w 35"/>
                <a:gd name="T7" fmla="*/ 35 h 47"/>
                <a:gd name="T8" fmla="*/ 27 w 35"/>
                <a:gd name="T9" fmla="*/ 29 h 47"/>
                <a:gd name="T10" fmla="*/ 28 w 35"/>
                <a:gd name="T11" fmla="*/ 16 h 47"/>
              </a:gdLst>
              <a:ahLst/>
              <a:cxnLst>
                <a:cxn ang="0">
                  <a:pos x="T0" y="T1"/>
                </a:cxn>
                <a:cxn ang="0">
                  <a:pos x="T2" y="T3"/>
                </a:cxn>
                <a:cxn ang="0">
                  <a:pos x="T4" y="T5"/>
                </a:cxn>
                <a:cxn ang="0">
                  <a:pos x="T6" y="T7"/>
                </a:cxn>
                <a:cxn ang="0">
                  <a:pos x="T8" y="T9"/>
                </a:cxn>
                <a:cxn ang="0">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90" name="Freeform 94"/>
            <p:cNvSpPr>
              <a:spLocks/>
            </p:cNvSpPr>
            <p:nvPr/>
          </p:nvSpPr>
          <p:spPr bwMode="invGray">
            <a:xfrm>
              <a:off x="4625" y="3372"/>
              <a:ext cx="24" cy="26"/>
            </a:xfrm>
            <a:custGeom>
              <a:avLst/>
              <a:gdLst>
                <a:gd name="T0" fmla="*/ 22 w 32"/>
                <a:gd name="T1" fmla="*/ 10 h 35"/>
                <a:gd name="T2" fmla="*/ 10 w 32"/>
                <a:gd name="T3" fmla="*/ 2 h 35"/>
                <a:gd name="T4" fmla="*/ 12 w 32"/>
                <a:gd name="T5" fmla="*/ 23 h 35"/>
                <a:gd name="T6" fmla="*/ 24 w 32"/>
                <a:gd name="T7" fmla="*/ 27 h 35"/>
                <a:gd name="T8" fmla="*/ 22 w 32"/>
                <a:gd name="T9" fmla="*/ 10 h 35"/>
              </a:gdLst>
              <a:ahLst/>
              <a:cxnLst>
                <a:cxn ang="0">
                  <a:pos x="T0" y="T1"/>
                </a:cxn>
                <a:cxn ang="0">
                  <a:pos x="T2" y="T3"/>
                </a:cxn>
                <a:cxn ang="0">
                  <a:pos x="T4" y="T5"/>
                </a:cxn>
                <a:cxn ang="0">
                  <a:pos x="T6" y="T7"/>
                </a:cxn>
                <a:cxn ang="0">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91" name="Freeform 95"/>
            <p:cNvSpPr>
              <a:spLocks/>
            </p:cNvSpPr>
            <p:nvPr/>
          </p:nvSpPr>
          <p:spPr bwMode="invGray">
            <a:xfrm>
              <a:off x="4665" y="3425"/>
              <a:ext cx="24" cy="26"/>
            </a:xfrm>
            <a:custGeom>
              <a:avLst/>
              <a:gdLst>
                <a:gd name="T0" fmla="*/ 22 w 32"/>
                <a:gd name="T1" fmla="*/ 10 h 35"/>
                <a:gd name="T2" fmla="*/ 10 w 32"/>
                <a:gd name="T3" fmla="*/ 2 h 35"/>
                <a:gd name="T4" fmla="*/ 12 w 32"/>
                <a:gd name="T5" fmla="*/ 23 h 35"/>
                <a:gd name="T6" fmla="*/ 24 w 32"/>
                <a:gd name="T7" fmla="*/ 27 h 35"/>
                <a:gd name="T8" fmla="*/ 22 w 32"/>
                <a:gd name="T9" fmla="*/ 10 h 35"/>
              </a:gdLst>
              <a:ahLst/>
              <a:cxnLst>
                <a:cxn ang="0">
                  <a:pos x="T0" y="T1"/>
                </a:cxn>
                <a:cxn ang="0">
                  <a:pos x="T2" y="T3"/>
                </a:cxn>
                <a:cxn ang="0">
                  <a:pos x="T4" y="T5"/>
                </a:cxn>
                <a:cxn ang="0">
                  <a:pos x="T6" y="T7"/>
                </a:cxn>
                <a:cxn ang="0">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92" name="Freeform 96"/>
            <p:cNvSpPr>
              <a:spLocks/>
            </p:cNvSpPr>
            <p:nvPr/>
          </p:nvSpPr>
          <p:spPr bwMode="invGray">
            <a:xfrm>
              <a:off x="3055" y="2051"/>
              <a:ext cx="141" cy="108"/>
            </a:xfrm>
            <a:custGeom>
              <a:avLst/>
              <a:gdLst>
                <a:gd name="T0" fmla="*/ 171 w 189"/>
                <a:gd name="T1" fmla="*/ 4 h 144"/>
                <a:gd name="T2" fmla="*/ 185 w 189"/>
                <a:gd name="T3" fmla="*/ 4 h 144"/>
                <a:gd name="T4" fmla="*/ 189 w 189"/>
                <a:gd name="T5" fmla="*/ 16 h 144"/>
                <a:gd name="T6" fmla="*/ 187 w 189"/>
                <a:gd name="T7" fmla="*/ 24 h 144"/>
                <a:gd name="T8" fmla="*/ 131 w 189"/>
                <a:gd name="T9" fmla="*/ 44 h 144"/>
                <a:gd name="T10" fmla="*/ 109 w 189"/>
                <a:gd name="T11" fmla="*/ 58 h 144"/>
                <a:gd name="T12" fmla="*/ 97 w 189"/>
                <a:gd name="T13" fmla="*/ 62 h 144"/>
                <a:gd name="T14" fmla="*/ 71 w 189"/>
                <a:gd name="T15" fmla="*/ 82 h 144"/>
                <a:gd name="T16" fmla="*/ 75 w 189"/>
                <a:gd name="T17" fmla="*/ 92 h 144"/>
                <a:gd name="T18" fmla="*/ 83 w 189"/>
                <a:gd name="T19" fmla="*/ 116 h 144"/>
                <a:gd name="T20" fmla="*/ 107 w 189"/>
                <a:gd name="T21" fmla="*/ 126 h 144"/>
                <a:gd name="T22" fmla="*/ 93 w 189"/>
                <a:gd name="T23" fmla="*/ 140 h 144"/>
                <a:gd name="T24" fmla="*/ 83 w 189"/>
                <a:gd name="T25" fmla="*/ 130 h 144"/>
                <a:gd name="T26" fmla="*/ 71 w 189"/>
                <a:gd name="T27" fmla="*/ 134 h 144"/>
                <a:gd name="T28" fmla="*/ 21 w 189"/>
                <a:gd name="T29" fmla="*/ 122 h 144"/>
                <a:gd name="T30" fmla="*/ 19 w 189"/>
                <a:gd name="T31" fmla="*/ 106 h 144"/>
                <a:gd name="T32" fmla="*/ 47 w 189"/>
                <a:gd name="T33" fmla="*/ 90 h 144"/>
                <a:gd name="T34" fmla="*/ 51 w 189"/>
                <a:gd name="T35" fmla="*/ 76 h 144"/>
                <a:gd name="T36" fmla="*/ 47 w 189"/>
                <a:gd name="T37" fmla="*/ 64 h 144"/>
                <a:gd name="T38" fmla="*/ 73 w 189"/>
                <a:gd name="T39" fmla="*/ 46 h 144"/>
                <a:gd name="T40" fmla="*/ 97 w 189"/>
                <a:gd name="T41" fmla="*/ 36 h 144"/>
                <a:gd name="T42" fmla="*/ 113 w 189"/>
                <a:gd name="T43" fmla="*/ 24 h 144"/>
                <a:gd name="T44" fmla="*/ 171 w 189"/>
                <a:gd name="T45" fmla="*/ 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93" name="Freeform 97"/>
            <p:cNvSpPr>
              <a:spLocks/>
            </p:cNvSpPr>
            <p:nvPr/>
          </p:nvSpPr>
          <p:spPr bwMode="invGray">
            <a:xfrm>
              <a:off x="3139" y="2155"/>
              <a:ext cx="40" cy="12"/>
            </a:xfrm>
            <a:custGeom>
              <a:avLst/>
              <a:gdLst>
                <a:gd name="T0" fmla="*/ 24 w 53"/>
                <a:gd name="T1" fmla="*/ 0 h 17"/>
                <a:gd name="T2" fmla="*/ 12 w 53"/>
                <a:gd name="T3" fmla="*/ 2 h 17"/>
                <a:gd name="T4" fmla="*/ 32 w 53"/>
                <a:gd name="T5" fmla="*/ 16 h 17"/>
                <a:gd name="T6" fmla="*/ 44 w 53"/>
                <a:gd name="T7" fmla="*/ 14 h 17"/>
                <a:gd name="T8" fmla="*/ 24 w 53"/>
                <a:gd name="T9" fmla="*/ 0 h 17"/>
              </a:gdLst>
              <a:ahLst/>
              <a:cxnLst>
                <a:cxn ang="0">
                  <a:pos x="T0" y="T1"/>
                </a:cxn>
                <a:cxn ang="0">
                  <a:pos x="T2" y="T3"/>
                </a:cxn>
                <a:cxn ang="0">
                  <a:pos x="T4" y="T5"/>
                </a:cxn>
                <a:cxn ang="0">
                  <a:pos x="T6" y="T7"/>
                </a:cxn>
                <a:cxn ang="0">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94" name="Freeform 98"/>
            <p:cNvSpPr>
              <a:spLocks/>
            </p:cNvSpPr>
            <p:nvPr/>
          </p:nvSpPr>
          <p:spPr bwMode="invGray">
            <a:xfrm>
              <a:off x="3344" y="1999"/>
              <a:ext cx="42" cy="28"/>
            </a:xfrm>
            <a:custGeom>
              <a:avLst/>
              <a:gdLst>
                <a:gd name="T0" fmla="*/ 57 w 57"/>
                <a:gd name="T1" fmla="*/ 4 h 37"/>
                <a:gd name="T2" fmla="*/ 25 w 57"/>
                <a:gd name="T3" fmla="*/ 24 h 37"/>
                <a:gd name="T4" fmla="*/ 11 w 57"/>
                <a:gd name="T5" fmla="*/ 34 h 37"/>
                <a:gd name="T6" fmla="*/ 9 w 57"/>
                <a:gd name="T7" fmla="*/ 4 h 37"/>
                <a:gd name="T8" fmla="*/ 21 w 57"/>
                <a:gd name="T9" fmla="*/ 0 h 37"/>
                <a:gd name="T10" fmla="*/ 57 w 57"/>
                <a:gd name="T11" fmla="*/ 4 h 37"/>
              </a:gdLst>
              <a:ahLst/>
              <a:cxnLst>
                <a:cxn ang="0">
                  <a:pos x="T0" y="T1"/>
                </a:cxn>
                <a:cxn ang="0">
                  <a:pos x="T2" y="T3"/>
                </a:cxn>
                <a:cxn ang="0">
                  <a:pos x="T4" y="T5"/>
                </a:cxn>
                <a:cxn ang="0">
                  <a:pos x="T6" y="T7"/>
                </a:cxn>
                <a:cxn ang="0">
                  <a:pos x="T8" y="T9"/>
                </a:cxn>
                <a:cxn ang="0">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95" name="Freeform 99"/>
            <p:cNvSpPr>
              <a:spLocks/>
            </p:cNvSpPr>
            <p:nvPr/>
          </p:nvSpPr>
          <p:spPr bwMode="invGray">
            <a:xfrm>
              <a:off x="3374" y="2012"/>
              <a:ext cx="50" cy="20"/>
            </a:xfrm>
            <a:custGeom>
              <a:avLst/>
              <a:gdLst>
                <a:gd name="T0" fmla="*/ 29 w 68"/>
                <a:gd name="T1" fmla="*/ 0 h 26"/>
                <a:gd name="T2" fmla="*/ 11 w 68"/>
                <a:gd name="T3" fmla="*/ 6 h 26"/>
                <a:gd name="T4" fmla="*/ 57 w 68"/>
                <a:gd name="T5" fmla="*/ 26 h 26"/>
                <a:gd name="T6" fmla="*/ 63 w 68"/>
                <a:gd name="T7" fmla="*/ 24 h 26"/>
                <a:gd name="T8" fmla="*/ 29 w 68"/>
                <a:gd name="T9" fmla="*/ 0 h 26"/>
              </a:gdLst>
              <a:ahLst/>
              <a:cxnLst>
                <a:cxn ang="0">
                  <a:pos x="T0" y="T1"/>
                </a:cxn>
                <a:cxn ang="0">
                  <a:pos x="T2" y="T3"/>
                </a:cxn>
                <a:cxn ang="0">
                  <a:pos x="T4" y="T5"/>
                </a:cxn>
                <a:cxn ang="0">
                  <a:pos x="T6" y="T7"/>
                </a:cxn>
                <a:cxn ang="0">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96" name="Freeform 100"/>
            <p:cNvSpPr>
              <a:spLocks/>
            </p:cNvSpPr>
            <p:nvPr/>
          </p:nvSpPr>
          <p:spPr bwMode="invGray">
            <a:xfrm>
              <a:off x="3428" y="2015"/>
              <a:ext cx="50" cy="32"/>
            </a:xfrm>
            <a:custGeom>
              <a:avLst/>
              <a:gdLst>
                <a:gd name="T0" fmla="*/ 50 w 66"/>
                <a:gd name="T1" fmla="*/ 9 h 43"/>
                <a:gd name="T2" fmla="*/ 26 w 66"/>
                <a:gd name="T3" fmla="*/ 9 h 43"/>
                <a:gd name="T4" fmla="*/ 10 w 66"/>
                <a:gd name="T5" fmla="*/ 9 h 43"/>
                <a:gd name="T6" fmla="*/ 8 w 66"/>
                <a:gd name="T7" fmla="*/ 35 h 43"/>
                <a:gd name="T8" fmla="*/ 32 w 66"/>
                <a:gd name="T9" fmla="*/ 43 h 43"/>
                <a:gd name="T10" fmla="*/ 62 w 66"/>
                <a:gd name="T11" fmla="*/ 27 h 43"/>
                <a:gd name="T12" fmla="*/ 50 w 66"/>
                <a:gd name="T13" fmla="*/ 9 h 43"/>
              </a:gdLst>
              <a:ahLst/>
              <a:cxnLst>
                <a:cxn ang="0">
                  <a:pos x="T0" y="T1"/>
                </a:cxn>
                <a:cxn ang="0">
                  <a:pos x="T2" y="T3"/>
                </a:cxn>
                <a:cxn ang="0">
                  <a:pos x="T4" y="T5"/>
                </a:cxn>
                <a:cxn ang="0">
                  <a:pos x="T6" y="T7"/>
                </a:cxn>
                <a:cxn ang="0">
                  <a:pos x="T8" y="T9"/>
                </a:cxn>
                <a:cxn ang="0">
                  <a:pos x="T10" y="T11"/>
                </a:cxn>
                <a:cxn ang="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97" name="Freeform 101"/>
            <p:cNvSpPr>
              <a:spLocks/>
            </p:cNvSpPr>
            <p:nvPr/>
          </p:nvSpPr>
          <p:spPr bwMode="invGray">
            <a:xfrm>
              <a:off x="3777" y="2042"/>
              <a:ext cx="88" cy="31"/>
            </a:xfrm>
            <a:custGeom>
              <a:avLst/>
              <a:gdLst>
                <a:gd name="T0" fmla="*/ 14 w 117"/>
                <a:gd name="T1" fmla="*/ 0 h 41"/>
                <a:gd name="T2" fmla="*/ 8 w 117"/>
                <a:gd name="T3" fmla="*/ 16 h 41"/>
                <a:gd name="T4" fmla="*/ 50 w 117"/>
                <a:gd name="T5" fmla="*/ 30 h 41"/>
                <a:gd name="T6" fmla="*/ 76 w 117"/>
                <a:gd name="T7" fmla="*/ 36 h 41"/>
                <a:gd name="T8" fmla="*/ 112 w 117"/>
                <a:gd name="T9" fmla="*/ 22 h 41"/>
                <a:gd name="T10" fmla="*/ 78 w 117"/>
                <a:gd name="T11" fmla="*/ 4 h 41"/>
                <a:gd name="T12" fmla="*/ 14 w 117"/>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98" name="Freeform 102"/>
            <p:cNvSpPr>
              <a:spLocks/>
            </p:cNvSpPr>
            <p:nvPr/>
          </p:nvSpPr>
          <p:spPr bwMode="invGray">
            <a:xfrm>
              <a:off x="3867" y="2041"/>
              <a:ext cx="46" cy="24"/>
            </a:xfrm>
            <a:custGeom>
              <a:avLst/>
              <a:gdLst>
                <a:gd name="T0" fmla="*/ 32 w 62"/>
                <a:gd name="T1" fmla="*/ 4 h 32"/>
                <a:gd name="T2" fmla="*/ 62 w 62"/>
                <a:gd name="T3" fmla="*/ 10 h 32"/>
                <a:gd name="T4" fmla="*/ 30 w 62"/>
                <a:gd name="T5" fmla="*/ 32 h 32"/>
                <a:gd name="T6" fmla="*/ 6 w 62"/>
                <a:gd name="T7" fmla="*/ 22 h 32"/>
                <a:gd name="T8" fmla="*/ 32 w 62"/>
                <a:gd name="T9" fmla="*/ 4 h 32"/>
              </a:gdLst>
              <a:ahLst/>
              <a:cxnLst>
                <a:cxn ang="0">
                  <a:pos x="T0" y="T1"/>
                </a:cxn>
                <a:cxn ang="0">
                  <a:pos x="T2" y="T3"/>
                </a:cxn>
                <a:cxn ang="0">
                  <a:pos x="T4" y="T5"/>
                </a:cxn>
                <a:cxn ang="0">
                  <a:pos x="T6" y="T7"/>
                </a:cxn>
                <a:cxn ang="0">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199" name="Freeform 103"/>
            <p:cNvSpPr>
              <a:spLocks/>
            </p:cNvSpPr>
            <p:nvPr/>
          </p:nvSpPr>
          <p:spPr bwMode="invGray">
            <a:xfrm>
              <a:off x="3846" y="2070"/>
              <a:ext cx="37" cy="17"/>
            </a:xfrm>
            <a:custGeom>
              <a:avLst/>
              <a:gdLst>
                <a:gd name="T0" fmla="*/ 20 w 49"/>
                <a:gd name="T1" fmla="*/ 1 h 23"/>
                <a:gd name="T2" fmla="*/ 6 w 49"/>
                <a:gd name="T3" fmla="*/ 5 h 23"/>
                <a:gd name="T4" fmla="*/ 38 w 49"/>
                <a:gd name="T5" fmla="*/ 23 h 23"/>
                <a:gd name="T6" fmla="*/ 20 w 49"/>
                <a:gd name="T7" fmla="*/ 1 h 23"/>
              </a:gdLst>
              <a:ahLst/>
              <a:cxnLst>
                <a:cxn ang="0">
                  <a:pos x="T0" y="T1"/>
                </a:cxn>
                <a:cxn ang="0">
                  <a:pos x="T2" y="T3"/>
                </a:cxn>
                <a:cxn ang="0">
                  <a:pos x="T4" y="T5"/>
                </a:cxn>
                <a:cxn ang="0">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00" name="Freeform 104"/>
            <p:cNvSpPr>
              <a:spLocks/>
            </p:cNvSpPr>
            <p:nvPr/>
          </p:nvSpPr>
          <p:spPr bwMode="invGray">
            <a:xfrm>
              <a:off x="4098" y="2294"/>
              <a:ext cx="76" cy="114"/>
            </a:xfrm>
            <a:custGeom>
              <a:avLst/>
              <a:gdLst>
                <a:gd name="T0" fmla="*/ 6 w 102"/>
                <a:gd name="T1" fmla="*/ 0 h 152"/>
                <a:gd name="T2" fmla="*/ 0 w 102"/>
                <a:gd name="T3" fmla="*/ 18 h 152"/>
                <a:gd name="T4" fmla="*/ 14 w 102"/>
                <a:gd name="T5" fmla="*/ 42 h 152"/>
                <a:gd name="T6" fmla="*/ 32 w 102"/>
                <a:gd name="T7" fmla="*/ 72 h 152"/>
                <a:gd name="T8" fmla="*/ 36 w 102"/>
                <a:gd name="T9" fmla="*/ 104 h 152"/>
                <a:gd name="T10" fmla="*/ 80 w 102"/>
                <a:gd name="T11" fmla="*/ 152 h 152"/>
                <a:gd name="T12" fmla="*/ 86 w 102"/>
                <a:gd name="T13" fmla="*/ 124 h 152"/>
                <a:gd name="T14" fmla="*/ 74 w 102"/>
                <a:gd name="T15" fmla="*/ 102 h 152"/>
                <a:gd name="T16" fmla="*/ 62 w 102"/>
                <a:gd name="T17" fmla="*/ 92 h 152"/>
                <a:gd name="T18" fmla="*/ 52 w 102"/>
                <a:gd name="T19" fmla="*/ 74 h 152"/>
                <a:gd name="T20" fmla="*/ 42 w 102"/>
                <a:gd name="T21" fmla="*/ 44 h 152"/>
                <a:gd name="T22" fmla="*/ 4 w 102"/>
                <a:gd name="T23" fmla="*/ 12 h 152"/>
                <a:gd name="T24" fmla="*/ 6 w 102"/>
                <a:gd name="T25"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01" name="Freeform 105"/>
            <p:cNvSpPr>
              <a:spLocks/>
            </p:cNvSpPr>
            <p:nvPr/>
          </p:nvSpPr>
          <p:spPr bwMode="invGray">
            <a:xfrm>
              <a:off x="4159" y="2412"/>
              <a:ext cx="55" cy="78"/>
            </a:xfrm>
            <a:custGeom>
              <a:avLst/>
              <a:gdLst>
                <a:gd name="T0" fmla="*/ 64 w 74"/>
                <a:gd name="T1" fmla="*/ 22 h 103"/>
                <a:gd name="T2" fmla="*/ 74 w 74"/>
                <a:gd name="T3" fmla="*/ 40 h 103"/>
                <a:gd name="T4" fmla="*/ 30 w 74"/>
                <a:gd name="T5" fmla="*/ 84 h 103"/>
                <a:gd name="T6" fmla="*/ 32 w 74"/>
                <a:gd name="T7" fmla="*/ 100 h 103"/>
                <a:gd name="T8" fmla="*/ 20 w 74"/>
                <a:gd name="T9" fmla="*/ 94 h 103"/>
                <a:gd name="T10" fmla="*/ 6 w 74"/>
                <a:gd name="T11" fmla="*/ 84 h 103"/>
                <a:gd name="T12" fmla="*/ 0 w 74"/>
                <a:gd name="T13" fmla="*/ 82 h 103"/>
                <a:gd name="T14" fmla="*/ 10 w 74"/>
                <a:gd name="T15" fmla="*/ 58 h 103"/>
                <a:gd name="T16" fmla="*/ 12 w 74"/>
                <a:gd name="T17" fmla="*/ 52 h 103"/>
                <a:gd name="T18" fmla="*/ 2 w 74"/>
                <a:gd name="T19" fmla="*/ 24 h 103"/>
                <a:gd name="T20" fmla="*/ 4 w 74"/>
                <a:gd name="T21" fmla="*/ 14 h 103"/>
                <a:gd name="T22" fmla="*/ 26 w 74"/>
                <a:gd name="T23" fmla="*/ 22 h 103"/>
                <a:gd name="T24" fmla="*/ 36 w 74"/>
                <a:gd name="T25" fmla="*/ 36 h 103"/>
                <a:gd name="T26" fmla="*/ 64 w 74"/>
                <a:gd name="T27" fmla="*/ 2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02" name="Freeform 106"/>
            <p:cNvSpPr>
              <a:spLocks/>
            </p:cNvSpPr>
            <p:nvPr/>
          </p:nvSpPr>
          <p:spPr bwMode="invGray">
            <a:xfrm>
              <a:off x="4123" y="2492"/>
              <a:ext cx="109" cy="189"/>
            </a:xfrm>
            <a:custGeom>
              <a:avLst/>
              <a:gdLst>
                <a:gd name="T0" fmla="*/ 82 w 146"/>
                <a:gd name="T1" fmla="*/ 100 h 252"/>
                <a:gd name="T2" fmla="*/ 66 w 146"/>
                <a:gd name="T3" fmla="*/ 106 h 252"/>
                <a:gd name="T4" fmla="*/ 64 w 146"/>
                <a:gd name="T5" fmla="*/ 132 h 252"/>
                <a:gd name="T6" fmla="*/ 22 w 146"/>
                <a:gd name="T7" fmla="*/ 146 h 252"/>
                <a:gd name="T8" fmla="*/ 8 w 146"/>
                <a:gd name="T9" fmla="*/ 168 h 252"/>
                <a:gd name="T10" fmla="*/ 20 w 146"/>
                <a:gd name="T11" fmla="*/ 182 h 252"/>
                <a:gd name="T12" fmla="*/ 8 w 146"/>
                <a:gd name="T13" fmla="*/ 198 h 252"/>
                <a:gd name="T14" fmla="*/ 24 w 146"/>
                <a:gd name="T15" fmla="*/ 252 h 252"/>
                <a:gd name="T16" fmla="*/ 28 w 146"/>
                <a:gd name="T17" fmla="*/ 214 h 252"/>
                <a:gd name="T18" fmla="*/ 22 w 146"/>
                <a:gd name="T19" fmla="*/ 192 h 252"/>
                <a:gd name="T20" fmla="*/ 42 w 146"/>
                <a:gd name="T21" fmla="*/ 176 h 252"/>
                <a:gd name="T22" fmla="*/ 52 w 146"/>
                <a:gd name="T23" fmla="*/ 158 h 252"/>
                <a:gd name="T24" fmla="*/ 66 w 146"/>
                <a:gd name="T25" fmla="*/ 174 h 252"/>
                <a:gd name="T26" fmla="*/ 44 w 146"/>
                <a:gd name="T27" fmla="*/ 190 h 252"/>
                <a:gd name="T28" fmla="*/ 56 w 146"/>
                <a:gd name="T29" fmla="*/ 200 h 252"/>
                <a:gd name="T30" fmla="*/ 68 w 146"/>
                <a:gd name="T31" fmla="*/ 178 h 252"/>
                <a:gd name="T32" fmla="*/ 84 w 146"/>
                <a:gd name="T33" fmla="*/ 184 h 252"/>
                <a:gd name="T34" fmla="*/ 104 w 146"/>
                <a:gd name="T35" fmla="*/ 148 h 252"/>
                <a:gd name="T36" fmla="*/ 114 w 146"/>
                <a:gd name="T37" fmla="*/ 156 h 252"/>
                <a:gd name="T38" fmla="*/ 136 w 146"/>
                <a:gd name="T39" fmla="*/ 148 h 252"/>
                <a:gd name="T40" fmla="*/ 146 w 146"/>
                <a:gd name="T41" fmla="*/ 130 h 252"/>
                <a:gd name="T42" fmla="*/ 142 w 146"/>
                <a:gd name="T43" fmla="*/ 110 h 252"/>
                <a:gd name="T44" fmla="*/ 134 w 146"/>
                <a:gd name="T45" fmla="*/ 98 h 252"/>
                <a:gd name="T46" fmla="*/ 122 w 146"/>
                <a:gd name="T47" fmla="*/ 40 h 252"/>
                <a:gd name="T48" fmla="*/ 94 w 146"/>
                <a:gd name="T49" fmla="*/ 0 h 252"/>
                <a:gd name="T50" fmla="*/ 78 w 146"/>
                <a:gd name="T51" fmla="*/ 12 h 252"/>
                <a:gd name="T52" fmla="*/ 96 w 146"/>
                <a:gd name="T53" fmla="*/ 34 h 252"/>
                <a:gd name="T54" fmla="*/ 96 w 146"/>
                <a:gd name="T55" fmla="*/ 64 h 252"/>
                <a:gd name="T56" fmla="*/ 82 w 146"/>
                <a:gd name="T57" fmla="*/ 10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03" name="Freeform 107"/>
            <p:cNvSpPr>
              <a:spLocks/>
            </p:cNvSpPr>
            <p:nvPr/>
          </p:nvSpPr>
          <p:spPr bwMode="invGray">
            <a:xfrm>
              <a:off x="3062" y="1988"/>
              <a:ext cx="52" cy="30"/>
            </a:xfrm>
            <a:custGeom>
              <a:avLst/>
              <a:gdLst>
                <a:gd name="T0" fmla="*/ 59 w 70"/>
                <a:gd name="T1" fmla="*/ 0 h 40"/>
                <a:gd name="T2" fmla="*/ 65 w 70"/>
                <a:gd name="T3" fmla="*/ 20 h 40"/>
                <a:gd name="T4" fmla="*/ 41 w 70"/>
                <a:gd name="T5" fmla="*/ 24 h 40"/>
                <a:gd name="T6" fmla="*/ 31 w 70"/>
                <a:gd name="T7" fmla="*/ 40 h 40"/>
                <a:gd name="T8" fmla="*/ 7 w 70"/>
                <a:gd name="T9" fmla="*/ 38 h 40"/>
                <a:gd name="T10" fmla="*/ 1 w 70"/>
                <a:gd name="T11" fmla="*/ 36 h 40"/>
                <a:gd name="T12" fmla="*/ 33 w 70"/>
                <a:gd name="T13" fmla="*/ 20 h 40"/>
                <a:gd name="T14" fmla="*/ 59 w 70"/>
                <a:gd name="T15" fmla="*/ 0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04" name="Freeform 108"/>
            <p:cNvSpPr>
              <a:spLocks/>
            </p:cNvSpPr>
            <p:nvPr/>
          </p:nvSpPr>
          <p:spPr bwMode="invGray">
            <a:xfrm>
              <a:off x="2955" y="1997"/>
              <a:ext cx="19" cy="22"/>
            </a:xfrm>
            <a:custGeom>
              <a:avLst/>
              <a:gdLst>
                <a:gd name="T0" fmla="*/ 18 w 26"/>
                <a:gd name="T1" fmla="*/ 0 h 29"/>
                <a:gd name="T2" fmla="*/ 0 w 26"/>
                <a:gd name="T3" fmla="*/ 18 h 29"/>
                <a:gd name="T4" fmla="*/ 18 w 26"/>
                <a:gd name="T5" fmla="*/ 26 h 29"/>
                <a:gd name="T6" fmla="*/ 18 w 26"/>
                <a:gd name="T7" fmla="*/ 0 h 29"/>
              </a:gdLst>
              <a:ahLst/>
              <a:cxnLst>
                <a:cxn ang="0">
                  <a:pos x="T0" y="T1"/>
                </a:cxn>
                <a:cxn ang="0">
                  <a:pos x="T2" y="T3"/>
                </a:cxn>
                <a:cxn ang="0">
                  <a:pos x="T4" y="T5"/>
                </a:cxn>
                <a:cxn ang="0">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05" name="Freeform 109"/>
            <p:cNvSpPr>
              <a:spLocks/>
            </p:cNvSpPr>
            <p:nvPr/>
          </p:nvSpPr>
          <p:spPr bwMode="invGray">
            <a:xfrm>
              <a:off x="2979" y="1996"/>
              <a:ext cx="37" cy="27"/>
            </a:xfrm>
            <a:custGeom>
              <a:avLst/>
              <a:gdLst>
                <a:gd name="T0" fmla="*/ 14 w 49"/>
                <a:gd name="T1" fmla="*/ 6 h 36"/>
                <a:gd name="T2" fmla="*/ 0 w 49"/>
                <a:gd name="T3" fmla="*/ 18 h 36"/>
                <a:gd name="T4" fmla="*/ 6 w 49"/>
                <a:gd name="T5" fmla="*/ 32 h 36"/>
                <a:gd name="T6" fmla="*/ 18 w 49"/>
                <a:gd name="T7" fmla="*/ 36 h 36"/>
                <a:gd name="T8" fmla="*/ 40 w 49"/>
                <a:gd name="T9" fmla="*/ 26 h 36"/>
                <a:gd name="T10" fmla="*/ 14 w 49"/>
                <a:gd name="T11" fmla="*/ 6 h 36"/>
              </a:gdLst>
              <a:ahLst/>
              <a:cxnLst>
                <a:cxn ang="0">
                  <a:pos x="T0" y="T1"/>
                </a:cxn>
                <a:cxn ang="0">
                  <a:pos x="T2" y="T3"/>
                </a:cxn>
                <a:cxn ang="0">
                  <a:pos x="T4" y="T5"/>
                </a:cxn>
                <a:cxn ang="0">
                  <a:pos x="T6" y="T7"/>
                </a:cxn>
                <a:cxn ang="0">
                  <a:pos x="T8" y="T9"/>
                </a:cxn>
                <a:cxn ang="0">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06" name="Freeform 110"/>
            <p:cNvSpPr>
              <a:spLocks/>
            </p:cNvSpPr>
            <p:nvPr/>
          </p:nvSpPr>
          <p:spPr bwMode="invGray">
            <a:xfrm>
              <a:off x="3040" y="1987"/>
              <a:ext cx="20" cy="16"/>
            </a:xfrm>
            <a:custGeom>
              <a:avLst/>
              <a:gdLst>
                <a:gd name="T0" fmla="*/ 11 w 27"/>
                <a:gd name="T1" fmla="*/ 0 h 22"/>
                <a:gd name="T2" fmla="*/ 3 w 27"/>
                <a:gd name="T3" fmla="*/ 12 h 22"/>
                <a:gd name="T4" fmla="*/ 19 w 27"/>
                <a:gd name="T5" fmla="*/ 22 h 22"/>
                <a:gd name="T6" fmla="*/ 11 w 27"/>
                <a:gd name="T7" fmla="*/ 0 h 22"/>
              </a:gdLst>
              <a:ahLst/>
              <a:cxnLst>
                <a:cxn ang="0">
                  <a:pos x="T0" y="T1"/>
                </a:cxn>
                <a:cxn ang="0">
                  <a:pos x="T2" y="T3"/>
                </a:cxn>
                <a:cxn ang="0">
                  <a:pos x="T4" y="T5"/>
                </a:cxn>
                <a:cxn ang="0">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07" name="Freeform 111"/>
            <p:cNvSpPr>
              <a:spLocks/>
            </p:cNvSpPr>
            <p:nvPr/>
          </p:nvSpPr>
          <p:spPr bwMode="invGray">
            <a:xfrm>
              <a:off x="3022" y="2005"/>
              <a:ext cx="15" cy="13"/>
            </a:xfrm>
            <a:custGeom>
              <a:avLst/>
              <a:gdLst>
                <a:gd name="T0" fmla="*/ 11 w 20"/>
                <a:gd name="T1" fmla="*/ 0 h 18"/>
                <a:gd name="T2" fmla="*/ 9 w 20"/>
                <a:gd name="T3" fmla="*/ 18 h 18"/>
                <a:gd name="T4" fmla="*/ 11 w 20"/>
                <a:gd name="T5" fmla="*/ 0 h 18"/>
              </a:gdLst>
              <a:ahLst/>
              <a:cxnLst>
                <a:cxn ang="0">
                  <a:pos x="T0" y="T1"/>
                </a:cxn>
                <a:cxn ang="0">
                  <a:pos x="T2" y="T3"/>
                </a:cxn>
                <a:cxn ang="0">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08" name="Freeform 112"/>
            <p:cNvSpPr>
              <a:spLocks/>
            </p:cNvSpPr>
            <p:nvPr/>
          </p:nvSpPr>
          <p:spPr bwMode="invGray">
            <a:xfrm>
              <a:off x="4162" y="2021"/>
              <a:ext cx="18" cy="33"/>
            </a:xfrm>
            <a:custGeom>
              <a:avLst/>
              <a:gdLst>
                <a:gd name="T0" fmla="*/ 24 w 24"/>
                <a:gd name="T1" fmla="*/ 0 h 44"/>
                <a:gd name="T2" fmla="*/ 8 w 24"/>
                <a:gd name="T3" fmla="*/ 16 h 44"/>
                <a:gd name="T4" fmla="*/ 0 w 24"/>
                <a:gd name="T5" fmla="*/ 34 h 44"/>
                <a:gd name="T6" fmla="*/ 16 w 24"/>
                <a:gd name="T7" fmla="*/ 40 h 44"/>
                <a:gd name="T8" fmla="*/ 24 w 24"/>
                <a:gd name="T9" fmla="*/ 0 h 44"/>
              </a:gdLst>
              <a:ahLst/>
              <a:cxnLst>
                <a:cxn ang="0">
                  <a:pos x="T0" y="T1"/>
                </a:cxn>
                <a:cxn ang="0">
                  <a:pos x="T2" y="T3"/>
                </a:cxn>
                <a:cxn ang="0">
                  <a:pos x="T4" y="T5"/>
                </a:cxn>
                <a:cxn ang="0">
                  <a:pos x="T6" y="T7"/>
                </a:cxn>
                <a:cxn ang="0">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09" name="Freeform 113"/>
            <p:cNvSpPr>
              <a:spLocks/>
            </p:cNvSpPr>
            <p:nvPr/>
          </p:nvSpPr>
          <p:spPr bwMode="invGray">
            <a:xfrm>
              <a:off x="3278" y="3473"/>
              <a:ext cx="31" cy="18"/>
            </a:xfrm>
            <a:custGeom>
              <a:avLst/>
              <a:gdLst>
                <a:gd name="T0" fmla="*/ 30 w 41"/>
                <a:gd name="T1" fmla="*/ 0 h 24"/>
                <a:gd name="T2" fmla="*/ 26 w 41"/>
                <a:gd name="T3" fmla="*/ 24 h 24"/>
                <a:gd name="T4" fmla="*/ 30 w 41"/>
                <a:gd name="T5" fmla="*/ 0 h 24"/>
              </a:gdLst>
              <a:ahLst/>
              <a:cxnLst>
                <a:cxn ang="0">
                  <a:pos x="T0" y="T1"/>
                </a:cxn>
                <a:cxn ang="0">
                  <a:pos x="T2" y="T3"/>
                </a:cxn>
                <a:cxn ang="0">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10" name="Freeform 114"/>
            <p:cNvSpPr>
              <a:spLocks/>
            </p:cNvSpPr>
            <p:nvPr/>
          </p:nvSpPr>
          <p:spPr bwMode="invGray">
            <a:xfrm>
              <a:off x="3318" y="3466"/>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11" name="Freeform 115"/>
            <p:cNvSpPr>
              <a:spLocks/>
            </p:cNvSpPr>
            <p:nvPr/>
          </p:nvSpPr>
          <p:spPr bwMode="invGray">
            <a:xfrm>
              <a:off x="3251" y="3312"/>
              <a:ext cx="9"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12" name="Freeform 116"/>
            <p:cNvSpPr>
              <a:spLocks/>
            </p:cNvSpPr>
            <p:nvPr/>
          </p:nvSpPr>
          <p:spPr bwMode="invGray">
            <a:xfrm>
              <a:off x="3311" y="3239"/>
              <a:ext cx="11" cy="19"/>
            </a:xfrm>
            <a:custGeom>
              <a:avLst/>
              <a:gdLst>
                <a:gd name="T0" fmla="*/ 6 w 14"/>
                <a:gd name="T1" fmla="*/ 0 h 25"/>
                <a:gd name="T2" fmla="*/ 0 w 14"/>
                <a:gd name="T3" fmla="*/ 13 h 25"/>
                <a:gd name="T4" fmla="*/ 12 w 14"/>
                <a:gd name="T5" fmla="*/ 24 h 25"/>
                <a:gd name="T6" fmla="*/ 6 w 14"/>
                <a:gd name="T7" fmla="*/ 0 h 25"/>
              </a:gdLst>
              <a:ahLst/>
              <a:cxnLst>
                <a:cxn ang="0">
                  <a:pos x="T0" y="T1"/>
                </a:cxn>
                <a:cxn ang="0">
                  <a:pos x="T2" y="T3"/>
                </a:cxn>
                <a:cxn ang="0">
                  <a:pos x="T4" y="T5"/>
                </a:cxn>
                <a:cxn ang="0">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13" name="Freeform 117"/>
            <p:cNvSpPr>
              <a:spLocks/>
            </p:cNvSpPr>
            <p:nvPr/>
          </p:nvSpPr>
          <p:spPr bwMode="invGray">
            <a:xfrm>
              <a:off x="3287" y="3238"/>
              <a:ext cx="11" cy="19"/>
            </a:xfrm>
            <a:custGeom>
              <a:avLst/>
              <a:gdLst>
                <a:gd name="T0" fmla="*/ 6 w 14"/>
                <a:gd name="T1" fmla="*/ 0 h 25"/>
                <a:gd name="T2" fmla="*/ 0 w 14"/>
                <a:gd name="T3" fmla="*/ 13 h 25"/>
                <a:gd name="T4" fmla="*/ 12 w 14"/>
                <a:gd name="T5" fmla="*/ 24 h 25"/>
                <a:gd name="T6" fmla="*/ 6 w 14"/>
                <a:gd name="T7" fmla="*/ 0 h 25"/>
              </a:gdLst>
              <a:ahLst/>
              <a:cxnLst>
                <a:cxn ang="0">
                  <a:pos x="T0" y="T1"/>
                </a:cxn>
                <a:cxn ang="0">
                  <a:pos x="T2" y="T3"/>
                </a:cxn>
                <a:cxn ang="0">
                  <a:pos x="T4" y="T5"/>
                </a:cxn>
                <a:cxn ang="0">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14" name="Freeform 118"/>
            <p:cNvSpPr>
              <a:spLocks/>
            </p:cNvSpPr>
            <p:nvPr/>
          </p:nvSpPr>
          <p:spPr bwMode="invGray">
            <a:xfrm>
              <a:off x="3276" y="3260"/>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15" name="Freeform 119"/>
            <p:cNvSpPr>
              <a:spLocks/>
            </p:cNvSpPr>
            <p:nvPr/>
          </p:nvSpPr>
          <p:spPr bwMode="invGray">
            <a:xfrm>
              <a:off x="3251" y="3294"/>
              <a:ext cx="9"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16" name="Freeform 120"/>
            <p:cNvSpPr>
              <a:spLocks/>
            </p:cNvSpPr>
            <p:nvPr/>
          </p:nvSpPr>
          <p:spPr bwMode="invGray">
            <a:xfrm>
              <a:off x="3270" y="3281"/>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17" name="Freeform 121"/>
            <p:cNvSpPr>
              <a:spLocks/>
            </p:cNvSpPr>
            <p:nvPr/>
          </p:nvSpPr>
          <p:spPr bwMode="invGray">
            <a:xfrm>
              <a:off x="2537" y="2293"/>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18" name="Freeform 122"/>
            <p:cNvSpPr>
              <a:spLocks/>
            </p:cNvSpPr>
            <p:nvPr/>
          </p:nvSpPr>
          <p:spPr bwMode="invGray">
            <a:xfrm>
              <a:off x="2476" y="2259"/>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sp>
          <p:nvSpPr>
            <p:cNvPr id="4219" name="Freeform 123"/>
            <p:cNvSpPr>
              <a:spLocks/>
            </p:cNvSpPr>
            <p:nvPr/>
          </p:nvSpPr>
          <p:spPr bwMode="invGray">
            <a:xfrm>
              <a:off x="2238" y="2042"/>
              <a:ext cx="2060" cy="1644"/>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41 h 1644"/>
                <a:gd name="T10" fmla="*/ 146 w 2060"/>
                <a:gd name="T11" fmla="*/ 1059 h 1644"/>
                <a:gd name="T12" fmla="*/ 308 w 2060"/>
                <a:gd name="T13" fmla="*/ 1041 h 1644"/>
                <a:gd name="T14" fmla="*/ 396 w 2060"/>
                <a:gd name="T15" fmla="*/ 1138 h 1644"/>
                <a:gd name="T16" fmla="*/ 452 w 2060"/>
                <a:gd name="T17" fmla="*/ 1447 h 1644"/>
                <a:gd name="T18" fmla="*/ 497 w 2060"/>
                <a:gd name="T19" fmla="*/ 1628 h 1644"/>
                <a:gd name="T20" fmla="*/ 704 w 2060"/>
                <a:gd name="T21" fmla="*/ 1574 h 1644"/>
                <a:gd name="T22" fmla="*/ 817 w 2060"/>
                <a:gd name="T23" fmla="*/ 1380 h 1644"/>
                <a:gd name="T24" fmla="*/ 885 w 2060"/>
                <a:gd name="T25" fmla="*/ 1153 h 1644"/>
                <a:gd name="T26" fmla="*/ 998 w 2060"/>
                <a:gd name="T27" fmla="*/ 999 h 1644"/>
                <a:gd name="T28" fmla="*/ 796 w 2060"/>
                <a:gd name="T29" fmla="*/ 856 h 1644"/>
                <a:gd name="T30" fmla="*/ 817 w 2060"/>
                <a:gd name="T31" fmla="*/ 819 h 1644"/>
                <a:gd name="T32" fmla="*/ 1003 w 2060"/>
                <a:gd name="T33" fmla="*/ 916 h 1644"/>
                <a:gd name="T34" fmla="*/ 1098 w 2060"/>
                <a:gd name="T35" fmla="*/ 792 h 1644"/>
                <a:gd name="T36" fmla="*/ 1046 w 2060"/>
                <a:gd name="T37" fmla="*/ 763 h 1644"/>
                <a:gd name="T38" fmla="*/ 929 w 2060"/>
                <a:gd name="T39" fmla="*/ 716 h 1644"/>
                <a:gd name="T40" fmla="*/ 1141 w 2060"/>
                <a:gd name="T41" fmla="*/ 761 h 1644"/>
                <a:gd name="T42" fmla="*/ 1296 w 2060"/>
                <a:gd name="T43" fmla="*/ 852 h 1644"/>
                <a:gd name="T44" fmla="*/ 1373 w 2060"/>
                <a:gd name="T45" fmla="*/ 1033 h 1644"/>
                <a:gd name="T46" fmla="*/ 1608 w 2060"/>
                <a:gd name="T47" fmla="*/ 847 h 1644"/>
                <a:gd name="T48" fmla="*/ 1704 w 2060"/>
                <a:gd name="T49" fmla="*/ 1030 h 1644"/>
                <a:gd name="T50" fmla="*/ 1707 w 2060"/>
                <a:gd name="T51" fmla="*/ 874 h 1644"/>
                <a:gd name="T52" fmla="*/ 1759 w 2060"/>
                <a:gd name="T53" fmla="*/ 800 h 1644"/>
                <a:gd name="T54" fmla="*/ 1783 w 2060"/>
                <a:gd name="T55" fmla="*/ 544 h 1644"/>
                <a:gd name="T56" fmla="*/ 1824 w 2060"/>
                <a:gd name="T57" fmla="*/ 528 h 1644"/>
                <a:gd name="T58" fmla="*/ 1844 w 2060"/>
                <a:gd name="T59" fmla="*/ 427 h 1644"/>
                <a:gd name="T60" fmla="*/ 1805 w 2060"/>
                <a:gd name="T61" fmla="*/ 226 h 1644"/>
                <a:gd name="T62" fmla="*/ 1899 w 2060"/>
                <a:gd name="T63" fmla="*/ 108 h 1644"/>
                <a:gd name="T64" fmla="*/ 1947 w 2060"/>
                <a:gd name="T65" fmla="*/ 209 h 1644"/>
                <a:gd name="T66" fmla="*/ 1943 w 2060"/>
                <a:gd name="T67" fmla="*/ 123 h 1644"/>
                <a:gd name="T68" fmla="*/ 1975 w 2060"/>
                <a:gd name="T69" fmla="*/ 51 h 1644"/>
                <a:gd name="T70" fmla="*/ 2038 w 2060"/>
                <a:gd name="T71" fmla="*/ 0 h 1644"/>
                <a:gd name="T72" fmla="*/ 1820 w 2060"/>
                <a:gd name="T73" fmla="*/ 63 h 1644"/>
                <a:gd name="T74" fmla="*/ 1583 w 2060"/>
                <a:gd name="T75" fmla="*/ 83 h 1644"/>
                <a:gd name="T76" fmla="*/ 1349 w 2060"/>
                <a:gd name="T77" fmla="*/ 30 h 1644"/>
                <a:gd name="T78" fmla="*/ 1132 w 2060"/>
                <a:gd name="T79" fmla="*/ 65 h 1644"/>
                <a:gd name="T80" fmla="*/ 1040 w 2060"/>
                <a:gd name="T81" fmla="*/ 170 h 1644"/>
                <a:gd name="T82" fmla="*/ 926 w 2060"/>
                <a:gd name="T83" fmla="*/ 137 h 1644"/>
                <a:gd name="T84" fmla="*/ 758 w 2060"/>
                <a:gd name="T85" fmla="*/ 183 h 1644"/>
                <a:gd name="T86" fmla="*/ 667 w 2060"/>
                <a:gd name="T87" fmla="*/ 140 h 1644"/>
                <a:gd name="T88" fmla="*/ 364 w 2060"/>
                <a:gd name="T89" fmla="*/ 248 h 1644"/>
                <a:gd name="T90" fmla="*/ 535 w 2060"/>
                <a:gd name="T91" fmla="*/ 213 h 1644"/>
                <a:gd name="T92" fmla="*/ 638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92 w 2060"/>
                <a:gd name="T109" fmla="*/ 548 h 1644"/>
                <a:gd name="T110" fmla="*/ 686 w 2060"/>
                <a:gd name="T111" fmla="*/ 470 h 1644"/>
                <a:gd name="T112" fmla="*/ 772 w 2060"/>
                <a:gd name="T113" fmla="*/ 480 h 1644"/>
                <a:gd name="T114" fmla="*/ 639 w 2060"/>
                <a:gd name="T115" fmla="*/ 598 h 1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a:noFill/>
            </a:ln>
            <a:effectLst/>
            <a:extLst>
              <a:ext uri="{91240B29-F687-4F45-9708-019B960494DF}">
                <a14:hiddenLine xmlns:a14="http://schemas.microsoft.com/office/drawing/2010/main" w="12700" cap="flat" cmpd="sng">
                  <a:solidFill>
                    <a:srgbClr val="FF5425"/>
                  </a:solidFill>
                  <a:prstDash val="dash"/>
                  <a:round/>
                  <a:headEnd type="none" w="med" len="med"/>
                  <a:tailEnd type="none" w="med" len="med"/>
                </a14:hiddenLine>
              </a:ext>
              <a:ext uri="{AF507438-7753-43E0-B8FC-AC1667EBCBE1}">
                <a14:hiddenEffects xmlns:a14="http://schemas.microsoft.com/office/drawing/2010/main">
                  <a:effectLst>
                    <a:outerShdw blurRad="63500" dist="17961" dir="2700000" algn="ctr" rotWithShape="0">
                      <a:srgbClr val="000000">
                        <a:alpha val="50000"/>
                      </a:srgbClr>
                    </a:outerShdw>
                  </a:effectLst>
                </a14:hiddenEffects>
              </a:ext>
            </a:extLst>
          </p:spPr>
          <p:txBody>
            <a:bodyPr/>
            <a:lstStyle/>
            <a:p>
              <a:endParaRPr lang="zh-CN" altLang="en-US" sz="1800"/>
            </a:p>
          </p:txBody>
        </p:sp>
      </p:grpSp>
      <p:sp>
        <p:nvSpPr>
          <p:cNvPr id="4098" name="Rectangle 2"/>
          <p:cNvSpPr>
            <a:spLocks noGrp="1" noChangeArrowheads="1"/>
          </p:cNvSpPr>
          <p:nvPr>
            <p:ph type="ctrTitle"/>
          </p:nvPr>
        </p:nvSpPr>
        <p:spPr>
          <a:xfrm>
            <a:off x="2016433" y="2795199"/>
            <a:ext cx="8534400" cy="1143000"/>
          </a:xfrm>
        </p:spPr>
        <p:txBody>
          <a:bodyPr/>
          <a:lstStyle>
            <a:lvl1pPr algn="ctr">
              <a:defRPr sz="4300" i="0">
                <a:solidFill>
                  <a:schemeClr val="tx1"/>
                </a:solidFill>
              </a:defRPr>
            </a:lvl1pPr>
          </a:lstStyle>
          <a:p>
            <a:pPr lvl="0"/>
            <a:r>
              <a:rPr lang="zh-CN" altLang="en-US" noProof="0" dirty="0"/>
              <a:t>单击此处编辑母版标题样式</a:t>
            </a:r>
          </a:p>
        </p:txBody>
      </p:sp>
    </p:spTree>
    <p:extLst>
      <p:ext uri="{BB962C8B-B14F-4D97-AF65-F5344CB8AC3E}">
        <p14:creationId xmlns:p14="http://schemas.microsoft.com/office/powerpoint/2010/main" val="2680230573"/>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2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C764DE79-268F-4C1A-8933-263129D2AF90}" type="datetimeFigureOut">
              <a:rPr lang="en-US" smtClean="0"/>
              <a:pPr/>
              <a:t>11/10/2025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48F63A3B-78C7-47BE-AE5E-E10140E04643}" type="slidenum">
              <a:rPr lang="en-US" smtClean="0"/>
              <a:pPr/>
              <a:t>‹#›</a:t>
            </a:fld>
            <a:endParaRPr lang="en-US" dirty="0"/>
          </a:p>
        </p:txBody>
      </p:sp>
      <p:pic>
        <p:nvPicPr>
          <p:cNvPr id="7" name="Picture 32" descr="7">
            <a:extLst>
              <a:ext uri="{FF2B5EF4-FFF2-40B4-BE49-F238E27FC236}">
                <a16:creationId xmlns:a16="http://schemas.microsoft.com/office/drawing/2014/main" id="{A7E41A03-B49E-475D-9249-DA66275C0AEA}"/>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9262534" y="6165851"/>
            <a:ext cx="2785533" cy="6381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1" descr="6">
            <a:extLst>
              <a:ext uri="{FF2B5EF4-FFF2-40B4-BE49-F238E27FC236}">
                <a16:creationId xmlns:a16="http://schemas.microsoft.com/office/drawing/2014/main" id="{3F507056-742E-49A2-B937-099E28DCDDF2}"/>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1"/>
            <a:ext cx="3695700" cy="9064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6" descr="2">
            <a:extLst>
              <a:ext uri="{FF2B5EF4-FFF2-40B4-BE49-F238E27FC236}">
                <a16:creationId xmlns:a16="http://schemas.microsoft.com/office/drawing/2014/main" id="{81FBA8B0-3A49-48EE-9C47-5080F84E069F}"/>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3695700" y="441326"/>
            <a:ext cx="4656667" cy="46672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4">
            <a:extLst>
              <a:ext uri="{FF2B5EF4-FFF2-40B4-BE49-F238E27FC236}">
                <a16:creationId xmlns:a16="http://schemas.microsoft.com/office/drawing/2014/main" id="{6C26C2B0-5B19-4599-9DD4-50F88B02D2AE}"/>
              </a:ext>
            </a:extLst>
          </p:cNvPr>
          <p:cNvSpPr>
            <a:spLocks noChangeArrowheads="1"/>
          </p:cNvSpPr>
          <p:nvPr userDrawn="1"/>
        </p:nvSpPr>
        <p:spPr bwMode="gray">
          <a:xfrm>
            <a:off x="0" y="1"/>
            <a:ext cx="12192000" cy="1484313"/>
          </a:xfrm>
          <a:prstGeom prst="rect">
            <a:avLst/>
          </a:prstGeom>
          <a:gradFill rotWithShape="1">
            <a:gsLst>
              <a:gs pos="0">
                <a:srgbClr val="3366FF">
                  <a:alpha val="60001"/>
                </a:srgbClr>
              </a:gs>
              <a:gs pos="100000">
                <a:srgbClr val="FFFFFF">
                  <a:alpha val="70000"/>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sz="180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1" name="Picture 29" descr="artplus_nature_naturalcity42_f">
            <a:extLst>
              <a:ext uri="{FF2B5EF4-FFF2-40B4-BE49-F238E27FC236}">
                <a16:creationId xmlns:a16="http://schemas.microsoft.com/office/drawing/2014/main" id="{0456863D-D865-436E-8912-D3A9672F3932}"/>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8879417" y="6334126"/>
            <a:ext cx="1826683" cy="5238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838200" y="906464"/>
            <a:ext cx="10515600" cy="784224"/>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extLst>
      <p:ext uri="{BB962C8B-B14F-4D97-AF65-F5344CB8AC3E}">
        <p14:creationId xmlns:p14="http://schemas.microsoft.com/office/powerpoint/2010/main" val="2977318457"/>
      </p:ext>
    </p:extLst>
  </p:cSld>
  <p:clrMap bg1="lt1" tx1="dk1" bg2="lt2" tx2="dk2" accent1="accent1" accent2="accent2" accent3="accent3" accent4="accent4" accent5="accent5" accent6="accent6" hlink="hlink" folHlink="folHlink"/>
  <p:sldLayoutIdLst>
    <p:sldLayoutId id="2147483724" r:id="rId1"/>
    <p:sldLayoutId id="2147483728" r:id="rId2"/>
    <p:sldLayoutId id="2147483729" r:id="rId3"/>
    <p:sldLayoutId id="2147483734" r:id="rId4"/>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ctr"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6.tmp"/><Relationship Id="rId5" Type="http://schemas.openxmlformats.org/officeDocument/2006/relationships/tags" Target="../tags/tag5.xml"/><Relationship Id="rId10" Type="http://schemas.openxmlformats.org/officeDocument/2006/relationships/slideLayout" Target="../slideLayouts/slideLayout3.xml"/><Relationship Id="rId4" Type="http://schemas.openxmlformats.org/officeDocument/2006/relationships/tags" Target="../tags/tag4.xml"/><Relationship Id="rId9" Type="http://schemas.openxmlformats.org/officeDocument/2006/relationships/tags" Target="../tags/tag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tags" Target="../tags/tag17.xml"/><Relationship Id="rId3" Type="http://schemas.openxmlformats.org/officeDocument/2006/relationships/tags" Target="../tags/tag12.xml"/><Relationship Id="rId7" Type="http://schemas.openxmlformats.org/officeDocument/2006/relationships/tags" Target="../tags/tag16.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6.tmp"/><Relationship Id="rId5" Type="http://schemas.openxmlformats.org/officeDocument/2006/relationships/tags" Target="../tags/tag14.xml"/><Relationship Id="rId10" Type="http://schemas.openxmlformats.org/officeDocument/2006/relationships/slideLayout" Target="../slideLayouts/slideLayout3.xml"/><Relationship Id="rId4" Type="http://schemas.openxmlformats.org/officeDocument/2006/relationships/tags" Target="../tags/tag13.xml"/><Relationship Id="rId9" Type="http://schemas.openxmlformats.org/officeDocument/2006/relationships/tags" Target="../tags/tag18.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tags" Target="../tags/tag26.xml"/><Relationship Id="rId3" Type="http://schemas.openxmlformats.org/officeDocument/2006/relationships/tags" Target="../tags/tag21.xml"/><Relationship Id="rId7" Type="http://schemas.openxmlformats.org/officeDocument/2006/relationships/tags" Target="../tags/tag25.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6.tmp"/><Relationship Id="rId5" Type="http://schemas.openxmlformats.org/officeDocument/2006/relationships/tags" Target="../tags/tag23.xml"/><Relationship Id="rId10" Type="http://schemas.openxmlformats.org/officeDocument/2006/relationships/slideLayout" Target="../slideLayouts/slideLayout3.xml"/><Relationship Id="rId4" Type="http://schemas.openxmlformats.org/officeDocument/2006/relationships/tags" Target="../tags/tag22.xml"/><Relationship Id="rId9" Type="http://schemas.openxmlformats.org/officeDocument/2006/relationships/tags" Target="../tags/tag2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tags" Target="../tags/tag40.xml"/><Relationship Id="rId18" Type="http://schemas.openxmlformats.org/officeDocument/2006/relationships/slideLayout" Target="../slideLayouts/slideLayout3.xm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tags" Target="../tags/tag44.xml"/><Relationship Id="rId2" Type="http://schemas.openxmlformats.org/officeDocument/2006/relationships/tags" Target="../tags/tag29.xml"/><Relationship Id="rId16" Type="http://schemas.openxmlformats.org/officeDocument/2006/relationships/tags" Target="../tags/tag43.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5" Type="http://schemas.openxmlformats.org/officeDocument/2006/relationships/tags" Target="../tags/tag32.xml"/><Relationship Id="rId15" Type="http://schemas.openxmlformats.org/officeDocument/2006/relationships/tags" Target="../tags/tag42.xml"/><Relationship Id="rId10" Type="http://schemas.openxmlformats.org/officeDocument/2006/relationships/tags" Target="../tags/tag37.xml"/><Relationship Id="rId19" Type="http://schemas.openxmlformats.org/officeDocument/2006/relationships/image" Target="../media/image10.tmp"/><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tags" Target="../tags/tag4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tags" Target="../tags/tag52.xml"/><Relationship Id="rId3" Type="http://schemas.openxmlformats.org/officeDocument/2006/relationships/tags" Target="../tags/tag47.xml"/><Relationship Id="rId7" Type="http://schemas.openxmlformats.org/officeDocument/2006/relationships/tags" Target="../tags/tag5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image" Target="../media/image6.tmp"/><Relationship Id="rId5" Type="http://schemas.openxmlformats.org/officeDocument/2006/relationships/tags" Target="../tags/tag49.xml"/><Relationship Id="rId10" Type="http://schemas.openxmlformats.org/officeDocument/2006/relationships/slideLayout" Target="../slideLayouts/slideLayout3.xml"/><Relationship Id="rId4" Type="http://schemas.openxmlformats.org/officeDocument/2006/relationships/tags" Target="../tags/tag48.xml"/><Relationship Id="rId9" Type="http://schemas.openxmlformats.org/officeDocument/2006/relationships/tags" Target="../tags/tag53.xml"/></Relationships>
</file>

<file path=ppt/slides/_rels/slide28.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tags" Target="../tags/tag66.xml"/><Relationship Id="rId18" Type="http://schemas.openxmlformats.org/officeDocument/2006/relationships/slideLayout" Target="../slideLayouts/slideLayout3.xml"/><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tags" Target="../tags/tag65.xml"/><Relationship Id="rId17" Type="http://schemas.openxmlformats.org/officeDocument/2006/relationships/tags" Target="../tags/tag70.xml"/><Relationship Id="rId2" Type="http://schemas.openxmlformats.org/officeDocument/2006/relationships/tags" Target="../tags/tag55.xml"/><Relationship Id="rId16" Type="http://schemas.openxmlformats.org/officeDocument/2006/relationships/tags" Target="../tags/tag69.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5" Type="http://schemas.openxmlformats.org/officeDocument/2006/relationships/tags" Target="../tags/tag58.xml"/><Relationship Id="rId15" Type="http://schemas.openxmlformats.org/officeDocument/2006/relationships/tags" Target="../tags/tag68.xml"/><Relationship Id="rId10" Type="http://schemas.openxmlformats.org/officeDocument/2006/relationships/tags" Target="../tags/tag63.xml"/><Relationship Id="rId19" Type="http://schemas.openxmlformats.org/officeDocument/2006/relationships/image" Target="../media/image10.tmp"/><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tags" Target="../tags/tag67.xml"/></Relationships>
</file>

<file path=ppt/slides/_rels/slide29.xml.rels><?xml version="1.0" encoding="UTF-8" standalone="yes"?>
<Relationships xmlns="http://schemas.openxmlformats.org/package/2006/relationships"><Relationship Id="rId8" Type="http://schemas.openxmlformats.org/officeDocument/2006/relationships/tags" Target="../tags/tag78.xml"/><Relationship Id="rId13" Type="http://schemas.openxmlformats.org/officeDocument/2006/relationships/tags" Target="../tags/tag83.xml"/><Relationship Id="rId18" Type="http://schemas.openxmlformats.org/officeDocument/2006/relationships/slideLayout" Target="../slideLayouts/slideLayout3.xml"/><Relationship Id="rId3" Type="http://schemas.openxmlformats.org/officeDocument/2006/relationships/tags" Target="../tags/tag73.xml"/><Relationship Id="rId7" Type="http://schemas.openxmlformats.org/officeDocument/2006/relationships/tags" Target="../tags/tag77.xml"/><Relationship Id="rId12" Type="http://schemas.openxmlformats.org/officeDocument/2006/relationships/tags" Target="../tags/tag82.xml"/><Relationship Id="rId17" Type="http://schemas.openxmlformats.org/officeDocument/2006/relationships/tags" Target="../tags/tag87.xml"/><Relationship Id="rId2" Type="http://schemas.openxmlformats.org/officeDocument/2006/relationships/tags" Target="../tags/tag72.xml"/><Relationship Id="rId16" Type="http://schemas.openxmlformats.org/officeDocument/2006/relationships/tags" Target="../tags/tag86.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tags" Target="../tags/tag81.xml"/><Relationship Id="rId5" Type="http://schemas.openxmlformats.org/officeDocument/2006/relationships/tags" Target="../tags/tag75.xml"/><Relationship Id="rId15" Type="http://schemas.openxmlformats.org/officeDocument/2006/relationships/tags" Target="../tags/tag85.xml"/><Relationship Id="rId10" Type="http://schemas.openxmlformats.org/officeDocument/2006/relationships/tags" Target="../tags/tag80.xml"/><Relationship Id="rId19" Type="http://schemas.openxmlformats.org/officeDocument/2006/relationships/image" Target="../media/image10.tmp"/><Relationship Id="rId4" Type="http://schemas.openxmlformats.org/officeDocument/2006/relationships/tags" Target="../tags/tag74.xml"/><Relationship Id="rId9" Type="http://schemas.openxmlformats.org/officeDocument/2006/relationships/tags" Target="../tags/tag79.xml"/><Relationship Id="rId14" Type="http://schemas.openxmlformats.org/officeDocument/2006/relationships/tags" Target="../tags/tag84.xml"/></Relationships>
</file>

<file path=ppt/slides/_rels/slide30.xml.rels><?xml version="1.0" encoding="UTF-8" standalone="yes"?>
<Relationships xmlns="http://schemas.openxmlformats.org/package/2006/relationships"><Relationship Id="rId8" Type="http://schemas.openxmlformats.org/officeDocument/2006/relationships/tags" Target="../tags/tag95.xml"/><Relationship Id="rId3" Type="http://schemas.openxmlformats.org/officeDocument/2006/relationships/tags" Target="../tags/tag90.xml"/><Relationship Id="rId7" Type="http://schemas.openxmlformats.org/officeDocument/2006/relationships/tags" Target="../tags/tag94.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0.tmp"/><Relationship Id="rId5" Type="http://schemas.openxmlformats.org/officeDocument/2006/relationships/tags" Target="../tags/tag92.xml"/><Relationship Id="rId10" Type="http://schemas.openxmlformats.org/officeDocument/2006/relationships/slideLayout" Target="../slideLayouts/slideLayout3.xml"/><Relationship Id="rId4" Type="http://schemas.openxmlformats.org/officeDocument/2006/relationships/tags" Target="../tags/tag91.xml"/><Relationship Id="rId9" Type="http://schemas.openxmlformats.org/officeDocument/2006/relationships/tags" Target="../tags/tag96.xml"/></Relationships>
</file>

<file path=ppt/slides/_rels/slide31.xml.rels><?xml version="1.0" encoding="UTF-8" standalone="yes"?>
<Relationships xmlns="http://schemas.openxmlformats.org/package/2006/relationships"><Relationship Id="rId8" Type="http://schemas.openxmlformats.org/officeDocument/2006/relationships/tags" Target="../tags/tag104.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10.tmp"/><Relationship Id="rId5" Type="http://schemas.openxmlformats.org/officeDocument/2006/relationships/tags" Target="../tags/tag101.xml"/><Relationship Id="rId10" Type="http://schemas.openxmlformats.org/officeDocument/2006/relationships/slideLayout" Target="../slideLayouts/slideLayout3.xml"/><Relationship Id="rId4" Type="http://schemas.openxmlformats.org/officeDocument/2006/relationships/tags" Target="../tags/tag100.xml"/><Relationship Id="rId9" Type="http://schemas.openxmlformats.org/officeDocument/2006/relationships/tags" Target="../tags/tag10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tags" Target="../tags/tag113.xml"/><Relationship Id="rId3" Type="http://schemas.openxmlformats.org/officeDocument/2006/relationships/tags" Target="../tags/tag108.xml"/><Relationship Id="rId7" Type="http://schemas.openxmlformats.org/officeDocument/2006/relationships/tags" Target="../tags/tag112.xml"/><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tags" Target="../tags/tag111.xml"/><Relationship Id="rId11" Type="http://schemas.openxmlformats.org/officeDocument/2006/relationships/image" Target="../media/image6.tmp"/><Relationship Id="rId5" Type="http://schemas.openxmlformats.org/officeDocument/2006/relationships/tags" Target="../tags/tag110.xml"/><Relationship Id="rId10" Type="http://schemas.openxmlformats.org/officeDocument/2006/relationships/slideLayout" Target="../slideLayouts/slideLayout3.xml"/><Relationship Id="rId4" Type="http://schemas.openxmlformats.org/officeDocument/2006/relationships/tags" Target="../tags/tag109.xml"/><Relationship Id="rId9" Type="http://schemas.openxmlformats.org/officeDocument/2006/relationships/tags" Target="../tags/tag1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tags" Target="../tags/tag122.xml"/><Relationship Id="rId3" Type="http://schemas.openxmlformats.org/officeDocument/2006/relationships/tags" Target="../tags/tag117.xml"/><Relationship Id="rId7" Type="http://schemas.openxmlformats.org/officeDocument/2006/relationships/tags" Target="../tags/tag121.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11" Type="http://schemas.openxmlformats.org/officeDocument/2006/relationships/image" Target="../media/image10.tmp"/><Relationship Id="rId5" Type="http://schemas.openxmlformats.org/officeDocument/2006/relationships/tags" Target="../tags/tag119.xml"/><Relationship Id="rId10" Type="http://schemas.openxmlformats.org/officeDocument/2006/relationships/slideLayout" Target="../slideLayouts/slideLayout3.xml"/><Relationship Id="rId4" Type="http://schemas.openxmlformats.org/officeDocument/2006/relationships/tags" Target="../tags/tag118.xml"/><Relationship Id="rId9" Type="http://schemas.openxmlformats.org/officeDocument/2006/relationships/tags" Target="../tags/tag1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8" Type="http://schemas.openxmlformats.org/officeDocument/2006/relationships/tags" Target="../tags/tag131.xml"/><Relationship Id="rId3" Type="http://schemas.openxmlformats.org/officeDocument/2006/relationships/tags" Target="../tags/tag126.xml"/><Relationship Id="rId7" Type="http://schemas.openxmlformats.org/officeDocument/2006/relationships/tags" Target="../tags/tag130.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11" Type="http://schemas.openxmlformats.org/officeDocument/2006/relationships/image" Target="../media/image10.tmp"/><Relationship Id="rId5" Type="http://schemas.openxmlformats.org/officeDocument/2006/relationships/tags" Target="../tags/tag128.xml"/><Relationship Id="rId10" Type="http://schemas.openxmlformats.org/officeDocument/2006/relationships/slideLayout" Target="../slideLayouts/slideLayout3.xml"/><Relationship Id="rId4" Type="http://schemas.openxmlformats.org/officeDocument/2006/relationships/tags" Target="../tags/tag127.xml"/><Relationship Id="rId9" Type="http://schemas.openxmlformats.org/officeDocument/2006/relationships/tags" Target="../tags/tag13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8" Type="http://schemas.openxmlformats.org/officeDocument/2006/relationships/tags" Target="../tags/tag140.xml"/><Relationship Id="rId3" Type="http://schemas.openxmlformats.org/officeDocument/2006/relationships/tags" Target="../tags/tag135.xml"/><Relationship Id="rId7" Type="http://schemas.openxmlformats.org/officeDocument/2006/relationships/tags" Target="../tags/tag139.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image" Target="../media/image10.tmp"/><Relationship Id="rId5" Type="http://schemas.openxmlformats.org/officeDocument/2006/relationships/tags" Target="../tags/tag137.xml"/><Relationship Id="rId10" Type="http://schemas.openxmlformats.org/officeDocument/2006/relationships/slideLayout" Target="../slideLayouts/slideLayout3.xml"/><Relationship Id="rId4" Type="http://schemas.openxmlformats.org/officeDocument/2006/relationships/tags" Target="../tags/tag136.xml"/><Relationship Id="rId9" Type="http://schemas.openxmlformats.org/officeDocument/2006/relationships/tags" Target="../tags/tag1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8" Type="http://schemas.openxmlformats.org/officeDocument/2006/relationships/tags" Target="../tags/tag149.xml"/><Relationship Id="rId13" Type="http://schemas.openxmlformats.org/officeDocument/2006/relationships/tags" Target="../tags/tag154.xml"/><Relationship Id="rId18" Type="http://schemas.openxmlformats.org/officeDocument/2006/relationships/slideLayout" Target="../slideLayouts/slideLayout3.xml"/><Relationship Id="rId3" Type="http://schemas.openxmlformats.org/officeDocument/2006/relationships/tags" Target="../tags/tag144.xml"/><Relationship Id="rId7" Type="http://schemas.openxmlformats.org/officeDocument/2006/relationships/tags" Target="../tags/tag148.xml"/><Relationship Id="rId12" Type="http://schemas.openxmlformats.org/officeDocument/2006/relationships/tags" Target="../tags/tag153.xml"/><Relationship Id="rId17" Type="http://schemas.openxmlformats.org/officeDocument/2006/relationships/tags" Target="../tags/tag158.xml"/><Relationship Id="rId2" Type="http://schemas.openxmlformats.org/officeDocument/2006/relationships/tags" Target="../tags/tag143.xml"/><Relationship Id="rId16" Type="http://schemas.openxmlformats.org/officeDocument/2006/relationships/tags" Target="../tags/tag157.xml"/><Relationship Id="rId1" Type="http://schemas.openxmlformats.org/officeDocument/2006/relationships/tags" Target="../tags/tag142.xml"/><Relationship Id="rId6" Type="http://schemas.openxmlformats.org/officeDocument/2006/relationships/tags" Target="../tags/tag147.xml"/><Relationship Id="rId11" Type="http://schemas.openxmlformats.org/officeDocument/2006/relationships/tags" Target="../tags/tag152.xml"/><Relationship Id="rId5" Type="http://schemas.openxmlformats.org/officeDocument/2006/relationships/tags" Target="../tags/tag146.xml"/><Relationship Id="rId15" Type="http://schemas.openxmlformats.org/officeDocument/2006/relationships/tags" Target="../tags/tag156.xml"/><Relationship Id="rId10" Type="http://schemas.openxmlformats.org/officeDocument/2006/relationships/tags" Target="../tags/tag151.xml"/><Relationship Id="rId19" Type="http://schemas.openxmlformats.org/officeDocument/2006/relationships/image" Target="../media/image10.tmp"/><Relationship Id="rId4" Type="http://schemas.openxmlformats.org/officeDocument/2006/relationships/tags" Target="../tags/tag145.xml"/><Relationship Id="rId9" Type="http://schemas.openxmlformats.org/officeDocument/2006/relationships/tags" Target="../tags/tag150.xml"/><Relationship Id="rId14" Type="http://schemas.openxmlformats.org/officeDocument/2006/relationships/tags" Target="../tags/tag155.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8" Type="http://schemas.openxmlformats.org/officeDocument/2006/relationships/tags" Target="../tags/tag166.xml"/><Relationship Id="rId3" Type="http://schemas.openxmlformats.org/officeDocument/2006/relationships/tags" Target="../tags/tag161.xml"/><Relationship Id="rId7" Type="http://schemas.openxmlformats.org/officeDocument/2006/relationships/tags" Target="../tags/tag165.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image" Target="../media/image10.tmp"/><Relationship Id="rId5" Type="http://schemas.openxmlformats.org/officeDocument/2006/relationships/tags" Target="../tags/tag163.xml"/><Relationship Id="rId10" Type="http://schemas.openxmlformats.org/officeDocument/2006/relationships/slideLayout" Target="../slideLayouts/slideLayout3.xml"/><Relationship Id="rId4" Type="http://schemas.openxmlformats.org/officeDocument/2006/relationships/tags" Target="../tags/tag162.xml"/><Relationship Id="rId9" Type="http://schemas.openxmlformats.org/officeDocument/2006/relationships/tags" Target="../tags/tag167.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8" Type="http://schemas.openxmlformats.org/officeDocument/2006/relationships/tags" Target="../tags/tag175.xml"/><Relationship Id="rId3" Type="http://schemas.openxmlformats.org/officeDocument/2006/relationships/tags" Target="../tags/tag170.xml"/><Relationship Id="rId7" Type="http://schemas.openxmlformats.org/officeDocument/2006/relationships/tags" Target="../tags/tag174.xml"/><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tags" Target="../tags/tag173.xml"/><Relationship Id="rId11" Type="http://schemas.openxmlformats.org/officeDocument/2006/relationships/image" Target="../media/image6.tmp"/><Relationship Id="rId5" Type="http://schemas.openxmlformats.org/officeDocument/2006/relationships/tags" Target="../tags/tag172.xml"/><Relationship Id="rId10" Type="http://schemas.openxmlformats.org/officeDocument/2006/relationships/slideLayout" Target="../slideLayouts/slideLayout3.xml"/><Relationship Id="rId4" Type="http://schemas.openxmlformats.org/officeDocument/2006/relationships/tags" Target="../tags/tag171.xml"/><Relationship Id="rId9" Type="http://schemas.openxmlformats.org/officeDocument/2006/relationships/tags" Target="../tags/tag17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8" Type="http://schemas.openxmlformats.org/officeDocument/2006/relationships/tags" Target="../tags/tag184.xml"/><Relationship Id="rId3" Type="http://schemas.openxmlformats.org/officeDocument/2006/relationships/tags" Target="../tags/tag179.xml"/><Relationship Id="rId7" Type="http://schemas.openxmlformats.org/officeDocument/2006/relationships/tags" Target="../tags/tag183.xml"/><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tags" Target="../tags/tag182.xml"/><Relationship Id="rId11" Type="http://schemas.openxmlformats.org/officeDocument/2006/relationships/image" Target="../media/image6.tmp"/><Relationship Id="rId5" Type="http://schemas.openxmlformats.org/officeDocument/2006/relationships/tags" Target="../tags/tag181.xml"/><Relationship Id="rId10" Type="http://schemas.openxmlformats.org/officeDocument/2006/relationships/slideLayout" Target="../slideLayouts/slideLayout3.xml"/><Relationship Id="rId4" Type="http://schemas.openxmlformats.org/officeDocument/2006/relationships/tags" Target="../tags/tag180.xml"/><Relationship Id="rId9" Type="http://schemas.openxmlformats.org/officeDocument/2006/relationships/tags" Target="../tags/tag18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8" Type="http://schemas.openxmlformats.org/officeDocument/2006/relationships/tags" Target="../tags/tag193.xml"/><Relationship Id="rId13" Type="http://schemas.openxmlformats.org/officeDocument/2006/relationships/tags" Target="../tags/tag198.xml"/><Relationship Id="rId18" Type="http://schemas.openxmlformats.org/officeDocument/2006/relationships/slideLayout" Target="../slideLayouts/slideLayout3.xml"/><Relationship Id="rId3" Type="http://schemas.openxmlformats.org/officeDocument/2006/relationships/tags" Target="../tags/tag188.xml"/><Relationship Id="rId7" Type="http://schemas.openxmlformats.org/officeDocument/2006/relationships/tags" Target="../tags/tag192.xml"/><Relationship Id="rId12" Type="http://schemas.openxmlformats.org/officeDocument/2006/relationships/tags" Target="../tags/tag197.xml"/><Relationship Id="rId17" Type="http://schemas.openxmlformats.org/officeDocument/2006/relationships/tags" Target="../tags/tag202.xml"/><Relationship Id="rId2" Type="http://schemas.openxmlformats.org/officeDocument/2006/relationships/tags" Target="../tags/tag187.xml"/><Relationship Id="rId16" Type="http://schemas.openxmlformats.org/officeDocument/2006/relationships/tags" Target="../tags/tag201.xml"/><Relationship Id="rId1" Type="http://schemas.openxmlformats.org/officeDocument/2006/relationships/tags" Target="../tags/tag186.xml"/><Relationship Id="rId6" Type="http://schemas.openxmlformats.org/officeDocument/2006/relationships/tags" Target="../tags/tag191.xml"/><Relationship Id="rId11" Type="http://schemas.openxmlformats.org/officeDocument/2006/relationships/tags" Target="../tags/tag196.xml"/><Relationship Id="rId5" Type="http://schemas.openxmlformats.org/officeDocument/2006/relationships/tags" Target="../tags/tag190.xml"/><Relationship Id="rId15" Type="http://schemas.openxmlformats.org/officeDocument/2006/relationships/tags" Target="../tags/tag200.xml"/><Relationship Id="rId10" Type="http://schemas.openxmlformats.org/officeDocument/2006/relationships/tags" Target="../tags/tag195.xml"/><Relationship Id="rId19" Type="http://schemas.openxmlformats.org/officeDocument/2006/relationships/image" Target="../media/image10.tmp"/><Relationship Id="rId4" Type="http://schemas.openxmlformats.org/officeDocument/2006/relationships/tags" Target="../tags/tag189.xml"/><Relationship Id="rId9" Type="http://schemas.openxmlformats.org/officeDocument/2006/relationships/tags" Target="../tags/tag194.xml"/><Relationship Id="rId14" Type="http://schemas.openxmlformats.org/officeDocument/2006/relationships/tags" Target="../tags/tag19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8" Type="http://schemas.openxmlformats.org/officeDocument/2006/relationships/tags" Target="../tags/tag210.xml"/><Relationship Id="rId3" Type="http://schemas.openxmlformats.org/officeDocument/2006/relationships/tags" Target="../tags/tag205.xml"/><Relationship Id="rId7" Type="http://schemas.openxmlformats.org/officeDocument/2006/relationships/tags" Target="../tags/tag209.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image" Target="../media/image10.tmp"/><Relationship Id="rId5" Type="http://schemas.openxmlformats.org/officeDocument/2006/relationships/tags" Target="../tags/tag207.xml"/><Relationship Id="rId10" Type="http://schemas.openxmlformats.org/officeDocument/2006/relationships/slideLayout" Target="../slideLayouts/slideLayout3.xml"/><Relationship Id="rId4" Type="http://schemas.openxmlformats.org/officeDocument/2006/relationships/tags" Target="../tags/tag206.xml"/><Relationship Id="rId9" Type="http://schemas.openxmlformats.org/officeDocument/2006/relationships/tags" Target="../tags/tag21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882802"/>
            <a:ext cx="12192000" cy="1405305"/>
          </a:xfrm>
        </p:spPr>
        <p:txBody>
          <a:bodyPr>
            <a:normAutofit fontScale="90000"/>
          </a:bodyPr>
          <a:lstStyle/>
          <a:p>
            <a:pPr algn="ctr">
              <a:lnSpc>
                <a:spcPct val="150000"/>
              </a:lnSpc>
            </a:pPr>
            <a:r>
              <a:rPr lang="zh-CN" altLang="en-US" sz="4400" b="1" i="0" dirty="0">
                <a:solidFill>
                  <a:schemeClr val="tx1"/>
                </a:solidFill>
                <a:ea typeface="宋体" panose="02010600030101010101" pitchFamily="2" charset="-122"/>
              </a:rPr>
              <a:t>汇编语言与逆向技术</a:t>
            </a:r>
            <a:br>
              <a:rPr lang="en-US" i="0" dirty="0">
                <a:solidFill>
                  <a:schemeClr val="tx1"/>
                </a:solidFill>
                <a:ea typeface="宋体" panose="02010600030101010101" pitchFamily="2" charset="-122"/>
              </a:rPr>
            </a:br>
            <a:r>
              <a:rPr lang="zh-CN" altLang="en-US" sz="3600" b="1" dirty="0">
                <a:solidFill>
                  <a:srgbClr val="7030A0"/>
                </a:solidFill>
              </a:rPr>
              <a:t>第</a:t>
            </a:r>
            <a:r>
              <a:rPr lang="en-US" altLang="zh-CN" sz="3600" b="1" dirty="0">
                <a:solidFill>
                  <a:srgbClr val="7030A0"/>
                </a:solidFill>
              </a:rPr>
              <a:t>8</a:t>
            </a:r>
            <a:r>
              <a:rPr lang="zh-CN" altLang="en-US" sz="3600" b="1" dirty="0">
                <a:solidFill>
                  <a:srgbClr val="7030A0"/>
                </a:solidFill>
              </a:rPr>
              <a:t>章 华为鲲鹏处理器汇编编程</a:t>
            </a:r>
            <a:endParaRPr lang="en-US" sz="2800" b="1" dirty="0">
              <a:solidFill>
                <a:srgbClr val="7030A0"/>
              </a:solidFill>
              <a:ea typeface="宋体" panose="02010600030101010101" pitchFamily="2" charset="-122"/>
            </a:endParaRPr>
          </a:p>
        </p:txBody>
      </p:sp>
      <p:sp>
        <p:nvSpPr>
          <p:cNvPr id="5" name="Title 1"/>
          <p:cNvSpPr txBox="1">
            <a:spLocks/>
          </p:cNvSpPr>
          <p:nvPr/>
        </p:nvSpPr>
        <p:spPr bwMode="auto">
          <a:xfrm>
            <a:off x="0" y="3626471"/>
            <a:ext cx="12192000" cy="1301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4300" b="1" i="1" kern="1200">
                <a:solidFill>
                  <a:schemeClr val="bg1"/>
                </a:solidFill>
                <a:latin typeface="+mj-lt"/>
                <a:ea typeface="+mj-ea"/>
                <a:cs typeface="+mj-cs"/>
              </a:defRPr>
            </a:lvl1pPr>
            <a:lvl2pPr algn="ctr" rtl="0" fontAlgn="base">
              <a:spcBef>
                <a:spcPct val="0"/>
              </a:spcBef>
              <a:spcAft>
                <a:spcPct val="0"/>
              </a:spcAft>
              <a:defRPr sz="4200" b="1" i="1">
                <a:solidFill>
                  <a:schemeClr val="tx1"/>
                </a:solidFill>
                <a:latin typeface="Arial" charset="0"/>
              </a:defRPr>
            </a:lvl2pPr>
            <a:lvl3pPr algn="ctr" rtl="0" fontAlgn="base">
              <a:spcBef>
                <a:spcPct val="0"/>
              </a:spcBef>
              <a:spcAft>
                <a:spcPct val="0"/>
              </a:spcAft>
              <a:defRPr sz="4200" b="1" i="1">
                <a:solidFill>
                  <a:schemeClr val="tx1"/>
                </a:solidFill>
                <a:latin typeface="Arial" charset="0"/>
              </a:defRPr>
            </a:lvl3pPr>
            <a:lvl4pPr algn="ctr" rtl="0" fontAlgn="base">
              <a:spcBef>
                <a:spcPct val="0"/>
              </a:spcBef>
              <a:spcAft>
                <a:spcPct val="0"/>
              </a:spcAft>
              <a:defRPr sz="4200" b="1" i="1">
                <a:solidFill>
                  <a:schemeClr val="tx1"/>
                </a:solidFill>
                <a:latin typeface="Arial" charset="0"/>
              </a:defRPr>
            </a:lvl4pPr>
            <a:lvl5pPr algn="ctr" rtl="0" fontAlgn="base">
              <a:spcBef>
                <a:spcPct val="0"/>
              </a:spcBef>
              <a:spcAft>
                <a:spcPct val="0"/>
              </a:spcAft>
              <a:defRPr sz="4200" b="1" i="1">
                <a:solidFill>
                  <a:schemeClr val="tx1"/>
                </a:solidFill>
                <a:latin typeface="Arial" charset="0"/>
              </a:defRPr>
            </a:lvl5pPr>
            <a:lvl6pPr marL="457200" algn="ctr" rtl="0" fontAlgn="base">
              <a:spcBef>
                <a:spcPct val="0"/>
              </a:spcBef>
              <a:spcAft>
                <a:spcPct val="0"/>
              </a:spcAft>
              <a:defRPr sz="4200" b="1" i="1">
                <a:solidFill>
                  <a:schemeClr val="tx1"/>
                </a:solidFill>
                <a:latin typeface="Arial" charset="0"/>
              </a:defRPr>
            </a:lvl6pPr>
            <a:lvl7pPr marL="914400" algn="ctr" rtl="0" fontAlgn="base">
              <a:spcBef>
                <a:spcPct val="0"/>
              </a:spcBef>
              <a:spcAft>
                <a:spcPct val="0"/>
              </a:spcAft>
              <a:defRPr sz="4200" b="1" i="1">
                <a:solidFill>
                  <a:schemeClr val="tx1"/>
                </a:solidFill>
                <a:latin typeface="Arial" charset="0"/>
              </a:defRPr>
            </a:lvl7pPr>
            <a:lvl8pPr marL="1371600" algn="ctr" rtl="0" fontAlgn="base">
              <a:spcBef>
                <a:spcPct val="0"/>
              </a:spcBef>
              <a:spcAft>
                <a:spcPct val="0"/>
              </a:spcAft>
              <a:defRPr sz="4200" b="1" i="1">
                <a:solidFill>
                  <a:schemeClr val="tx1"/>
                </a:solidFill>
                <a:latin typeface="Arial" charset="0"/>
              </a:defRPr>
            </a:lvl8pPr>
            <a:lvl9pPr marL="1828800" algn="ctr" rtl="0" fontAlgn="base">
              <a:spcBef>
                <a:spcPct val="0"/>
              </a:spcBef>
              <a:spcAft>
                <a:spcPct val="0"/>
              </a:spcAft>
              <a:defRPr sz="4200" b="1" i="1">
                <a:solidFill>
                  <a:schemeClr val="tx1"/>
                </a:solidFill>
                <a:latin typeface="Arial" charset="0"/>
              </a:defRPr>
            </a:lvl9pPr>
          </a:lstStyle>
          <a:p>
            <a:pPr algn="ctr" defTabSz="914400"/>
            <a:r>
              <a:rPr lang="zh-CN" altLang="en-US" sz="3600" b="0" i="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王志、李旭昇、过辰锴、邓琮弋</a:t>
            </a:r>
            <a:r>
              <a:rPr lang="en-US" altLang="zh-CN" sz="3600" b="0" i="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gn="ctr" defTabSz="914400"/>
            <a:r>
              <a:rPr lang="en-US" altLang="zh-CN" sz="2400" b="0" i="0">
                <a:solidFill>
                  <a:schemeClr val="tx1"/>
                </a:solidFill>
                <a:latin typeface="Times New Roman" panose="02020603050405020304" pitchFamily="18" charset="0"/>
                <a:ea typeface="宋体" panose="02010600030101010101" pitchFamily="2" charset="-122"/>
                <a:cs typeface="Times New Roman" panose="02020603050405020304" pitchFamily="18" charset="0"/>
              </a:rPr>
              <a:t>zwang</a:t>
            </a:r>
            <a:r>
              <a:rPr lang="en-US" altLang="zh-CN" sz="2400" b="0" i="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@nankai.edu.cn</a:t>
            </a:r>
          </a:p>
        </p:txBody>
      </p:sp>
      <p:sp>
        <p:nvSpPr>
          <p:cNvPr id="4" name="Title 1"/>
          <p:cNvSpPr txBox="1">
            <a:spLocks/>
          </p:cNvSpPr>
          <p:nvPr/>
        </p:nvSpPr>
        <p:spPr bwMode="auto">
          <a:xfrm>
            <a:off x="0" y="5179843"/>
            <a:ext cx="12192000" cy="1678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4300" b="1" i="1" kern="1200">
                <a:solidFill>
                  <a:schemeClr val="bg1"/>
                </a:solidFill>
                <a:latin typeface="+mj-lt"/>
                <a:ea typeface="+mj-ea"/>
                <a:cs typeface="+mj-cs"/>
              </a:defRPr>
            </a:lvl1pPr>
            <a:lvl2pPr algn="ctr" rtl="0" fontAlgn="base">
              <a:spcBef>
                <a:spcPct val="0"/>
              </a:spcBef>
              <a:spcAft>
                <a:spcPct val="0"/>
              </a:spcAft>
              <a:defRPr sz="4200" b="1" i="1">
                <a:solidFill>
                  <a:schemeClr val="tx1"/>
                </a:solidFill>
                <a:latin typeface="Arial" charset="0"/>
              </a:defRPr>
            </a:lvl2pPr>
            <a:lvl3pPr algn="ctr" rtl="0" fontAlgn="base">
              <a:spcBef>
                <a:spcPct val="0"/>
              </a:spcBef>
              <a:spcAft>
                <a:spcPct val="0"/>
              </a:spcAft>
              <a:defRPr sz="4200" b="1" i="1">
                <a:solidFill>
                  <a:schemeClr val="tx1"/>
                </a:solidFill>
                <a:latin typeface="Arial" charset="0"/>
              </a:defRPr>
            </a:lvl3pPr>
            <a:lvl4pPr algn="ctr" rtl="0" fontAlgn="base">
              <a:spcBef>
                <a:spcPct val="0"/>
              </a:spcBef>
              <a:spcAft>
                <a:spcPct val="0"/>
              </a:spcAft>
              <a:defRPr sz="4200" b="1" i="1">
                <a:solidFill>
                  <a:schemeClr val="tx1"/>
                </a:solidFill>
                <a:latin typeface="Arial" charset="0"/>
              </a:defRPr>
            </a:lvl4pPr>
            <a:lvl5pPr algn="ctr" rtl="0" fontAlgn="base">
              <a:spcBef>
                <a:spcPct val="0"/>
              </a:spcBef>
              <a:spcAft>
                <a:spcPct val="0"/>
              </a:spcAft>
              <a:defRPr sz="4200" b="1" i="1">
                <a:solidFill>
                  <a:schemeClr val="tx1"/>
                </a:solidFill>
                <a:latin typeface="Arial" charset="0"/>
              </a:defRPr>
            </a:lvl5pPr>
            <a:lvl6pPr marL="457200" algn="ctr" rtl="0" fontAlgn="base">
              <a:spcBef>
                <a:spcPct val="0"/>
              </a:spcBef>
              <a:spcAft>
                <a:spcPct val="0"/>
              </a:spcAft>
              <a:defRPr sz="4200" b="1" i="1">
                <a:solidFill>
                  <a:schemeClr val="tx1"/>
                </a:solidFill>
                <a:latin typeface="Arial" charset="0"/>
              </a:defRPr>
            </a:lvl6pPr>
            <a:lvl7pPr marL="914400" algn="ctr" rtl="0" fontAlgn="base">
              <a:spcBef>
                <a:spcPct val="0"/>
              </a:spcBef>
              <a:spcAft>
                <a:spcPct val="0"/>
              </a:spcAft>
              <a:defRPr sz="4200" b="1" i="1">
                <a:solidFill>
                  <a:schemeClr val="tx1"/>
                </a:solidFill>
                <a:latin typeface="Arial" charset="0"/>
              </a:defRPr>
            </a:lvl7pPr>
            <a:lvl8pPr marL="1371600" algn="ctr" rtl="0" fontAlgn="base">
              <a:spcBef>
                <a:spcPct val="0"/>
              </a:spcBef>
              <a:spcAft>
                <a:spcPct val="0"/>
              </a:spcAft>
              <a:defRPr sz="4200" b="1" i="1">
                <a:solidFill>
                  <a:schemeClr val="tx1"/>
                </a:solidFill>
                <a:latin typeface="Arial" charset="0"/>
              </a:defRPr>
            </a:lvl8pPr>
            <a:lvl9pPr marL="1828800" algn="ctr" rtl="0" fontAlgn="base">
              <a:spcBef>
                <a:spcPct val="0"/>
              </a:spcBef>
              <a:spcAft>
                <a:spcPct val="0"/>
              </a:spcAft>
              <a:defRPr sz="4200" b="1" i="1">
                <a:solidFill>
                  <a:schemeClr val="tx1"/>
                </a:solidFill>
                <a:latin typeface="Arial" charset="0"/>
              </a:defRPr>
            </a:lvl9pPr>
          </a:lstStyle>
          <a:p>
            <a:pPr algn="ctr" defTabSz="914400">
              <a:lnSpc>
                <a:spcPct val="150000"/>
              </a:lnSpc>
            </a:pPr>
            <a:r>
              <a:rPr lang="zh-CN" altLang="en-US" sz="2400" i="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南开大学 网络空间安全学院</a:t>
            </a:r>
            <a:endParaRPr lang="en-US" altLang="zh-CN" sz="2400" i="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endParaRPr>
          </a:p>
          <a:p>
            <a:pPr algn="ctr" defTabSz="914400">
              <a:lnSpc>
                <a:spcPct val="150000"/>
              </a:lnSpc>
            </a:pPr>
            <a:r>
              <a:rPr lang="en-US" altLang="zh-CN" sz="2400" i="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2025-2026</a:t>
            </a:r>
            <a:r>
              <a:rPr lang="zh-CN" altLang="en-US" sz="2400" i="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学年</a:t>
            </a:r>
            <a:endParaRPr lang="en-US" altLang="zh-CN" sz="2400" i="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009204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3969D0-D159-47F9-957C-49963E18CC9A}"/>
              </a:ext>
            </a:extLst>
          </p:cNvPr>
          <p:cNvSpPr>
            <a:spLocks noGrp="1"/>
          </p:cNvSpPr>
          <p:nvPr>
            <p:ph type="title"/>
          </p:nvPr>
        </p:nvSpPr>
        <p:spPr/>
        <p:txBody>
          <a:bodyPr/>
          <a:lstStyle/>
          <a:p>
            <a:r>
              <a:rPr lang="zh-CN" altLang="en-US" dirty="0"/>
              <a:t>本章知识点</a:t>
            </a:r>
          </a:p>
        </p:txBody>
      </p:sp>
      <p:sp>
        <p:nvSpPr>
          <p:cNvPr id="3" name="内容占位符 2">
            <a:extLst>
              <a:ext uri="{FF2B5EF4-FFF2-40B4-BE49-F238E27FC236}">
                <a16:creationId xmlns:a16="http://schemas.microsoft.com/office/drawing/2014/main" id="{9CB8B89F-D60A-42C3-84D9-4CFC30452A6F}"/>
              </a:ext>
            </a:extLst>
          </p:cNvPr>
          <p:cNvSpPr>
            <a:spLocks noGrp="1"/>
          </p:cNvSpPr>
          <p:nvPr>
            <p:ph idx="1"/>
          </p:nvPr>
        </p:nvSpPr>
        <p:spPr>
          <a:xfrm>
            <a:off x="838199" y="1825625"/>
            <a:ext cx="10152185" cy="4351338"/>
          </a:xfrm>
        </p:spPr>
        <p:txBody>
          <a:bodyPr>
            <a:normAutofit/>
          </a:bodyPr>
          <a:lstStyle/>
          <a:p>
            <a:r>
              <a:rPr lang="zh-CN" altLang="en-US" dirty="0"/>
              <a:t>数据类型和寄存器</a:t>
            </a:r>
            <a:endParaRPr lang="en-US" altLang="zh-CN" dirty="0"/>
          </a:p>
          <a:p>
            <a:pPr lvl="1"/>
            <a:r>
              <a:rPr lang="zh-CN" altLang="en-US" dirty="0">
                <a:solidFill>
                  <a:srgbClr val="FF0000"/>
                </a:solidFill>
              </a:rPr>
              <a:t>重点：</a:t>
            </a:r>
            <a:r>
              <a:rPr lang="en-US" altLang="zh-CN" dirty="0">
                <a:solidFill>
                  <a:srgbClr val="FF0000"/>
                </a:solidFill>
              </a:rPr>
              <a:t>CPSR</a:t>
            </a:r>
            <a:r>
              <a:rPr lang="zh-CN" altLang="en-US" dirty="0">
                <a:solidFill>
                  <a:srgbClr val="FF0000"/>
                </a:solidFill>
              </a:rPr>
              <a:t>寄存器</a:t>
            </a:r>
            <a:endParaRPr lang="en-US" altLang="zh-CN" dirty="0">
              <a:solidFill>
                <a:srgbClr val="FF0000"/>
              </a:solidFill>
            </a:endParaRPr>
          </a:p>
          <a:p>
            <a:r>
              <a:rPr lang="en-US" altLang="zh-CN" dirty="0"/>
              <a:t>ARM</a:t>
            </a:r>
            <a:r>
              <a:rPr lang="zh-CN" altLang="en-US" dirty="0"/>
              <a:t>指令</a:t>
            </a:r>
            <a:endParaRPr lang="en-US" altLang="zh-CN" dirty="0"/>
          </a:p>
          <a:p>
            <a:pPr lvl="1"/>
            <a:r>
              <a:rPr lang="zh-CN" altLang="en-US" dirty="0">
                <a:solidFill>
                  <a:srgbClr val="FF0000"/>
                </a:solidFill>
              </a:rPr>
              <a:t>难点：执行条件（</a:t>
            </a:r>
            <a:r>
              <a:rPr lang="en-US" altLang="zh-CN" dirty="0">
                <a:solidFill>
                  <a:srgbClr val="FF0000"/>
                </a:solidFill>
              </a:rPr>
              <a:t>Conditional Code</a:t>
            </a:r>
            <a:r>
              <a:rPr lang="zh-CN" altLang="en-US" dirty="0">
                <a:solidFill>
                  <a:srgbClr val="FF0000"/>
                </a:solidFill>
              </a:rPr>
              <a:t>）</a:t>
            </a:r>
            <a:endParaRPr lang="en-US" altLang="zh-CN" dirty="0">
              <a:solidFill>
                <a:srgbClr val="FF0000"/>
              </a:solidFill>
            </a:endParaRPr>
          </a:p>
          <a:p>
            <a:r>
              <a:rPr lang="zh-CN" altLang="en-US" dirty="0"/>
              <a:t>寻址方式</a:t>
            </a:r>
            <a:endParaRPr lang="en-US" altLang="zh-CN" dirty="0"/>
          </a:p>
          <a:p>
            <a:pPr lvl="1"/>
            <a:r>
              <a:rPr lang="zh-CN" altLang="en-US" dirty="0">
                <a:solidFill>
                  <a:srgbClr val="FF0000"/>
                </a:solidFill>
              </a:rPr>
              <a:t>难点：多寄存器寻址、栈寻址</a:t>
            </a:r>
            <a:endParaRPr lang="en-US" altLang="zh-CN" dirty="0">
              <a:solidFill>
                <a:srgbClr val="FF0000"/>
              </a:solidFill>
            </a:endParaRPr>
          </a:p>
          <a:p>
            <a:r>
              <a:rPr lang="zh-CN" altLang="en-US" dirty="0"/>
              <a:t>伪指令</a:t>
            </a:r>
            <a:endParaRPr lang="en-US" altLang="zh-CN" dirty="0"/>
          </a:p>
        </p:txBody>
      </p:sp>
    </p:spTree>
    <p:extLst>
      <p:ext uri="{BB962C8B-B14F-4D97-AF65-F5344CB8AC3E}">
        <p14:creationId xmlns:p14="http://schemas.microsoft.com/office/powerpoint/2010/main" val="403257584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4727" y="2337582"/>
            <a:ext cx="6400800" cy="1143000"/>
          </a:xfrm>
        </p:spPr>
        <p:txBody>
          <a:bodyPr/>
          <a:lstStyle/>
          <a:p>
            <a:pPr algn="ctr"/>
            <a:r>
              <a:rPr lang="zh-CN" altLang="en-US" dirty="0">
                <a:solidFill>
                  <a:schemeClr val="tx1"/>
                </a:solidFill>
              </a:rPr>
              <a:t>数据类型和寄存器</a:t>
            </a:r>
            <a:endParaRPr lang="en-US" dirty="0">
              <a:solidFill>
                <a:schemeClr val="tx1"/>
              </a:solidFill>
            </a:endParaRPr>
          </a:p>
        </p:txBody>
      </p:sp>
    </p:spTree>
    <p:extLst>
      <p:ext uri="{BB962C8B-B14F-4D97-AF65-F5344CB8AC3E}">
        <p14:creationId xmlns:p14="http://schemas.microsoft.com/office/powerpoint/2010/main" val="406490382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5DB4EA6-645F-4643-931D-659435E99C85}"/>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x86</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汇编语言的数据类型有哪些？</a:t>
            </a:r>
          </a:p>
        </p:txBody>
      </p:sp>
      <p:sp>
        <p:nvSpPr>
          <p:cNvPr id="6" name="矩形: 圆角 5">
            <a:extLst>
              <a:ext uri="{FF2B5EF4-FFF2-40B4-BE49-F238E27FC236}">
                <a16:creationId xmlns:a16="http://schemas.microsoft.com/office/drawing/2014/main" id="{28F8A90C-BC68-4550-8BA7-2EF1FFE9A19F}"/>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1" name="组合 10">
            <a:extLst>
              <a:ext uri="{FF2B5EF4-FFF2-40B4-BE49-F238E27FC236}">
                <a16:creationId xmlns:a16="http://schemas.microsoft.com/office/drawing/2014/main" id="{1C1AC155-1C8E-4FE0-A2EE-4FF1CE954A04}"/>
              </a:ext>
            </a:extLst>
          </p:cNvPr>
          <p:cNvGrpSpPr/>
          <p:nvPr>
            <p:custDataLst>
              <p:tags r:id="rId4"/>
            </p:custDataLst>
          </p:nvPr>
        </p:nvGrpSpPr>
        <p:grpSpPr>
          <a:xfrm>
            <a:off x="0" y="0"/>
            <a:ext cx="12192000" cy="635000"/>
            <a:chOff x="0" y="0"/>
            <a:chExt cx="12192000" cy="635000"/>
          </a:xfrm>
        </p:grpSpPr>
        <p:sp>
          <p:nvSpPr>
            <p:cNvPr id="7" name="TitleBackground">
              <a:extLst>
                <a:ext uri="{FF2B5EF4-FFF2-40B4-BE49-F238E27FC236}">
                  <a16:creationId xmlns:a16="http://schemas.microsoft.com/office/drawing/2014/main" id="{1F48737A-67D8-4FCC-AA77-A1CB006D332E}"/>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a:extLst>
                <a:ext uri="{FF2B5EF4-FFF2-40B4-BE49-F238E27FC236}">
                  <a16:creationId xmlns:a16="http://schemas.microsoft.com/office/drawing/2014/main" id="{F7C53847-9CCE-4E43-9BD7-642ECE4C1F7A}"/>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a:extLst>
                <a:ext uri="{FF2B5EF4-FFF2-40B4-BE49-F238E27FC236}">
                  <a16:creationId xmlns:a16="http://schemas.microsoft.com/office/drawing/2014/main" id="{5EE72B2E-B78C-41BA-89F8-BA071BCF2BA1}"/>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0" name="TipText">
              <a:extLst>
                <a:ext uri="{FF2B5EF4-FFF2-40B4-BE49-F238E27FC236}">
                  <a16:creationId xmlns:a16="http://schemas.microsoft.com/office/drawing/2014/main" id="{4348E541-13FE-4D2D-9DD6-FEFFC32C56AB}"/>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829BAE98-6210-4F0F-B501-981B499C18C2}"/>
              </a:ext>
            </a:extLst>
          </p:cNvPr>
          <p:cNvPicPr>
            <a:picLocks/>
          </p:cNvPicPr>
          <p:nvPr>
            <p:custDataLst>
              <p:tags r:id="rId5"/>
            </p:custDataLst>
          </p:nvPr>
        </p:nvPicPr>
        <p:blipFill>
          <a:blip r:embed="rId1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830550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a:xfrm>
            <a:off x="886557" y="863045"/>
            <a:ext cx="10515600" cy="784224"/>
          </a:xfrm>
        </p:spPr>
        <p:txBody>
          <a:bodyPr/>
          <a:lstStyle/>
          <a:p>
            <a:r>
              <a:rPr lang="zh-CN" altLang="en-US" dirty="0"/>
              <a:t>数据定义</a:t>
            </a:r>
            <a:endParaRPr lang="en-US" altLang="zh-CN" dirty="0"/>
          </a:p>
        </p:txBody>
      </p:sp>
      <p:sp>
        <p:nvSpPr>
          <p:cNvPr id="3" name="文本框 2">
            <a:extLst>
              <a:ext uri="{FF2B5EF4-FFF2-40B4-BE49-F238E27FC236}">
                <a16:creationId xmlns:a16="http://schemas.microsoft.com/office/drawing/2014/main" id="{65D91ADD-0384-19E5-C5C9-892A30CB7AD3}"/>
              </a:ext>
            </a:extLst>
          </p:cNvPr>
          <p:cNvSpPr txBox="1"/>
          <p:nvPr/>
        </p:nvSpPr>
        <p:spPr>
          <a:xfrm>
            <a:off x="838200" y="1889346"/>
            <a:ext cx="11117239" cy="4034181"/>
          </a:xfrm>
          <a:prstGeom prst="rect">
            <a:avLst/>
          </a:prstGeom>
          <a:noFill/>
        </p:spPr>
        <p:txBody>
          <a:bodyPr wrap="square" rtlCol="0">
            <a:spAutoFit/>
          </a:bodyPr>
          <a:lstStyle/>
          <a:p>
            <a:pPr lvl="1" defTabSz="914400">
              <a:lnSpc>
                <a:spcPct val="130000"/>
              </a:lnSpc>
              <a:spcBef>
                <a:spcPts val="10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.byte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单字节定义</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.byte	0x12, ‘a’, 23</a:t>
            </a:r>
          </a:p>
          <a:p>
            <a:pPr lvl="1" defTabSz="914400">
              <a:lnSpc>
                <a:spcPct val="130000"/>
              </a:lnSpc>
              <a:spcBef>
                <a:spcPts val="10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.short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定义</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字节数据</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.short	0x1234, 65535</a:t>
            </a:r>
          </a:p>
          <a:p>
            <a:pPr lvl="1" defTabSz="914400">
              <a:lnSpc>
                <a:spcPct val="130000"/>
              </a:lnSpc>
              <a:spcBef>
                <a:spcPts val="10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.long /.word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定义</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字节数据</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.word	0x12345678</a:t>
            </a:r>
          </a:p>
          <a:p>
            <a:pPr lvl="1" defTabSz="914400">
              <a:lnSpc>
                <a:spcPct val="130000"/>
              </a:lnSpc>
              <a:spcBef>
                <a:spcPts val="10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.quad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定义</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8</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字节</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.quad	0x1234567812345678</a:t>
            </a:r>
          </a:p>
          <a:p>
            <a:pPr lvl="1" defTabSz="914400">
              <a:lnSpc>
                <a:spcPct val="130000"/>
              </a:lnSpc>
              <a:spcBef>
                <a:spcPts val="10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.float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定义浮点数</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.float	0f3.2</a:t>
            </a:r>
          </a:p>
          <a:p>
            <a:pPr lvl="1" defTabSz="914400">
              <a:lnSpc>
                <a:spcPct val="130000"/>
              </a:lnSpc>
              <a:spcBef>
                <a:spcPts val="10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.string /.</a:t>
            </a:r>
            <a:r>
              <a:rPr lang="en-US" altLang="zh-CN" sz="2800" dirty="0" err="1">
                <a:latin typeface="Times New Roman" panose="02020603050405020304" pitchFamily="18" charset="0"/>
                <a:ea typeface="宋体" panose="02010600030101010101" pitchFamily="2" charset="-122"/>
                <a:cs typeface="Times New Roman" panose="02020603050405020304" pitchFamily="18" charset="0"/>
              </a:rPr>
              <a:t>asciz</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/.ascii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定义字符串</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.ascii	“</a:t>
            </a:r>
            <a:r>
              <a:rPr lang="en-US" altLang="zh-CN" sz="2800" dirty="0" err="1">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abcd</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\0”</a:t>
            </a:r>
          </a:p>
        </p:txBody>
      </p:sp>
    </p:spTree>
    <p:extLst>
      <p:ext uri="{BB962C8B-B14F-4D97-AF65-F5344CB8AC3E}">
        <p14:creationId xmlns:p14="http://schemas.microsoft.com/office/powerpoint/2010/main" val="1316775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E8B47394-1544-47AF-BBE4-C01DFE89D249}"/>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x86</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汇编里面的可编程寄存器有哪些？</a:t>
            </a:r>
          </a:p>
        </p:txBody>
      </p:sp>
      <p:sp>
        <p:nvSpPr>
          <p:cNvPr id="7" name="矩形: 圆角 6">
            <a:extLst>
              <a:ext uri="{FF2B5EF4-FFF2-40B4-BE49-F238E27FC236}">
                <a16:creationId xmlns:a16="http://schemas.microsoft.com/office/drawing/2014/main" id="{5755C9F3-D16F-4C95-8ED0-92EA2B06057B}"/>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9496ADC5-5A81-4654-81A3-C2418D30C34C}"/>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A6E528FD-BC6A-4964-8304-274C50A3A101}"/>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170352C2-2401-468A-8DC8-4874E1A1A62E}"/>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4DDD6907-E652-45F6-ABE6-EB5D5356CBE1}"/>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7997ABE3-77A1-4E82-8C44-798EF542B202}"/>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FFE1F8A4-5F1F-4B11-AFFD-9DF54751E9EA}"/>
              </a:ext>
            </a:extLst>
          </p:cNvPr>
          <p:cNvPicPr>
            <a:picLocks/>
          </p:cNvPicPr>
          <p:nvPr>
            <p:custDataLst>
              <p:tags r:id="rId5"/>
            </p:custDataLst>
          </p:nvPr>
        </p:nvPicPr>
        <p:blipFill>
          <a:blip r:embed="rId1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491142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14F9D0-6B73-436C-958F-F7448ADD751C}"/>
              </a:ext>
            </a:extLst>
          </p:cNvPr>
          <p:cNvSpPr>
            <a:spLocks noGrp="1"/>
          </p:cNvSpPr>
          <p:nvPr>
            <p:ph type="title"/>
          </p:nvPr>
        </p:nvSpPr>
        <p:spPr/>
        <p:txBody>
          <a:bodyPr/>
          <a:lstStyle/>
          <a:p>
            <a:r>
              <a:rPr lang="zh-CN" altLang="en-US" dirty="0"/>
              <a:t>寄存器</a:t>
            </a:r>
          </a:p>
        </p:txBody>
      </p:sp>
      <p:sp>
        <p:nvSpPr>
          <p:cNvPr id="3" name="内容占位符 2">
            <a:extLst>
              <a:ext uri="{FF2B5EF4-FFF2-40B4-BE49-F238E27FC236}">
                <a16:creationId xmlns:a16="http://schemas.microsoft.com/office/drawing/2014/main" id="{E3A4D595-FC9C-465C-9B5A-FE868D52D8FA}"/>
              </a:ext>
            </a:extLst>
          </p:cNvPr>
          <p:cNvSpPr>
            <a:spLocks noGrp="1"/>
          </p:cNvSpPr>
          <p:nvPr>
            <p:ph idx="1"/>
          </p:nvPr>
        </p:nvSpPr>
        <p:spPr>
          <a:xfrm>
            <a:off x="838200" y="1825625"/>
            <a:ext cx="4336073" cy="4351338"/>
          </a:xfrm>
        </p:spPr>
        <p:txBody>
          <a:bodyPr/>
          <a:lstStyle/>
          <a:p>
            <a:r>
              <a:rPr lang="en-US" altLang="zh-CN" dirty="0"/>
              <a:t>AArch32</a:t>
            </a:r>
          </a:p>
          <a:p>
            <a:pPr lvl="1"/>
            <a:r>
              <a:rPr lang="en-US" altLang="zh-CN" dirty="0"/>
              <a:t>13</a:t>
            </a:r>
            <a:r>
              <a:rPr lang="zh-CN" altLang="en-US" dirty="0"/>
              <a:t>个</a:t>
            </a:r>
            <a:r>
              <a:rPr lang="en-US" altLang="zh-CN" dirty="0"/>
              <a:t>32</a:t>
            </a:r>
            <a:r>
              <a:rPr lang="zh-CN" altLang="en-US" dirty="0"/>
              <a:t>位通用寄存器（</a:t>
            </a:r>
            <a:r>
              <a:rPr lang="en-US" altLang="zh-CN" dirty="0">
                <a:solidFill>
                  <a:srgbClr val="FF0000"/>
                </a:solidFill>
              </a:rPr>
              <a:t>R0-R12</a:t>
            </a:r>
            <a:r>
              <a:rPr lang="zh-CN" altLang="en-US" dirty="0"/>
              <a:t>）</a:t>
            </a:r>
          </a:p>
          <a:p>
            <a:pPr lvl="1"/>
            <a:r>
              <a:rPr lang="en-US" altLang="zh-CN" dirty="0">
                <a:solidFill>
                  <a:srgbClr val="FF0000"/>
                </a:solidFill>
              </a:rPr>
              <a:t>R13</a:t>
            </a:r>
            <a:r>
              <a:rPr lang="zh-CN" altLang="en-US" dirty="0"/>
              <a:t>：栈指针</a:t>
            </a:r>
            <a:r>
              <a:rPr lang="en-US" altLang="zh-CN" dirty="0"/>
              <a:t>SP</a:t>
            </a:r>
          </a:p>
          <a:p>
            <a:pPr lvl="1"/>
            <a:r>
              <a:rPr lang="en-US" altLang="zh-CN" dirty="0">
                <a:solidFill>
                  <a:srgbClr val="FF0000"/>
                </a:solidFill>
              </a:rPr>
              <a:t>R14</a:t>
            </a:r>
            <a:r>
              <a:rPr lang="zh-CN" altLang="en-US" dirty="0"/>
              <a:t>：链接寄存器</a:t>
            </a:r>
            <a:r>
              <a:rPr lang="en-US" altLang="zh-CN" dirty="0"/>
              <a:t>LR</a:t>
            </a:r>
          </a:p>
          <a:p>
            <a:pPr lvl="1"/>
            <a:r>
              <a:rPr lang="en-US" altLang="zh-CN" dirty="0">
                <a:solidFill>
                  <a:srgbClr val="FF0000"/>
                </a:solidFill>
              </a:rPr>
              <a:t>R15</a:t>
            </a:r>
            <a:r>
              <a:rPr lang="zh-CN" altLang="en-US" dirty="0"/>
              <a:t>：程序计数器</a:t>
            </a:r>
            <a:r>
              <a:rPr lang="en-US" altLang="zh-CN" dirty="0"/>
              <a:t>PC</a:t>
            </a:r>
          </a:p>
          <a:p>
            <a:pPr lvl="1"/>
            <a:endParaRPr lang="zh-CN" altLang="en-US" dirty="0"/>
          </a:p>
        </p:txBody>
      </p:sp>
      <p:pic>
        <p:nvPicPr>
          <p:cNvPr id="5" name="图片 4">
            <a:extLst>
              <a:ext uri="{FF2B5EF4-FFF2-40B4-BE49-F238E27FC236}">
                <a16:creationId xmlns:a16="http://schemas.microsoft.com/office/drawing/2014/main" id="{55F3937B-1CA1-41C8-AACB-C68A9C12BC71}"/>
              </a:ext>
            </a:extLst>
          </p:cNvPr>
          <p:cNvPicPr>
            <a:picLocks noChangeAspect="1"/>
          </p:cNvPicPr>
          <p:nvPr/>
        </p:nvPicPr>
        <p:blipFill>
          <a:blip r:embed="rId2"/>
          <a:stretch>
            <a:fillRect/>
          </a:stretch>
        </p:blipFill>
        <p:spPr>
          <a:xfrm>
            <a:off x="5233988" y="1690688"/>
            <a:ext cx="6679846" cy="5082321"/>
          </a:xfrm>
          <a:prstGeom prst="rect">
            <a:avLst/>
          </a:prstGeom>
        </p:spPr>
      </p:pic>
    </p:spTree>
    <p:extLst>
      <p:ext uri="{BB962C8B-B14F-4D97-AF65-F5344CB8AC3E}">
        <p14:creationId xmlns:p14="http://schemas.microsoft.com/office/powerpoint/2010/main" val="2226557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5B07DA5-6815-41F3-B619-00BF557565A8}"/>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x86</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汇编的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CPU</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状态寄存器是哪个？有哪些状态标志位。</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矩形: 圆角 6">
            <a:extLst>
              <a:ext uri="{FF2B5EF4-FFF2-40B4-BE49-F238E27FC236}">
                <a16:creationId xmlns:a16="http://schemas.microsoft.com/office/drawing/2014/main" id="{ECFF26E8-4FD0-481D-9273-E9BCBD98B568}"/>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E65E5E25-40CA-4C31-9530-93DE5949690D}"/>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91DE7096-76FE-4306-9306-124E4640D705}"/>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01AA6475-AD13-4703-A9F4-B4C2790EE6B6}"/>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8EA6A106-1DEE-44AA-93AF-6C5B68DD9C86}"/>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791B58CE-6498-4092-8351-B9220B041EDF}"/>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64211DDC-CEBE-4EF3-BBA1-90B4FA8C23EF}"/>
              </a:ext>
            </a:extLst>
          </p:cNvPr>
          <p:cNvPicPr>
            <a:picLocks/>
          </p:cNvPicPr>
          <p:nvPr>
            <p:custDataLst>
              <p:tags r:id="rId5"/>
            </p:custDataLst>
          </p:nvPr>
        </p:nvPicPr>
        <p:blipFill>
          <a:blip r:embed="rId1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74549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AE8114-3DC8-4DE4-84E3-BE4BD930E5D9}"/>
              </a:ext>
            </a:extLst>
          </p:cNvPr>
          <p:cNvSpPr>
            <a:spLocks noGrp="1"/>
          </p:cNvSpPr>
          <p:nvPr>
            <p:ph type="title"/>
          </p:nvPr>
        </p:nvSpPr>
        <p:spPr/>
        <p:txBody>
          <a:bodyPr/>
          <a:lstStyle/>
          <a:p>
            <a:r>
              <a:rPr lang="en-US" altLang="zh-CN" dirty="0"/>
              <a:t>CPSR</a:t>
            </a:r>
            <a:r>
              <a:rPr lang="zh-CN" altLang="en-US" dirty="0"/>
              <a:t>寄存器</a:t>
            </a:r>
          </a:p>
        </p:txBody>
      </p:sp>
      <p:pic>
        <p:nvPicPr>
          <p:cNvPr id="4" name="图片 3">
            <a:extLst>
              <a:ext uri="{FF2B5EF4-FFF2-40B4-BE49-F238E27FC236}">
                <a16:creationId xmlns:a16="http://schemas.microsoft.com/office/drawing/2014/main" id="{B638E325-7E6E-4E85-B2A7-A60202C4E881}"/>
              </a:ext>
            </a:extLst>
          </p:cNvPr>
          <p:cNvPicPr>
            <a:picLocks noChangeAspect="1"/>
          </p:cNvPicPr>
          <p:nvPr/>
        </p:nvPicPr>
        <p:blipFill>
          <a:blip r:embed="rId2"/>
          <a:stretch>
            <a:fillRect/>
          </a:stretch>
        </p:blipFill>
        <p:spPr>
          <a:xfrm>
            <a:off x="767861" y="2448096"/>
            <a:ext cx="10585939" cy="3755440"/>
          </a:xfrm>
          <a:prstGeom prst="rect">
            <a:avLst/>
          </a:prstGeom>
        </p:spPr>
      </p:pic>
      <p:sp>
        <p:nvSpPr>
          <p:cNvPr id="5" name="内容占位符 2">
            <a:extLst>
              <a:ext uri="{FF2B5EF4-FFF2-40B4-BE49-F238E27FC236}">
                <a16:creationId xmlns:a16="http://schemas.microsoft.com/office/drawing/2014/main" id="{AF701863-2F1C-434E-AA75-3D17D46250F3}"/>
              </a:ext>
            </a:extLst>
          </p:cNvPr>
          <p:cNvSpPr txBox="1">
            <a:spLocks/>
          </p:cNvSpPr>
          <p:nvPr/>
        </p:nvSpPr>
        <p:spPr>
          <a:xfrm>
            <a:off x="838200" y="1825624"/>
            <a:ext cx="10515600" cy="70656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当前程序状态寄存器</a:t>
            </a:r>
            <a:r>
              <a:rPr lang="en-US" altLang="zh-CN" dirty="0"/>
              <a:t>CPSR</a:t>
            </a:r>
            <a:r>
              <a:rPr lang="zh-CN" altLang="en-US" dirty="0"/>
              <a:t>（</a:t>
            </a:r>
            <a:r>
              <a:rPr lang="en-US" altLang="zh-CN" dirty="0"/>
              <a:t>Current Program Status Register</a:t>
            </a:r>
            <a:r>
              <a:rPr lang="zh-CN" altLang="en-US" dirty="0"/>
              <a:t>）</a:t>
            </a:r>
            <a:endParaRPr lang="en-US" altLang="zh-CN" dirty="0"/>
          </a:p>
        </p:txBody>
      </p:sp>
    </p:spTree>
    <p:extLst>
      <p:ext uri="{BB962C8B-B14F-4D97-AF65-F5344CB8AC3E}">
        <p14:creationId xmlns:p14="http://schemas.microsoft.com/office/powerpoint/2010/main" val="4249414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E6E375-F0ED-4153-9EBA-FBADB5AA9366}"/>
              </a:ext>
            </a:extLst>
          </p:cNvPr>
          <p:cNvSpPr>
            <a:spLocks noGrp="1"/>
          </p:cNvSpPr>
          <p:nvPr>
            <p:ph type="title"/>
          </p:nvPr>
        </p:nvSpPr>
        <p:spPr/>
        <p:txBody>
          <a:bodyPr/>
          <a:lstStyle/>
          <a:p>
            <a:r>
              <a:rPr lang="en-US" altLang="zh-CN" dirty="0"/>
              <a:t>CPSR</a:t>
            </a:r>
            <a:r>
              <a:rPr lang="zh-CN" altLang="en-US" dirty="0"/>
              <a:t>寄存器</a:t>
            </a:r>
          </a:p>
        </p:txBody>
      </p:sp>
      <p:pic>
        <p:nvPicPr>
          <p:cNvPr id="5" name="内容占位符 4">
            <a:extLst>
              <a:ext uri="{FF2B5EF4-FFF2-40B4-BE49-F238E27FC236}">
                <a16:creationId xmlns:a16="http://schemas.microsoft.com/office/drawing/2014/main" id="{D429E966-6226-4182-B0AC-02FA3E1DFA63}"/>
              </a:ext>
            </a:extLst>
          </p:cNvPr>
          <p:cNvPicPr>
            <a:picLocks noGrp="1" noChangeAspect="1"/>
          </p:cNvPicPr>
          <p:nvPr>
            <p:ph idx="1"/>
          </p:nvPr>
        </p:nvPicPr>
        <p:blipFill>
          <a:blip r:embed="rId2"/>
          <a:stretch>
            <a:fillRect/>
          </a:stretch>
        </p:blipFill>
        <p:spPr>
          <a:xfrm>
            <a:off x="2631689" y="1630566"/>
            <a:ext cx="6928622" cy="5200730"/>
          </a:xfrm>
          <a:ln>
            <a:solidFill>
              <a:srgbClr val="7030A0"/>
            </a:solidFill>
          </a:ln>
        </p:spPr>
      </p:pic>
    </p:spTree>
    <p:extLst>
      <p:ext uri="{BB962C8B-B14F-4D97-AF65-F5344CB8AC3E}">
        <p14:creationId xmlns:p14="http://schemas.microsoft.com/office/powerpoint/2010/main" val="116630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81EA43A-A5C9-4047-9175-D6B66927C3EA}"/>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ARM</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体系中，当前程序的执行状态存储在哪个寄存器中？</a:t>
            </a:r>
          </a:p>
        </p:txBody>
      </p:sp>
      <p:sp>
        <p:nvSpPr>
          <p:cNvPr id="7" name="文本框 6">
            <a:extLst>
              <a:ext uri="{FF2B5EF4-FFF2-40B4-BE49-F238E27FC236}">
                <a16:creationId xmlns:a16="http://schemas.microsoft.com/office/drawing/2014/main" id="{905673B6-A9F1-4CF0-B0A4-2B11434E084C}"/>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SP</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D5371F75-094D-40CD-8EAD-BF51CC410805}"/>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LR</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D54C54F3-86A5-4B08-B594-9E07325FC734}"/>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PC</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918145D9-6762-47CB-80CC-8715CBA7E0C8}"/>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CPSR</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a:extLst>
              <a:ext uri="{FF2B5EF4-FFF2-40B4-BE49-F238E27FC236}">
                <a16:creationId xmlns:a16="http://schemas.microsoft.com/office/drawing/2014/main" id="{CE0BD74C-03DA-44FC-9FB7-1A94976DB6D6}"/>
              </a:ext>
            </a:extLst>
          </p:cNvPr>
          <p:cNvSpPr>
            <a:spLocks noChangeAspect="1"/>
          </p:cNvSpPr>
          <p:nvPr>
            <p:custDataLst>
              <p:tags r:id="rId7"/>
            </p:custDataLst>
          </p:nvPr>
        </p:nvSpPr>
        <p:spPr>
          <a:xfrm>
            <a:off x="1571625" y="28503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5C333ACA-709F-4EFA-B395-52D75534D34D}"/>
              </a:ext>
            </a:extLst>
          </p:cNvPr>
          <p:cNvSpPr>
            <a:spLocks noChangeAspect="1"/>
          </p:cNvSpPr>
          <p:nvPr>
            <p:custDataLst>
              <p:tags r:id="rId8"/>
            </p:custDataLst>
          </p:nvPr>
        </p:nvSpPr>
        <p:spPr>
          <a:xfrm>
            <a:off x="1571625" y="37076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a:extLst>
              <a:ext uri="{FF2B5EF4-FFF2-40B4-BE49-F238E27FC236}">
                <a16:creationId xmlns:a16="http://schemas.microsoft.com/office/drawing/2014/main" id="{E7933B59-4B9E-4EE8-9637-8EA3F34E4CFB}"/>
              </a:ext>
            </a:extLst>
          </p:cNvPr>
          <p:cNvSpPr>
            <a:spLocks noChangeAspect="1"/>
          </p:cNvSpPr>
          <p:nvPr>
            <p:custDataLst>
              <p:tags r:id="rId9"/>
            </p:custDataLst>
          </p:nvPr>
        </p:nvSpPr>
        <p:spPr>
          <a:xfrm>
            <a:off x="1571625" y="45648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13">
            <a:extLst>
              <a:ext uri="{FF2B5EF4-FFF2-40B4-BE49-F238E27FC236}">
                <a16:creationId xmlns:a16="http://schemas.microsoft.com/office/drawing/2014/main" id="{6CDC1443-3323-4012-9385-6276C7369241}"/>
              </a:ext>
            </a:extLst>
          </p:cNvPr>
          <p:cNvSpPr>
            <a:spLocks noChangeAspect="1"/>
          </p:cNvSpPr>
          <p:nvPr>
            <p:custDataLst>
              <p:tags r:id="rId10"/>
            </p:custDataLst>
          </p:nvPr>
        </p:nvSpPr>
        <p:spPr>
          <a:xfrm>
            <a:off x="1571625"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57C8CE12-DFC0-423C-9FE6-0F9DA2911892}"/>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345F4ACE-D97E-4CE6-996F-181C62AAF631}"/>
              </a:ext>
            </a:extLst>
          </p:cNvPr>
          <p:cNvGrpSpPr/>
          <p:nvPr>
            <p:custDataLst>
              <p:tags r:id="rId12"/>
            </p:custDataLst>
          </p:nvPr>
        </p:nvGrpSpPr>
        <p:grpSpPr>
          <a:xfrm>
            <a:off x="0" y="0"/>
            <a:ext cx="12192000" cy="635000"/>
            <a:chOff x="0" y="0"/>
            <a:chExt cx="12192000" cy="635000"/>
          </a:xfrm>
        </p:grpSpPr>
        <p:sp>
          <p:nvSpPr>
            <p:cNvPr id="16" name="TitleBackground">
              <a:extLst>
                <a:ext uri="{FF2B5EF4-FFF2-40B4-BE49-F238E27FC236}">
                  <a16:creationId xmlns:a16="http://schemas.microsoft.com/office/drawing/2014/main" id="{6BE76BB2-A395-4305-895E-1DE8FA0C8FDE}"/>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33948AA7-5A8B-4B85-B7CC-ED8B718A8BDB}"/>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7A5A3F60-20C7-44CE-85E2-FB57FDF28497}"/>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9" name="TipText">
              <a:extLst>
                <a:ext uri="{FF2B5EF4-FFF2-40B4-BE49-F238E27FC236}">
                  <a16:creationId xmlns:a16="http://schemas.microsoft.com/office/drawing/2014/main" id="{0565CA2F-5EFB-4950-A9B9-2145867CB0DD}"/>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2DEA4612-CEFC-4649-9B8F-0ED50C274E52}"/>
              </a:ext>
            </a:extLst>
          </p:cNvPr>
          <p:cNvPicPr>
            <a:picLocks/>
          </p:cNvPicPr>
          <p:nvPr>
            <p:custDataLst>
              <p:tags r:id="rId13"/>
            </p:custDataLst>
          </p:nvPr>
        </p:nvPicPr>
        <p:blipFill>
          <a:blip r:embed="rId19"/>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88233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4727" y="2337582"/>
            <a:ext cx="6400800" cy="1143000"/>
          </a:xfrm>
        </p:spPr>
        <p:txBody>
          <a:bodyPr/>
          <a:lstStyle/>
          <a:p>
            <a:pPr algn="ctr"/>
            <a:r>
              <a:rPr lang="en-US" altLang="zh-CN" dirty="0">
                <a:solidFill>
                  <a:schemeClr val="tx1"/>
                </a:solidFill>
              </a:rPr>
              <a:t>ARM</a:t>
            </a:r>
            <a:r>
              <a:rPr lang="zh-CN" altLang="en-US" dirty="0">
                <a:solidFill>
                  <a:schemeClr val="tx1"/>
                </a:solidFill>
              </a:rPr>
              <a:t>指令</a:t>
            </a:r>
            <a:endParaRPr lang="en-US" dirty="0">
              <a:solidFill>
                <a:schemeClr val="tx1"/>
              </a:solidFill>
            </a:endParaRPr>
          </a:p>
        </p:txBody>
      </p:sp>
    </p:spTree>
    <p:extLst>
      <p:ext uri="{BB962C8B-B14F-4D97-AF65-F5344CB8AC3E}">
        <p14:creationId xmlns:p14="http://schemas.microsoft.com/office/powerpoint/2010/main" val="315986964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2AD39F-B86C-40FC-96F4-B672C62F9C67}"/>
              </a:ext>
            </a:extLst>
          </p:cNvPr>
          <p:cNvSpPr>
            <a:spLocks noGrp="1"/>
          </p:cNvSpPr>
          <p:nvPr>
            <p:ph type="title"/>
          </p:nvPr>
        </p:nvSpPr>
        <p:spPr/>
        <p:txBody>
          <a:bodyPr/>
          <a:lstStyle/>
          <a:p>
            <a:r>
              <a:rPr lang="en-US" altLang="zh-CN" dirty="0"/>
              <a:t>ARM</a:t>
            </a:r>
            <a:r>
              <a:rPr lang="zh-CN" altLang="en-US" dirty="0"/>
              <a:t>指令</a:t>
            </a:r>
          </a:p>
        </p:txBody>
      </p:sp>
      <p:sp>
        <p:nvSpPr>
          <p:cNvPr id="3" name="内容占位符 2">
            <a:extLst>
              <a:ext uri="{FF2B5EF4-FFF2-40B4-BE49-F238E27FC236}">
                <a16:creationId xmlns:a16="http://schemas.microsoft.com/office/drawing/2014/main" id="{EC34F348-3012-47F9-BA9F-4A500F54EAB6}"/>
              </a:ext>
            </a:extLst>
          </p:cNvPr>
          <p:cNvSpPr>
            <a:spLocks noGrp="1"/>
          </p:cNvSpPr>
          <p:nvPr>
            <p:ph idx="1"/>
          </p:nvPr>
        </p:nvSpPr>
        <p:spPr/>
        <p:txBody>
          <a:bodyPr/>
          <a:lstStyle/>
          <a:p>
            <a:r>
              <a:rPr lang="en-US" altLang="zh-CN" dirty="0"/>
              <a:t>MNEMONIC{S}{condition} {Rd}, Operand1, Operand2</a:t>
            </a:r>
          </a:p>
          <a:p>
            <a:pPr lvl="1"/>
            <a:r>
              <a:rPr lang="en-US" altLang="zh-CN" dirty="0">
                <a:solidFill>
                  <a:srgbClr val="FF0000"/>
                </a:solidFill>
              </a:rPr>
              <a:t>MNEMONIC</a:t>
            </a:r>
            <a:r>
              <a:rPr lang="zh-CN" altLang="en-US" dirty="0"/>
              <a:t>：指令助记符</a:t>
            </a:r>
            <a:endParaRPr lang="en-US" altLang="zh-CN" dirty="0"/>
          </a:p>
          <a:p>
            <a:pPr lvl="1"/>
            <a:r>
              <a:rPr lang="en-US" altLang="zh-CN" dirty="0">
                <a:solidFill>
                  <a:srgbClr val="FF0000"/>
                </a:solidFill>
              </a:rPr>
              <a:t>{S}</a:t>
            </a:r>
            <a:r>
              <a:rPr lang="en-US" altLang="zh-CN" dirty="0"/>
              <a:t> </a:t>
            </a:r>
            <a:r>
              <a:rPr lang="zh-CN" altLang="en-US" dirty="0"/>
              <a:t>：是否将执行结果更新到</a:t>
            </a:r>
            <a:r>
              <a:rPr lang="en-US" altLang="zh-CN" dirty="0"/>
              <a:t>CPSR</a:t>
            </a:r>
            <a:r>
              <a:rPr lang="zh-CN" altLang="en-US" dirty="0"/>
              <a:t>寄存器</a:t>
            </a:r>
            <a:endParaRPr lang="en-US" altLang="zh-CN" dirty="0"/>
          </a:p>
          <a:p>
            <a:pPr lvl="1"/>
            <a:r>
              <a:rPr lang="en-US" altLang="zh-CN" dirty="0">
                <a:solidFill>
                  <a:srgbClr val="FF0000"/>
                </a:solidFill>
              </a:rPr>
              <a:t>{condition}  </a:t>
            </a:r>
            <a:r>
              <a:rPr lang="zh-CN" altLang="en-US" dirty="0"/>
              <a:t>：指令的执行条件</a:t>
            </a:r>
            <a:endParaRPr lang="en-US" altLang="zh-CN" dirty="0"/>
          </a:p>
          <a:p>
            <a:pPr lvl="1"/>
            <a:r>
              <a:rPr lang="en-US" altLang="zh-CN" dirty="0">
                <a:solidFill>
                  <a:srgbClr val="FF0000"/>
                </a:solidFill>
              </a:rPr>
              <a:t>{Rd} </a:t>
            </a:r>
            <a:r>
              <a:rPr lang="zh-CN" altLang="en-US" dirty="0"/>
              <a:t>：</a:t>
            </a:r>
            <a:r>
              <a:rPr lang="en-US" altLang="zh-CN" dirty="0"/>
              <a:t> Register (destination) for storing the result of the instruction</a:t>
            </a:r>
          </a:p>
          <a:p>
            <a:pPr lvl="1"/>
            <a:r>
              <a:rPr lang="en-US" altLang="zh-CN" dirty="0">
                <a:solidFill>
                  <a:srgbClr val="FF0000"/>
                </a:solidFill>
              </a:rPr>
              <a:t>Operand1</a:t>
            </a:r>
            <a:r>
              <a:rPr lang="zh-CN" altLang="en-US" dirty="0"/>
              <a:t>：</a:t>
            </a:r>
            <a:r>
              <a:rPr lang="en-US" altLang="zh-CN" dirty="0"/>
              <a:t>First operand. Either a register or an immediate value </a:t>
            </a:r>
          </a:p>
          <a:p>
            <a:pPr lvl="1"/>
            <a:r>
              <a:rPr lang="en-US" altLang="zh-CN" dirty="0">
                <a:solidFill>
                  <a:srgbClr val="FF0000"/>
                </a:solidFill>
              </a:rPr>
              <a:t>Operand2</a:t>
            </a:r>
            <a:r>
              <a:rPr lang="zh-CN" altLang="en-US" dirty="0"/>
              <a:t>：</a:t>
            </a:r>
            <a:r>
              <a:rPr lang="en-US" altLang="zh-CN" dirty="0"/>
              <a:t>Second (flexible) operand. Can be an immediate value (number) or a register with an optional shift</a:t>
            </a:r>
            <a:endParaRPr lang="zh-CN" altLang="en-US" dirty="0"/>
          </a:p>
        </p:txBody>
      </p:sp>
    </p:spTree>
    <p:extLst>
      <p:ext uri="{BB962C8B-B14F-4D97-AF65-F5344CB8AC3E}">
        <p14:creationId xmlns:p14="http://schemas.microsoft.com/office/powerpoint/2010/main" val="2302385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p:txBody>
          <a:bodyPr/>
          <a:lstStyle/>
          <a:p>
            <a:r>
              <a:rPr lang="en-US" altLang="zh-CN" dirty="0"/>
              <a:t>ARM</a:t>
            </a:r>
            <a:r>
              <a:rPr lang="zh-CN" altLang="en-US" dirty="0"/>
              <a:t>指令</a:t>
            </a:r>
          </a:p>
        </p:txBody>
      </p:sp>
      <p:sp>
        <p:nvSpPr>
          <p:cNvPr id="3" name="内容占位符 2">
            <a:extLst>
              <a:ext uri="{FF2B5EF4-FFF2-40B4-BE49-F238E27FC236}">
                <a16:creationId xmlns:a16="http://schemas.microsoft.com/office/drawing/2014/main" id="{5090C5D2-8177-494C-8E28-26C08B66E7E7}"/>
              </a:ext>
            </a:extLst>
          </p:cNvPr>
          <p:cNvSpPr>
            <a:spLocks noGrp="1"/>
          </p:cNvSpPr>
          <p:nvPr>
            <p:ph idx="1"/>
          </p:nvPr>
        </p:nvSpPr>
        <p:spPr>
          <a:xfrm>
            <a:off x="395785" y="1763718"/>
            <a:ext cx="11532358" cy="1769071"/>
          </a:xfrm>
        </p:spPr>
        <p:txBody>
          <a:bodyPr>
            <a:normAutofit/>
          </a:bodyPr>
          <a:lstStyle/>
          <a:p>
            <a:r>
              <a:rPr lang="en-US" altLang="zh-CN" dirty="0"/>
              <a:t>GNU ARM</a:t>
            </a:r>
            <a:r>
              <a:rPr lang="zh-CN" altLang="en-US" dirty="0"/>
              <a:t>汇编语言语法格式：</a:t>
            </a:r>
            <a:endParaRPr lang="en-US" altLang="zh-CN" dirty="0"/>
          </a:p>
          <a:p>
            <a:pPr marL="0" indent="0">
              <a:buNone/>
            </a:pPr>
            <a:r>
              <a:rPr lang="en-US" altLang="zh-CN" b="1" dirty="0">
                <a:solidFill>
                  <a:schemeClr val="accent1">
                    <a:lumMod val="75000"/>
                  </a:schemeClr>
                </a:solidFill>
              </a:rPr>
              <a:t>[&lt;label&gt;:][&lt;instruction or directive or pseudo-instruction&gt;}@comment </a:t>
            </a:r>
          </a:p>
        </p:txBody>
      </p:sp>
      <p:sp>
        <p:nvSpPr>
          <p:cNvPr id="5" name="文本框 4">
            <a:extLst>
              <a:ext uri="{FF2B5EF4-FFF2-40B4-BE49-F238E27FC236}">
                <a16:creationId xmlns:a16="http://schemas.microsoft.com/office/drawing/2014/main" id="{92029F51-349A-3BC0-52FB-93C09FB89F06}"/>
              </a:ext>
            </a:extLst>
          </p:cNvPr>
          <p:cNvSpPr txBox="1"/>
          <p:nvPr/>
        </p:nvSpPr>
        <p:spPr>
          <a:xfrm>
            <a:off x="562970" y="3295638"/>
            <a:ext cx="11233245" cy="2792239"/>
          </a:xfrm>
          <a:prstGeom prst="rect">
            <a:avLst/>
          </a:prstGeom>
          <a:noFill/>
        </p:spPr>
        <p:txBody>
          <a:bodyPr wrap="square">
            <a:spAutoFit/>
          </a:bodyPr>
          <a:lstStyle/>
          <a:p>
            <a:pPr marL="0" indent="0">
              <a:lnSpc>
                <a:spcPct val="150000"/>
              </a:lnSpc>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instruction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指令 ：</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LDR R2, [R0]</a:t>
            </a:r>
          </a:p>
          <a:p>
            <a:pPr marL="0" indent="0">
              <a:lnSpc>
                <a:spcPct val="150000"/>
              </a:lnSpc>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direction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伪操作</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50000"/>
              </a:lnSpc>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pseudo-instruction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伪指令</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50000"/>
              </a:lnSpc>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&lt;label&gt;: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为标号，</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GRM ARM</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汇编中，任何以冒号结尾的标识符都认为是一个标号</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50000"/>
              </a:lnSpc>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comment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为语句的注释</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70627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p:txBody>
          <a:bodyPr/>
          <a:lstStyle/>
          <a:p>
            <a:r>
              <a:rPr lang="en-US" altLang="zh-CN" dirty="0"/>
              <a:t>ARM</a:t>
            </a:r>
            <a:r>
              <a:rPr lang="zh-CN" altLang="en-US" dirty="0"/>
              <a:t>指令</a:t>
            </a:r>
          </a:p>
        </p:txBody>
      </p:sp>
      <p:sp>
        <p:nvSpPr>
          <p:cNvPr id="3" name="内容占位符 2">
            <a:extLst>
              <a:ext uri="{FF2B5EF4-FFF2-40B4-BE49-F238E27FC236}">
                <a16:creationId xmlns:a16="http://schemas.microsoft.com/office/drawing/2014/main" id="{5090C5D2-8177-494C-8E28-26C08B66E7E7}"/>
              </a:ext>
            </a:extLst>
          </p:cNvPr>
          <p:cNvSpPr>
            <a:spLocks noGrp="1"/>
          </p:cNvSpPr>
          <p:nvPr>
            <p:ph idx="1"/>
          </p:nvPr>
        </p:nvSpPr>
        <p:spPr>
          <a:xfrm>
            <a:off x="395785" y="1763718"/>
            <a:ext cx="11532358" cy="1769071"/>
          </a:xfrm>
        </p:spPr>
        <p:txBody>
          <a:bodyPr>
            <a:normAutofit/>
          </a:bodyPr>
          <a:lstStyle/>
          <a:p>
            <a:r>
              <a:rPr lang="en-US" altLang="zh-CN" dirty="0"/>
              <a:t>GNU ARM</a:t>
            </a:r>
            <a:r>
              <a:rPr lang="zh-CN" altLang="en-US" dirty="0"/>
              <a:t>汇编语言语法格式：</a:t>
            </a:r>
            <a:endParaRPr lang="en-US" altLang="zh-CN" dirty="0"/>
          </a:p>
          <a:p>
            <a:pPr marL="0" indent="0">
              <a:buNone/>
            </a:pPr>
            <a:r>
              <a:rPr lang="en-US" altLang="zh-CN" b="1" dirty="0">
                <a:solidFill>
                  <a:schemeClr val="accent1">
                    <a:lumMod val="75000"/>
                  </a:schemeClr>
                </a:solidFill>
              </a:rPr>
              <a:t>[&lt;label&gt;:][&lt;instruction or directive or pseudo-instruction&gt;}@comment </a:t>
            </a:r>
          </a:p>
        </p:txBody>
      </p:sp>
      <p:sp>
        <p:nvSpPr>
          <p:cNvPr id="5" name="文本框 4">
            <a:extLst>
              <a:ext uri="{FF2B5EF4-FFF2-40B4-BE49-F238E27FC236}">
                <a16:creationId xmlns:a16="http://schemas.microsoft.com/office/drawing/2014/main" id="{92029F51-349A-3BC0-52FB-93C09FB89F06}"/>
              </a:ext>
            </a:extLst>
          </p:cNvPr>
          <p:cNvSpPr txBox="1"/>
          <p:nvPr/>
        </p:nvSpPr>
        <p:spPr>
          <a:xfrm>
            <a:off x="562970" y="3639642"/>
            <a:ext cx="11233245" cy="2238241"/>
          </a:xfrm>
          <a:prstGeom prst="rect">
            <a:avLst/>
          </a:prstGeom>
          <a:noFill/>
        </p:spPr>
        <p:txBody>
          <a:bodyPr wrap="square">
            <a:spAutoFit/>
          </a:bodyPr>
          <a:lstStyle/>
          <a:p>
            <a:pPr marL="0" indent="0">
              <a:lnSpc>
                <a:spcPct val="150000"/>
              </a:lnSpc>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注：</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Arial" panose="020B0604020202020204" pitchFamily="34" charset="0"/>
              <a:buChar cha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ARM</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指令、伪指令、伪操作、寄存器名</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不可大小写混用</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，可全部大写或全部小写</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可以在行末用</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表示换行</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595638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p:txBody>
          <a:bodyPr/>
          <a:lstStyle/>
          <a:p>
            <a:r>
              <a:rPr lang="en-US" altLang="zh-CN" dirty="0"/>
              <a:t>GNU ARM</a:t>
            </a:r>
            <a:r>
              <a:rPr lang="zh-CN" altLang="en-US" dirty="0"/>
              <a:t>汇编语法格式</a:t>
            </a:r>
          </a:p>
        </p:txBody>
      </p:sp>
      <p:sp>
        <p:nvSpPr>
          <p:cNvPr id="3" name="内容占位符 2">
            <a:extLst>
              <a:ext uri="{FF2B5EF4-FFF2-40B4-BE49-F238E27FC236}">
                <a16:creationId xmlns:a16="http://schemas.microsoft.com/office/drawing/2014/main" id="{5090C5D2-8177-494C-8E28-26C08B66E7E7}"/>
              </a:ext>
            </a:extLst>
          </p:cNvPr>
          <p:cNvSpPr>
            <a:spLocks noGrp="1"/>
          </p:cNvSpPr>
          <p:nvPr>
            <p:ph idx="1"/>
          </p:nvPr>
        </p:nvSpPr>
        <p:spPr>
          <a:xfrm>
            <a:off x="838200" y="1956768"/>
            <a:ext cx="10694158" cy="3989957"/>
          </a:xfrm>
        </p:spPr>
        <p:txBody>
          <a:bodyPr>
            <a:normAutofit/>
          </a:bodyPr>
          <a:lstStyle/>
          <a:p>
            <a:r>
              <a:rPr lang="zh-CN" altLang="en-US" dirty="0"/>
              <a:t>特殊字符和语法</a:t>
            </a:r>
            <a:endParaRPr lang="en-US" altLang="zh-CN" dirty="0"/>
          </a:p>
          <a:p>
            <a:pPr lvl="1">
              <a:lnSpc>
                <a:spcPct val="200000"/>
              </a:lnSpc>
            </a:pPr>
            <a:r>
              <a:rPr lang="zh-CN" altLang="en-US" dirty="0"/>
              <a:t>代码中的</a:t>
            </a:r>
            <a:r>
              <a:rPr lang="zh-CN" altLang="en-US" dirty="0">
                <a:solidFill>
                  <a:srgbClr val="FF0000"/>
                </a:solidFill>
              </a:rPr>
              <a:t>注释符号</a:t>
            </a:r>
            <a:r>
              <a:rPr lang="zh-CN" altLang="en-US" dirty="0"/>
              <a:t>：‘</a:t>
            </a:r>
            <a:r>
              <a:rPr lang="en-US" altLang="zh-CN" dirty="0"/>
              <a:t>@</a:t>
            </a:r>
            <a:r>
              <a:rPr lang="zh-CN" altLang="en-US" dirty="0"/>
              <a:t>’</a:t>
            </a:r>
            <a:endParaRPr lang="en-US" altLang="zh-CN" dirty="0"/>
          </a:p>
          <a:p>
            <a:pPr lvl="1">
              <a:lnSpc>
                <a:spcPct val="200000"/>
              </a:lnSpc>
              <a:spcBef>
                <a:spcPts val="0"/>
              </a:spcBef>
            </a:pPr>
            <a:r>
              <a:rPr lang="zh-CN" altLang="en-US" dirty="0">
                <a:solidFill>
                  <a:srgbClr val="FF0000"/>
                </a:solidFill>
              </a:rPr>
              <a:t>整行注释</a:t>
            </a:r>
            <a:r>
              <a:rPr lang="zh-CN" altLang="en-US" dirty="0"/>
              <a:t>符号：‘</a:t>
            </a:r>
            <a:r>
              <a:rPr lang="en-US" altLang="zh-CN" dirty="0"/>
              <a:t># </a:t>
            </a:r>
            <a:r>
              <a:rPr lang="zh-CN" altLang="en-US" dirty="0"/>
              <a:t>’</a:t>
            </a:r>
            <a:endParaRPr lang="en-US" altLang="zh-CN" dirty="0"/>
          </a:p>
          <a:p>
            <a:pPr lvl="1">
              <a:lnSpc>
                <a:spcPct val="200000"/>
              </a:lnSpc>
              <a:spcBef>
                <a:spcPts val="0"/>
              </a:spcBef>
            </a:pPr>
            <a:r>
              <a:rPr lang="zh-CN" altLang="en-US" dirty="0"/>
              <a:t>语句分离符号：‘</a:t>
            </a:r>
            <a:r>
              <a:rPr lang="en-US" altLang="zh-CN" dirty="0"/>
              <a:t>;</a:t>
            </a:r>
            <a:r>
              <a:rPr lang="zh-CN" altLang="en-US" dirty="0"/>
              <a:t>’</a:t>
            </a:r>
            <a:endParaRPr lang="en-US" altLang="zh-CN" dirty="0"/>
          </a:p>
          <a:p>
            <a:pPr lvl="1">
              <a:lnSpc>
                <a:spcPct val="200000"/>
              </a:lnSpc>
              <a:spcBef>
                <a:spcPts val="0"/>
              </a:spcBef>
            </a:pPr>
            <a:r>
              <a:rPr lang="zh-CN" altLang="en-US" dirty="0"/>
              <a:t>立即数前缀：‘</a:t>
            </a:r>
            <a:r>
              <a:rPr lang="en-US" altLang="zh-CN" dirty="0"/>
              <a:t>#</a:t>
            </a:r>
            <a:r>
              <a:rPr lang="zh-CN" altLang="en-US" dirty="0"/>
              <a:t>’或‘</a:t>
            </a:r>
            <a:r>
              <a:rPr lang="en-US" altLang="zh-CN" dirty="0"/>
              <a:t>$</a:t>
            </a:r>
            <a:r>
              <a:rPr lang="zh-CN" altLang="en-US" dirty="0"/>
              <a:t>’</a:t>
            </a:r>
            <a:endParaRPr lang="en-US" altLang="zh-CN" dirty="0"/>
          </a:p>
        </p:txBody>
      </p:sp>
    </p:spTree>
    <p:extLst>
      <p:ext uri="{BB962C8B-B14F-4D97-AF65-F5344CB8AC3E}">
        <p14:creationId xmlns:p14="http://schemas.microsoft.com/office/powerpoint/2010/main" val="4033812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83EBCE-BBB6-437A-95BC-B0AF3F456863}"/>
              </a:ext>
            </a:extLst>
          </p:cNvPr>
          <p:cNvSpPr>
            <a:spLocks noGrp="1"/>
          </p:cNvSpPr>
          <p:nvPr>
            <p:ph type="title"/>
          </p:nvPr>
        </p:nvSpPr>
        <p:spPr/>
        <p:txBody>
          <a:bodyPr/>
          <a:lstStyle/>
          <a:p>
            <a:r>
              <a:rPr lang="en-US" altLang="zh-CN" dirty="0"/>
              <a:t>MOV</a:t>
            </a:r>
            <a:r>
              <a:rPr lang="zh-CN" altLang="en-US" dirty="0"/>
              <a:t>指令</a:t>
            </a:r>
          </a:p>
        </p:txBody>
      </p:sp>
      <p:sp>
        <p:nvSpPr>
          <p:cNvPr id="3" name="内容占位符 2">
            <a:extLst>
              <a:ext uri="{FF2B5EF4-FFF2-40B4-BE49-F238E27FC236}">
                <a16:creationId xmlns:a16="http://schemas.microsoft.com/office/drawing/2014/main" id="{938ED535-13DB-4F5F-9C3F-8173CF0EB9C5}"/>
              </a:ext>
            </a:extLst>
          </p:cNvPr>
          <p:cNvSpPr>
            <a:spLocks noGrp="1"/>
          </p:cNvSpPr>
          <p:nvPr>
            <p:ph idx="1"/>
          </p:nvPr>
        </p:nvSpPr>
        <p:spPr/>
        <p:txBody>
          <a:bodyPr/>
          <a:lstStyle/>
          <a:p>
            <a:r>
              <a:rPr lang="en-US" altLang="zh-CN" dirty="0"/>
              <a:t>MOV{S} {</a:t>
            </a:r>
            <a:r>
              <a:rPr lang="en-US" altLang="zh-CN" dirty="0" err="1"/>
              <a:t>cond</a:t>
            </a:r>
            <a:r>
              <a:rPr lang="en-US" altLang="zh-CN" dirty="0"/>
              <a:t>}  Rd, Rm</a:t>
            </a:r>
          </a:p>
          <a:p>
            <a:pPr lvl="1"/>
            <a:r>
              <a:rPr lang="en-US" altLang="zh-CN" dirty="0"/>
              <a:t>ARM</a:t>
            </a:r>
            <a:r>
              <a:rPr lang="zh-CN" altLang="en-US" dirty="0"/>
              <a:t>中，</a:t>
            </a:r>
            <a:r>
              <a:rPr lang="en-US" altLang="zh-CN" dirty="0"/>
              <a:t>MOV</a:t>
            </a:r>
            <a:r>
              <a:rPr lang="zh-CN" altLang="en-US" dirty="0"/>
              <a:t>指令实现寄存器之间的数据移动和将立即数写入寄存器</a:t>
            </a:r>
            <a:endParaRPr lang="en-US" altLang="zh-CN" dirty="0"/>
          </a:p>
          <a:p>
            <a:pPr lvl="2"/>
            <a:r>
              <a:rPr lang="en-US" altLang="zh-CN" dirty="0">
                <a:solidFill>
                  <a:schemeClr val="accent1"/>
                </a:solidFill>
              </a:rPr>
              <a:t>MOV R1</a:t>
            </a:r>
            <a:r>
              <a:rPr lang="zh-CN" altLang="en-US" dirty="0">
                <a:solidFill>
                  <a:schemeClr val="accent1"/>
                </a:solidFill>
              </a:rPr>
              <a:t>，</a:t>
            </a:r>
            <a:r>
              <a:rPr lang="en-US" altLang="zh-CN" dirty="0">
                <a:solidFill>
                  <a:schemeClr val="accent1"/>
                </a:solidFill>
              </a:rPr>
              <a:t>R0</a:t>
            </a:r>
          </a:p>
          <a:p>
            <a:pPr lvl="2"/>
            <a:r>
              <a:rPr lang="en-US" altLang="zh-CN" dirty="0">
                <a:solidFill>
                  <a:schemeClr val="accent1"/>
                </a:solidFill>
              </a:rPr>
              <a:t>MOV R2</a:t>
            </a:r>
            <a:r>
              <a:rPr lang="zh-CN" altLang="en-US" dirty="0">
                <a:solidFill>
                  <a:schemeClr val="accent1"/>
                </a:solidFill>
              </a:rPr>
              <a:t>，</a:t>
            </a:r>
            <a:r>
              <a:rPr lang="en-US" altLang="zh-CN" dirty="0">
                <a:solidFill>
                  <a:schemeClr val="accent1"/>
                </a:solidFill>
              </a:rPr>
              <a:t>#2</a:t>
            </a:r>
          </a:p>
          <a:p>
            <a:pPr lvl="1"/>
            <a:r>
              <a:rPr lang="en-US" altLang="zh-CN" b="1" dirty="0">
                <a:solidFill>
                  <a:srgbClr val="FF0000"/>
                </a:solidFill>
              </a:rPr>
              <a:t>MOV</a:t>
            </a:r>
            <a:r>
              <a:rPr lang="zh-CN" altLang="en-US" b="1" dirty="0">
                <a:solidFill>
                  <a:srgbClr val="FF0000"/>
                </a:solidFill>
              </a:rPr>
              <a:t>指令不能访问内存数据</a:t>
            </a:r>
            <a:endParaRPr lang="en-US" altLang="zh-CN" b="1" dirty="0">
              <a:solidFill>
                <a:srgbClr val="FF0000"/>
              </a:solidFill>
            </a:endParaRPr>
          </a:p>
          <a:p>
            <a:pPr lvl="1"/>
            <a:r>
              <a:rPr lang="en-US" altLang="zh-CN" dirty="0"/>
              <a:t>Rd</a:t>
            </a:r>
            <a:r>
              <a:rPr lang="zh-CN" altLang="en-US" dirty="0"/>
              <a:t>是目的寄存器，</a:t>
            </a:r>
            <a:r>
              <a:rPr lang="en-US" altLang="zh-CN" dirty="0"/>
              <a:t>Rm</a:t>
            </a:r>
            <a:r>
              <a:rPr lang="zh-CN" altLang="en-US" dirty="0"/>
              <a:t>是源寄存器或者立即数</a:t>
            </a:r>
            <a:endParaRPr lang="en-US" altLang="zh-CN" dirty="0"/>
          </a:p>
          <a:p>
            <a:pPr lvl="1"/>
            <a:r>
              <a:rPr lang="en-US" altLang="zh-CN" dirty="0"/>
              <a:t>S</a:t>
            </a:r>
            <a:r>
              <a:rPr lang="zh-CN" altLang="en-US" dirty="0"/>
              <a:t>：操作结果是否更新</a:t>
            </a:r>
            <a:r>
              <a:rPr lang="en-US" altLang="zh-CN" dirty="0"/>
              <a:t>CPSR</a:t>
            </a:r>
            <a:r>
              <a:rPr lang="zh-CN" altLang="en-US" dirty="0"/>
              <a:t>，</a:t>
            </a:r>
            <a:r>
              <a:rPr lang="en-US" altLang="zh-CN" dirty="0"/>
              <a:t>MOV</a:t>
            </a:r>
            <a:r>
              <a:rPr lang="zh-CN" altLang="en-US" dirty="0"/>
              <a:t>不更新，</a:t>
            </a:r>
            <a:r>
              <a:rPr lang="en-US" altLang="zh-CN" dirty="0"/>
              <a:t>MOVS</a:t>
            </a:r>
            <a:r>
              <a:rPr lang="zh-CN" altLang="en-US" dirty="0"/>
              <a:t>更新</a:t>
            </a:r>
            <a:endParaRPr lang="en-US" altLang="zh-CN" dirty="0"/>
          </a:p>
        </p:txBody>
      </p:sp>
      <p:sp>
        <p:nvSpPr>
          <p:cNvPr id="5" name="文本框 4">
            <a:extLst>
              <a:ext uri="{FF2B5EF4-FFF2-40B4-BE49-F238E27FC236}">
                <a16:creationId xmlns:a16="http://schemas.microsoft.com/office/drawing/2014/main" id="{27892608-5BFE-4A31-86E1-6EFAD16175EC}"/>
              </a:ext>
            </a:extLst>
          </p:cNvPr>
          <p:cNvSpPr txBox="1"/>
          <p:nvPr/>
        </p:nvSpPr>
        <p:spPr>
          <a:xfrm>
            <a:off x="339603" y="6297470"/>
            <a:ext cx="7657002" cy="338554"/>
          </a:xfrm>
          <a:prstGeom prst="rect">
            <a:avLst/>
          </a:prstGeom>
          <a:noFill/>
          <a:ln>
            <a:solidFill>
              <a:srgbClr val="7030A0"/>
            </a:solidFill>
          </a:ln>
        </p:spPr>
        <p:txBody>
          <a:bodyPr wrap="square">
            <a:spAutoFit/>
          </a:bodyPr>
          <a:lstStyle/>
          <a:p>
            <a:pPr marL="0" indent="0">
              <a:buNone/>
            </a:pPr>
            <a:r>
              <a:rPr lang="en-US" altLang="zh-CN" sz="1600" dirty="0"/>
              <a:t>https://developer.arm.com/documentation/dui0473/m/arm-and-thumb-instructions/mov</a:t>
            </a:r>
          </a:p>
        </p:txBody>
      </p:sp>
      <p:pic>
        <p:nvPicPr>
          <p:cNvPr id="7" name="图片 6">
            <a:extLst>
              <a:ext uri="{FF2B5EF4-FFF2-40B4-BE49-F238E27FC236}">
                <a16:creationId xmlns:a16="http://schemas.microsoft.com/office/drawing/2014/main" id="{70D6BDA2-6AA0-4341-BF9D-D50772347487}"/>
              </a:ext>
            </a:extLst>
          </p:cNvPr>
          <p:cNvPicPr>
            <a:picLocks noChangeAspect="1"/>
          </p:cNvPicPr>
          <p:nvPr/>
        </p:nvPicPr>
        <p:blipFill>
          <a:blip r:embed="rId2"/>
          <a:stretch>
            <a:fillRect/>
          </a:stretch>
        </p:blipFill>
        <p:spPr>
          <a:xfrm>
            <a:off x="6350610" y="3349504"/>
            <a:ext cx="5448667" cy="1070010"/>
          </a:xfrm>
          <a:prstGeom prst="rect">
            <a:avLst/>
          </a:prstGeom>
          <a:ln>
            <a:solidFill>
              <a:srgbClr val="7030A0"/>
            </a:solidFill>
          </a:ln>
        </p:spPr>
      </p:pic>
    </p:spTree>
    <p:extLst>
      <p:ext uri="{BB962C8B-B14F-4D97-AF65-F5344CB8AC3E}">
        <p14:creationId xmlns:p14="http://schemas.microsoft.com/office/powerpoint/2010/main" val="2627478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a:xfrm>
            <a:off x="838200" y="625652"/>
            <a:ext cx="10515600" cy="784224"/>
          </a:xfrm>
        </p:spPr>
        <p:txBody>
          <a:bodyPr/>
          <a:lstStyle/>
          <a:p>
            <a:r>
              <a:rPr lang="zh-CN" altLang="en-US" dirty="0"/>
              <a:t>数据传输指令</a:t>
            </a:r>
            <a:endParaRPr lang="en-US" altLang="zh-CN" dirty="0"/>
          </a:p>
        </p:txBody>
      </p:sp>
      <p:sp>
        <p:nvSpPr>
          <p:cNvPr id="3" name="文本框 2">
            <a:extLst>
              <a:ext uri="{FF2B5EF4-FFF2-40B4-BE49-F238E27FC236}">
                <a16:creationId xmlns:a16="http://schemas.microsoft.com/office/drawing/2014/main" id="{65D91ADD-0384-19E5-C5C9-892A30CB7AD3}"/>
              </a:ext>
            </a:extLst>
          </p:cNvPr>
          <p:cNvSpPr txBox="1"/>
          <p:nvPr/>
        </p:nvSpPr>
        <p:spPr>
          <a:xfrm>
            <a:off x="537380" y="2088052"/>
            <a:ext cx="11117239" cy="3349956"/>
          </a:xfrm>
          <a:prstGeom prst="rect">
            <a:avLst/>
          </a:prstGeom>
          <a:noFill/>
        </p:spPr>
        <p:txBody>
          <a:bodyPr wrap="square" rtlCol="0">
            <a:spAutoFit/>
          </a:bodyPr>
          <a:lstStyle/>
          <a:p>
            <a:pPr>
              <a:lnSpc>
                <a:spcPct val="150000"/>
              </a:lnSpc>
            </a:pP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MOV </a:t>
            </a:r>
            <a:r>
              <a:rPr lang="zh-CN" altLang="en-US"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数据传送指令</a:t>
            </a:r>
            <a:endPar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15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MOV R0, #0xFF000		</a:t>
            </a:r>
            <a:r>
              <a:rPr lang="en-US" altLang="zh-CN"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立即寻址，将立即数</a:t>
            </a:r>
            <a:r>
              <a:rPr lang="en-US" altLang="zh-CN"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0xFF000</a:t>
            </a:r>
            <a:r>
              <a:rPr lang="zh-CN" altLang="en-US"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装入</a:t>
            </a:r>
            <a:r>
              <a:rPr lang="en-US" altLang="zh-CN"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R0</a:t>
            </a:r>
            <a:r>
              <a:rPr lang="zh-CN" altLang="en-US"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寄存器</a:t>
            </a:r>
            <a:endParaRPr lang="en-US" altLang="zh-CN"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15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MOV R1, R2</a:t>
            </a:r>
            <a:r>
              <a:rPr lang="en-US" altLang="zh-CN" sz="24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寄存器寻址，将</a:t>
            </a:r>
            <a:r>
              <a:rPr lang="en-US" altLang="zh-CN"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R2</a:t>
            </a:r>
            <a:r>
              <a:rPr lang="zh-CN" altLang="en-US"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的值存入</a:t>
            </a:r>
            <a:r>
              <a:rPr lang="en-US" altLang="zh-CN"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R1</a:t>
            </a:r>
          </a:p>
          <a:p>
            <a:pPr lvl="1">
              <a:lnSpc>
                <a:spcPct val="15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MOV</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R0, R2, LSL #3</a:t>
            </a:r>
            <a:r>
              <a:rPr lang="en-US" altLang="zh-CN"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移位寻址，</a:t>
            </a:r>
            <a:r>
              <a:rPr lang="en-US" altLang="zh-CN"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R2</a:t>
            </a:r>
            <a:r>
              <a:rPr lang="zh-CN" altLang="en-US"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的值左移</a:t>
            </a:r>
            <a:r>
              <a:rPr lang="en-US" altLang="zh-CN"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位，结果放入</a:t>
            </a:r>
            <a:r>
              <a:rPr lang="en-US" altLang="zh-CN"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R0</a:t>
            </a:r>
            <a:r>
              <a:rPr lang="zh-CN" altLang="en-US"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更新</a:t>
            </a: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CPSR</a:t>
            </a:r>
          </a:p>
          <a:p>
            <a:pPr>
              <a:lnSpc>
                <a:spcPct val="150000"/>
              </a:lnSpc>
            </a:pP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MVN </a:t>
            </a:r>
            <a:r>
              <a:rPr lang="zh-CN" altLang="en-US"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数据取反传送指令（</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bitwise logical negate</a:t>
            </a:r>
            <a:r>
              <a:rPr lang="zh-CN" altLang="en-US"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15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MVN R0,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2000" b="1" dirty="0">
                <a:solidFill>
                  <a:schemeClr val="tx1">
                    <a:lumMod val="50000"/>
                    <a:lumOff val="50000"/>
                  </a:schemeClr>
                </a:solidFill>
                <a:latin typeface="Times New Roman" panose="02020603050405020304" pitchFamily="18" charset="0"/>
                <a:ea typeface="宋体" panose="02010600030101010101" pitchFamily="2" charset="-122"/>
                <a:cs typeface="Times New Roman" panose="02020603050405020304" pitchFamily="18" charset="0"/>
              </a:rPr>
              <a:t>					R0=-1</a:t>
            </a:r>
          </a:p>
        </p:txBody>
      </p:sp>
    </p:spTree>
    <p:extLst>
      <p:ext uri="{BB962C8B-B14F-4D97-AF65-F5344CB8AC3E}">
        <p14:creationId xmlns:p14="http://schemas.microsoft.com/office/powerpoint/2010/main" val="1062406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421630-CA1E-4332-B24C-EA6B3F2D88F1}"/>
              </a:ext>
            </a:extLst>
          </p:cNvPr>
          <p:cNvSpPr>
            <a:spLocks noGrp="1"/>
          </p:cNvSpPr>
          <p:nvPr>
            <p:ph type="title"/>
          </p:nvPr>
        </p:nvSpPr>
        <p:spPr/>
        <p:txBody>
          <a:bodyPr/>
          <a:lstStyle/>
          <a:p>
            <a:r>
              <a:rPr lang="zh-CN" altLang="en-US" dirty="0"/>
              <a:t>内存访问指令</a:t>
            </a:r>
          </a:p>
        </p:txBody>
      </p:sp>
      <p:sp>
        <p:nvSpPr>
          <p:cNvPr id="3" name="内容占位符 2">
            <a:extLst>
              <a:ext uri="{FF2B5EF4-FFF2-40B4-BE49-F238E27FC236}">
                <a16:creationId xmlns:a16="http://schemas.microsoft.com/office/drawing/2014/main" id="{B9698FAB-3C1D-4A38-95C6-AA8D80734AE3}"/>
              </a:ext>
            </a:extLst>
          </p:cNvPr>
          <p:cNvSpPr>
            <a:spLocks noGrp="1"/>
          </p:cNvSpPr>
          <p:nvPr>
            <p:ph idx="1"/>
          </p:nvPr>
        </p:nvSpPr>
        <p:spPr>
          <a:xfrm>
            <a:off x="838200" y="1825624"/>
            <a:ext cx="10515600" cy="4786191"/>
          </a:xfrm>
        </p:spPr>
        <p:txBody>
          <a:bodyPr/>
          <a:lstStyle/>
          <a:p>
            <a:r>
              <a:rPr lang="en-US" altLang="zh-CN" dirty="0">
                <a:solidFill>
                  <a:srgbClr val="FF0000"/>
                </a:solidFill>
              </a:rPr>
              <a:t>ARM</a:t>
            </a:r>
            <a:r>
              <a:rPr lang="zh-CN" altLang="en-US" dirty="0">
                <a:solidFill>
                  <a:srgbClr val="FF0000"/>
                </a:solidFill>
              </a:rPr>
              <a:t>指令中只有</a:t>
            </a:r>
            <a:r>
              <a:rPr lang="en-US" altLang="zh-CN" b="1" dirty="0">
                <a:solidFill>
                  <a:srgbClr val="FF0000"/>
                </a:solidFill>
              </a:rPr>
              <a:t>LDR</a:t>
            </a:r>
            <a:r>
              <a:rPr lang="zh-CN" altLang="en-US" dirty="0">
                <a:solidFill>
                  <a:srgbClr val="FF0000"/>
                </a:solidFill>
              </a:rPr>
              <a:t>和</a:t>
            </a:r>
            <a:r>
              <a:rPr lang="en-US" altLang="zh-CN" b="1" dirty="0">
                <a:solidFill>
                  <a:srgbClr val="FF0000"/>
                </a:solidFill>
              </a:rPr>
              <a:t>STR</a:t>
            </a:r>
            <a:r>
              <a:rPr lang="zh-CN" altLang="en-US" dirty="0">
                <a:solidFill>
                  <a:srgbClr val="FF0000"/>
                </a:solidFill>
              </a:rPr>
              <a:t>指令可以访问内存</a:t>
            </a:r>
            <a:endParaRPr lang="en-US" altLang="zh-CN" dirty="0">
              <a:solidFill>
                <a:srgbClr val="FF0000"/>
              </a:solidFill>
            </a:endParaRPr>
          </a:p>
          <a:p>
            <a:pPr lvl="1"/>
            <a:r>
              <a:rPr lang="zh-CN" altLang="en-US" dirty="0"/>
              <a:t>数据必须从内存读入寄存器之后才可以操作</a:t>
            </a:r>
            <a:endParaRPr lang="en-US" altLang="zh-CN" dirty="0"/>
          </a:p>
          <a:p>
            <a:r>
              <a:rPr lang="en-US" altLang="zh-CN" dirty="0"/>
              <a:t>LDR </a:t>
            </a:r>
            <a:r>
              <a:rPr lang="zh-CN" altLang="en-US" dirty="0"/>
              <a:t>将内存中的数据读入寄存器</a:t>
            </a:r>
            <a:endParaRPr lang="en-US" altLang="zh-CN" dirty="0"/>
          </a:p>
          <a:p>
            <a:pPr lvl="1"/>
            <a:r>
              <a:rPr lang="en-US" altLang="zh-CN" dirty="0"/>
              <a:t>LDR R2,</a:t>
            </a:r>
            <a:r>
              <a:rPr lang="zh-CN" altLang="en-US" dirty="0"/>
              <a:t> </a:t>
            </a:r>
            <a:r>
              <a:rPr lang="en-US" altLang="zh-CN" dirty="0"/>
              <a:t>[R0]  </a:t>
            </a:r>
          </a:p>
          <a:p>
            <a:r>
              <a:rPr lang="en-US" altLang="zh-CN" dirty="0"/>
              <a:t>STR </a:t>
            </a:r>
            <a:r>
              <a:rPr lang="zh-CN" altLang="en-US" dirty="0"/>
              <a:t>将寄存器中的数据写入内存</a:t>
            </a:r>
            <a:endParaRPr lang="en-US" altLang="zh-CN" dirty="0"/>
          </a:p>
          <a:p>
            <a:pPr lvl="1"/>
            <a:r>
              <a:rPr lang="en-US" altLang="zh-CN" dirty="0"/>
              <a:t>STR R2,</a:t>
            </a:r>
            <a:r>
              <a:rPr lang="zh-CN" altLang="en-US" dirty="0"/>
              <a:t> </a:t>
            </a:r>
            <a:r>
              <a:rPr lang="en-US" altLang="zh-CN" dirty="0"/>
              <a:t>[R1]</a:t>
            </a:r>
          </a:p>
          <a:p>
            <a:r>
              <a:rPr lang="zh-CN" altLang="en-US" dirty="0">
                <a:solidFill>
                  <a:schemeClr val="accent1"/>
                </a:solidFill>
              </a:rPr>
              <a:t>注意：源操作数和目的操作数的位置不同</a:t>
            </a:r>
            <a:endParaRPr lang="en-US" altLang="zh-CN" dirty="0">
              <a:solidFill>
                <a:schemeClr val="accent1"/>
              </a:solidFill>
            </a:endParaRPr>
          </a:p>
          <a:p>
            <a:pPr lvl="1"/>
            <a:endParaRPr lang="en-US" altLang="zh-CN" dirty="0">
              <a:solidFill>
                <a:srgbClr val="FF0000"/>
              </a:solidFill>
            </a:endParaRPr>
          </a:p>
          <a:p>
            <a:endParaRPr lang="zh-CN" altLang="en-US" dirty="0"/>
          </a:p>
        </p:txBody>
      </p:sp>
      <p:pic>
        <p:nvPicPr>
          <p:cNvPr id="5" name="图片 4">
            <a:extLst>
              <a:ext uri="{FF2B5EF4-FFF2-40B4-BE49-F238E27FC236}">
                <a16:creationId xmlns:a16="http://schemas.microsoft.com/office/drawing/2014/main" id="{5424E909-E55A-4F7E-8787-9F9378CD4DE8}"/>
              </a:ext>
            </a:extLst>
          </p:cNvPr>
          <p:cNvPicPr>
            <a:picLocks noChangeAspect="1"/>
          </p:cNvPicPr>
          <p:nvPr/>
        </p:nvPicPr>
        <p:blipFill>
          <a:blip r:embed="rId2"/>
          <a:stretch>
            <a:fillRect/>
          </a:stretch>
        </p:blipFill>
        <p:spPr>
          <a:xfrm>
            <a:off x="7544974" y="3227262"/>
            <a:ext cx="4194517" cy="2724274"/>
          </a:xfrm>
          <a:prstGeom prst="rect">
            <a:avLst/>
          </a:prstGeom>
          <a:ln>
            <a:solidFill>
              <a:srgbClr val="7030A0"/>
            </a:solidFill>
          </a:ln>
        </p:spPr>
      </p:pic>
    </p:spTree>
    <p:extLst>
      <p:ext uri="{BB962C8B-B14F-4D97-AF65-F5344CB8AC3E}">
        <p14:creationId xmlns:p14="http://schemas.microsoft.com/office/powerpoint/2010/main" val="2897990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527560-8469-4844-A3FE-F762A0799326}"/>
              </a:ext>
            </a:extLst>
          </p:cNvPr>
          <p:cNvSpPr>
            <a:spLocks noGrp="1"/>
          </p:cNvSpPr>
          <p:nvPr>
            <p:ph type="title"/>
          </p:nvPr>
        </p:nvSpPr>
        <p:spPr/>
        <p:txBody>
          <a:bodyPr/>
          <a:lstStyle/>
          <a:p>
            <a:r>
              <a:rPr lang="zh-CN" altLang="en-US" dirty="0"/>
              <a:t>分支和控制指令</a:t>
            </a:r>
          </a:p>
        </p:txBody>
      </p:sp>
      <p:pic>
        <p:nvPicPr>
          <p:cNvPr id="5" name="内容占位符 4">
            <a:extLst>
              <a:ext uri="{FF2B5EF4-FFF2-40B4-BE49-F238E27FC236}">
                <a16:creationId xmlns:a16="http://schemas.microsoft.com/office/drawing/2014/main" id="{34646C15-C9F0-4DF5-AFA1-2A1AA92A63BA}"/>
              </a:ext>
            </a:extLst>
          </p:cNvPr>
          <p:cNvPicPr>
            <a:picLocks noGrp="1" noChangeAspect="1"/>
          </p:cNvPicPr>
          <p:nvPr>
            <p:ph idx="1"/>
          </p:nvPr>
        </p:nvPicPr>
        <p:blipFill>
          <a:blip r:embed="rId2"/>
          <a:stretch>
            <a:fillRect/>
          </a:stretch>
        </p:blipFill>
        <p:spPr>
          <a:xfrm>
            <a:off x="838200" y="2353005"/>
            <a:ext cx="10515600" cy="3648269"/>
          </a:xfrm>
          <a:ln>
            <a:solidFill>
              <a:srgbClr val="7030A0"/>
            </a:solidFill>
          </a:ln>
        </p:spPr>
      </p:pic>
    </p:spTree>
    <p:extLst>
      <p:ext uri="{BB962C8B-B14F-4D97-AF65-F5344CB8AC3E}">
        <p14:creationId xmlns:p14="http://schemas.microsoft.com/office/powerpoint/2010/main" val="2508839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F61031-8D04-43B3-8AA4-6D6135E85069}"/>
              </a:ext>
            </a:extLst>
          </p:cNvPr>
          <p:cNvSpPr>
            <a:spLocks noGrp="1"/>
          </p:cNvSpPr>
          <p:nvPr>
            <p:ph type="title"/>
          </p:nvPr>
        </p:nvSpPr>
        <p:spPr>
          <a:xfrm>
            <a:off x="838200" y="772818"/>
            <a:ext cx="10515600" cy="784224"/>
          </a:xfrm>
        </p:spPr>
        <p:txBody>
          <a:bodyPr/>
          <a:lstStyle/>
          <a:p>
            <a:r>
              <a:rPr lang="zh-CN" altLang="en-US" dirty="0"/>
              <a:t>分支和控制指令</a:t>
            </a:r>
          </a:p>
        </p:txBody>
      </p:sp>
      <p:sp>
        <p:nvSpPr>
          <p:cNvPr id="3" name="内容占位符 2">
            <a:extLst>
              <a:ext uri="{FF2B5EF4-FFF2-40B4-BE49-F238E27FC236}">
                <a16:creationId xmlns:a16="http://schemas.microsoft.com/office/drawing/2014/main" id="{24FB08A4-467A-419A-879F-E26E06F6CB66}"/>
              </a:ext>
            </a:extLst>
          </p:cNvPr>
          <p:cNvSpPr>
            <a:spLocks noGrp="1"/>
          </p:cNvSpPr>
          <p:nvPr>
            <p:ph idx="1"/>
          </p:nvPr>
        </p:nvSpPr>
        <p:spPr>
          <a:xfrm>
            <a:off x="838200" y="1537231"/>
            <a:ext cx="10515600" cy="1023083"/>
          </a:xfrm>
        </p:spPr>
        <p:txBody>
          <a:bodyPr/>
          <a:lstStyle/>
          <a:p>
            <a:pPr marL="0" indent="0">
              <a:buNone/>
            </a:pPr>
            <a:r>
              <a:rPr lang="zh-CN" altLang="en-US" dirty="0"/>
              <a:t>条件编码和对应的标志位</a:t>
            </a:r>
          </a:p>
        </p:txBody>
      </p:sp>
      <p:pic>
        <p:nvPicPr>
          <p:cNvPr id="7" name="图片 6">
            <a:extLst>
              <a:ext uri="{FF2B5EF4-FFF2-40B4-BE49-F238E27FC236}">
                <a16:creationId xmlns:a16="http://schemas.microsoft.com/office/drawing/2014/main" id="{94C67126-9BBF-4066-810F-854DEF16E83C}"/>
              </a:ext>
            </a:extLst>
          </p:cNvPr>
          <p:cNvPicPr>
            <a:picLocks noChangeAspect="1"/>
          </p:cNvPicPr>
          <p:nvPr/>
        </p:nvPicPr>
        <p:blipFill>
          <a:blip r:embed="rId2"/>
          <a:stretch>
            <a:fillRect/>
          </a:stretch>
        </p:blipFill>
        <p:spPr>
          <a:xfrm>
            <a:off x="2504231" y="2363372"/>
            <a:ext cx="6499091" cy="4439639"/>
          </a:xfrm>
          <a:prstGeom prst="rect">
            <a:avLst/>
          </a:prstGeom>
          <a:ln>
            <a:solidFill>
              <a:srgbClr val="7030A0"/>
            </a:solidFill>
          </a:ln>
        </p:spPr>
      </p:pic>
    </p:spTree>
    <p:extLst>
      <p:ext uri="{BB962C8B-B14F-4D97-AF65-F5344CB8AC3E}">
        <p14:creationId xmlns:p14="http://schemas.microsoft.com/office/powerpoint/2010/main" val="2398855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7C7482-6DB7-4F25-BA04-ED3C1E3CD3FF}"/>
              </a:ext>
            </a:extLst>
          </p:cNvPr>
          <p:cNvSpPr>
            <a:spLocks noGrp="1"/>
          </p:cNvSpPr>
          <p:nvPr>
            <p:ph type="title"/>
          </p:nvPr>
        </p:nvSpPr>
        <p:spPr/>
        <p:txBody>
          <a:bodyPr/>
          <a:lstStyle/>
          <a:p>
            <a:r>
              <a:rPr lang="zh-CN" altLang="en-US" dirty="0"/>
              <a:t>分支和控制指令</a:t>
            </a:r>
          </a:p>
        </p:txBody>
      </p:sp>
      <p:sp>
        <p:nvSpPr>
          <p:cNvPr id="3" name="内容占位符 2">
            <a:extLst>
              <a:ext uri="{FF2B5EF4-FFF2-40B4-BE49-F238E27FC236}">
                <a16:creationId xmlns:a16="http://schemas.microsoft.com/office/drawing/2014/main" id="{624AD309-5CBA-43A1-A92F-893AEE6F62B9}"/>
              </a:ext>
            </a:extLst>
          </p:cNvPr>
          <p:cNvSpPr>
            <a:spLocks noGrp="1"/>
          </p:cNvSpPr>
          <p:nvPr>
            <p:ph idx="1"/>
          </p:nvPr>
        </p:nvSpPr>
        <p:spPr>
          <a:xfrm>
            <a:off x="562708" y="1825625"/>
            <a:ext cx="11043138" cy="4351338"/>
          </a:xfrm>
        </p:spPr>
        <p:txBody>
          <a:bodyPr/>
          <a:lstStyle/>
          <a:p>
            <a:r>
              <a:rPr lang="zh-CN" altLang="en-US" dirty="0">
                <a:solidFill>
                  <a:srgbClr val="FF0000"/>
                </a:solidFill>
              </a:rPr>
              <a:t>大部分</a:t>
            </a:r>
            <a:r>
              <a:rPr lang="en-US" altLang="zh-CN" dirty="0">
                <a:solidFill>
                  <a:srgbClr val="FF0000"/>
                </a:solidFill>
              </a:rPr>
              <a:t>ARM</a:t>
            </a:r>
            <a:r>
              <a:rPr lang="zh-CN" altLang="en-US" dirty="0">
                <a:solidFill>
                  <a:srgbClr val="FF0000"/>
                </a:solidFill>
              </a:rPr>
              <a:t>指令都可以加执行条件</a:t>
            </a:r>
            <a:endParaRPr lang="en-US" altLang="zh-CN" dirty="0">
              <a:solidFill>
                <a:srgbClr val="FF0000"/>
              </a:solidFill>
            </a:endParaRPr>
          </a:p>
          <a:p>
            <a:pPr lvl="1"/>
            <a:r>
              <a:rPr lang="en-US" altLang="zh-CN" dirty="0"/>
              <a:t>A feature of the ARM instruction set is that nearly all instructions are conditional</a:t>
            </a:r>
            <a:endParaRPr lang="zh-CN" altLang="en-US" dirty="0"/>
          </a:p>
        </p:txBody>
      </p:sp>
      <p:pic>
        <p:nvPicPr>
          <p:cNvPr id="7" name="图片 6">
            <a:extLst>
              <a:ext uri="{FF2B5EF4-FFF2-40B4-BE49-F238E27FC236}">
                <a16:creationId xmlns:a16="http://schemas.microsoft.com/office/drawing/2014/main" id="{F3059457-B9B9-45D9-BB07-AE3386B85796}"/>
              </a:ext>
            </a:extLst>
          </p:cNvPr>
          <p:cNvPicPr>
            <a:picLocks noChangeAspect="1"/>
          </p:cNvPicPr>
          <p:nvPr/>
        </p:nvPicPr>
        <p:blipFill>
          <a:blip r:embed="rId2"/>
          <a:stretch>
            <a:fillRect/>
          </a:stretch>
        </p:blipFill>
        <p:spPr>
          <a:xfrm>
            <a:off x="711591" y="3372729"/>
            <a:ext cx="10768818" cy="3002908"/>
          </a:xfrm>
          <a:prstGeom prst="rect">
            <a:avLst/>
          </a:prstGeom>
          <a:ln>
            <a:solidFill>
              <a:srgbClr val="7030A0"/>
            </a:solidFill>
          </a:ln>
        </p:spPr>
      </p:pic>
    </p:spTree>
    <p:extLst>
      <p:ext uri="{BB962C8B-B14F-4D97-AF65-F5344CB8AC3E}">
        <p14:creationId xmlns:p14="http://schemas.microsoft.com/office/powerpoint/2010/main" val="3826553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FF2CE-95DF-4972-B556-01737B575456}"/>
              </a:ext>
            </a:extLst>
          </p:cNvPr>
          <p:cNvSpPr>
            <a:spLocks noGrp="1"/>
          </p:cNvSpPr>
          <p:nvPr>
            <p:ph type="title"/>
          </p:nvPr>
        </p:nvSpPr>
        <p:spPr/>
        <p:txBody>
          <a:bodyPr/>
          <a:lstStyle/>
          <a:p>
            <a:r>
              <a:rPr lang="zh-CN" altLang="en-US" dirty="0"/>
              <a:t>分支和控制指令</a:t>
            </a:r>
          </a:p>
        </p:txBody>
      </p:sp>
      <p:sp>
        <p:nvSpPr>
          <p:cNvPr id="3" name="内容占位符 2">
            <a:extLst>
              <a:ext uri="{FF2B5EF4-FFF2-40B4-BE49-F238E27FC236}">
                <a16:creationId xmlns:a16="http://schemas.microsoft.com/office/drawing/2014/main" id="{2154312D-2A14-430C-871F-C0990687A168}"/>
              </a:ext>
            </a:extLst>
          </p:cNvPr>
          <p:cNvSpPr>
            <a:spLocks noGrp="1"/>
          </p:cNvSpPr>
          <p:nvPr>
            <p:ph idx="1"/>
          </p:nvPr>
        </p:nvSpPr>
        <p:spPr>
          <a:xfrm>
            <a:off x="838200" y="1463040"/>
            <a:ext cx="10515600" cy="4713923"/>
          </a:xfrm>
        </p:spPr>
        <p:txBody>
          <a:bodyPr/>
          <a:lstStyle/>
          <a:p>
            <a:r>
              <a:rPr lang="zh-CN" altLang="en-US" dirty="0"/>
              <a:t>无条件跳转指令</a:t>
            </a:r>
            <a:r>
              <a:rPr lang="en-US" altLang="zh-CN" dirty="0"/>
              <a:t>B</a:t>
            </a:r>
          </a:p>
          <a:p>
            <a:r>
              <a:rPr lang="zh-CN" altLang="en-US" dirty="0"/>
              <a:t> 有条件跳转指令</a:t>
            </a:r>
            <a:r>
              <a:rPr lang="en-US" altLang="zh-CN" dirty="0"/>
              <a:t>BXX</a:t>
            </a:r>
            <a:r>
              <a:rPr lang="zh-CN" altLang="en-US" dirty="0"/>
              <a:t>，</a:t>
            </a:r>
            <a:r>
              <a:rPr lang="en-US" altLang="zh-CN" dirty="0"/>
              <a:t>XX</a:t>
            </a:r>
            <a:r>
              <a:rPr lang="zh-CN" altLang="en-US" dirty="0"/>
              <a:t>是条件编码</a:t>
            </a:r>
          </a:p>
        </p:txBody>
      </p:sp>
      <p:pic>
        <p:nvPicPr>
          <p:cNvPr id="7" name="图片 6">
            <a:extLst>
              <a:ext uri="{FF2B5EF4-FFF2-40B4-BE49-F238E27FC236}">
                <a16:creationId xmlns:a16="http://schemas.microsoft.com/office/drawing/2014/main" id="{56ACCE60-9A80-4F78-8CA1-A6A807C78F0F}"/>
              </a:ext>
            </a:extLst>
          </p:cNvPr>
          <p:cNvPicPr>
            <a:picLocks noChangeAspect="1"/>
          </p:cNvPicPr>
          <p:nvPr/>
        </p:nvPicPr>
        <p:blipFill>
          <a:blip r:embed="rId2"/>
          <a:stretch>
            <a:fillRect/>
          </a:stretch>
        </p:blipFill>
        <p:spPr>
          <a:xfrm>
            <a:off x="574431" y="3031967"/>
            <a:ext cx="11043138" cy="3420562"/>
          </a:xfrm>
          <a:prstGeom prst="rect">
            <a:avLst/>
          </a:prstGeom>
        </p:spPr>
      </p:pic>
    </p:spTree>
    <p:extLst>
      <p:ext uri="{BB962C8B-B14F-4D97-AF65-F5344CB8AC3E}">
        <p14:creationId xmlns:p14="http://schemas.microsoft.com/office/powerpoint/2010/main" val="40006857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p:txBody>
          <a:bodyPr/>
          <a:lstStyle/>
          <a:p>
            <a:r>
              <a:rPr lang="zh-CN" altLang="en-US" dirty="0"/>
              <a:t>算数运算指令</a:t>
            </a:r>
            <a:endParaRPr lang="en-US" altLang="zh-CN" dirty="0"/>
          </a:p>
        </p:txBody>
      </p:sp>
      <p:sp>
        <p:nvSpPr>
          <p:cNvPr id="3" name="文本框 2">
            <a:extLst>
              <a:ext uri="{FF2B5EF4-FFF2-40B4-BE49-F238E27FC236}">
                <a16:creationId xmlns:a16="http://schemas.microsoft.com/office/drawing/2014/main" id="{9F1EB8B4-080C-1292-6979-34CB2CE959EC}"/>
              </a:ext>
            </a:extLst>
          </p:cNvPr>
          <p:cNvSpPr txBox="1"/>
          <p:nvPr/>
        </p:nvSpPr>
        <p:spPr>
          <a:xfrm>
            <a:off x="375334" y="2066950"/>
            <a:ext cx="11117239" cy="4094647"/>
          </a:xfrm>
          <a:prstGeom prst="rect">
            <a:avLst/>
          </a:prstGeom>
          <a:noFill/>
        </p:spPr>
        <p:txBody>
          <a:bodyPr wrap="square" rtlCol="0">
            <a:spAutoFit/>
          </a:bodyPr>
          <a:lstStyle/>
          <a:p>
            <a:pPr>
              <a:lnSpc>
                <a:spcPct val="150000"/>
              </a:lnSpc>
            </a:pP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ADD</a:t>
            </a:r>
            <a:r>
              <a:rPr lang="zh-CN" altLang="en-US"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加法指令</a:t>
            </a:r>
            <a:endPar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400" dirty="0">
                <a:latin typeface="Times New Roman" panose="02020603050405020304" pitchFamily="18" charset="0"/>
                <a:ea typeface="Tahoma" panose="020B0604030504040204" pitchFamily="34" charset="0"/>
                <a:cs typeface="Times New Roman" panose="02020603050405020304" pitchFamily="18" charset="0"/>
              </a:rPr>
              <a:t>	ADD R0, R1, #5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 	@R0</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R1+5</a:t>
            </a:r>
          </a:p>
          <a:p>
            <a:pPr>
              <a:lnSpc>
                <a:spcPct val="150000"/>
              </a:lnSpc>
            </a:pPr>
            <a:r>
              <a:rPr lang="en-US" altLang="zh-CN" sz="2400" dirty="0">
                <a:latin typeface="Times New Roman" panose="02020603050405020304" pitchFamily="18" charset="0"/>
                <a:ea typeface="Tahoma" panose="020B0604030504040204" pitchFamily="34" charset="0"/>
                <a:cs typeface="Times New Roman" panose="02020603050405020304" pitchFamily="18" charset="0"/>
              </a:rPr>
              <a:t>	ADD R0, R1, R2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R0</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R1+R2</a:t>
            </a:r>
          </a:p>
          <a:p>
            <a:pPr>
              <a:lnSpc>
                <a:spcPct val="150000"/>
              </a:lnSpc>
            </a:pPr>
            <a:r>
              <a:rPr lang="en-US" altLang="zh-CN" sz="2400" dirty="0">
                <a:latin typeface="Times New Roman" panose="02020603050405020304" pitchFamily="18" charset="0"/>
                <a:ea typeface="Tahoma" panose="020B0604030504040204" pitchFamily="34" charset="0"/>
                <a:cs typeface="Times New Roman" panose="02020603050405020304" pitchFamily="18" charset="0"/>
              </a:rPr>
              <a:t>	ADDS R0, R1, R2, LSL #5		@</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R0</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R1+R2</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左移</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5</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位，更新</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CPSR</a:t>
            </a:r>
          </a:p>
          <a:p>
            <a:pPr>
              <a:lnSpc>
                <a:spcPct val="150000"/>
              </a:lnSpc>
            </a:pP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SUB</a:t>
            </a:r>
            <a:r>
              <a:rPr lang="zh-CN" altLang="en-US"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减法指令</a:t>
            </a:r>
            <a:endPar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400" dirty="0">
                <a:latin typeface="Times New Roman" panose="02020603050405020304" pitchFamily="18" charset="0"/>
                <a:ea typeface="Tahoma" panose="020B0604030504040204" pitchFamily="34" charset="0"/>
                <a:cs typeface="Times New Roman" panose="02020603050405020304" pitchFamily="18" charset="0"/>
              </a:rPr>
              <a:t>	SUB R0, R1, R2</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				R0</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R1-R2</a:t>
            </a:r>
          </a:p>
          <a:p>
            <a:pPr>
              <a:lnSpc>
                <a:spcPct val="150000"/>
              </a:lnSpc>
            </a:pPr>
            <a:r>
              <a:rPr lang="en-US" altLang="zh-CN" sz="2400" dirty="0">
                <a:latin typeface="Times New Roman" panose="02020603050405020304" pitchFamily="18" charset="0"/>
                <a:ea typeface="Tahoma" panose="020B0604030504040204" pitchFamily="34" charset="0"/>
                <a:cs typeface="Times New Roman" panose="02020603050405020304" pitchFamily="18" charset="0"/>
              </a:rPr>
              <a:t>	SUBS R0, R1, R2, LSL #5</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		R0</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R1-R2</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左移</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5</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位，更新</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CPSR</a:t>
            </a:r>
          </a:p>
        </p:txBody>
      </p:sp>
    </p:spTree>
    <p:extLst>
      <p:ext uri="{BB962C8B-B14F-4D97-AF65-F5344CB8AC3E}">
        <p14:creationId xmlns:p14="http://schemas.microsoft.com/office/powerpoint/2010/main" val="3035721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a:xfrm>
            <a:off x="838200" y="625652"/>
            <a:ext cx="10515600" cy="784224"/>
          </a:xfrm>
        </p:spPr>
        <p:txBody>
          <a:bodyPr/>
          <a:lstStyle/>
          <a:p>
            <a:r>
              <a:rPr lang="zh-CN" altLang="en-US" dirty="0"/>
              <a:t>逻辑运算指令</a:t>
            </a:r>
            <a:endParaRPr lang="en-US" altLang="zh-CN" dirty="0"/>
          </a:p>
        </p:txBody>
      </p:sp>
      <p:sp>
        <p:nvSpPr>
          <p:cNvPr id="3" name="文本框 2">
            <a:extLst>
              <a:ext uri="{FF2B5EF4-FFF2-40B4-BE49-F238E27FC236}">
                <a16:creationId xmlns:a16="http://schemas.microsoft.com/office/drawing/2014/main" id="{AB39912D-A380-ADB5-6724-7393AE619734}"/>
              </a:ext>
            </a:extLst>
          </p:cNvPr>
          <p:cNvSpPr txBox="1"/>
          <p:nvPr/>
        </p:nvSpPr>
        <p:spPr>
          <a:xfrm>
            <a:off x="326097" y="2313135"/>
            <a:ext cx="11117239" cy="3632982"/>
          </a:xfrm>
          <a:prstGeom prst="rect">
            <a:avLst/>
          </a:prstGeom>
          <a:noFill/>
        </p:spPr>
        <p:txBody>
          <a:bodyPr wrap="square" rtlCol="0">
            <a:spAutoFit/>
          </a:bodyPr>
          <a:lstStyle/>
          <a:p>
            <a:pPr>
              <a:lnSpc>
                <a:spcPct val="150000"/>
              </a:lnSpc>
            </a:pP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AND</a:t>
            </a:r>
            <a:r>
              <a:rPr lang="zh-CN" altLang="en-US"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逻辑与指令</a:t>
            </a:r>
            <a:endPar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400" dirty="0">
                <a:latin typeface="Times New Roman" panose="02020603050405020304" pitchFamily="18" charset="0"/>
                <a:ea typeface="Tahoma" panose="020B0604030504040204" pitchFamily="34" charset="0"/>
                <a:cs typeface="Times New Roman" panose="02020603050405020304" pitchFamily="18" charset="0"/>
              </a:rPr>
              <a:t>	AND R0, R0, #5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 	</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保持</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R0</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的第</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0</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位和第</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2</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位，其余位清</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0</a:t>
            </a:r>
          </a:p>
          <a:p>
            <a:pPr>
              <a:lnSpc>
                <a:spcPct val="150000"/>
              </a:lnSpc>
            </a:pP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ORR</a:t>
            </a:r>
            <a:r>
              <a:rPr lang="zh-CN" altLang="en-US"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逻辑或指令</a:t>
            </a:r>
            <a:endPar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400" dirty="0">
                <a:latin typeface="Times New Roman" panose="02020603050405020304" pitchFamily="18" charset="0"/>
                <a:ea typeface="Tahoma" panose="020B0604030504040204" pitchFamily="34" charset="0"/>
                <a:cs typeface="Times New Roman" panose="02020603050405020304" pitchFamily="18" charset="0"/>
              </a:rPr>
              <a:t>	ORR R0, R0, #5</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				R0</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的第</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0</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位和第</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2</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位设置为</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1</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，其余位不变</a:t>
            </a:r>
            <a:endPar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endParaRPr>
          </a:p>
          <a:p>
            <a:pPr>
              <a:lnSpc>
                <a:spcPct val="150000"/>
              </a:lnSpc>
            </a:pP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EOR</a:t>
            </a:r>
            <a:r>
              <a:rPr lang="zh-CN" altLang="en-US"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逻辑异或指令</a:t>
            </a:r>
            <a:endPar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400" dirty="0">
                <a:latin typeface="Times New Roman" panose="02020603050405020304" pitchFamily="18" charset="0"/>
                <a:ea typeface="Tahoma" panose="020B0604030504040204" pitchFamily="34" charset="0"/>
                <a:cs typeface="Times New Roman" panose="02020603050405020304" pitchFamily="18" charset="0"/>
              </a:rPr>
              <a:t>	EOR</a:t>
            </a:r>
            <a:r>
              <a:rPr lang="en-US" altLang="zh-CN" sz="24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S</a:t>
            </a:r>
            <a:r>
              <a:rPr lang="en-US" altLang="zh-CN" sz="2400" dirty="0">
                <a:latin typeface="Times New Roman" panose="02020603050405020304" pitchFamily="18" charset="0"/>
                <a:ea typeface="Tahoma" panose="020B0604030504040204" pitchFamily="34" charset="0"/>
                <a:cs typeface="Times New Roman" panose="02020603050405020304" pitchFamily="18" charset="0"/>
              </a:rPr>
              <a:t> R0, R0, #5</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				R0</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的第</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0</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位和第</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2</a:t>
            </a:r>
            <a:r>
              <a:rPr lang="zh-CN" altLang="en-US" sz="2400" b="1" dirty="0">
                <a:solidFill>
                  <a:schemeClr val="tx1">
                    <a:lumMod val="50000"/>
                    <a:lumOff val="50000"/>
                  </a:schemeClr>
                </a:solidFill>
                <a:latin typeface="Times New Roman" panose="02020603050405020304" pitchFamily="18" charset="0"/>
                <a:cs typeface="Times New Roman" panose="02020603050405020304" pitchFamily="18" charset="0"/>
              </a:rPr>
              <a:t>位取反，其余位不变，更新</a:t>
            </a:r>
            <a:r>
              <a:rPr lang="en-US" altLang="zh-CN" sz="2400" b="1" dirty="0">
                <a:solidFill>
                  <a:schemeClr val="tx1">
                    <a:lumMod val="50000"/>
                    <a:lumOff val="50000"/>
                  </a:schemeClr>
                </a:solidFill>
                <a:latin typeface="Times New Roman" panose="02020603050405020304" pitchFamily="18" charset="0"/>
                <a:cs typeface="Times New Roman" panose="02020603050405020304" pitchFamily="18" charset="0"/>
              </a:rPr>
              <a:t>CPSR</a:t>
            </a:r>
          </a:p>
        </p:txBody>
      </p:sp>
    </p:spTree>
    <p:extLst>
      <p:ext uri="{BB962C8B-B14F-4D97-AF65-F5344CB8AC3E}">
        <p14:creationId xmlns:p14="http://schemas.microsoft.com/office/powerpoint/2010/main" val="24410055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a:xfrm>
            <a:off x="838200" y="803075"/>
            <a:ext cx="10515600" cy="784224"/>
          </a:xfrm>
        </p:spPr>
        <p:txBody>
          <a:bodyPr/>
          <a:lstStyle/>
          <a:p>
            <a:r>
              <a:rPr lang="zh-CN" altLang="en-US" dirty="0"/>
              <a:t>移位运算指令</a:t>
            </a:r>
            <a:endParaRPr lang="en-US" altLang="zh-CN" dirty="0"/>
          </a:p>
        </p:txBody>
      </p:sp>
      <p:graphicFrame>
        <p:nvGraphicFramePr>
          <p:cNvPr id="5" name="表格 5">
            <a:extLst>
              <a:ext uri="{FF2B5EF4-FFF2-40B4-BE49-F238E27FC236}">
                <a16:creationId xmlns:a16="http://schemas.microsoft.com/office/drawing/2014/main" id="{F4B8F31A-40CE-478F-8264-35FDC7CB6BF1}"/>
              </a:ext>
            </a:extLst>
          </p:cNvPr>
          <p:cNvGraphicFramePr>
            <a:graphicFrameLocks noGrp="1"/>
          </p:cNvGraphicFramePr>
          <p:nvPr>
            <p:extLst>
              <p:ext uri="{D42A27DB-BD31-4B8C-83A1-F6EECF244321}">
                <p14:modId xmlns:p14="http://schemas.microsoft.com/office/powerpoint/2010/main" val="27799734"/>
              </p:ext>
            </p:extLst>
          </p:nvPr>
        </p:nvGraphicFramePr>
        <p:xfrm>
          <a:off x="485285" y="1702191"/>
          <a:ext cx="11221430" cy="4799463"/>
        </p:xfrm>
        <a:graphic>
          <a:graphicData uri="http://schemas.openxmlformats.org/drawingml/2006/table">
            <a:tbl>
              <a:tblPr firstRow="1" bandRow="1">
                <a:tableStyleId>{5C22544A-7EE6-4342-B048-85BDC9FD1C3A}</a:tableStyleId>
              </a:tblPr>
              <a:tblGrid>
                <a:gridCol w="3607117">
                  <a:extLst>
                    <a:ext uri="{9D8B030D-6E8A-4147-A177-3AD203B41FA5}">
                      <a16:colId xmlns:a16="http://schemas.microsoft.com/office/drawing/2014/main" val="3729393184"/>
                    </a:ext>
                  </a:extLst>
                </a:gridCol>
                <a:gridCol w="7614313">
                  <a:extLst>
                    <a:ext uri="{9D8B030D-6E8A-4147-A177-3AD203B41FA5}">
                      <a16:colId xmlns:a16="http://schemas.microsoft.com/office/drawing/2014/main" val="1449412870"/>
                    </a:ext>
                  </a:extLst>
                </a:gridCol>
              </a:tblGrid>
              <a:tr h="684663">
                <a:tc>
                  <a:txBody>
                    <a:bodyPr/>
                    <a:lstStyle/>
                    <a:p>
                      <a:pPr algn="ct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指令</a:t>
                      </a:r>
                    </a:p>
                  </a:txBody>
                  <a:tcPr anchor="ctr"/>
                </a:tc>
                <a:tc>
                  <a:txBody>
                    <a:bodyPr/>
                    <a:lstStyle/>
                    <a:p>
                      <a:pPr algn="ct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说明</a:t>
                      </a:r>
                    </a:p>
                  </a:txBody>
                  <a:tcPr anchor="ctr"/>
                </a:tc>
                <a:extLst>
                  <a:ext uri="{0D108BD9-81ED-4DB2-BD59-A6C34878D82A}">
                    <a16:rowId xmlns:a16="http://schemas.microsoft.com/office/drawing/2014/main" val="3769028612"/>
                  </a:ext>
                </a:extLst>
              </a:tr>
              <a:tr h="684663">
                <a:tc>
                  <a:txBody>
                    <a:bodyPr/>
                    <a:lstStyle/>
                    <a:p>
                      <a:pPr algn="ct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ASR</a:t>
                      </a:r>
                    </a:p>
                    <a:p>
                      <a:pPr algn="ct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Arithmetic Shift Right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a:txBody>
                  <a:tcPr anchor="ctr"/>
                </a:tc>
                <a:tc>
                  <a:txBody>
                    <a:bodyPr/>
                    <a:lstStyle/>
                    <a:p>
                      <a:pPr algn="l"/>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算数右移</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&gt;&gt;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（结果带符号）</a:t>
                      </a:r>
                    </a:p>
                  </a:txBody>
                  <a:tcPr anchor="ctr"/>
                </a:tc>
                <a:extLst>
                  <a:ext uri="{0D108BD9-81ED-4DB2-BD59-A6C34878D82A}">
                    <a16:rowId xmlns:a16="http://schemas.microsoft.com/office/drawing/2014/main" val="3852123554"/>
                  </a:ext>
                </a:extLst>
              </a:tr>
              <a:tr h="684663">
                <a:tc>
                  <a:txBody>
                    <a:bodyPr/>
                    <a:lstStyle/>
                    <a:p>
                      <a:pPr algn="ct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LSL</a:t>
                      </a:r>
                    </a:p>
                    <a:p>
                      <a:pPr algn="ct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Logical Shift Left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a:txBody>
                  <a:tcPr anchor="ctr"/>
                </a:tc>
                <a:tc>
                  <a:txBody>
                    <a:bodyPr/>
                    <a:lstStyle/>
                    <a:p>
                      <a:pPr algn="l"/>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逻辑左移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&lt;&lt;</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3732431473"/>
                  </a:ext>
                </a:extLst>
              </a:tr>
              <a:tr h="684663">
                <a:tc>
                  <a:txBody>
                    <a:bodyPr/>
                    <a:lstStyle/>
                    <a:p>
                      <a:pPr algn="ct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LSR</a:t>
                      </a:r>
                    </a:p>
                    <a:p>
                      <a:pPr algn="ct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Logical Shift Right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a:txBody>
                  <a:tcPr anchor="ctr"/>
                </a:tc>
                <a:tc>
                  <a:txBody>
                    <a:bodyPr/>
                    <a:lstStyle/>
                    <a:p>
                      <a:pPr algn="l"/>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逻辑右移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&gt;&gt;</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3502301252"/>
                  </a:ext>
                </a:extLst>
              </a:tr>
              <a:tr h="684663">
                <a:tc>
                  <a:txBody>
                    <a:bodyPr/>
                    <a:lstStyle/>
                    <a:p>
                      <a:pPr algn="ct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ROR</a:t>
                      </a:r>
                    </a:p>
                    <a:p>
                      <a:pPr algn="ct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Rotate Right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a:txBody>
                  <a:tcPr anchor="ctr"/>
                </a:tc>
                <a:tc>
                  <a:txBody>
                    <a:bodyPr/>
                    <a:lstStyle/>
                    <a:p>
                      <a:pPr algn="l"/>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循环右移：头尾相连</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489409989"/>
                  </a:ext>
                </a:extLst>
              </a:tr>
              <a:tr h="684663">
                <a:tc>
                  <a:txBody>
                    <a:bodyPr/>
                    <a:lstStyle/>
                    <a:p>
                      <a:pPr algn="ct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SXTB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SXTH</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UXTB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UXTH</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nchor="ctr"/>
                </a:tc>
                <a:tc>
                  <a:txBody>
                    <a:bodyPr/>
                    <a:lstStyle/>
                    <a:p>
                      <a:pPr algn="l"/>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字节、半字、字符号</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扩展移位运算</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2437215152"/>
                  </a:ext>
                </a:extLst>
              </a:tr>
            </a:tbl>
          </a:graphicData>
        </a:graphic>
      </p:graphicFrame>
    </p:spTree>
    <p:extLst>
      <p:ext uri="{BB962C8B-B14F-4D97-AF65-F5344CB8AC3E}">
        <p14:creationId xmlns:p14="http://schemas.microsoft.com/office/powerpoint/2010/main" val="17582397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9C0DD03-09E8-47CC-B62C-87E961B23D5C}"/>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ARM</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MOV</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指令与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x86</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MOV</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指令有什么区别？</a:t>
            </a:r>
          </a:p>
        </p:txBody>
      </p:sp>
      <p:sp>
        <p:nvSpPr>
          <p:cNvPr id="5" name="矩形: 圆角 4">
            <a:extLst>
              <a:ext uri="{FF2B5EF4-FFF2-40B4-BE49-F238E27FC236}">
                <a16:creationId xmlns:a16="http://schemas.microsoft.com/office/drawing/2014/main" id="{D3A3B0F5-1A21-4573-BA04-BDF841F2F8F5}"/>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0" name="组合 9">
            <a:extLst>
              <a:ext uri="{FF2B5EF4-FFF2-40B4-BE49-F238E27FC236}">
                <a16:creationId xmlns:a16="http://schemas.microsoft.com/office/drawing/2014/main" id="{CA8C8328-655D-4474-B0CD-4B7A22C99A56}"/>
              </a:ext>
            </a:extLst>
          </p:cNvPr>
          <p:cNvGrpSpPr/>
          <p:nvPr>
            <p:custDataLst>
              <p:tags r:id="rId4"/>
            </p:custDataLst>
          </p:nvPr>
        </p:nvGrpSpPr>
        <p:grpSpPr>
          <a:xfrm>
            <a:off x="0" y="0"/>
            <a:ext cx="12192000" cy="635000"/>
            <a:chOff x="0" y="0"/>
            <a:chExt cx="12192000" cy="635000"/>
          </a:xfrm>
        </p:grpSpPr>
        <p:sp>
          <p:nvSpPr>
            <p:cNvPr id="6" name="TitleBackground">
              <a:extLst>
                <a:ext uri="{FF2B5EF4-FFF2-40B4-BE49-F238E27FC236}">
                  <a16:creationId xmlns:a16="http://schemas.microsoft.com/office/drawing/2014/main" id="{017DAB3B-063E-4AE2-82C2-2842948286CD}"/>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A4B0DF3E-6D25-4951-9592-C520FD751FAA}"/>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ABA06382-AB40-4FD0-A990-DC40CE27D02C}"/>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9" name="TipText">
              <a:extLst>
                <a:ext uri="{FF2B5EF4-FFF2-40B4-BE49-F238E27FC236}">
                  <a16:creationId xmlns:a16="http://schemas.microsoft.com/office/drawing/2014/main" id="{91B13E2C-8CD6-4F7B-8D9D-3C3AA6949EB4}"/>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1BEBA412-AD35-4636-8592-3555805003EA}"/>
              </a:ext>
            </a:extLst>
          </p:cNvPr>
          <p:cNvPicPr>
            <a:picLocks/>
          </p:cNvPicPr>
          <p:nvPr>
            <p:custDataLst>
              <p:tags r:id="rId5"/>
            </p:custDataLst>
          </p:nvPr>
        </p:nvPicPr>
        <p:blipFill>
          <a:blip r:embed="rId1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926889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9E00972-92E7-48B0-87FE-48D408352993}"/>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以下哪些</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ARM</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指令可以访问内存？</a:t>
            </a:r>
          </a:p>
        </p:txBody>
      </p:sp>
      <p:sp>
        <p:nvSpPr>
          <p:cNvPr id="7" name="文本框 6">
            <a:extLst>
              <a:ext uri="{FF2B5EF4-FFF2-40B4-BE49-F238E27FC236}">
                <a16:creationId xmlns:a16="http://schemas.microsoft.com/office/drawing/2014/main" id="{9693011C-ED9F-44D3-8761-B7781170745C}"/>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LDR</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4D3A1B61-AB7D-44C6-993F-E8A95A5CCB4D}"/>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MOV</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009CC2D7-4C77-46D3-95F9-BC97E1FCF25D}"/>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ADD</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37F9A23E-6F71-456C-884E-0C32EEB5BDE2}"/>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STR</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a:extLst>
              <a:ext uri="{FF2B5EF4-FFF2-40B4-BE49-F238E27FC236}">
                <a16:creationId xmlns:a16="http://schemas.microsoft.com/office/drawing/2014/main" id="{ABE59EEB-83BD-4169-94D6-37781883EAF9}"/>
              </a:ext>
            </a:extLst>
          </p:cNvPr>
          <p:cNvSpPr>
            <a:spLocks noChangeAspect="1"/>
          </p:cNvSpPr>
          <p:nvPr>
            <p:custDataLst>
              <p:tags r:id="rId7"/>
            </p:custDataLst>
          </p:nvPr>
        </p:nvSpPr>
        <p:spPr>
          <a:xfrm>
            <a:off x="15716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B77BCB9B-8321-4242-8A1A-1ED182B41BDB}"/>
              </a:ext>
            </a:extLst>
          </p:cNvPr>
          <p:cNvSpPr>
            <a:spLocks noChangeAspect="1"/>
          </p:cNvSpPr>
          <p:nvPr>
            <p:custDataLst>
              <p:tags r:id="rId8"/>
            </p:custDataLst>
          </p:nvPr>
        </p:nvSpPr>
        <p:spPr>
          <a:xfrm>
            <a:off x="1571625" y="37076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a:extLst>
              <a:ext uri="{FF2B5EF4-FFF2-40B4-BE49-F238E27FC236}">
                <a16:creationId xmlns:a16="http://schemas.microsoft.com/office/drawing/2014/main" id="{DF799B24-E562-4978-AF37-7D3AF9974482}"/>
              </a:ext>
            </a:extLst>
          </p:cNvPr>
          <p:cNvSpPr>
            <a:spLocks noChangeAspect="1"/>
          </p:cNvSpPr>
          <p:nvPr>
            <p:custDataLst>
              <p:tags r:id="rId9"/>
            </p:custDataLst>
          </p:nvPr>
        </p:nvSpPr>
        <p:spPr>
          <a:xfrm>
            <a:off x="1571625" y="45648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13">
            <a:extLst>
              <a:ext uri="{FF2B5EF4-FFF2-40B4-BE49-F238E27FC236}">
                <a16:creationId xmlns:a16="http://schemas.microsoft.com/office/drawing/2014/main" id="{8AEDE0B7-27F2-4EFA-9B23-7C3EC7F75997}"/>
              </a:ext>
            </a:extLst>
          </p:cNvPr>
          <p:cNvSpPr>
            <a:spLocks noChangeAspect="1"/>
          </p:cNvSpPr>
          <p:nvPr>
            <p:custDataLst>
              <p:tags r:id="rId10"/>
            </p:custDataLst>
          </p:nvPr>
        </p:nvSpPr>
        <p:spPr>
          <a:xfrm>
            <a:off x="1571625"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95680E6C-5EC3-4FD0-8ECE-A1B7C47F5F88}"/>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2D03D15B-6A99-4E86-B5C6-3D65B649D345}"/>
              </a:ext>
            </a:extLst>
          </p:cNvPr>
          <p:cNvGrpSpPr/>
          <p:nvPr>
            <p:custDataLst>
              <p:tags r:id="rId12"/>
            </p:custDataLst>
          </p:nvPr>
        </p:nvGrpSpPr>
        <p:grpSpPr>
          <a:xfrm>
            <a:off x="0" y="0"/>
            <a:ext cx="12192000" cy="635000"/>
            <a:chOff x="0" y="0"/>
            <a:chExt cx="12192000" cy="635000"/>
          </a:xfrm>
        </p:grpSpPr>
        <p:sp>
          <p:nvSpPr>
            <p:cNvPr id="16" name="TitleBackground">
              <a:extLst>
                <a:ext uri="{FF2B5EF4-FFF2-40B4-BE49-F238E27FC236}">
                  <a16:creationId xmlns:a16="http://schemas.microsoft.com/office/drawing/2014/main" id="{DEF74563-D95D-48B1-8230-06E760CED010}"/>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73500A5B-51DC-4602-B990-26087D42A7B9}"/>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0A29A0CE-81A1-4EBD-809E-85A4350FB0DA}"/>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9" name="TipText">
              <a:extLst>
                <a:ext uri="{FF2B5EF4-FFF2-40B4-BE49-F238E27FC236}">
                  <a16:creationId xmlns:a16="http://schemas.microsoft.com/office/drawing/2014/main" id="{4BD2484C-E53C-4808-A8F9-4BFD1D5A35F3}"/>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FD22AABA-6F5D-40A9-9D6B-50AB0FA1BB34}"/>
              </a:ext>
            </a:extLst>
          </p:cNvPr>
          <p:cNvPicPr>
            <a:picLocks/>
          </p:cNvPicPr>
          <p:nvPr>
            <p:custDataLst>
              <p:tags r:id="rId13"/>
            </p:custDataLst>
          </p:nvPr>
        </p:nvPicPr>
        <p:blipFill>
          <a:blip r:embed="rId19"/>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023526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700CA8-71C1-4E25-B562-0D23BE769A9F}"/>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以下哪些</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ARM</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指令会影响</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CPSR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5" name="文本框 4">
            <a:extLst>
              <a:ext uri="{FF2B5EF4-FFF2-40B4-BE49-F238E27FC236}">
                <a16:creationId xmlns:a16="http://schemas.microsoft.com/office/drawing/2014/main" id="{4566789B-1C52-4410-AE98-8F8509003C37}"/>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MOV</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47DFF422-CD76-4872-A77B-C3F643736917}"/>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ADD</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71500D49-88A4-4124-AE4D-69C637F516BE}"/>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ADDS</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318270CC-26E8-4B2C-B979-DB17258EC6A2}"/>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EORS</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a:extLst>
              <a:ext uri="{FF2B5EF4-FFF2-40B4-BE49-F238E27FC236}">
                <a16:creationId xmlns:a16="http://schemas.microsoft.com/office/drawing/2014/main" id="{5E584DA9-A869-4593-B981-9E8A9BA3BDC6}"/>
              </a:ext>
            </a:extLst>
          </p:cNvPr>
          <p:cNvSpPr>
            <a:spLocks noChangeAspect="1"/>
          </p:cNvSpPr>
          <p:nvPr>
            <p:custDataLst>
              <p:tags r:id="rId7"/>
            </p:custDataLst>
          </p:nvPr>
        </p:nvSpPr>
        <p:spPr>
          <a:xfrm>
            <a:off x="1571625" y="28503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a:extLst>
              <a:ext uri="{FF2B5EF4-FFF2-40B4-BE49-F238E27FC236}">
                <a16:creationId xmlns:a16="http://schemas.microsoft.com/office/drawing/2014/main" id="{DB68606D-B62B-4D9B-A9A6-A67CF5A20EF2}"/>
              </a:ext>
            </a:extLst>
          </p:cNvPr>
          <p:cNvSpPr>
            <a:spLocks noChangeAspect="1"/>
          </p:cNvSpPr>
          <p:nvPr>
            <p:custDataLst>
              <p:tags r:id="rId8"/>
            </p:custDataLst>
          </p:nvPr>
        </p:nvSpPr>
        <p:spPr>
          <a:xfrm>
            <a:off x="1571625" y="37076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a:extLst>
              <a:ext uri="{FF2B5EF4-FFF2-40B4-BE49-F238E27FC236}">
                <a16:creationId xmlns:a16="http://schemas.microsoft.com/office/drawing/2014/main" id="{91F4F7EA-613D-4E5E-9425-282ABD3A2DC0}"/>
              </a:ext>
            </a:extLst>
          </p:cNvPr>
          <p:cNvSpPr>
            <a:spLocks noChangeAspect="1"/>
          </p:cNvSpPr>
          <p:nvPr>
            <p:custDataLst>
              <p:tags r:id="rId9"/>
            </p:custDataLst>
          </p:nvPr>
        </p:nvSpPr>
        <p:spPr>
          <a:xfrm>
            <a:off x="1571625"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FE798362-528E-4DC4-B3EF-81511D309BAE}"/>
              </a:ext>
            </a:extLst>
          </p:cNvPr>
          <p:cNvSpPr>
            <a:spLocks noChangeAspect="1"/>
          </p:cNvSpPr>
          <p:nvPr>
            <p:custDataLst>
              <p:tags r:id="rId10"/>
            </p:custDataLst>
          </p:nvPr>
        </p:nvSpPr>
        <p:spPr>
          <a:xfrm>
            <a:off x="1571625"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B9448F74-9A3D-42C2-8705-94E5DBBE7B56}"/>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493DD6F6-3F26-4310-AB5B-C1A1121E6D9C}"/>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9F0CBCD3-D64A-411F-84F0-CCA725CD46C3}"/>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EA76B820-F05B-481A-8C8A-9F2EB2E5516E}"/>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82FC6782-40AD-4609-878B-EC23222AD5C2}"/>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7" name="TipText">
              <a:extLst>
                <a:ext uri="{FF2B5EF4-FFF2-40B4-BE49-F238E27FC236}">
                  <a16:creationId xmlns:a16="http://schemas.microsoft.com/office/drawing/2014/main" id="{1BEEDF7F-F6D8-4B70-88E9-89D2244C67C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410E9680-5DA9-4DC6-A9DD-22458CC15CE5}"/>
              </a:ext>
            </a:extLst>
          </p:cNvPr>
          <p:cNvPicPr>
            <a:picLocks/>
          </p:cNvPicPr>
          <p:nvPr>
            <p:custDataLst>
              <p:tags r:id="rId13"/>
            </p:custDataLst>
          </p:nvPr>
        </p:nvPicPr>
        <p:blipFill>
          <a:blip r:embed="rId19"/>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2310990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87867DF-AB28-4DFA-B8D4-F8F6E088B529}"/>
              </a:ext>
            </a:extLst>
          </p:cNvPr>
          <p:cNvSpPr txBox="1"/>
          <p:nvPr>
            <p:custDataLst>
              <p:tags r:id="rId2"/>
            </p:custDataLst>
          </p:nvPr>
        </p:nvSpPr>
        <p:spPr>
          <a:xfrm>
            <a:off x="1219200" y="1958975"/>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MOV   R1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endPar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MOV   R0, R1, LSL #2</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寄存器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的值是多少？</a:t>
            </a:r>
          </a:p>
        </p:txBody>
      </p:sp>
      <p:sp>
        <p:nvSpPr>
          <p:cNvPr id="5" name="矩形: 圆角 4">
            <a:extLst>
              <a:ext uri="{FF2B5EF4-FFF2-40B4-BE49-F238E27FC236}">
                <a16:creationId xmlns:a16="http://schemas.microsoft.com/office/drawing/2014/main" id="{1886E747-52E4-4F71-B4A8-A8D1C849BCE7}"/>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0" name="组合 9">
            <a:extLst>
              <a:ext uri="{FF2B5EF4-FFF2-40B4-BE49-F238E27FC236}">
                <a16:creationId xmlns:a16="http://schemas.microsoft.com/office/drawing/2014/main" id="{5C8BC753-2B2C-4703-86DD-4CAD3E6624CC}"/>
              </a:ext>
            </a:extLst>
          </p:cNvPr>
          <p:cNvGrpSpPr/>
          <p:nvPr>
            <p:custDataLst>
              <p:tags r:id="rId4"/>
            </p:custDataLst>
          </p:nvPr>
        </p:nvGrpSpPr>
        <p:grpSpPr>
          <a:xfrm>
            <a:off x="0" y="0"/>
            <a:ext cx="12192000" cy="635000"/>
            <a:chOff x="0" y="0"/>
            <a:chExt cx="12192000" cy="635000"/>
          </a:xfrm>
        </p:grpSpPr>
        <p:sp>
          <p:nvSpPr>
            <p:cNvPr id="6" name="TitleBackground">
              <a:extLst>
                <a:ext uri="{FF2B5EF4-FFF2-40B4-BE49-F238E27FC236}">
                  <a16:creationId xmlns:a16="http://schemas.microsoft.com/office/drawing/2014/main" id="{FB39EEC4-76C2-4B1C-AC30-7B0F5E46A084}"/>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2CDF7B68-A9F8-4861-B2AE-B7030C6378A6}"/>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BDA23C63-9019-4E8B-BD32-4EBF18B91E8F}"/>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9" name="TipText">
              <a:extLst>
                <a:ext uri="{FF2B5EF4-FFF2-40B4-BE49-F238E27FC236}">
                  <a16:creationId xmlns:a16="http://schemas.microsoft.com/office/drawing/2014/main" id="{51B57192-57AC-4508-B69D-E3DAAEBA50E1}"/>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577A1F0C-8DE4-4078-A59C-348BB300D4C0}"/>
              </a:ext>
            </a:extLst>
          </p:cNvPr>
          <p:cNvPicPr>
            <a:picLocks/>
          </p:cNvPicPr>
          <p:nvPr>
            <p:custDataLst>
              <p:tags r:id="rId5"/>
            </p:custDataLst>
          </p:nvPr>
        </p:nvPicPr>
        <p:blipFill>
          <a:blip r:embed="rId1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9055516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734F9EF-88B0-4A35-A939-3AF2530AC869}"/>
              </a:ext>
            </a:extLst>
          </p:cNvPr>
          <p:cNvSpPr txBox="1"/>
          <p:nvPr>
            <p:custDataLst>
              <p:tags r:id="rId2"/>
            </p:custDataLst>
          </p:nvPr>
        </p:nvSpPr>
        <p:spPr>
          <a:xfrm>
            <a:off x="1219200" y="635000"/>
            <a:ext cx="9753600" cy="5075604"/>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MOV R0, #4</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CMP R0, 5</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ADDLE R0, R0, #3</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CMP R0, 5</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ADDLE R0, R0, #3</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寄存器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的值是多少？</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圆角 4">
            <a:extLst>
              <a:ext uri="{FF2B5EF4-FFF2-40B4-BE49-F238E27FC236}">
                <a16:creationId xmlns:a16="http://schemas.microsoft.com/office/drawing/2014/main" id="{E6F9851F-183C-4804-8C9E-69AF9EC4BC88}"/>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0" name="组合 9">
            <a:extLst>
              <a:ext uri="{FF2B5EF4-FFF2-40B4-BE49-F238E27FC236}">
                <a16:creationId xmlns:a16="http://schemas.microsoft.com/office/drawing/2014/main" id="{E931C17E-5C85-4670-8DF0-C066CD88581F}"/>
              </a:ext>
            </a:extLst>
          </p:cNvPr>
          <p:cNvGrpSpPr/>
          <p:nvPr>
            <p:custDataLst>
              <p:tags r:id="rId4"/>
            </p:custDataLst>
          </p:nvPr>
        </p:nvGrpSpPr>
        <p:grpSpPr>
          <a:xfrm>
            <a:off x="0" y="0"/>
            <a:ext cx="12192000" cy="635000"/>
            <a:chOff x="0" y="0"/>
            <a:chExt cx="12192000" cy="635000"/>
          </a:xfrm>
        </p:grpSpPr>
        <p:sp>
          <p:nvSpPr>
            <p:cNvPr id="6" name="TitleBackground">
              <a:extLst>
                <a:ext uri="{FF2B5EF4-FFF2-40B4-BE49-F238E27FC236}">
                  <a16:creationId xmlns:a16="http://schemas.microsoft.com/office/drawing/2014/main" id="{F1649485-642E-4620-850B-B486A0CD45EB}"/>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A0ACA5DD-F880-47E1-B866-B6524D0388C4}"/>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BCAC1B5F-9E7F-4642-B6B5-65E6C90F30DA}"/>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9" name="TipText">
              <a:extLst>
                <a:ext uri="{FF2B5EF4-FFF2-40B4-BE49-F238E27FC236}">
                  <a16:creationId xmlns:a16="http://schemas.microsoft.com/office/drawing/2014/main" id="{BE3565B1-3852-4F31-AF03-8C26B513AC58}"/>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6E6D4F1C-D79E-47D8-A2C0-980D089BE887}"/>
              </a:ext>
            </a:extLst>
          </p:cNvPr>
          <p:cNvPicPr>
            <a:picLocks/>
          </p:cNvPicPr>
          <p:nvPr>
            <p:custDataLst>
              <p:tags r:id="rId5"/>
            </p:custDataLst>
          </p:nvPr>
        </p:nvPicPr>
        <p:blipFill>
          <a:blip r:embed="rId1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211560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4727" y="2337582"/>
            <a:ext cx="6400800" cy="1143000"/>
          </a:xfrm>
        </p:spPr>
        <p:txBody>
          <a:bodyPr/>
          <a:lstStyle/>
          <a:p>
            <a:pPr algn="ctr"/>
            <a:r>
              <a:rPr lang="zh-CN" altLang="en-US" dirty="0">
                <a:solidFill>
                  <a:schemeClr val="tx1"/>
                </a:solidFill>
              </a:rPr>
              <a:t>寻址方式</a:t>
            </a:r>
            <a:endParaRPr lang="en-US" dirty="0">
              <a:solidFill>
                <a:schemeClr val="tx1"/>
              </a:solidFill>
            </a:endParaRPr>
          </a:p>
        </p:txBody>
      </p:sp>
    </p:spTree>
    <p:extLst>
      <p:ext uri="{BB962C8B-B14F-4D97-AF65-F5344CB8AC3E}">
        <p14:creationId xmlns:p14="http://schemas.microsoft.com/office/powerpoint/2010/main" val="188217481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1136C93-673B-4190-9DE0-061CAB43CBD3}"/>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x86</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汇编有哪些寻址方式？</a:t>
            </a:r>
          </a:p>
        </p:txBody>
      </p:sp>
      <p:sp>
        <p:nvSpPr>
          <p:cNvPr id="6" name="矩形: 圆角 5">
            <a:extLst>
              <a:ext uri="{FF2B5EF4-FFF2-40B4-BE49-F238E27FC236}">
                <a16:creationId xmlns:a16="http://schemas.microsoft.com/office/drawing/2014/main" id="{77FC68D2-68EA-4C42-BA8C-65B7EDEAEDF9}"/>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1" name="组合 10">
            <a:extLst>
              <a:ext uri="{FF2B5EF4-FFF2-40B4-BE49-F238E27FC236}">
                <a16:creationId xmlns:a16="http://schemas.microsoft.com/office/drawing/2014/main" id="{B55AB85E-52B2-4B5E-8269-4748D6BE0E76}"/>
              </a:ext>
            </a:extLst>
          </p:cNvPr>
          <p:cNvGrpSpPr/>
          <p:nvPr>
            <p:custDataLst>
              <p:tags r:id="rId4"/>
            </p:custDataLst>
          </p:nvPr>
        </p:nvGrpSpPr>
        <p:grpSpPr>
          <a:xfrm>
            <a:off x="0" y="0"/>
            <a:ext cx="12192000" cy="635000"/>
            <a:chOff x="0" y="0"/>
            <a:chExt cx="12192000" cy="635000"/>
          </a:xfrm>
        </p:grpSpPr>
        <p:sp>
          <p:nvSpPr>
            <p:cNvPr id="7" name="TitleBackground">
              <a:extLst>
                <a:ext uri="{FF2B5EF4-FFF2-40B4-BE49-F238E27FC236}">
                  <a16:creationId xmlns:a16="http://schemas.microsoft.com/office/drawing/2014/main" id="{E666214B-97C8-4943-97A0-73CF580FD112}"/>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a:extLst>
                <a:ext uri="{FF2B5EF4-FFF2-40B4-BE49-F238E27FC236}">
                  <a16:creationId xmlns:a16="http://schemas.microsoft.com/office/drawing/2014/main" id="{0D1395AB-32C1-4939-8CCA-FFBD89D0C6FD}"/>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a:extLst>
                <a:ext uri="{FF2B5EF4-FFF2-40B4-BE49-F238E27FC236}">
                  <a16:creationId xmlns:a16="http://schemas.microsoft.com/office/drawing/2014/main" id="{3A44119B-FDC5-4BF0-A893-D57C768248F6}"/>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0" name="TipText">
              <a:extLst>
                <a:ext uri="{FF2B5EF4-FFF2-40B4-BE49-F238E27FC236}">
                  <a16:creationId xmlns:a16="http://schemas.microsoft.com/office/drawing/2014/main" id="{A7179F9D-DB5B-4AB9-8562-7B4CC8BDBAE0}"/>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F7E65D9C-4DCC-4A3E-80CA-9A87E229977B}"/>
              </a:ext>
            </a:extLst>
          </p:cNvPr>
          <p:cNvPicPr>
            <a:picLocks/>
          </p:cNvPicPr>
          <p:nvPr>
            <p:custDataLst>
              <p:tags r:id="rId5"/>
            </p:custDataLst>
          </p:nvPr>
        </p:nvPicPr>
        <p:blipFill>
          <a:blip r:embed="rId1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9519153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8765F8-64AD-4FF2-B99A-24C672730E13}"/>
              </a:ext>
            </a:extLst>
          </p:cNvPr>
          <p:cNvSpPr>
            <a:spLocks noGrp="1"/>
          </p:cNvSpPr>
          <p:nvPr>
            <p:ph type="title"/>
          </p:nvPr>
        </p:nvSpPr>
        <p:spPr/>
        <p:txBody>
          <a:bodyPr/>
          <a:lstStyle/>
          <a:p>
            <a:r>
              <a:rPr lang="en-US" altLang="zh-CN" dirty="0"/>
              <a:t>ARM</a:t>
            </a:r>
            <a:r>
              <a:rPr lang="zh-CN" altLang="en-US" dirty="0"/>
              <a:t>寻址方式</a:t>
            </a:r>
          </a:p>
        </p:txBody>
      </p:sp>
      <p:sp>
        <p:nvSpPr>
          <p:cNvPr id="3" name="内容占位符 2">
            <a:extLst>
              <a:ext uri="{FF2B5EF4-FFF2-40B4-BE49-F238E27FC236}">
                <a16:creationId xmlns:a16="http://schemas.microsoft.com/office/drawing/2014/main" id="{AA90FC84-5530-4452-AA2C-A8653B4B7259}"/>
              </a:ext>
            </a:extLst>
          </p:cNvPr>
          <p:cNvSpPr>
            <a:spLocks noGrp="1"/>
          </p:cNvSpPr>
          <p:nvPr>
            <p:ph idx="1"/>
          </p:nvPr>
        </p:nvSpPr>
        <p:spPr>
          <a:xfrm>
            <a:off x="838200" y="1825625"/>
            <a:ext cx="10515600" cy="4629766"/>
          </a:xfrm>
        </p:spPr>
        <p:txBody>
          <a:bodyPr>
            <a:normAutofit/>
          </a:bodyPr>
          <a:lstStyle/>
          <a:p>
            <a:r>
              <a:rPr lang="en-US" altLang="zh-CN" dirty="0"/>
              <a:t>ARM</a:t>
            </a:r>
            <a:r>
              <a:rPr lang="zh-CN" altLang="en-US" dirty="0"/>
              <a:t>的</a:t>
            </a:r>
            <a:r>
              <a:rPr lang="zh-CN" altLang="en-US" dirty="0">
                <a:solidFill>
                  <a:srgbClr val="FF0000"/>
                </a:solidFill>
              </a:rPr>
              <a:t>寻址方式</a:t>
            </a:r>
            <a:r>
              <a:rPr lang="zh-CN" altLang="en-US" dirty="0"/>
              <a:t>：</a:t>
            </a:r>
            <a:endParaRPr lang="en-US" altLang="zh-CN" dirty="0"/>
          </a:p>
          <a:p>
            <a:pPr marL="457200" lvl="1" indent="0">
              <a:buNone/>
            </a:pPr>
            <a:r>
              <a:rPr lang="en-US" altLang="zh-CN" sz="2800" dirty="0"/>
              <a:t>1. </a:t>
            </a:r>
            <a:r>
              <a:rPr lang="zh-CN" altLang="en-US" sz="2800" dirty="0"/>
              <a:t>立即数</a:t>
            </a:r>
            <a:r>
              <a:rPr lang="en-US" altLang="zh-CN" sz="2800" dirty="0"/>
              <a:t>				5. </a:t>
            </a:r>
            <a:r>
              <a:rPr lang="zh-CN" altLang="en-US" sz="2800" dirty="0"/>
              <a:t>多寄存器寻址</a:t>
            </a:r>
            <a:endParaRPr lang="en-US" altLang="zh-CN" sz="2800" dirty="0"/>
          </a:p>
          <a:p>
            <a:pPr marL="457200" lvl="1" indent="0">
              <a:buNone/>
            </a:pPr>
            <a:r>
              <a:rPr lang="en-US" altLang="zh-CN" sz="2800" dirty="0"/>
              <a:t>2. </a:t>
            </a:r>
            <a:r>
              <a:rPr lang="zh-CN" altLang="en-US" sz="2800" dirty="0"/>
              <a:t>寄存器</a:t>
            </a:r>
            <a:r>
              <a:rPr lang="en-US" altLang="zh-CN" sz="2800" dirty="0"/>
              <a:t>				6. </a:t>
            </a:r>
            <a:r>
              <a:rPr lang="zh-CN" altLang="en-US" sz="2800" dirty="0"/>
              <a:t>栈寻址</a:t>
            </a:r>
            <a:endParaRPr lang="en-US" altLang="zh-CN" sz="2800" dirty="0"/>
          </a:p>
          <a:p>
            <a:pPr marL="457200" lvl="1" indent="0">
              <a:buNone/>
            </a:pPr>
            <a:r>
              <a:rPr lang="en-US" altLang="zh-CN" sz="2800" dirty="0"/>
              <a:t>3. </a:t>
            </a:r>
            <a:r>
              <a:rPr lang="zh-CN" altLang="en-US" sz="2800" dirty="0"/>
              <a:t>寄存器间接寻址</a:t>
            </a:r>
            <a:endParaRPr lang="en-US" altLang="zh-CN" sz="2800" dirty="0"/>
          </a:p>
          <a:p>
            <a:pPr marL="457200" lvl="1" indent="0">
              <a:buNone/>
            </a:pPr>
            <a:r>
              <a:rPr lang="en-US" altLang="zh-CN" sz="2800" dirty="0"/>
              <a:t>4. </a:t>
            </a:r>
            <a:r>
              <a:rPr lang="zh-CN" altLang="en-US" sz="2800" dirty="0"/>
              <a:t>基址寻址</a:t>
            </a:r>
            <a:r>
              <a:rPr lang="en-US" altLang="zh-CN" sz="2800" dirty="0"/>
              <a:t>							</a:t>
            </a:r>
          </a:p>
        </p:txBody>
      </p:sp>
    </p:spTree>
    <p:extLst>
      <p:ext uri="{BB962C8B-B14F-4D97-AF65-F5344CB8AC3E}">
        <p14:creationId xmlns:p14="http://schemas.microsoft.com/office/powerpoint/2010/main" val="2811092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CAE0AC-0E2F-42A7-97C1-2F119A651C3A}"/>
              </a:ext>
            </a:extLst>
          </p:cNvPr>
          <p:cNvSpPr>
            <a:spLocks noGrp="1"/>
          </p:cNvSpPr>
          <p:nvPr>
            <p:ph type="title"/>
          </p:nvPr>
        </p:nvSpPr>
        <p:spPr/>
        <p:txBody>
          <a:bodyPr/>
          <a:lstStyle/>
          <a:p>
            <a:r>
              <a:rPr lang="zh-CN" altLang="en-US" dirty="0"/>
              <a:t>立即数</a:t>
            </a:r>
          </a:p>
        </p:txBody>
      </p:sp>
      <p:sp>
        <p:nvSpPr>
          <p:cNvPr id="3" name="内容占位符 2">
            <a:extLst>
              <a:ext uri="{FF2B5EF4-FFF2-40B4-BE49-F238E27FC236}">
                <a16:creationId xmlns:a16="http://schemas.microsoft.com/office/drawing/2014/main" id="{1D7538A5-5945-4579-ADEA-1CB7442A9F2C}"/>
              </a:ext>
            </a:extLst>
          </p:cNvPr>
          <p:cNvSpPr>
            <a:spLocks noGrp="1"/>
          </p:cNvSpPr>
          <p:nvPr>
            <p:ph idx="1"/>
          </p:nvPr>
        </p:nvSpPr>
        <p:spPr>
          <a:xfrm>
            <a:off x="838200" y="1590437"/>
            <a:ext cx="10515600" cy="2473420"/>
          </a:xfrm>
        </p:spPr>
        <p:txBody>
          <a:bodyPr/>
          <a:lstStyle/>
          <a:p>
            <a:r>
              <a:rPr lang="zh-CN" altLang="en-US" dirty="0">
                <a:solidFill>
                  <a:schemeClr val="accent1">
                    <a:lumMod val="75000"/>
                  </a:schemeClr>
                </a:solidFill>
              </a:rPr>
              <a:t>立即数是操作数</a:t>
            </a:r>
            <a:endParaRPr lang="en-US" altLang="zh-CN" dirty="0">
              <a:solidFill>
                <a:schemeClr val="accent1">
                  <a:lumMod val="75000"/>
                </a:schemeClr>
              </a:solidFill>
            </a:endParaRPr>
          </a:p>
          <a:p>
            <a:r>
              <a:rPr lang="zh-CN" altLang="en-US" dirty="0"/>
              <a:t>若操作数为常量，用</a:t>
            </a:r>
            <a:r>
              <a:rPr lang="en-US" altLang="zh-CN" dirty="0">
                <a:solidFill>
                  <a:srgbClr val="FF0000"/>
                </a:solidFill>
              </a:rPr>
              <a:t>#</a:t>
            </a:r>
            <a:r>
              <a:rPr lang="zh-CN" altLang="en-US" dirty="0"/>
              <a:t>表示常量</a:t>
            </a:r>
            <a:endParaRPr lang="en-US" altLang="zh-CN" dirty="0"/>
          </a:p>
          <a:p>
            <a:r>
              <a:rPr lang="en-US" altLang="zh-CN" dirty="0">
                <a:solidFill>
                  <a:srgbClr val="FF0000"/>
                </a:solidFill>
              </a:rPr>
              <a:t>0x</a:t>
            </a:r>
            <a:r>
              <a:rPr lang="zh-CN" altLang="en-US" dirty="0">
                <a:solidFill>
                  <a:srgbClr val="FF0000"/>
                </a:solidFill>
              </a:rPr>
              <a:t>或</a:t>
            </a:r>
            <a:r>
              <a:rPr lang="en-US" altLang="zh-CN" dirty="0">
                <a:solidFill>
                  <a:srgbClr val="FF0000"/>
                </a:solidFill>
              </a:rPr>
              <a:t>&amp;</a:t>
            </a:r>
            <a:r>
              <a:rPr lang="zh-CN" altLang="en-US" dirty="0">
                <a:solidFill>
                  <a:srgbClr val="FF0000"/>
                </a:solidFill>
              </a:rPr>
              <a:t>表示</a:t>
            </a:r>
            <a:r>
              <a:rPr lang="en-US" altLang="zh-CN" dirty="0">
                <a:solidFill>
                  <a:srgbClr val="FF0000"/>
                </a:solidFill>
              </a:rPr>
              <a:t>16</a:t>
            </a:r>
            <a:r>
              <a:rPr lang="zh-CN" altLang="en-US" dirty="0">
                <a:solidFill>
                  <a:srgbClr val="FF0000"/>
                </a:solidFill>
              </a:rPr>
              <a:t>进制数</a:t>
            </a:r>
            <a:r>
              <a:rPr lang="zh-CN" altLang="en-US" dirty="0"/>
              <a:t>，否则表示十进制数</a:t>
            </a:r>
          </a:p>
        </p:txBody>
      </p:sp>
      <p:sp>
        <p:nvSpPr>
          <p:cNvPr id="4" name="文本框 3">
            <a:extLst>
              <a:ext uri="{FF2B5EF4-FFF2-40B4-BE49-F238E27FC236}">
                <a16:creationId xmlns:a16="http://schemas.microsoft.com/office/drawing/2014/main" id="{56D57DE3-573B-E491-6226-913B34EE4CA7}"/>
              </a:ext>
            </a:extLst>
          </p:cNvPr>
          <p:cNvSpPr txBox="1"/>
          <p:nvPr/>
        </p:nvSpPr>
        <p:spPr>
          <a:xfrm>
            <a:off x="838200" y="4060681"/>
            <a:ext cx="10216487" cy="2184124"/>
          </a:xfrm>
          <a:prstGeom prst="rect">
            <a:avLst/>
          </a:prstGeom>
          <a:noFill/>
        </p:spPr>
        <p:txBody>
          <a:bodyPr wrap="square" rtlCol="0">
            <a:spAutoFit/>
          </a:bodyPr>
          <a:lstStyle/>
          <a:p>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例：</a:t>
            </a:r>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200000"/>
              </a:lnSpc>
            </a:pPr>
            <a:r>
              <a:rPr lang="en-US" altLang="zh-CN" sz="2800" dirty="0">
                <a:latin typeface="Tahoma" panose="020B0604030504040204" pitchFamily="34" charset="0"/>
                <a:ea typeface="Tahoma" panose="020B0604030504040204" pitchFamily="34" charset="0"/>
                <a:cs typeface="Tahoma" panose="020B0604030504040204" pitchFamily="34" charset="0"/>
              </a:rPr>
              <a:t>MOV R0, #0xFF000	</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b="1" dirty="0">
                <a:solidFill>
                  <a:schemeClr val="tx1">
                    <a:lumMod val="50000"/>
                    <a:lumOff val="50000"/>
                  </a:schemeClr>
                </a:solidFill>
                <a:latin typeface="+mn-ea"/>
                <a:cs typeface="Times New Roman" panose="02020603050405020304" pitchFamily="18" charset="0"/>
              </a:rPr>
              <a:t>将立即数</a:t>
            </a:r>
            <a:r>
              <a:rPr lang="en-US" altLang="zh-CN" sz="2800" b="1" dirty="0">
                <a:solidFill>
                  <a:schemeClr val="tx1">
                    <a:lumMod val="50000"/>
                    <a:lumOff val="50000"/>
                  </a:schemeClr>
                </a:solidFill>
                <a:latin typeface="+mn-ea"/>
                <a:cs typeface="Times New Roman" panose="02020603050405020304" pitchFamily="18" charset="0"/>
              </a:rPr>
              <a:t>0xFF000</a:t>
            </a:r>
            <a:r>
              <a:rPr lang="zh-CN" altLang="en-US" sz="2800" b="1" dirty="0">
                <a:solidFill>
                  <a:schemeClr val="tx1">
                    <a:lumMod val="50000"/>
                    <a:lumOff val="50000"/>
                  </a:schemeClr>
                </a:solidFill>
                <a:latin typeface="+mn-ea"/>
                <a:cs typeface="Times New Roman" panose="02020603050405020304" pitchFamily="18" charset="0"/>
              </a:rPr>
              <a:t>装入</a:t>
            </a:r>
            <a:r>
              <a:rPr lang="en-US" altLang="zh-CN" sz="2800" b="1" dirty="0">
                <a:solidFill>
                  <a:schemeClr val="tx1">
                    <a:lumMod val="50000"/>
                    <a:lumOff val="50000"/>
                  </a:schemeClr>
                </a:solidFill>
                <a:latin typeface="+mn-ea"/>
                <a:cs typeface="Times New Roman" panose="02020603050405020304" pitchFamily="18" charset="0"/>
              </a:rPr>
              <a:t>R0</a:t>
            </a:r>
            <a:r>
              <a:rPr lang="zh-CN" altLang="en-US" sz="2800" b="1" dirty="0">
                <a:solidFill>
                  <a:schemeClr val="tx1">
                    <a:lumMod val="50000"/>
                    <a:lumOff val="50000"/>
                  </a:schemeClr>
                </a:solidFill>
                <a:latin typeface="+mn-ea"/>
                <a:cs typeface="Times New Roman" panose="02020603050405020304" pitchFamily="18" charset="0"/>
              </a:rPr>
              <a:t>寄存器</a:t>
            </a:r>
            <a:endParaRPr lang="en-US" altLang="zh-CN" sz="2800" b="1" dirty="0">
              <a:solidFill>
                <a:schemeClr val="tx1">
                  <a:lumMod val="50000"/>
                  <a:lumOff val="50000"/>
                </a:schemeClr>
              </a:solidFill>
              <a:latin typeface="+mn-ea"/>
              <a:cs typeface="Times New Roman" panose="02020603050405020304" pitchFamily="18" charset="0"/>
            </a:endParaRPr>
          </a:p>
          <a:p>
            <a:pPr>
              <a:lnSpc>
                <a:spcPct val="200000"/>
              </a:lnSpc>
            </a:pPr>
            <a:r>
              <a:rPr lang="en-US" altLang="zh-CN" sz="2800" dirty="0">
                <a:latin typeface="Tahoma" panose="020B0604030504040204" pitchFamily="34" charset="0"/>
                <a:ea typeface="Tahoma" panose="020B0604030504040204" pitchFamily="34" charset="0"/>
                <a:cs typeface="Tahoma" panose="020B0604030504040204" pitchFamily="34" charset="0"/>
              </a:rPr>
              <a:t>SUB R0, R0, #64	</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a:solidFill>
                  <a:schemeClr val="tx1">
                    <a:lumMod val="50000"/>
                    <a:lumOff val="50000"/>
                  </a:schemeClr>
                </a:solidFill>
                <a:latin typeface="+mn-ea"/>
                <a:cs typeface="Times New Roman" panose="02020603050405020304" pitchFamily="18" charset="0"/>
              </a:rPr>
              <a:t>R0</a:t>
            </a:r>
            <a:r>
              <a:rPr lang="zh-CN" altLang="en-US" sz="2800" b="1" dirty="0">
                <a:solidFill>
                  <a:schemeClr val="tx1">
                    <a:lumMod val="50000"/>
                    <a:lumOff val="50000"/>
                  </a:schemeClr>
                </a:solidFill>
                <a:latin typeface="+mn-ea"/>
                <a:cs typeface="Times New Roman" panose="02020603050405020304" pitchFamily="18" charset="0"/>
              </a:rPr>
              <a:t>减去</a:t>
            </a:r>
            <a:r>
              <a:rPr lang="en-US" altLang="zh-CN" sz="2800" b="1" dirty="0">
                <a:solidFill>
                  <a:schemeClr val="tx1">
                    <a:lumMod val="50000"/>
                    <a:lumOff val="50000"/>
                  </a:schemeClr>
                </a:solidFill>
                <a:latin typeface="+mn-ea"/>
                <a:cs typeface="Times New Roman" panose="02020603050405020304" pitchFamily="18" charset="0"/>
              </a:rPr>
              <a:t>64</a:t>
            </a:r>
            <a:r>
              <a:rPr lang="zh-CN" altLang="en-US" sz="2800" b="1" dirty="0">
                <a:solidFill>
                  <a:schemeClr val="tx1">
                    <a:lumMod val="50000"/>
                    <a:lumOff val="50000"/>
                  </a:schemeClr>
                </a:solidFill>
                <a:latin typeface="+mn-ea"/>
                <a:cs typeface="Times New Roman" panose="02020603050405020304" pitchFamily="18" charset="0"/>
              </a:rPr>
              <a:t>，结果放入</a:t>
            </a:r>
            <a:r>
              <a:rPr lang="en-US" altLang="zh-CN" sz="2800" b="1" dirty="0">
                <a:solidFill>
                  <a:schemeClr val="tx1">
                    <a:lumMod val="50000"/>
                    <a:lumOff val="50000"/>
                  </a:schemeClr>
                </a:solidFill>
                <a:latin typeface="+mn-ea"/>
                <a:cs typeface="Times New Roman" panose="02020603050405020304" pitchFamily="18" charset="0"/>
              </a:rPr>
              <a:t>R0</a:t>
            </a:r>
            <a:endParaRPr lang="zh-CN" altLang="en-US" sz="2800" b="1" dirty="0">
              <a:solidFill>
                <a:schemeClr val="tx1">
                  <a:lumMod val="50000"/>
                  <a:lumOff val="50000"/>
                </a:schemeClr>
              </a:solidFill>
              <a:latin typeface="+mn-ea"/>
              <a:cs typeface="Times New Roman" panose="02020603050405020304" pitchFamily="18" charset="0"/>
            </a:endParaRPr>
          </a:p>
        </p:txBody>
      </p:sp>
    </p:spTree>
    <p:extLst>
      <p:ext uri="{BB962C8B-B14F-4D97-AF65-F5344CB8AC3E}">
        <p14:creationId xmlns:p14="http://schemas.microsoft.com/office/powerpoint/2010/main" val="9208793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D714FE0-A911-47A9-9FEC-5F0C283EE400}"/>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masm32</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位汇编语言，</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16</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进制数如何表示？</a:t>
            </a:r>
          </a:p>
        </p:txBody>
      </p:sp>
      <p:sp>
        <p:nvSpPr>
          <p:cNvPr id="7" name="矩形: 圆角 6">
            <a:extLst>
              <a:ext uri="{FF2B5EF4-FFF2-40B4-BE49-F238E27FC236}">
                <a16:creationId xmlns:a16="http://schemas.microsoft.com/office/drawing/2014/main" id="{59FE04C5-5D51-4FF6-BCD4-ADF81F4BFC0B}"/>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09028ABC-8C7D-4ABD-B080-FA6DB92744F6}"/>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698CB19D-0CFA-4DD9-9152-EBEAF897FA9B}"/>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DCD0457B-4296-4E73-AC6E-5BF16DF502EA}"/>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1239F169-B462-4046-83CB-C4A9E8E117D2}"/>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F5B8FB98-EB1B-41BE-8625-E60A5336F311}"/>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794E9F94-E778-4E20-B716-B38CCAE5FD46}"/>
              </a:ext>
            </a:extLst>
          </p:cNvPr>
          <p:cNvPicPr>
            <a:picLocks/>
          </p:cNvPicPr>
          <p:nvPr>
            <p:custDataLst>
              <p:tags r:id="rId5"/>
            </p:custDataLst>
          </p:nvPr>
        </p:nvPicPr>
        <p:blipFill>
          <a:blip r:embed="rId1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7789017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p:txBody>
          <a:bodyPr/>
          <a:lstStyle/>
          <a:p>
            <a:r>
              <a:rPr lang="zh-CN" altLang="en-US" dirty="0"/>
              <a:t>寄存器</a:t>
            </a:r>
          </a:p>
        </p:txBody>
      </p:sp>
      <p:sp>
        <p:nvSpPr>
          <p:cNvPr id="3" name="内容占位符 2">
            <a:extLst>
              <a:ext uri="{FF2B5EF4-FFF2-40B4-BE49-F238E27FC236}">
                <a16:creationId xmlns:a16="http://schemas.microsoft.com/office/drawing/2014/main" id="{5090C5D2-8177-494C-8E28-26C08B66E7E7}"/>
              </a:ext>
            </a:extLst>
          </p:cNvPr>
          <p:cNvSpPr>
            <a:spLocks noGrp="1"/>
          </p:cNvSpPr>
          <p:nvPr>
            <p:ph idx="1"/>
          </p:nvPr>
        </p:nvSpPr>
        <p:spPr/>
        <p:txBody>
          <a:bodyPr/>
          <a:lstStyle/>
          <a:p>
            <a:r>
              <a:rPr lang="zh-CN" altLang="en-US" dirty="0">
                <a:solidFill>
                  <a:schemeClr val="accent1">
                    <a:lumMod val="75000"/>
                  </a:schemeClr>
                </a:solidFill>
              </a:rPr>
              <a:t>根据寄存器编码获取寄存器内存储的操作数</a:t>
            </a:r>
            <a:endParaRPr lang="en-US" altLang="zh-CN" dirty="0">
              <a:solidFill>
                <a:schemeClr val="accent1">
                  <a:lumMod val="75000"/>
                </a:schemeClr>
              </a:solidFill>
            </a:endParaRPr>
          </a:p>
        </p:txBody>
      </p:sp>
      <p:sp>
        <p:nvSpPr>
          <p:cNvPr id="4" name="文本框 3">
            <a:extLst>
              <a:ext uri="{FF2B5EF4-FFF2-40B4-BE49-F238E27FC236}">
                <a16:creationId xmlns:a16="http://schemas.microsoft.com/office/drawing/2014/main" id="{DC4C908C-316D-629E-5D4D-3E7F85803775}"/>
              </a:ext>
            </a:extLst>
          </p:cNvPr>
          <p:cNvSpPr txBox="1"/>
          <p:nvPr/>
        </p:nvSpPr>
        <p:spPr>
          <a:xfrm>
            <a:off x="987756" y="2909232"/>
            <a:ext cx="10216487" cy="2181559"/>
          </a:xfrm>
          <a:prstGeom prst="rect">
            <a:avLst/>
          </a:prstGeom>
          <a:noFill/>
        </p:spPr>
        <p:txBody>
          <a:bodyPr wrap="square" rtlCol="0">
            <a:spAutoFit/>
          </a:bodyPr>
          <a:lstStyle/>
          <a:p>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例：</a:t>
            </a:r>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200000"/>
              </a:lnSpc>
            </a:pPr>
            <a:r>
              <a:rPr lang="en-US" altLang="zh-CN" sz="2800" dirty="0">
                <a:latin typeface="Tahoma" panose="020B0604030504040204" pitchFamily="34" charset="0"/>
                <a:ea typeface="Tahoma" panose="020B0604030504040204" pitchFamily="34" charset="0"/>
                <a:cs typeface="Tahoma" panose="020B0604030504040204" pitchFamily="34" charset="0"/>
              </a:rPr>
              <a:t>MOV R1, R2	</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a:solidFill>
                  <a:schemeClr val="tx1">
                    <a:lumMod val="50000"/>
                    <a:lumOff val="50000"/>
                  </a:schemeClr>
                </a:solidFill>
                <a:latin typeface="+mn-ea"/>
                <a:cs typeface="Times New Roman" panose="02020603050405020304" pitchFamily="18" charset="0"/>
              </a:rPr>
              <a:t> 	</a:t>
            </a:r>
            <a:r>
              <a:rPr lang="zh-CN" altLang="en-US" sz="2800" b="1" dirty="0">
                <a:solidFill>
                  <a:schemeClr val="tx1">
                    <a:lumMod val="50000"/>
                    <a:lumOff val="50000"/>
                  </a:schemeClr>
                </a:solidFill>
                <a:latin typeface="+mn-ea"/>
                <a:cs typeface="Times New Roman" panose="02020603050405020304" pitchFamily="18" charset="0"/>
              </a:rPr>
              <a:t>将</a:t>
            </a:r>
            <a:r>
              <a:rPr lang="en-US" altLang="zh-CN" sz="2800" b="1" dirty="0">
                <a:solidFill>
                  <a:schemeClr val="tx1">
                    <a:lumMod val="50000"/>
                    <a:lumOff val="50000"/>
                  </a:schemeClr>
                </a:solidFill>
                <a:latin typeface="+mn-ea"/>
                <a:cs typeface="Times New Roman" panose="02020603050405020304" pitchFamily="18" charset="0"/>
              </a:rPr>
              <a:t>R2</a:t>
            </a:r>
            <a:r>
              <a:rPr lang="zh-CN" altLang="en-US" sz="2800" b="1" dirty="0">
                <a:solidFill>
                  <a:schemeClr val="tx1">
                    <a:lumMod val="50000"/>
                    <a:lumOff val="50000"/>
                  </a:schemeClr>
                </a:solidFill>
                <a:latin typeface="+mn-ea"/>
                <a:cs typeface="Times New Roman" panose="02020603050405020304" pitchFamily="18" charset="0"/>
              </a:rPr>
              <a:t>的值存入</a:t>
            </a:r>
            <a:r>
              <a:rPr lang="en-US" altLang="zh-CN" sz="2800" b="1" dirty="0">
                <a:solidFill>
                  <a:schemeClr val="tx1">
                    <a:lumMod val="50000"/>
                    <a:lumOff val="50000"/>
                  </a:schemeClr>
                </a:solidFill>
                <a:latin typeface="+mn-ea"/>
                <a:cs typeface="Times New Roman" panose="02020603050405020304" pitchFamily="18" charset="0"/>
              </a:rPr>
              <a:t>R1</a:t>
            </a:r>
          </a:p>
          <a:p>
            <a:pPr>
              <a:lnSpc>
                <a:spcPct val="200000"/>
              </a:lnSpc>
            </a:pPr>
            <a:r>
              <a:rPr lang="en-US" altLang="zh-CN" sz="2800" dirty="0">
                <a:latin typeface="Tahoma" panose="020B0604030504040204" pitchFamily="34" charset="0"/>
                <a:ea typeface="Tahoma" panose="020B0604030504040204" pitchFamily="34" charset="0"/>
                <a:cs typeface="Tahoma" panose="020B0604030504040204" pitchFamily="34" charset="0"/>
              </a:rPr>
              <a:t>SUB R0, R1,</a:t>
            </a:r>
            <a:r>
              <a:rPr lang="zh-CN" altLang="en-US" sz="2800" dirty="0">
                <a:latin typeface="Tahoma" panose="020B0604030504040204" pitchFamily="34" charset="0"/>
                <a:ea typeface="Tahoma" panose="020B0604030504040204" pitchFamily="34" charset="0"/>
                <a:cs typeface="Tahoma" panose="020B0604030504040204" pitchFamily="34" charset="0"/>
              </a:rPr>
              <a:t> </a:t>
            </a:r>
            <a:r>
              <a:rPr lang="en-US" altLang="zh-CN" sz="2800" dirty="0">
                <a:latin typeface="Tahoma" panose="020B0604030504040204" pitchFamily="34" charset="0"/>
                <a:ea typeface="Tahoma" panose="020B0604030504040204" pitchFamily="34" charset="0"/>
                <a:cs typeface="Tahoma" panose="020B0604030504040204" pitchFamily="34" charset="0"/>
              </a:rPr>
              <a:t>R2	</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b="1" dirty="0">
                <a:solidFill>
                  <a:schemeClr val="tx1">
                    <a:lumMod val="50000"/>
                    <a:lumOff val="50000"/>
                  </a:schemeClr>
                </a:solidFill>
                <a:latin typeface="+mn-ea"/>
                <a:cs typeface="Times New Roman" panose="02020603050405020304" pitchFamily="18" charset="0"/>
              </a:rPr>
              <a:t>将</a:t>
            </a:r>
            <a:r>
              <a:rPr lang="en-US" altLang="zh-CN" sz="2800" b="1" dirty="0">
                <a:solidFill>
                  <a:schemeClr val="tx1">
                    <a:lumMod val="50000"/>
                    <a:lumOff val="50000"/>
                  </a:schemeClr>
                </a:solidFill>
                <a:latin typeface="+mn-ea"/>
                <a:cs typeface="Times New Roman" panose="02020603050405020304" pitchFamily="18" charset="0"/>
              </a:rPr>
              <a:t>R1</a:t>
            </a:r>
            <a:r>
              <a:rPr lang="zh-CN" altLang="en-US" sz="2800" b="1" dirty="0">
                <a:solidFill>
                  <a:schemeClr val="tx1">
                    <a:lumMod val="50000"/>
                    <a:lumOff val="50000"/>
                  </a:schemeClr>
                </a:solidFill>
                <a:latin typeface="+mn-ea"/>
                <a:cs typeface="Times New Roman" panose="02020603050405020304" pitchFamily="18" charset="0"/>
              </a:rPr>
              <a:t>的值减去</a:t>
            </a:r>
            <a:r>
              <a:rPr lang="en-US" altLang="zh-CN" sz="2800" b="1" dirty="0">
                <a:solidFill>
                  <a:schemeClr val="tx1">
                    <a:lumMod val="50000"/>
                    <a:lumOff val="50000"/>
                  </a:schemeClr>
                </a:solidFill>
                <a:latin typeface="+mn-ea"/>
                <a:cs typeface="Times New Roman" panose="02020603050405020304" pitchFamily="18" charset="0"/>
              </a:rPr>
              <a:t>R2</a:t>
            </a:r>
            <a:r>
              <a:rPr lang="zh-CN" altLang="en-US" sz="2800" b="1" dirty="0">
                <a:solidFill>
                  <a:schemeClr val="tx1">
                    <a:lumMod val="50000"/>
                    <a:lumOff val="50000"/>
                  </a:schemeClr>
                </a:solidFill>
                <a:latin typeface="+mn-ea"/>
                <a:cs typeface="Times New Roman" panose="02020603050405020304" pitchFamily="18" charset="0"/>
              </a:rPr>
              <a:t>的值，结果保存到</a:t>
            </a:r>
            <a:r>
              <a:rPr lang="en-US" altLang="zh-CN" sz="2800" b="1" dirty="0">
                <a:solidFill>
                  <a:schemeClr val="tx1">
                    <a:lumMod val="50000"/>
                    <a:lumOff val="50000"/>
                  </a:schemeClr>
                </a:solidFill>
                <a:latin typeface="+mn-ea"/>
                <a:cs typeface="Times New Roman" panose="02020603050405020304" pitchFamily="18" charset="0"/>
              </a:rPr>
              <a:t>R0</a:t>
            </a:r>
            <a:r>
              <a:rPr lang="zh-CN" altLang="en-US" sz="2800" b="1" dirty="0">
                <a:solidFill>
                  <a:schemeClr val="tx1">
                    <a:lumMod val="50000"/>
                    <a:lumOff val="50000"/>
                  </a:schemeClr>
                </a:solidFill>
                <a:latin typeface="+mn-ea"/>
                <a:cs typeface="Times New Roman" panose="02020603050405020304" pitchFamily="18" charset="0"/>
              </a:rPr>
              <a:t>中</a:t>
            </a:r>
          </a:p>
        </p:txBody>
      </p:sp>
    </p:spTree>
    <p:extLst>
      <p:ext uri="{BB962C8B-B14F-4D97-AF65-F5344CB8AC3E}">
        <p14:creationId xmlns:p14="http://schemas.microsoft.com/office/powerpoint/2010/main" val="1708327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p:txBody>
          <a:bodyPr/>
          <a:lstStyle/>
          <a:p>
            <a:r>
              <a:rPr lang="zh-CN" altLang="en-US" dirty="0"/>
              <a:t>寄存器间接寻址</a:t>
            </a:r>
          </a:p>
        </p:txBody>
      </p:sp>
      <p:sp>
        <p:nvSpPr>
          <p:cNvPr id="3" name="内容占位符 2">
            <a:extLst>
              <a:ext uri="{FF2B5EF4-FFF2-40B4-BE49-F238E27FC236}">
                <a16:creationId xmlns:a16="http://schemas.microsoft.com/office/drawing/2014/main" id="{5090C5D2-8177-494C-8E28-26C08B66E7E7}"/>
              </a:ext>
            </a:extLst>
          </p:cNvPr>
          <p:cNvSpPr>
            <a:spLocks noGrp="1"/>
          </p:cNvSpPr>
          <p:nvPr>
            <p:ph idx="1"/>
          </p:nvPr>
        </p:nvSpPr>
        <p:spPr/>
        <p:txBody>
          <a:bodyPr/>
          <a:lstStyle/>
          <a:p>
            <a:r>
              <a:rPr lang="zh-CN" altLang="en-US" dirty="0">
                <a:solidFill>
                  <a:schemeClr val="accent1">
                    <a:lumMod val="75000"/>
                  </a:schemeClr>
                </a:solidFill>
              </a:rPr>
              <a:t>操作数从寄存器所指向的内存中取出，寄存器存储的是内存地址</a:t>
            </a:r>
            <a:endParaRPr lang="en-US" altLang="zh-CN" dirty="0">
              <a:solidFill>
                <a:schemeClr val="accent1">
                  <a:lumMod val="75000"/>
                </a:schemeClr>
              </a:solidFill>
            </a:endParaRPr>
          </a:p>
        </p:txBody>
      </p:sp>
      <p:sp>
        <p:nvSpPr>
          <p:cNvPr id="4" name="文本框 3">
            <a:extLst>
              <a:ext uri="{FF2B5EF4-FFF2-40B4-BE49-F238E27FC236}">
                <a16:creationId xmlns:a16="http://schemas.microsoft.com/office/drawing/2014/main" id="{DC4C908C-316D-629E-5D4D-3E7F85803775}"/>
              </a:ext>
            </a:extLst>
          </p:cNvPr>
          <p:cNvSpPr txBox="1"/>
          <p:nvPr/>
        </p:nvSpPr>
        <p:spPr>
          <a:xfrm>
            <a:off x="742665" y="2468544"/>
            <a:ext cx="11117239" cy="4385303"/>
          </a:xfrm>
          <a:prstGeom prst="rect">
            <a:avLst/>
          </a:prstGeom>
          <a:noFill/>
        </p:spPr>
        <p:txBody>
          <a:bodyPr wrap="square" rtlCol="0">
            <a:spAutoFit/>
          </a:bodyPr>
          <a:lstStyle/>
          <a:p>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例：</a:t>
            </a:r>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800" dirty="0">
                <a:solidFill>
                  <a:srgbClr val="FF0000"/>
                </a:solidFill>
                <a:latin typeface="Tahoma" panose="020B0604030504040204" pitchFamily="34" charset="0"/>
                <a:ea typeface="Tahoma" panose="020B0604030504040204" pitchFamily="34" charset="0"/>
                <a:cs typeface="Tahoma" panose="020B0604030504040204" pitchFamily="34" charset="0"/>
              </a:rPr>
              <a:t>LDR</a:t>
            </a:r>
            <a:r>
              <a:rPr lang="en-US" altLang="zh-CN" sz="2800" dirty="0">
                <a:latin typeface="Tahoma" panose="020B0604030504040204" pitchFamily="34" charset="0"/>
                <a:ea typeface="Tahoma" panose="020B0604030504040204" pitchFamily="34" charset="0"/>
                <a:cs typeface="Tahoma" panose="020B0604030504040204" pitchFamily="34" charset="0"/>
              </a:rPr>
              <a:t> R1, [R2]	</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a:solidFill>
                  <a:schemeClr val="tx1">
                    <a:lumMod val="50000"/>
                    <a:lumOff val="50000"/>
                  </a:schemeClr>
                </a:solidFill>
                <a:latin typeface="+mn-ea"/>
                <a:cs typeface="Times New Roman" panose="02020603050405020304" pitchFamily="18" charset="0"/>
              </a:rPr>
              <a:t> 	</a:t>
            </a:r>
            <a:r>
              <a:rPr lang="zh-CN" altLang="en-US" sz="2800" b="1" dirty="0">
                <a:solidFill>
                  <a:schemeClr val="tx1">
                    <a:lumMod val="50000"/>
                    <a:lumOff val="50000"/>
                  </a:schemeClr>
                </a:solidFill>
                <a:latin typeface="+mn-ea"/>
                <a:cs typeface="Times New Roman" panose="02020603050405020304" pitchFamily="18" charset="0"/>
              </a:rPr>
              <a:t>将</a:t>
            </a:r>
            <a:r>
              <a:rPr lang="en-US" altLang="zh-CN" sz="2800" b="1" dirty="0">
                <a:solidFill>
                  <a:schemeClr val="tx1">
                    <a:lumMod val="50000"/>
                    <a:lumOff val="50000"/>
                  </a:schemeClr>
                </a:solidFill>
                <a:latin typeface="+mn-ea"/>
                <a:cs typeface="Times New Roman" panose="02020603050405020304" pitchFamily="18" charset="0"/>
              </a:rPr>
              <a:t>R2</a:t>
            </a:r>
            <a:r>
              <a:rPr lang="zh-CN" altLang="en-US" sz="2800" b="1" dirty="0">
                <a:solidFill>
                  <a:schemeClr val="tx1">
                    <a:lumMod val="50000"/>
                    <a:lumOff val="50000"/>
                  </a:schemeClr>
                </a:solidFill>
                <a:latin typeface="+mn-ea"/>
                <a:cs typeface="Times New Roman" panose="02020603050405020304" pitchFamily="18" charset="0"/>
              </a:rPr>
              <a:t>指向的存储单元的数据读出，存入</a:t>
            </a:r>
            <a:r>
              <a:rPr lang="en-US" altLang="zh-CN" sz="2800" b="1" dirty="0">
                <a:solidFill>
                  <a:schemeClr val="tx1">
                    <a:lumMod val="50000"/>
                    <a:lumOff val="50000"/>
                  </a:schemeClr>
                </a:solidFill>
                <a:latin typeface="+mn-ea"/>
                <a:cs typeface="Times New Roman" panose="02020603050405020304" pitchFamily="18" charset="0"/>
              </a:rPr>
              <a:t>R1</a:t>
            </a:r>
          </a:p>
          <a:p>
            <a:pPr>
              <a:lnSpc>
                <a:spcPct val="150000"/>
              </a:lnSpc>
            </a:pPr>
            <a:r>
              <a:rPr lang="en-US" altLang="zh-CN" sz="2800" dirty="0">
                <a:solidFill>
                  <a:srgbClr val="FF0000"/>
                </a:solidFill>
                <a:latin typeface="Tahoma" panose="020B0604030504040204" pitchFamily="34" charset="0"/>
                <a:ea typeface="Tahoma" panose="020B0604030504040204" pitchFamily="34" charset="0"/>
                <a:cs typeface="Tahoma" panose="020B0604030504040204" pitchFamily="34" charset="0"/>
              </a:rPr>
              <a:t>STR</a:t>
            </a:r>
            <a:r>
              <a:rPr lang="en-US" altLang="zh-CN" sz="2800" dirty="0">
                <a:latin typeface="Tahoma" panose="020B0604030504040204" pitchFamily="34" charset="0"/>
                <a:ea typeface="Tahoma" panose="020B0604030504040204" pitchFamily="34" charset="0"/>
                <a:cs typeface="Tahoma" panose="020B0604030504040204" pitchFamily="34" charset="0"/>
              </a:rPr>
              <a:t> R1, [R2]	</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b="1" dirty="0">
                <a:solidFill>
                  <a:schemeClr val="tx1">
                    <a:lumMod val="50000"/>
                    <a:lumOff val="50000"/>
                  </a:schemeClr>
                </a:solidFill>
                <a:latin typeface="+mn-ea"/>
                <a:cs typeface="Times New Roman" panose="02020603050405020304" pitchFamily="18" charset="0"/>
              </a:rPr>
              <a:t>将</a:t>
            </a:r>
            <a:r>
              <a:rPr lang="en-US" altLang="zh-CN" sz="2800" b="1" dirty="0">
                <a:solidFill>
                  <a:schemeClr val="tx1">
                    <a:lumMod val="50000"/>
                    <a:lumOff val="50000"/>
                  </a:schemeClr>
                </a:solidFill>
                <a:latin typeface="+mn-ea"/>
                <a:cs typeface="Times New Roman" panose="02020603050405020304" pitchFamily="18" charset="0"/>
              </a:rPr>
              <a:t>R1</a:t>
            </a:r>
            <a:r>
              <a:rPr lang="zh-CN" altLang="en-US" sz="2800" b="1" dirty="0">
                <a:solidFill>
                  <a:schemeClr val="tx1">
                    <a:lumMod val="50000"/>
                    <a:lumOff val="50000"/>
                  </a:schemeClr>
                </a:solidFill>
                <a:latin typeface="+mn-ea"/>
                <a:cs typeface="Times New Roman" panose="02020603050405020304" pitchFamily="18" charset="0"/>
              </a:rPr>
              <a:t>的值写入到</a:t>
            </a:r>
            <a:r>
              <a:rPr lang="en-US" altLang="zh-CN" sz="2800" b="1" dirty="0">
                <a:solidFill>
                  <a:schemeClr val="tx1">
                    <a:lumMod val="50000"/>
                    <a:lumOff val="50000"/>
                  </a:schemeClr>
                </a:solidFill>
                <a:latin typeface="+mn-ea"/>
                <a:cs typeface="Times New Roman" panose="02020603050405020304" pitchFamily="18" charset="0"/>
              </a:rPr>
              <a:t>R2</a:t>
            </a:r>
            <a:r>
              <a:rPr lang="zh-CN" altLang="en-US" sz="2800" b="1" dirty="0">
                <a:solidFill>
                  <a:schemeClr val="tx1">
                    <a:lumMod val="50000"/>
                    <a:lumOff val="50000"/>
                  </a:schemeClr>
                </a:solidFill>
                <a:latin typeface="+mn-ea"/>
                <a:cs typeface="Times New Roman" panose="02020603050405020304" pitchFamily="18" charset="0"/>
              </a:rPr>
              <a:t>所指向的存储单元</a:t>
            </a:r>
            <a:endParaRPr lang="en-US" altLang="zh-CN" sz="2800" b="1" dirty="0">
              <a:solidFill>
                <a:schemeClr val="tx1">
                  <a:lumMod val="50000"/>
                  <a:lumOff val="50000"/>
                </a:schemeClr>
              </a:solidFill>
              <a:latin typeface="+mn-ea"/>
              <a:cs typeface="Times New Roman" panose="02020603050405020304" pitchFamily="18" charset="0"/>
            </a:endParaRPr>
          </a:p>
          <a:p>
            <a:pPr>
              <a:lnSpc>
                <a:spcPct val="150000"/>
              </a:lnSpc>
            </a:pPr>
            <a:r>
              <a:rPr lang="en-US" altLang="zh-CN" sz="2800" dirty="0">
                <a:latin typeface="Tahoma" panose="020B0604030504040204" pitchFamily="34" charset="0"/>
                <a:ea typeface="Tahoma" panose="020B0604030504040204" pitchFamily="34" charset="0"/>
                <a:cs typeface="Tahoma" panose="020B0604030504040204" pitchFamily="34" charset="0"/>
              </a:rPr>
              <a:t>SWP R1, R1, [R2]	</a:t>
            </a:r>
            <a:r>
              <a:rPr lang="en-US" altLang="zh-CN" sz="2800" b="1" dirty="0">
                <a:solidFill>
                  <a:schemeClr val="tx1">
                    <a:lumMod val="50000"/>
                    <a:lumOff val="50000"/>
                  </a:schemeClr>
                </a:solidFill>
                <a:latin typeface="+mn-ea"/>
                <a:cs typeface="Times New Roman" panose="02020603050405020304" pitchFamily="18" charset="0"/>
              </a:rPr>
              <a:t>	</a:t>
            </a:r>
            <a:r>
              <a:rPr lang="zh-CN" altLang="en-US" sz="2800" b="1" dirty="0">
                <a:solidFill>
                  <a:schemeClr val="tx1">
                    <a:lumMod val="50000"/>
                    <a:lumOff val="50000"/>
                  </a:schemeClr>
                </a:solidFill>
                <a:latin typeface="+mn-ea"/>
                <a:cs typeface="Times New Roman" panose="02020603050405020304" pitchFamily="18" charset="0"/>
              </a:rPr>
              <a:t>将</a:t>
            </a:r>
            <a:r>
              <a:rPr lang="en-US" altLang="zh-CN" sz="2800" b="1" dirty="0">
                <a:solidFill>
                  <a:schemeClr val="tx1">
                    <a:lumMod val="50000"/>
                    <a:lumOff val="50000"/>
                  </a:schemeClr>
                </a:solidFill>
                <a:latin typeface="+mn-ea"/>
                <a:cs typeface="Times New Roman" panose="02020603050405020304" pitchFamily="18" charset="0"/>
              </a:rPr>
              <a:t>R1</a:t>
            </a:r>
            <a:r>
              <a:rPr lang="zh-CN" altLang="en-US" sz="2800" b="1" dirty="0">
                <a:solidFill>
                  <a:schemeClr val="tx1">
                    <a:lumMod val="50000"/>
                    <a:lumOff val="50000"/>
                  </a:schemeClr>
                </a:solidFill>
                <a:latin typeface="+mn-ea"/>
                <a:cs typeface="Times New Roman" panose="02020603050405020304" pitchFamily="18" charset="0"/>
              </a:rPr>
              <a:t>中的值和</a:t>
            </a:r>
            <a:r>
              <a:rPr lang="en-US" altLang="zh-CN" sz="2800" b="1" dirty="0">
                <a:solidFill>
                  <a:schemeClr val="tx1">
                    <a:lumMod val="50000"/>
                    <a:lumOff val="50000"/>
                  </a:schemeClr>
                </a:solidFill>
                <a:latin typeface="+mn-ea"/>
                <a:cs typeface="Times New Roman" panose="02020603050405020304" pitchFamily="18" charset="0"/>
              </a:rPr>
              <a:t>R2</a:t>
            </a:r>
            <a:r>
              <a:rPr lang="zh-CN" altLang="en-US" sz="2800" b="1" dirty="0">
                <a:solidFill>
                  <a:schemeClr val="tx1">
                    <a:lumMod val="50000"/>
                    <a:lumOff val="50000"/>
                  </a:schemeClr>
                </a:solidFill>
                <a:latin typeface="+mn-ea"/>
                <a:cs typeface="Times New Roman" panose="02020603050405020304" pitchFamily="18" charset="0"/>
              </a:rPr>
              <a:t>所指向的存储单元的内容交换</a:t>
            </a:r>
            <a:endParaRPr lang="en-US" altLang="zh-CN" sz="2800" b="1" dirty="0">
              <a:solidFill>
                <a:schemeClr val="tx1">
                  <a:lumMod val="50000"/>
                  <a:lumOff val="50000"/>
                </a:schemeClr>
              </a:solidFill>
              <a:latin typeface="+mn-ea"/>
              <a:cs typeface="Times New Roman" panose="02020603050405020304" pitchFamily="18" charset="0"/>
            </a:endParaRPr>
          </a:p>
          <a:p>
            <a:pPr>
              <a:lnSpc>
                <a:spcPct val="150000"/>
              </a:lnSpc>
            </a:pP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注：</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LDR</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Load Register</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）指令用于读取内存数据</a:t>
            </a:r>
            <a:endPar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STR</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Store Register</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）指令用于写入内存数据</a:t>
            </a:r>
            <a:endPar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SWP Rd,</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Rm,</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[Rn]</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，将</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[Rn]</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读入</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Rd</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，将</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Rm</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写入</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[Rn]</a:t>
            </a:r>
            <a:endPar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003050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p:txBody>
          <a:bodyPr/>
          <a:lstStyle/>
          <a:p>
            <a:r>
              <a:rPr lang="zh-CN" altLang="en-US" dirty="0"/>
              <a:t>基址寻址</a:t>
            </a:r>
          </a:p>
        </p:txBody>
      </p:sp>
      <p:sp>
        <p:nvSpPr>
          <p:cNvPr id="3" name="内容占位符 2">
            <a:extLst>
              <a:ext uri="{FF2B5EF4-FFF2-40B4-BE49-F238E27FC236}">
                <a16:creationId xmlns:a16="http://schemas.microsoft.com/office/drawing/2014/main" id="{5090C5D2-8177-494C-8E28-26C08B66E7E7}"/>
              </a:ext>
            </a:extLst>
          </p:cNvPr>
          <p:cNvSpPr>
            <a:spLocks noGrp="1"/>
          </p:cNvSpPr>
          <p:nvPr>
            <p:ph idx="1"/>
          </p:nvPr>
        </p:nvSpPr>
        <p:spPr>
          <a:xfrm>
            <a:off x="838200" y="1673865"/>
            <a:ext cx="10515600" cy="4351338"/>
          </a:xfrm>
        </p:spPr>
        <p:txBody>
          <a:bodyPr/>
          <a:lstStyle/>
          <a:p>
            <a:r>
              <a:rPr lang="zh-CN" altLang="en-US" dirty="0">
                <a:solidFill>
                  <a:schemeClr val="accent1">
                    <a:lumMod val="75000"/>
                  </a:schemeClr>
                </a:solidFill>
              </a:rPr>
              <a:t>基址寄存器的内容与指令中的偏移量相加，得到有效操作数的地址后访问该地址空间</a:t>
            </a:r>
            <a:endParaRPr lang="en-US" altLang="zh-CN" dirty="0">
              <a:solidFill>
                <a:schemeClr val="accent1">
                  <a:lumMod val="75000"/>
                </a:schemeClr>
              </a:solidFill>
            </a:endParaRPr>
          </a:p>
          <a:p>
            <a:pPr marL="0" indent="0">
              <a:buNone/>
            </a:pPr>
            <a:r>
              <a:rPr lang="en-US" altLang="zh-CN" dirty="0"/>
              <a:t>1. </a:t>
            </a:r>
            <a:r>
              <a:rPr lang="zh-CN" altLang="en-US" dirty="0">
                <a:solidFill>
                  <a:srgbClr val="FF0000"/>
                </a:solidFill>
              </a:rPr>
              <a:t>前索引</a:t>
            </a:r>
            <a:endParaRPr lang="en-US" altLang="zh-CN" dirty="0">
              <a:solidFill>
                <a:srgbClr val="FF0000"/>
              </a:solidFill>
            </a:endParaRPr>
          </a:p>
        </p:txBody>
      </p:sp>
      <p:sp>
        <p:nvSpPr>
          <p:cNvPr id="4" name="文本框 3">
            <a:extLst>
              <a:ext uri="{FF2B5EF4-FFF2-40B4-BE49-F238E27FC236}">
                <a16:creationId xmlns:a16="http://schemas.microsoft.com/office/drawing/2014/main" id="{DC4C908C-316D-629E-5D4D-3E7F85803775}"/>
              </a:ext>
            </a:extLst>
          </p:cNvPr>
          <p:cNvSpPr txBox="1"/>
          <p:nvPr/>
        </p:nvSpPr>
        <p:spPr>
          <a:xfrm>
            <a:off x="1356115" y="3632461"/>
            <a:ext cx="11117239" cy="1811778"/>
          </a:xfrm>
          <a:prstGeom prst="rect">
            <a:avLst/>
          </a:prstGeom>
          <a:noFill/>
        </p:spPr>
        <p:txBody>
          <a:bodyPr wrap="square" rtlCol="0">
            <a:spAutoFit/>
          </a:bodyPr>
          <a:lstStyle/>
          <a:p>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800" dirty="0">
                <a:latin typeface="Tahoma" panose="020B0604030504040204" pitchFamily="34" charset="0"/>
                <a:ea typeface="Tahoma" panose="020B0604030504040204" pitchFamily="34" charset="0"/>
                <a:cs typeface="Tahoma" panose="020B0604030504040204" pitchFamily="34" charset="0"/>
              </a:rPr>
              <a:t>LDR R0, [R1, #4]	</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a:solidFill>
                  <a:schemeClr val="tx1">
                    <a:lumMod val="50000"/>
                    <a:lumOff val="50000"/>
                  </a:schemeClr>
                </a:solidFill>
                <a:latin typeface="+mn-ea"/>
                <a:cs typeface="Times New Roman" panose="02020603050405020304" pitchFamily="18" charset="0"/>
              </a:rPr>
              <a:t> // R0 </a:t>
            </a:r>
            <a:r>
              <a:rPr lang="en-US" altLang="zh-CN" sz="2800" b="1" dirty="0">
                <a:solidFill>
                  <a:schemeClr val="tx1">
                    <a:lumMod val="50000"/>
                    <a:lumOff val="50000"/>
                  </a:schemeClr>
                </a:solidFill>
                <a:latin typeface="+mn-ea"/>
                <a:cs typeface="Times New Roman" panose="02020603050405020304" pitchFamily="18" charset="0"/>
                <a:sym typeface="Wingdings" panose="05000000000000000000" pitchFamily="2" charset="2"/>
              </a:rPr>
              <a:t> mem32[R1 + 4]</a:t>
            </a:r>
            <a:endParaRPr lang="en-US" altLang="zh-CN" sz="2800" b="1" dirty="0">
              <a:solidFill>
                <a:schemeClr val="tx1">
                  <a:lumMod val="50000"/>
                  <a:lumOff val="50000"/>
                </a:schemeClr>
              </a:solidFill>
              <a:latin typeface="+mn-ea"/>
              <a:cs typeface="Times New Roman" panose="02020603050405020304" pitchFamily="18" charset="0"/>
            </a:endParaRPr>
          </a:p>
          <a:p>
            <a:pPr>
              <a:lnSpc>
                <a:spcPct val="150000"/>
              </a:lnSpc>
            </a:pPr>
            <a:r>
              <a:rPr lang="en-US" altLang="zh-CN" sz="2800" b="1" dirty="0">
                <a:solidFill>
                  <a:schemeClr val="tx1">
                    <a:lumMod val="50000"/>
                    <a:lumOff val="50000"/>
                  </a:schemeClr>
                </a:solidFill>
                <a:latin typeface="+mn-ea"/>
                <a:cs typeface="Times New Roman" panose="02020603050405020304" pitchFamily="18" charset="0"/>
              </a:rPr>
              <a:t>R1</a:t>
            </a:r>
            <a:r>
              <a:rPr lang="zh-CN" altLang="en-US" sz="2800" b="1" dirty="0">
                <a:solidFill>
                  <a:schemeClr val="tx1">
                    <a:lumMod val="50000"/>
                    <a:lumOff val="50000"/>
                  </a:schemeClr>
                </a:solidFill>
                <a:latin typeface="+mn-ea"/>
                <a:cs typeface="Times New Roman" panose="02020603050405020304" pitchFamily="18" charset="0"/>
              </a:rPr>
              <a:t>中保存的地址</a:t>
            </a:r>
            <a:r>
              <a:rPr lang="en-US" altLang="zh-CN" sz="2800" b="1" dirty="0">
                <a:solidFill>
                  <a:schemeClr val="tx1">
                    <a:lumMod val="50000"/>
                    <a:lumOff val="50000"/>
                  </a:schemeClr>
                </a:solidFill>
                <a:latin typeface="+mn-ea"/>
                <a:cs typeface="Times New Roman" panose="02020603050405020304" pitchFamily="18" charset="0"/>
              </a:rPr>
              <a:t>+4</a:t>
            </a:r>
            <a:r>
              <a:rPr lang="zh-CN" altLang="en-US" sz="2800" b="1" dirty="0">
                <a:solidFill>
                  <a:schemeClr val="tx1">
                    <a:lumMod val="50000"/>
                    <a:lumOff val="50000"/>
                  </a:schemeClr>
                </a:solidFill>
                <a:latin typeface="+mn-ea"/>
                <a:cs typeface="Times New Roman" panose="02020603050405020304" pitchFamily="18" charset="0"/>
              </a:rPr>
              <a:t>，新地址中的值存入</a:t>
            </a:r>
            <a:r>
              <a:rPr lang="en-US" altLang="zh-CN" sz="2800" b="1" dirty="0">
                <a:solidFill>
                  <a:schemeClr val="tx1">
                    <a:lumMod val="50000"/>
                    <a:lumOff val="50000"/>
                  </a:schemeClr>
                </a:solidFill>
                <a:latin typeface="+mn-ea"/>
                <a:cs typeface="Times New Roman" panose="02020603050405020304" pitchFamily="18" charset="0"/>
              </a:rPr>
              <a:t>R0</a:t>
            </a:r>
          </a:p>
        </p:txBody>
      </p:sp>
    </p:spTree>
    <p:extLst>
      <p:ext uri="{BB962C8B-B14F-4D97-AF65-F5344CB8AC3E}">
        <p14:creationId xmlns:p14="http://schemas.microsoft.com/office/powerpoint/2010/main" val="7829561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p:txBody>
          <a:bodyPr/>
          <a:lstStyle/>
          <a:p>
            <a:r>
              <a:rPr lang="zh-CN" altLang="en-US" dirty="0"/>
              <a:t>基址寻址</a:t>
            </a:r>
          </a:p>
        </p:txBody>
      </p:sp>
      <p:sp>
        <p:nvSpPr>
          <p:cNvPr id="3" name="内容占位符 2">
            <a:extLst>
              <a:ext uri="{FF2B5EF4-FFF2-40B4-BE49-F238E27FC236}">
                <a16:creationId xmlns:a16="http://schemas.microsoft.com/office/drawing/2014/main" id="{5090C5D2-8177-494C-8E28-26C08B66E7E7}"/>
              </a:ext>
            </a:extLst>
          </p:cNvPr>
          <p:cNvSpPr>
            <a:spLocks noGrp="1"/>
          </p:cNvSpPr>
          <p:nvPr>
            <p:ph idx="1"/>
          </p:nvPr>
        </p:nvSpPr>
        <p:spPr>
          <a:xfrm>
            <a:off x="838200" y="1673865"/>
            <a:ext cx="10515600" cy="4351338"/>
          </a:xfrm>
        </p:spPr>
        <p:txBody>
          <a:bodyPr/>
          <a:lstStyle/>
          <a:p>
            <a:r>
              <a:rPr lang="zh-CN" altLang="en-US" dirty="0">
                <a:solidFill>
                  <a:schemeClr val="accent1">
                    <a:lumMod val="75000"/>
                  </a:schemeClr>
                </a:solidFill>
              </a:rPr>
              <a:t>基址寄存器的内容与指令中的偏移量相加，得到有效操作数的地址后访问该地址空间</a:t>
            </a:r>
            <a:endParaRPr lang="en-US" altLang="zh-CN" dirty="0">
              <a:solidFill>
                <a:schemeClr val="accent1">
                  <a:lumMod val="75000"/>
                </a:schemeClr>
              </a:solidFill>
            </a:endParaRPr>
          </a:p>
          <a:p>
            <a:pPr marL="0" indent="0">
              <a:buNone/>
            </a:pPr>
            <a:r>
              <a:rPr lang="en-US" altLang="zh-CN" dirty="0"/>
              <a:t>2. </a:t>
            </a:r>
            <a:r>
              <a:rPr lang="zh-CN" altLang="en-US" dirty="0">
                <a:solidFill>
                  <a:srgbClr val="FF0000"/>
                </a:solidFill>
              </a:rPr>
              <a:t>自动索引</a:t>
            </a:r>
            <a:endParaRPr lang="en-US" altLang="zh-CN" dirty="0">
              <a:solidFill>
                <a:srgbClr val="FF0000"/>
              </a:solidFill>
            </a:endParaRPr>
          </a:p>
        </p:txBody>
      </p:sp>
      <p:sp>
        <p:nvSpPr>
          <p:cNvPr id="4" name="文本框 3">
            <a:extLst>
              <a:ext uri="{FF2B5EF4-FFF2-40B4-BE49-F238E27FC236}">
                <a16:creationId xmlns:a16="http://schemas.microsoft.com/office/drawing/2014/main" id="{DC4C908C-316D-629E-5D4D-3E7F85803775}"/>
              </a:ext>
            </a:extLst>
          </p:cNvPr>
          <p:cNvSpPr txBox="1"/>
          <p:nvPr/>
        </p:nvSpPr>
        <p:spPr>
          <a:xfrm>
            <a:off x="1074761" y="3403861"/>
            <a:ext cx="11117239" cy="3034420"/>
          </a:xfrm>
          <a:prstGeom prst="rect">
            <a:avLst/>
          </a:prstGeom>
          <a:noFill/>
        </p:spPr>
        <p:txBody>
          <a:bodyPr wrap="square" rtlCol="0">
            <a:spAutoFit/>
          </a:bodyPr>
          <a:lstStyle/>
          <a:p>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200000"/>
              </a:lnSpc>
            </a:pPr>
            <a:r>
              <a:rPr lang="en-US" altLang="zh-CN" sz="2800" dirty="0">
                <a:latin typeface="Tahoma" panose="020B0604030504040204" pitchFamily="34" charset="0"/>
                <a:ea typeface="Tahoma" panose="020B0604030504040204" pitchFamily="34" charset="0"/>
                <a:cs typeface="Tahoma" panose="020B0604030504040204" pitchFamily="34" charset="0"/>
              </a:rPr>
              <a:t>LDR R0, [R1, #4]!  // </a:t>
            </a:r>
            <a:r>
              <a:rPr lang="en-US" altLang="zh-CN" sz="2800" b="1" dirty="0">
                <a:solidFill>
                  <a:schemeClr val="tx1">
                    <a:lumMod val="50000"/>
                    <a:lumOff val="50000"/>
                  </a:schemeClr>
                </a:solidFill>
                <a:latin typeface="+mn-ea"/>
                <a:cs typeface="Times New Roman" panose="02020603050405020304" pitchFamily="18" charset="0"/>
              </a:rPr>
              <a:t>R0 </a:t>
            </a:r>
            <a:r>
              <a:rPr lang="en-US" altLang="zh-CN" sz="2800" b="1" dirty="0">
                <a:solidFill>
                  <a:schemeClr val="tx1">
                    <a:lumMod val="50000"/>
                    <a:lumOff val="50000"/>
                  </a:schemeClr>
                </a:solidFill>
                <a:latin typeface="+mn-ea"/>
                <a:cs typeface="Times New Roman" panose="02020603050405020304" pitchFamily="18" charset="0"/>
                <a:sym typeface="Wingdings" panose="05000000000000000000" pitchFamily="2" charset="2"/>
              </a:rPr>
              <a:t> mem32[</a:t>
            </a:r>
            <a:r>
              <a:rPr lang="en-US" altLang="zh-CN" sz="2800" b="1" dirty="0">
                <a:solidFill>
                  <a:srgbClr val="FF0000"/>
                </a:solidFill>
                <a:latin typeface="+mn-ea"/>
                <a:cs typeface="Times New Roman" panose="02020603050405020304" pitchFamily="18" charset="0"/>
                <a:sym typeface="Wingdings" panose="05000000000000000000" pitchFamily="2" charset="2"/>
              </a:rPr>
              <a:t>R1 + 4</a:t>
            </a:r>
            <a:r>
              <a:rPr lang="en-US" altLang="zh-CN" sz="2800" b="1" dirty="0">
                <a:solidFill>
                  <a:schemeClr val="tx1">
                    <a:lumMod val="50000"/>
                    <a:lumOff val="50000"/>
                  </a:schemeClr>
                </a:solidFill>
                <a:latin typeface="+mn-ea"/>
                <a:cs typeface="Times New Roman" panose="02020603050405020304" pitchFamily="18" charset="0"/>
                <a:sym typeface="Wingdings" panose="05000000000000000000" pitchFamily="2" charset="2"/>
              </a:rPr>
              <a:t>]</a:t>
            </a:r>
            <a:r>
              <a:rPr lang="zh-CN" altLang="en-US" sz="2800" b="1" dirty="0">
                <a:solidFill>
                  <a:schemeClr val="tx1">
                    <a:lumMod val="50000"/>
                    <a:lumOff val="50000"/>
                  </a:schemeClr>
                </a:solidFill>
                <a:latin typeface="+mn-ea"/>
                <a:cs typeface="Times New Roman" panose="02020603050405020304" pitchFamily="18" charset="0"/>
                <a:sym typeface="Wingdings" panose="05000000000000000000" pitchFamily="2" charset="2"/>
              </a:rPr>
              <a:t>；</a:t>
            </a:r>
            <a:r>
              <a:rPr lang="en-US" altLang="zh-CN" sz="2800" b="1" dirty="0">
                <a:solidFill>
                  <a:schemeClr val="tx1">
                    <a:lumMod val="50000"/>
                    <a:lumOff val="50000"/>
                  </a:schemeClr>
                </a:solidFill>
                <a:latin typeface="+mn-ea"/>
                <a:cs typeface="Times New Roman" panose="02020603050405020304" pitchFamily="18" charset="0"/>
                <a:sym typeface="Wingdings" panose="05000000000000000000" pitchFamily="2" charset="2"/>
              </a:rPr>
              <a:t>R1  R1 + 4</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a:solidFill>
                  <a:schemeClr val="tx1">
                    <a:lumMod val="50000"/>
                    <a:lumOff val="50000"/>
                  </a:schemeClr>
                </a:solidFill>
                <a:latin typeface="+mn-ea"/>
                <a:cs typeface="Times New Roman" panose="02020603050405020304" pitchFamily="18" charset="0"/>
              </a:rPr>
              <a:t> </a:t>
            </a:r>
          </a:p>
          <a:p>
            <a:pPr>
              <a:lnSpc>
                <a:spcPct val="200000"/>
              </a:lnSpc>
            </a:pPr>
            <a:r>
              <a:rPr lang="zh-CN" altLang="en-US" sz="2800" b="1" dirty="0">
                <a:solidFill>
                  <a:schemeClr val="tx1">
                    <a:lumMod val="50000"/>
                    <a:lumOff val="50000"/>
                  </a:schemeClr>
                </a:solidFill>
                <a:latin typeface="+mn-ea"/>
                <a:cs typeface="Times New Roman" panose="02020603050405020304" pitchFamily="18" charset="0"/>
              </a:rPr>
              <a:t>在前索引的基础上，</a:t>
            </a:r>
            <a:r>
              <a:rPr lang="zh-CN" altLang="en-US" sz="2800" b="1" dirty="0">
                <a:solidFill>
                  <a:srgbClr val="FF0000"/>
                </a:solidFill>
                <a:latin typeface="+mn-ea"/>
                <a:cs typeface="Times New Roman" panose="02020603050405020304" pitchFamily="18" charset="0"/>
              </a:rPr>
              <a:t>新地址回写进</a:t>
            </a:r>
            <a:r>
              <a:rPr lang="en-US" altLang="zh-CN" sz="2800" b="1" dirty="0">
                <a:solidFill>
                  <a:srgbClr val="FF0000"/>
                </a:solidFill>
                <a:latin typeface="+mn-ea"/>
                <a:cs typeface="Times New Roman" panose="02020603050405020304" pitchFamily="18" charset="0"/>
              </a:rPr>
              <a:t>R1</a:t>
            </a:r>
          </a:p>
          <a:p>
            <a:pPr>
              <a:lnSpc>
                <a:spcPct val="200000"/>
              </a:lnSpc>
            </a:pP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注：！表示回写地址</a:t>
            </a:r>
            <a:endPar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771064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p:txBody>
          <a:bodyPr/>
          <a:lstStyle/>
          <a:p>
            <a:r>
              <a:rPr lang="zh-CN" altLang="en-US" dirty="0"/>
              <a:t>基址寻址</a:t>
            </a:r>
          </a:p>
        </p:txBody>
      </p:sp>
      <p:sp>
        <p:nvSpPr>
          <p:cNvPr id="3" name="内容占位符 2">
            <a:extLst>
              <a:ext uri="{FF2B5EF4-FFF2-40B4-BE49-F238E27FC236}">
                <a16:creationId xmlns:a16="http://schemas.microsoft.com/office/drawing/2014/main" id="{5090C5D2-8177-494C-8E28-26C08B66E7E7}"/>
              </a:ext>
            </a:extLst>
          </p:cNvPr>
          <p:cNvSpPr>
            <a:spLocks noGrp="1"/>
          </p:cNvSpPr>
          <p:nvPr>
            <p:ph idx="1"/>
          </p:nvPr>
        </p:nvSpPr>
        <p:spPr>
          <a:xfrm>
            <a:off x="838200" y="1673865"/>
            <a:ext cx="10515600" cy="2172646"/>
          </a:xfrm>
        </p:spPr>
        <p:txBody>
          <a:bodyPr/>
          <a:lstStyle/>
          <a:p>
            <a:r>
              <a:rPr lang="zh-CN" altLang="en-US" dirty="0">
                <a:solidFill>
                  <a:schemeClr val="accent1">
                    <a:lumMod val="75000"/>
                  </a:schemeClr>
                </a:solidFill>
              </a:rPr>
              <a:t>基址寄存器的内容与指令中的偏移量相加，得到有效操作数的地址后访问该地址空间</a:t>
            </a:r>
            <a:endParaRPr lang="en-US" altLang="zh-CN" dirty="0">
              <a:solidFill>
                <a:schemeClr val="accent1">
                  <a:lumMod val="75000"/>
                </a:schemeClr>
              </a:solidFill>
            </a:endParaRPr>
          </a:p>
          <a:p>
            <a:pPr marL="0" indent="0">
              <a:buNone/>
            </a:pPr>
            <a:r>
              <a:rPr lang="en-US" altLang="zh-CN" dirty="0"/>
              <a:t>3. </a:t>
            </a:r>
            <a:r>
              <a:rPr lang="zh-CN" altLang="en-US" dirty="0">
                <a:solidFill>
                  <a:srgbClr val="FF0000"/>
                </a:solidFill>
              </a:rPr>
              <a:t>后索引</a:t>
            </a:r>
            <a:endParaRPr lang="en-US" altLang="zh-CN" dirty="0">
              <a:solidFill>
                <a:srgbClr val="FF0000"/>
              </a:solidFill>
            </a:endParaRPr>
          </a:p>
        </p:txBody>
      </p:sp>
      <p:sp>
        <p:nvSpPr>
          <p:cNvPr id="4" name="文本框 3">
            <a:extLst>
              <a:ext uri="{FF2B5EF4-FFF2-40B4-BE49-F238E27FC236}">
                <a16:creationId xmlns:a16="http://schemas.microsoft.com/office/drawing/2014/main" id="{DC4C908C-316D-629E-5D4D-3E7F85803775}"/>
              </a:ext>
            </a:extLst>
          </p:cNvPr>
          <p:cNvSpPr txBox="1"/>
          <p:nvPr/>
        </p:nvSpPr>
        <p:spPr>
          <a:xfrm>
            <a:off x="1074761" y="3865727"/>
            <a:ext cx="11117239" cy="1696362"/>
          </a:xfrm>
          <a:prstGeom prst="rect">
            <a:avLst/>
          </a:prstGeom>
          <a:noFill/>
        </p:spPr>
        <p:txBody>
          <a:bodyPr wrap="square" rtlCol="0">
            <a:spAutoFit/>
          </a:bodyPr>
          <a:lstStyle/>
          <a:p>
            <a:pPr>
              <a:lnSpc>
                <a:spcPct val="200000"/>
              </a:lnSpc>
            </a:pPr>
            <a:r>
              <a:rPr lang="en-US" altLang="zh-CN" sz="2800" dirty="0">
                <a:latin typeface="Tahoma" panose="020B0604030504040204" pitchFamily="34" charset="0"/>
                <a:ea typeface="Tahoma" panose="020B0604030504040204" pitchFamily="34" charset="0"/>
                <a:cs typeface="Tahoma" panose="020B0604030504040204" pitchFamily="34" charset="0"/>
              </a:rPr>
              <a:t>LDR R0, [R1], #4  // </a:t>
            </a:r>
            <a:r>
              <a:rPr lang="en-US" altLang="zh-CN" sz="2800" b="1" dirty="0">
                <a:solidFill>
                  <a:schemeClr val="tx1">
                    <a:lumMod val="50000"/>
                    <a:lumOff val="50000"/>
                  </a:schemeClr>
                </a:solidFill>
                <a:latin typeface="+mn-ea"/>
                <a:cs typeface="Times New Roman" panose="02020603050405020304" pitchFamily="18" charset="0"/>
              </a:rPr>
              <a:t>R0 </a:t>
            </a:r>
            <a:r>
              <a:rPr lang="en-US" altLang="zh-CN" sz="2800" b="1" dirty="0">
                <a:solidFill>
                  <a:schemeClr val="tx1">
                    <a:lumMod val="50000"/>
                    <a:lumOff val="50000"/>
                  </a:schemeClr>
                </a:solidFill>
                <a:latin typeface="+mn-ea"/>
                <a:cs typeface="Times New Roman" panose="02020603050405020304" pitchFamily="18" charset="0"/>
                <a:sym typeface="Wingdings" panose="05000000000000000000" pitchFamily="2" charset="2"/>
              </a:rPr>
              <a:t> mem32</a:t>
            </a:r>
            <a:r>
              <a:rPr lang="en-US" altLang="zh-CN" sz="2800" b="1" dirty="0">
                <a:solidFill>
                  <a:srgbClr val="FF0000"/>
                </a:solidFill>
                <a:latin typeface="+mn-ea"/>
                <a:cs typeface="Times New Roman" panose="02020603050405020304" pitchFamily="18" charset="0"/>
                <a:sym typeface="Wingdings" panose="05000000000000000000" pitchFamily="2" charset="2"/>
              </a:rPr>
              <a:t>[R1]</a:t>
            </a:r>
            <a:r>
              <a:rPr lang="zh-CN" altLang="en-US" sz="2800" b="1" dirty="0">
                <a:solidFill>
                  <a:schemeClr val="tx1">
                    <a:lumMod val="50000"/>
                    <a:lumOff val="50000"/>
                  </a:schemeClr>
                </a:solidFill>
                <a:latin typeface="+mn-ea"/>
                <a:cs typeface="Times New Roman" panose="02020603050405020304" pitchFamily="18" charset="0"/>
                <a:sym typeface="Wingdings" panose="05000000000000000000" pitchFamily="2" charset="2"/>
              </a:rPr>
              <a:t>；</a:t>
            </a:r>
            <a:r>
              <a:rPr lang="en-US" altLang="zh-CN" sz="2800" b="1" dirty="0">
                <a:solidFill>
                  <a:schemeClr val="tx1">
                    <a:lumMod val="50000"/>
                    <a:lumOff val="50000"/>
                  </a:schemeClr>
                </a:solidFill>
                <a:latin typeface="+mn-ea"/>
                <a:cs typeface="Times New Roman" panose="02020603050405020304" pitchFamily="18" charset="0"/>
                <a:sym typeface="Wingdings" panose="05000000000000000000" pitchFamily="2" charset="2"/>
              </a:rPr>
              <a:t>R1  R1 + 4 </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a:solidFill>
                  <a:schemeClr val="tx1">
                    <a:lumMod val="50000"/>
                    <a:lumOff val="50000"/>
                  </a:schemeClr>
                </a:solidFill>
                <a:latin typeface="+mn-ea"/>
                <a:cs typeface="Times New Roman" panose="02020603050405020304" pitchFamily="18" charset="0"/>
              </a:rPr>
              <a:t> </a:t>
            </a:r>
          </a:p>
          <a:p>
            <a:pPr>
              <a:lnSpc>
                <a:spcPct val="200000"/>
              </a:lnSpc>
            </a:pPr>
            <a:r>
              <a:rPr lang="en-US" altLang="zh-CN" sz="2800" b="1" dirty="0">
                <a:solidFill>
                  <a:schemeClr val="tx1">
                    <a:lumMod val="50000"/>
                    <a:lumOff val="50000"/>
                  </a:schemeClr>
                </a:solidFill>
                <a:latin typeface="+mn-ea"/>
                <a:cs typeface="Times New Roman" panose="02020603050405020304" pitchFamily="18" charset="0"/>
              </a:rPr>
              <a:t>R1</a:t>
            </a:r>
            <a:r>
              <a:rPr lang="zh-CN" altLang="en-US" sz="2800" b="1" dirty="0">
                <a:solidFill>
                  <a:schemeClr val="tx1">
                    <a:lumMod val="50000"/>
                    <a:lumOff val="50000"/>
                  </a:schemeClr>
                </a:solidFill>
                <a:latin typeface="+mn-ea"/>
                <a:cs typeface="Times New Roman" panose="02020603050405020304" pitchFamily="18" charset="0"/>
              </a:rPr>
              <a:t>中保存地址的内容写进</a:t>
            </a:r>
            <a:r>
              <a:rPr lang="en-US" altLang="zh-CN" sz="2800" b="1" dirty="0">
                <a:solidFill>
                  <a:schemeClr val="tx1">
                    <a:lumMod val="50000"/>
                    <a:lumOff val="50000"/>
                  </a:schemeClr>
                </a:solidFill>
                <a:latin typeface="+mn-ea"/>
                <a:cs typeface="Times New Roman" panose="02020603050405020304" pitchFamily="18" charset="0"/>
              </a:rPr>
              <a:t>R0</a:t>
            </a:r>
            <a:r>
              <a:rPr lang="zh-CN" altLang="en-US" sz="2800" b="1" dirty="0">
                <a:solidFill>
                  <a:schemeClr val="tx1">
                    <a:lumMod val="50000"/>
                    <a:lumOff val="50000"/>
                  </a:schemeClr>
                </a:solidFill>
                <a:latin typeface="+mn-ea"/>
                <a:cs typeface="Times New Roman" panose="02020603050405020304" pitchFamily="18" charset="0"/>
              </a:rPr>
              <a:t>，</a:t>
            </a:r>
            <a:r>
              <a:rPr lang="en-US" altLang="zh-CN" sz="2800" b="1" dirty="0">
                <a:solidFill>
                  <a:schemeClr val="tx1">
                    <a:lumMod val="50000"/>
                    <a:lumOff val="50000"/>
                  </a:schemeClr>
                </a:solidFill>
                <a:latin typeface="+mn-ea"/>
                <a:cs typeface="Times New Roman" panose="02020603050405020304" pitchFamily="18" charset="0"/>
              </a:rPr>
              <a:t>R1</a:t>
            </a:r>
            <a:r>
              <a:rPr lang="zh-CN" altLang="en-US" sz="2800" b="1" dirty="0">
                <a:solidFill>
                  <a:schemeClr val="tx1">
                    <a:lumMod val="50000"/>
                    <a:lumOff val="50000"/>
                  </a:schemeClr>
                </a:solidFill>
                <a:latin typeface="+mn-ea"/>
                <a:cs typeface="Times New Roman" panose="02020603050405020304" pitchFamily="18" charset="0"/>
              </a:rPr>
              <a:t>中保存的地址</a:t>
            </a:r>
            <a:r>
              <a:rPr lang="en-US" altLang="zh-CN" sz="2800" b="1" dirty="0">
                <a:solidFill>
                  <a:schemeClr val="tx1">
                    <a:lumMod val="50000"/>
                    <a:lumOff val="50000"/>
                  </a:schemeClr>
                </a:solidFill>
                <a:latin typeface="+mn-ea"/>
                <a:cs typeface="Times New Roman" panose="02020603050405020304" pitchFamily="18" charset="0"/>
              </a:rPr>
              <a:t>+4</a:t>
            </a:r>
            <a:r>
              <a:rPr lang="zh-CN" altLang="en-US" sz="2800" b="1" dirty="0">
                <a:solidFill>
                  <a:schemeClr val="tx1">
                    <a:lumMod val="50000"/>
                    <a:lumOff val="50000"/>
                  </a:schemeClr>
                </a:solidFill>
                <a:latin typeface="+mn-ea"/>
                <a:cs typeface="Times New Roman" panose="02020603050405020304" pitchFamily="18" charset="0"/>
              </a:rPr>
              <a:t>再写进</a:t>
            </a:r>
            <a:r>
              <a:rPr lang="en-US" altLang="zh-CN" sz="2800" b="1" dirty="0">
                <a:solidFill>
                  <a:schemeClr val="tx1">
                    <a:lumMod val="50000"/>
                    <a:lumOff val="50000"/>
                  </a:schemeClr>
                </a:solidFill>
                <a:latin typeface="+mn-ea"/>
                <a:cs typeface="Times New Roman" panose="02020603050405020304" pitchFamily="18" charset="0"/>
              </a:rPr>
              <a:t>R1</a:t>
            </a:r>
          </a:p>
        </p:txBody>
      </p:sp>
    </p:spTree>
    <p:extLst>
      <p:ext uri="{BB962C8B-B14F-4D97-AF65-F5344CB8AC3E}">
        <p14:creationId xmlns:p14="http://schemas.microsoft.com/office/powerpoint/2010/main" val="36925776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B84BC-C94F-46CB-8798-A97A8671B3F1}"/>
              </a:ext>
            </a:extLst>
          </p:cNvPr>
          <p:cNvSpPr>
            <a:spLocks noGrp="1"/>
          </p:cNvSpPr>
          <p:nvPr>
            <p:ph type="title"/>
          </p:nvPr>
        </p:nvSpPr>
        <p:spPr/>
        <p:txBody>
          <a:bodyPr/>
          <a:lstStyle/>
          <a:p>
            <a:r>
              <a:rPr lang="zh-CN" altLang="en-US" dirty="0"/>
              <a:t>多寄存器寻址类型</a:t>
            </a:r>
          </a:p>
        </p:txBody>
      </p:sp>
      <p:sp>
        <p:nvSpPr>
          <p:cNvPr id="3" name="内容占位符 2">
            <a:extLst>
              <a:ext uri="{FF2B5EF4-FFF2-40B4-BE49-F238E27FC236}">
                <a16:creationId xmlns:a16="http://schemas.microsoft.com/office/drawing/2014/main" id="{E290CCCE-4B73-4990-9D12-DB2D09EEE757}"/>
              </a:ext>
            </a:extLst>
          </p:cNvPr>
          <p:cNvSpPr>
            <a:spLocks noGrp="1"/>
          </p:cNvSpPr>
          <p:nvPr>
            <p:ph idx="1"/>
          </p:nvPr>
        </p:nvSpPr>
        <p:spPr/>
        <p:txBody>
          <a:bodyPr>
            <a:normAutofit/>
          </a:bodyPr>
          <a:lstStyle/>
          <a:p>
            <a:r>
              <a:rPr lang="zh-CN" altLang="en-US" dirty="0"/>
              <a:t>多寄存器寻址也称为</a:t>
            </a:r>
            <a:r>
              <a:rPr lang="zh-CN" altLang="en-US" dirty="0">
                <a:solidFill>
                  <a:srgbClr val="FF0000"/>
                </a:solidFill>
              </a:rPr>
              <a:t>块拷贝寻址</a:t>
            </a:r>
            <a:endParaRPr lang="en-US" altLang="zh-CN" dirty="0">
              <a:solidFill>
                <a:srgbClr val="FF0000"/>
              </a:solidFill>
            </a:endParaRPr>
          </a:p>
          <a:p>
            <a:r>
              <a:rPr lang="en-US" altLang="zh-CN" dirty="0"/>
              <a:t>LDM</a:t>
            </a:r>
            <a:r>
              <a:rPr lang="zh-CN" altLang="en-US" dirty="0"/>
              <a:t>（</a:t>
            </a:r>
            <a:r>
              <a:rPr lang="en-US" altLang="zh-CN" dirty="0"/>
              <a:t>Load </a:t>
            </a:r>
            <a:r>
              <a:rPr lang="en-US" altLang="zh-CN" dirty="0">
                <a:solidFill>
                  <a:srgbClr val="FF0000"/>
                </a:solidFill>
              </a:rPr>
              <a:t>Multiple</a:t>
            </a:r>
            <a:r>
              <a:rPr lang="zh-CN" altLang="en-US" dirty="0"/>
              <a:t>）多数据加载</a:t>
            </a:r>
            <a:endParaRPr lang="en-US" altLang="zh-CN" dirty="0"/>
          </a:p>
          <a:p>
            <a:pPr lvl="1"/>
            <a:r>
              <a:rPr lang="zh-CN" altLang="en-US" dirty="0"/>
              <a:t>将</a:t>
            </a:r>
            <a:r>
              <a:rPr lang="zh-CN" altLang="en-US" dirty="0">
                <a:solidFill>
                  <a:srgbClr val="FF0000"/>
                </a:solidFill>
              </a:rPr>
              <a:t>多个</a:t>
            </a:r>
            <a:r>
              <a:rPr lang="zh-CN" altLang="en-US" dirty="0"/>
              <a:t>地址上的值</a:t>
            </a:r>
            <a:r>
              <a:rPr lang="zh-CN" altLang="en-US" dirty="0">
                <a:solidFill>
                  <a:srgbClr val="FF0000"/>
                </a:solidFill>
              </a:rPr>
              <a:t>加载</a:t>
            </a:r>
            <a:r>
              <a:rPr lang="zh-CN" altLang="en-US" dirty="0"/>
              <a:t>到</a:t>
            </a:r>
            <a:r>
              <a:rPr lang="zh-CN" altLang="en-US" dirty="0">
                <a:solidFill>
                  <a:srgbClr val="FF0000"/>
                </a:solidFill>
              </a:rPr>
              <a:t>多个</a:t>
            </a:r>
            <a:r>
              <a:rPr lang="zh-CN" altLang="en-US" dirty="0"/>
              <a:t>寄存器上</a:t>
            </a:r>
            <a:endParaRPr lang="en-US" altLang="zh-CN" dirty="0"/>
          </a:p>
          <a:p>
            <a:r>
              <a:rPr lang="en-US" altLang="zh-CN" dirty="0"/>
              <a:t>STM</a:t>
            </a:r>
            <a:r>
              <a:rPr lang="zh-CN" altLang="en-US" dirty="0"/>
              <a:t>（</a:t>
            </a:r>
            <a:r>
              <a:rPr lang="en-US" altLang="zh-CN" dirty="0"/>
              <a:t>Store </a:t>
            </a:r>
            <a:r>
              <a:rPr lang="en-US" altLang="zh-CN" dirty="0">
                <a:solidFill>
                  <a:srgbClr val="FF0000"/>
                </a:solidFill>
              </a:rPr>
              <a:t>Multiple</a:t>
            </a:r>
            <a:r>
              <a:rPr lang="zh-CN" altLang="en-US" dirty="0"/>
              <a:t>）多数据存储</a:t>
            </a:r>
            <a:endParaRPr lang="en-US" altLang="zh-CN" dirty="0"/>
          </a:p>
          <a:p>
            <a:pPr lvl="1"/>
            <a:r>
              <a:rPr lang="zh-CN" altLang="en-US" dirty="0"/>
              <a:t>将</a:t>
            </a:r>
            <a:r>
              <a:rPr lang="zh-CN" altLang="en-US" dirty="0">
                <a:solidFill>
                  <a:srgbClr val="FF0000"/>
                </a:solidFill>
              </a:rPr>
              <a:t>多个</a:t>
            </a:r>
            <a:r>
              <a:rPr lang="zh-CN" altLang="en-US" dirty="0"/>
              <a:t>寄存器上的值</a:t>
            </a:r>
            <a:r>
              <a:rPr lang="zh-CN" altLang="en-US" dirty="0">
                <a:solidFill>
                  <a:srgbClr val="FF0000"/>
                </a:solidFill>
              </a:rPr>
              <a:t>存到多个</a:t>
            </a:r>
            <a:r>
              <a:rPr lang="zh-CN" altLang="en-US" dirty="0"/>
              <a:t>地址上</a:t>
            </a:r>
          </a:p>
        </p:txBody>
      </p:sp>
    </p:spTree>
    <p:extLst>
      <p:ext uri="{BB962C8B-B14F-4D97-AF65-F5344CB8AC3E}">
        <p14:creationId xmlns:p14="http://schemas.microsoft.com/office/powerpoint/2010/main" val="28547515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3BC8B0-3132-43F9-9774-552681A9D80B}"/>
              </a:ext>
            </a:extLst>
          </p:cNvPr>
          <p:cNvSpPr>
            <a:spLocks noGrp="1"/>
          </p:cNvSpPr>
          <p:nvPr>
            <p:ph type="title"/>
          </p:nvPr>
        </p:nvSpPr>
        <p:spPr/>
        <p:txBody>
          <a:bodyPr/>
          <a:lstStyle/>
          <a:p>
            <a:r>
              <a:rPr lang="zh-CN" altLang="en-US" dirty="0"/>
              <a:t>多寄存器寻址格式</a:t>
            </a:r>
          </a:p>
        </p:txBody>
      </p:sp>
      <p:sp>
        <p:nvSpPr>
          <p:cNvPr id="3" name="内容占位符 2">
            <a:extLst>
              <a:ext uri="{FF2B5EF4-FFF2-40B4-BE49-F238E27FC236}">
                <a16:creationId xmlns:a16="http://schemas.microsoft.com/office/drawing/2014/main" id="{0BD304B5-354D-413B-BDCB-192642E49484}"/>
              </a:ext>
            </a:extLst>
          </p:cNvPr>
          <p:cNvSpPr>
            <a:spLocks noGrp="1"/>
          </p:cNvSpPr>
          <p:nvPr>
            <p:ph idx="1"/>
          </p:nvPr>
        </p:nvSpPr>
        <p:spPr/>
        <p:txBody>
          <a:bodyPr>
            <a:normAutofit lnSpcReduction="10000"/>
          </a:bodyPr>
          <a:lstStyle/>
          <a:p>
            <a:r>
              <a:rPr lang="en-US" altLang="zh-CN" dirty="0"/>
              <a:t>LDM{</a:t>
            </a:r>
            <a:r>
              <a:rPr lang="en-US" altLang="zh-CN" dirty="0" err="1"/>
              <a:t>cond</a:t>
            </a:r>
            <a:r>
              <a:rPr lang="en-US" altLang="zh-CN" dirty="0"/>
              <a:t>} mode Rn{!}, </a:t>
            </a:r>
            <a:r>
              <a:rPr lang="en-US" altLang="zh-CN" dirty="0" err="1"/>
              <a:t>reglist</a:t>
            </a:r>
            <a:r>
              <a:rPr lang="en-US" altLang="zh-CN" dirty="0"/>
              <a:t>{^}</a:t>
            </a:r>
          </a:p>
          <a:p>
            <a:r>
              <a:rPr lang="en-US" altLang="zh-CN" dirty="0"/>
              <a:t>STM{</a:t>
            </a:r>
            <a:r>
              <a:rPr lang="en-US" altLang="zh-CN" dirty="0" err="1"/>
              <a:t>cond</a:t>
            </a:r>
            <a:r>
              <a:rPr lang="en-US" altLang="zh-CN" dirty="0"/>
              <a:t>} mode Rn{!}, </a:t>
            </a:r>
            <a:r>
              <a:rPr lang="en-US" altLang="zh-CN" dirty="0" err="1"/>
              <a:t>reglist</a:t>
            </a:r>
            <a:r>
              <a:rPr lang="en-US" altLang="zh-CN" dirty="0"/>
              <a:t>{^}</a:t>
            </a:r>
          </a:p>
          <a:p>
            <a:pPr lvl="1"/>
            <a:r>
              <a:rPr lang="en-US" altLang="zh-CN" dirty="0"/>
              <a:t>Rn: </a:t>
            </a:r>
            <a:r>
              <a:rPr lang="zh-CN" altLang="en-US" dirty="0">
                <a:solidFill>
                  <a:srgbClr val="FF0000"/>
                </a:solidFill>
              </a:rPr>
              <a:t>基址寄存器</a:t>
            </a:r>
            <a:r>
              <a:rPr lang="zh-CN" altLang="en-US" dirty="0"/>
              <a:t>，存储传输数据的起始地址，</a:t>
            </a:r>
            <a:r>
              <a:rPr lang="en-US" altLang="zh-CN" dirty="0"/>
              <a:t>Rn</a:t>
            </a:r>
            <a:r>
              <a:rPr lang="zh-CN" altLang="en-US" dirty="0"/>
              <a:t>不能为</a:t>
            </a:r>
            <a:r>
              <a:rPr lang="en-US" altLang="zh-CN" dirty="0"/>
              <a:t>R15</a:t>
            </a:r>
          </a:p>
          <a:p>
            <a:pPr lvl="1"/>
            <a:r>
              <a:rPr lang="zh-CN" altLang="en-US" dirty="0"/>
              <a:t>！：表示最后的地址写回到</a:t>
            </a:r>
            <a:r>
              <a:rPr lang="en-US" altLang="zh-CN" dirty="0"/>
              <a:t>Rn</a:t>
            </a:r>
            <a:r>
              <a:rPr lang="zh-CN" altLang="en-US" dirty="0"/>
              <a:t>中</a:t>
            </a:r>
            <a:endParaRPr lang="en-US" altLang="zh-CN" dirty="0"/>
          </a:p>
          <a:p>
            <a:pPr lvl="1"/>
            <a:r>
              <a:rPr lang="en-US" altLang="zh-CN" dirty="0" err="1"/>
              <a:t>reglist</a:t>
            </a:r>
            <a:r>
              <a:rPr lang="zh-CN" altLang="en-US" dirty="0"/>
              <a:t>：</a:t>
            </a:r>
            <a:r>
              <a:rPr lang="zh-CN" altLang="en-US" dirty="0">
                <a:solidFill>
                  <a:srgbClr val="FF0000"/>
                </a:solidFill>
              </a:rPr>
              <a:t>寄存器列表</a:t>
            </a:r>
            <a:r>
              <a:rPr lang="zh-CN" altLang="en-US" dirty="0"/>
              <a:t>，用“，”隔开，如</a:t>
            </a:r>
            <a:r>
              <a:rPr lang="en-US" altLang="zh-CN" dirty="0"/>
              <a:t>{R1</a:t>
            </a:r>
            <a:r>
              <a:rPr lang="zh-CN" altLang="en-US" dirty="0"/>
              <a:t>，</a:t>
            </a:r>
            <a:r>
              <a:rPr lang="en-US" altLang="zh-CN" dirty="0"/>
              <a:t>R2</a:t>
            </a:r>
            <a:r>
              <a:rPr lang="zh-CN" altLang="en-US" dirty="0"/>
              <a:t>，</a:t>
            </a:r>
            <a:r>
              <a:rPr lang="en-US" altLang="zh-CN" dirty="0"/>
              <a:t>R3}</a:t>
            </a:r>
          </a:p>
          <a:p>
            <a:pPr lvl="2"/>
            <a:r>
              <a:rPr lang="zh-CN" altLang="en-US" dirty="0"/>
              <a:t>最多</a:t>
            </a:r>
            <a:r>
              <a:rPr lang="en-US" altLang="zh-CN" dirty="0"/>
              <a:t>16</a:t>
            </a:r>
            <a:r>
              <a:rPr lang="zh-CN" altLang="en-US" dirty="0"/>
              <a:t>个寄存器</a:t>
            </a:r>
            <a:endParaRPr lang="en-US" altLang="zh-CN" dirty="0"/>
          </a:p>
          <a:p>
            <a:pPr lvl="1"/>
            <a:r>
              <a:rPr lang="en-US" altLang="zh-CN" dirty="0"/>
              <a:t>^</a:t>
            </a:r>
            <a:r>
              <a:rPr lang="zh-CN" altLang="en-US" dirty="0"/>
              <a:t>：不允许在用户模式和系统模式下运行</a:t>
            </a:r>
          </a:p>
          <a:p>
            <a:endParaRPr lang="zh-CN" altLang="en-US" dirty="0"/>
          </a:p>
        </p:txBody>
      </p:sp>
    </p:spTree>
    <p:extLst>
      <p:ext uri="{BB962C8B-B14F-4D97-AF65-F5344CB8AC3E}">
        <p14:creationId xmlns:p14="http://schemas.microsoft.com/office/powerpoint/2010/main" val="24797493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3B8FD9-FB9C-40BF-B7E9-1C969248A430}"/>
              </a:ext>
            </a:extLst>
          </p:cNvPr>
          <p:cNvSpPr>
            <a:spLocks noGrp="1"/>
          </p:cNvSpPr>
          <p:nvPr>
            <p:ph type="title"/>
          </p:nvPr>
        </p:nvSpPr>
        <p:spPr/>
        <p:txBody>
          <a:bodyPr/>
          <a:lstStyle/>
          <a:p>
            <a:r>
              <a:rPr lang="zh-CN" altLang="en-US" dirty="0"/>
              <a:t>多寄存器寻址</a:t>
            </a:r>
            <a:r>
              <a:rPr lang="zh-CN" altLang="en-US" dirty="0">
                <a:solidFill>
                  <a:srgbClr val="FF0000"/>
                </a:solidFill>
              </a:rPr>
              <a:t>模式</a:t>
            </a:r>
          </a:p>
        </p:txBody>
      </p:sp>
      <p:sp>
        <p:nvSpPr>
          <p:cNvPr id="3" name="内容占位符 2">
            <a:extLst>
              <a:ext uri="{FF2B5EF4-FFF2-40B4-BE49-F238E27FC236}">
                <a16:creationId xmlns:a16="http://schemas.microsoft.com/office/drawing/2014/main" id="{A3A3CA7E-0862-4553-A046-22008847B30E}"/>
              </a:ext>
            </a:extLst>
          </p:cNvPr>
          <p:cNvSpPr>
            <a:spLocks noGrp="1"/>
          </p:cNvSpPr>
          <p:nvPr>
            <p:ph idx="1"/>
          </p:nvPr>
        </p:nvSpPr>
        <p:spPr/>
        <p:txBody>
          <a:bodyPr/>
          <a:lstStyle/>
          <a:p>
            <a:r>
              <a:rPr lang="en-US" altLang="zh-CN" dirty="0"/>
              <a:t>IA(Increase </a:t>
            </a:r>
            <a:r>
              <a:rPr lang="en-US" altLang="zh-CN" dirty="0">
                <a:solidFill>
                  <a:srgbClr val="FF0000"/>
                </a:solidFill>
              </a:rPr>
              <a:t>After</a:t>
            </a:r>
            <a:r>
              <a:rPr lang="en-US" altLang="zh-CN" dirty="0"/>
              <a:t>)</a:t>
            </a:r>
            <a:r>
              <a:rPr lang="zh-CN" altLang="en-US" dirty="0"/>
              <a:t>每次传送</a:t>
            </a:r>
            <a:r>
              <a:rPr lang="zh-CN" altLang="en-US" dirty="0">
                <a:solidFill>
                  <a:srgbClr val="FF0000"/>
                </a:solidFill>
              </a:rPr>
              <a:t>后</a:t>
            </a:r>
            <a:r>
              <a:rPr lang="zh-CN" altLang="en-US" dirty="0"/>
              <a:t>地址加</a:t>
            </a:r>
            <a:r>
              <a:rPr lang="en-US" altLang="zh-CN" dirty="0"/>
              <a:t>4</a:t>
            </a:r>
            <a:r>
              <a:rPr lang="zh-CN" altLang="en-US" dirty="0"/>
              <a:t>，寄存器从左到右执行</a:t>
            </a:r>
            <a:endParaRPr lang="en-US" altLang="zh-CN" dirty="0"/>
          </a:p>
          <a:p>
            <a:pPr lvl="1"/>
            <a:r>
              <a:rPr lang="en-US" altLang="zh-CN" dirty="0"/>
              <a:t>STMIA R0, {R1, LR} </a:t>
            </a:r>
            <a:r>
              <a:rPr lang="zh-CN" altLang="en-US" dirty="0"/>
              <a:t>先存</a:t>
            </a:r>
            <a:r>
              <a:rPr lang="en-US" altLang="zh-CN" dirty="0"/>
              <a:t>R1</a:t>
            </a:r>
            <a:r>
              <a:rPr lang="zh-CN" altLang="en-US" dirty="0"/>
              <a:t>，再存</a:t>
            </a:r>
            <a:r>
              <a:rPr lang="en-US" altLang="zh-CN" dirty="0"/>
              <a:t>LR</a:t>
            </a:r>
          </a:p>
          <a:p>
            <a:r>
              <a:rPr lang="en-US" altLang="zh-CN" dirty="0"/>
              <a:t>IB(Increase </a:t>
            </a:r>
            <a:r>
              <a:rPr lang="en-US" altLang="zh-CN" dirty="0">
                <a:solidFill>
                  <a:srgbClr val="FF0000"/>
                </a:solidFill>
              </a:rPr>
              <a:t>Before</a:t>
            </a:r>
            <a:r>
              <a:rPr lang="en-US" altLang="zh-CN" dirty="0"/>
              <a:t>)</a:t>
            </a:r>
            <a:r>
              <a:rPr lang="zh-CN" altLang="en-US" dirty="0"/>
              <a:t>每次传送</a:t>
            </a:r>
            <a:r>
              <a:rPr lang="zh-CN" altLang="en-US" dirty="0">
                <a:solidFill>
                  <a:srgbClr val="FF0000"/>
                </a:solidFill>
              </a:rPr>
              <a:t>前</a:t>
            </a:r>
            <a:r>
              <a:rPr lang="zh-CN" altLang="en-US" dirty="0"/>
              <a:t>地址加</a:t>
            </a:r>
            <a:r>
              <a:rPr lang="en-US" altLang="zh-CN" dirty="0"/>
              <a:t>4</a:t>
            </a:r>
          </a:p>
          <a:p>
            <a:r>
              <a:rPr lang="en-US" altLang="zh-CN" dirty="0"/>
              <a:t>DA</a:t>
            </a:r>
            <a:r>
              <a:rPr lang="zh-CN" altLang="en-US" dirty="0"/>
              <a:t>（</a:t>
            </a:r>
            <a:r>
              <a:rPr lang="en-US" altLang="zh-CN" dirty="0"/>
              <a:t>Decrease After</a:t>
            </a:r>
            <a:r>
              <a:rPr lang="zh-CN" altLang="en-US" dirty="0"/>
              <a:t>）每次传送</a:t>
            </a:r>
            <a:r>
              <a:rPr lang="zh-CN" altLang="en-US" dirty="0">
                <a:solidFill>
                  <a:srgbClr val="FF0000"/>
                </a:solidFill>
              </a:rPr>
              <a:t>后</a:t>
            </a:r>
            <a:r>
              <a:rPr lang="zh-CN" altLang="en-US" dirty="0"/>
              <a:t>地址</a:t>
            </a:r>
            <a:r>
              <a:rPr lang="zh-CN" altLang="en-US" dirty="0">
                <a:solidFill>
                  <a:srgbClr val="FF0000"/>
                </a:solidFill>
              </a:rPr>
              <a:t>减</a:t>
            </a:r>
            <a:r>
              <a:rPr lang="en-US" altLang="zh-CN" dirty="0"/>
              <a:t>4</a:t>
            </a:r>
          </a:p>
          <a:p>
            <a:r>
              <a:rPr lang="en-US" altLang="zh-CN" dirty="0"/>
              <a:t>DB</a:t>
            </a:r>
            <a:r>
              <a:rPr lang="zh-CN" altLang="en-US" dirty="0"/>
              <a:t>（</a:t>
            </a:r>
            <a:r>
              <a:rPr lang="en-US" altLang="zh-CN" dirty="0"/>
              <a:t>Decrease Before</a:t>
            </a:r>
            <a:r>
              <a:rPr lang="zh-CN" altLang="en-US" dirty="0"/>
              <a:t>）每次传送</a:t>
            </a:r>
            <a:r>
              <a:rPr lang="zh-CN" altLang="en-US" dirty="0">
                <a:solidFill>
                  <a:srgbClr val="FF0000"/>
                </a:solidFill>
              </a:rPr>
              <a:t>前</a:t>
            </a:r>
            <a:r>
              <a:rPr lang="zh-CN" altLang="en-US" dirty="0"/>
              <a:t>地址</a:t>
            </a:r>
            <a:r>
              <a:rPr lang="zh-CN" altLang="en-US" dirty="0">
                <a:solidFill>
                  <a:srgbClr val="FF0000"/>
                </a:solidFill>
              </a:rPr>
              <a:t>减</a:t>
            </a:r>
            <a:r>
              <a:rPr lang="en-US" altLang="zh-CN" dirty="0"/>
              <a:t>4</a:t>
            </a:r>
          </a:p>
          <a:p>
            <a:endParaRPr lang="zh-CN" altLang="en-US" dirty="0"/>
          </a:p>
        </p:txBody>
      </p:sp>
    </p:spTree>
    <p:extLst>
      <p:ext uri="{BB962C8B-B14F-4D97-AF65-F5344CB8AC3E}">
        <p14:creationId xmlns:p14="http://schemas.microsoft.com/office/powerpoint/2010/main" val="6864235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p:txBody>
          <a:bodyPr/>
          <a:lstStyle/>
          <a:p>
            <a:r>
              <a:rPr lang="zh-CN" altLang="en-US" dirty="0"/>
              <a:t>多寄存器寻址实例</a:t>
            </a:r>
          </a:p>
        </p:txBody>
      </p:sp>
      <p:sp>
        <p:nvSpPr>
          <p:cNvPr id="6" name="内容占位符 5">
            <a:extLst>
              <a:ext uri="{FF2B5EF4-FFF2-40B4-BE49-F238E27FC236}">
                <a16:creationId xmlns:a16="http://schemas.microsoft.com/office/drawing/2014/main" id="{181BA8F8-B50C-4847-9108-A48D7C357801}"/>
              </a:ext>
            </a:extLst>
          </p:cNvPr>
          <p:cNvSpPr>
            <a:spLocks noGrp="1"/>
          </p:cNvSpPr>
          <p:nvPr>
            <p:ph idx="1"/>
          </p:nvPr>
        </p:nvSpPr>
        <p:spPr/>
        <p:txBody>
          <a:bodyPr>
            <a:normAutofit lnSpcReduction="10000"/>
          </a:bodyPr>
          <a:lstStyle/>
          <a:p>
            <a:r>
              <a:rPr lang="en-US" altLang="zh-CN" dirty="0"/>
              <a:t>MOV R1, #0x10000000 //</a:t>
            </a:r>
            <a:r>
              <a:rPr lang="zh-CN" altLang="en-US" dirty="0"/>
              <a:t>数据传输起始地址</a:t>
            </a:r>
            <a:r>
              <a:rPr lang="en-US" altLang="zh-CN" dirty="0"/>
              <a:t>0x10000000</a:t>
            </a:r>
          </a:p>
          <a:p>
            <a:r>
              <a:rPr lang="en-US" altLang="zh-CN" dirty="0">
                <a:solidFill>
                  <a:srgbClr val="FF0000"/>
                </a:solidFill>
              </a:rPr>
              <a:t>LDMIB R1</a:t>
            </a:r>
            <a:r>
              <a:rPr lang="zh-CN" altLang="en-US" dirty="0">
                <a:solidFill>
                  <a:srgbClr val="FF0000"/>
                </a:solidFill>
              </a:rPr>
              <a:t>！，</a:t>
            </a:r>
            <a:r>
              <a:rPr lang="en-US" altLang="zh-CN" dirty="0">
                <a:solidFill>
                  <a:srgbClr val="FF0000"/>
                </a:solidFill>
              </a:rPr>
              <a:t>{R0, R4-R6} </a:t>
            </a:r>
            <a:r>
              <a:rPr lang="en-US" altLang="zh-CN" dirty="0"/>
              <a:t>// </a:t>
            </a:r>
            <a:r>
              <a:rPr lang="zh-CN" altLang="en-US" dirty="0"/>
              <a:t>从左向右加载</a:t>
            </a:r>
            <a:endParaRPr lang="en-US" altLang="zh-CN" dirty="0"/>
          </a:p>
          <a:p>
            <a:pPr lvl="1"/>
            <a:r>
              <a:rPr lang="en-US" altLang="zh-CN" dirty="0"/>
              <a:t>R1</a:t>
            </a:r>
            <a:r>
              <a:rPr lang="zh-CN" altLang="en-US" dirty="0"/>
              <a:t>地址加</a:t>
            </a:r>
            <a:r>
              <a:rPr lang="en-US" altLang="zh-CN" dirty="0"/>
              <a:t>4</a:t>
            </a:r>
            <a:r>
              <a:rPr lang="zh-CN" altLang="en-US" dirty="0"/>
              <a:t>，</a:t>
            </a:r>
            <a:r>
              <a:rPr lang="en-US" altLang="zh-CN" dirty="0"/>
              <a:t>LDR R0, #0x10000004</a:t>
            </a:r>
          </a:p>
          <a:p>
            <a:pPr lvl="1"/>
            <a:r>
              <a:rPr lang="en-US" altLang="zh-CN" dirty="0"/>
              <a:t>R1</a:t>
            </a:r>
            <a:r>
              <a:rPr lang="zh-CN" altLang="en-US" dirty="0"/>
              <a:t>地址加</a:t>
            </a:r>
            <a:r>
              <a:rPr lang="en-US" altLang="zh-CN" dirty="0"/>
              <a:t>4</a:t>
            </a:r>
            <a:r>
              <a:rPr lang="zh-CN" altLang="en-US" dirty="0"/>
              <a:t>， </a:t>
            </a:r>
            <a:r>
              <a:rPr lang="en-US" altLang="zh-CN" dirty="0"/>
              <a:t>LDR R4, #0x10000008</a:t>
            </a:r>
          </a:p>
          <a:p>
            <a:pPr lvl="1"/>
            <a:r>
              <a:rPr lang="en-US" altLang="zh-CN" dirty="0"/>
              <a:t>R1</a:t>
            </a:r>
            <a:r>
              <a:rPr lang="zh-CN" altLang="en-US" dirty="0"/>
              <a:t>地址加</a:t>
            </a:r>
            <a:r>
              <a:rPr lang="en-US" altLang="zh-CN" dirty="0"/>
              <a:t>4</a:t>
            </a:r>
            <a:r>
              <a:rPr lang="zh-CN" altLang="en-US" dirty="0"/>
              <a:t>， </a:t>
            </a:r>
            <a:r>
              <a:rPr lang="en-US" altLang="zh-CN" dirty="0"/>
              <a:t>LDR R5, #0x1000000C</a:t>
            </a:r>
          </a:p>
          <a:p>
            <a:pPr lvl="1"/>
            <a:r>
              <a:rPr lang="en-US" altLang="zh-CN" dirty="0"/>
              <a:t>R1</a:t>
            </a:r>
            <a:r>
              <a:rPr lang="zh-CN" altLang="en-US" dirty="0"/>
              <a:t>地址加</a:t>
            </a:r>
            <a:r>
              <a:rPr lang="en-US" altLang="zh-CN" dirty="0"/>
              <a:t>4</a:t>
            </a:r>
            <a:r>
              <a:rPr lang="zh-CN" altLang="en-US" dirty="0"/>
              <a:t>， </a:t>
            </a:r>
            <a:r>
              <a:rPr lang="en-US" altLang="zh-CN" dirty="0"/>
              <a:t>LDR R6, #0x10000010</a:t>
            </a:r>
          </a:p>
          <a:p>
            <a:pPr lvl="1"/>
            <a:r>
              <a:rPr lang="en-US" altLang="zh-CN" dirty="0"/>
              <a:t>MOV R1, #0x10000010  // “!”</a:t>
            </a:r>
            <a:r>
              <a:rPr lang="zh-CN" altLang="en-US" dirty="0"/>
              <a:t>，最后的地址写回</a:t>
            </a:r>
            <a:r>
              <a:rPr lang="en-US" altLang="zh-CN" dirty="0"/>
              <a:t>R1</a:t>
            </a:r>
            <a:r>
              <a:rPr lang="zh-CN" altLang="en-US" dirty="0"/>
              <a:t>寄存器</a:t>
            </a:r>
            <a:endParaRPr lang="en-US" altLang="zh-CN" dirty="0"/>
          </a:p>
          <a:p>
            <a:pPr lvl="1"/>
            <a:endParaRPr lang="zh-CN" altLang="en-US" dirty="0"/>
          </a:p>
        </p:txBody>
      </p:sp>
    </p:spTree>
    <p:extLst>
      <p:ext uri="{BB962C8B-B14F-4D97-AF65-F5344CB8AC3E}">
        <p14:creationId xmlns:p14="http://schemas.microsoft.com/office/powerpoint/2010/main" val="22310483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7FDB8438-1856-49EF-B8BA-43DEE728202E}"/>
              </a:ext>
            </a:extLst>
          </p:cNvPr>
          <p:cNvSpPr txBox="1"/>
          <p:nvPr>
            <p:custDataLst>
              <p:tags r:id="rId2"/>
            </p:custDataLst>
          </p:nvPr>
        </p:nvSpPr>
        <p:spPr>
          <a:xfrm>
            <a:off x="1219200" y="635000"/>
            <a:ext cx="9753600" cy="3824357"/>
          </a:xfrm>
          <a:prstGeom prst="rect">
            <a:avLst/>
          </a:prstGeom>
          <a:noFill/>
        </p:spPr>
        <p:txBody>
          <a:bodyPr vert="horz" wrap="square" rtlCol="0" anchor="ctr" anchorCtr="0">
            <a:noAutofit/>
          </a:bodyPr>
          <a:lstStyle/>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LDR R1, #0x10000000 //</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数据传输起始地址</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0x10000000</a:t>
            </a:r>
          </a:p>
          <a:p>
            <a:r>
              <a:rPr lang="en-US" altLang="zh-CN"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LDMIA</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R1</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{R0, R4-R6}</a:t>
            </a:r>
          </a:p>
          <a:p>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请写出</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LDMIA</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指令执行之后</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R1</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寄存器的值？</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R6</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寄存器存储数据的内存地址？</a:t>
            </a:r>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圆角 6">
            <a:extLst>
              <a:ext uri="{FF2B5EF4-FFF2-40B4-BE49-F238E27FC236}">
                <a16:creationId xmlns:a16="http://schemas.microsoft.com/office/drawing/2014/main" id="{B0DC778D-DBCF-45E5-B9EC-616240DAB757}"/>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98FA6DA1-1B91-4ABC-ABB6-540DF2578032}"/>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A1012F76-C3A2-4F9B-974F-782E4916083D}"/>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395ED741-E4AB-4C4D-82C5-3586518DADDF}"/>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FFC43B4E-444A-4EAF-9BE2-3BCFC1248F97}"/>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AA0FDBAF-D270-467E-AC39-2034B6989751}"/>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45E874E2-1F0B-4966-93A8-4A9B1CD792A9}"/>
              </a:ext>
            </a:extLst>
          </p:cNvPr>
          <p:cNvPicPr>
            <a:picLocks/>
          </p:cNvPicPr>
          <p:nvPr>
            <p:custDataLst>
              <p:tags r:id="rId5"/>
            </p:custDataLst>
          </p:nvPr>
        </p:nvPicPr>
        <p:blipFill>
          <a:blip r:embed="rId1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2937219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p:txBody>
          <a:bodyPr/>
          <a:lstStyle/>
          <a:p>
            <a:r>
              <a:rPr lang="zh-CN" altLang="en-US" dirty="0"/>
              <a:t>多寄存器寻址实例</a:t>
            </a:r>
          </a:p>
        </p:txBody>
      </p:sp>
      <p:sp>
        <p:nvSpPr>
          <p:cNvPr id="6" name="内容占位符 5">
            <a:extLst>
              <a:ext uri="{FF2B5EF4-FFF2-40B4-BE49-F238E27FC236}">
                <a16:creationId xmlns:a16="http://schemas.microsoft.com/office/drawing/2014/main" id="{181BA8F8-B50C-4847-9108-A48D7C357801}"/>
              </a:ext>
            </a:extLst>
          </p:cNvPr>
          <p:cNvSpPr>
            <a:spLocks noGrp="1"/>
          </p:cNvSpPr>
          <p:nvPr>
            <p:ph idx="1"/>
          </p:nvPr>
        </p:nvSpPr>
        <p:spPr/>
        <p:txBody>
          <a:bodyPr>
            <a:normAutofit lnSpcReduction="10000"/>
          </a:bodyPr>
          <a:lstStyle/>
          <a:p>
            <a:r>
              <a:rPr lang="en-US" altLang="zh-CN" dirty="0"/>
              <a:t>LDR R1, #0x10000000 //</a:t>
            </a:r>
            <a:r>
              <a:rPr lang="zh-CN" altLang="en-US" dirty="0"/>
              <a:t>数据传输起始地址</a:t>
            </a:r>
            <a:r>
              <a:rPr lang="en-US" altLang="zh-CN" dirty="0"/>
              <a:t>0x10000000</a:t>
            </a:r>
          </a:p>
          <a:p>
            <a:r>
              <a:rPr lang="en-US" altLang="zh-CN" dirty="0">
                <a:solidFill>
                  <a:srgbClr val="FF0000"/>
                </a:solidFill>
              </a:rPr>
              <a:t>LDMIA R1</a:t>
            </a:r>
            <a:r>
              <a:rPr lang="zh-CN" altLang="en-US" dirty="0">
                <a:solidFill>
                  <a:srgbClr val="FF0000"/>
                </a:solidFill>
              </a:rPr>
              <a:t>！，</a:t>
            </a:r>
            <a:r>
              <a:rPr lang="en-US" altLang="zh-CN" dirty="0">
                <a:solidFill>
                  <a:srgbClr val="FF0000"/>
                </a:solidFill>
              </a:rPr>
              <a:t>{R0, R4-R6} </a:t>
            </a:r>
            <a:r>
              <a:rPr lang="en-US" altLang="zh-CN" dirty="0"/>
              <a:t>// </a:t>
            </a:r>
            <a:r>
              <a:rPr lang="zh-CN" altLang="en-US" dirty="0"/>
              <a:t>从左向右加载</a:t>
            </a:r>
            <a:endParaRPr lang="en-US" altLang="zh-CN" dirty="0"/>
          </a:p>
          <a:p>
            <a:pPr lvl="1"/>
            <a:r>
              <a:rPr lang="en-US" altLang="zh-CN" dirty="0"/>
              <a:t>LDR R0, #0x10000000</a:t>
            </a:r>
            <a:r>
              <a:rPr lang="zh-CN" altLang="en-US" dirty="0"/>
              <a:t>，</a:t>
            </a:r>
            <a:r>
              <a:rPr lang="en-US" altLang="zh-CN" dirty="0"/>
              <a:t> R1</a:t>
            </a:r>
            <a:r>
              <a:rPr lang="zh-CN" altLang="en-US" dirty="0"/>
              <a:t>地址加</a:t>
            </a:r>
            <a:r>
              <a:rPr lang="en-US" altLang="zh-CN" dirty="0"/>
              <a:t>4</a:t>
            </a:r>
          </a:p>
          <a:p>
            <a:pPr lvl="1"/>
            <a:r>
              <a:rPr lang="en-US" altLang="zh-CN" dirty="0"/>
              <a:t>LDR R4, #0x10000004</a:t>
            </a:r>
            <a:r>
              <a:rPr lang="zh-CN" altLang="en-US" dirty="0"/>
              <a:t>，</a:t>
            </a:r>
            <a:r>
              <a:rPr lang="en-US" altLang="zh-CN" dirty="0"/>
              <a:t> R1</a:t>
            </a:r>
            <a:r>
              <a:rPr lang="zh-CN" altLang="en-US" dirty="0"/>
              <a:t>地址加</a:t>
            </a:r>
            <a:r>
              <a:rPr lang="en-US" altLang="zh-CN" dirty="0"/>
              <a:t>4 </a:t>
            </a:r>
          </a:p>
          <a:p>
            <a:pPr lvl="1"/>
            <a:r>
              <a:rPr lang="en-US" altLang="zh-CN" dirty="0"/>
              <a:t>LDR R5, #0x10000008</a:t>
            </a:r>
            <a:r>
              <a:rPr lang="zh-CN" altLang="en-US" dirty="0"/>
              <a:t>，</a:t>
            </a:r>
            <a:r>
              <a:rPr lang="en-US" altLang="zh-CN" dirty="0"/>
              <a:t> R1</a:t>
            </a:r>
            <a:r>
              <a:rPr lang="zh-CN" altLang="en-US" dirty="0"/>
              <a:t>地址加</a:t>
            </a:r>
            <a:r>
              <a:rPr lang="en-US" altLang="zh-CN" dirty="0"/>
              <a:t>4 </a:t>
            </a:r>
          </a:p>
          <a:p>
            <a:pPr lvl="1"/>
            <a:r>
              <a:rPr lang="en-US" altLang="zh-CN" dirty="0"/>
              <a:t>LDR R6, #0x1000000C</a:t>
            </a:r>
            <a:r>
              <a:rPr lang="zh-CN" altLang="en-US" dirty="0"/>
              <a:t>，</a:t>
            </a:r>
            <a:r>
              <a:rPr lang="en-US" altLang="zh-CN" dirty="0"/>
              <a:t> R1</a:t>
            </a:r>
            <a:r>
              <a:rPr lang="zh-CN" altLang="en-US" dirty="0"/>
              <a:t>地址加</a:t>
            </a:r>
            <a:r>
              <a:rPr lang="en-US" altLang="zh-CN" dirty="0"/>
              <a:t>4 </a:t>
            </a:r>
          </a:p>
          <a:p>
            <a:pPr lvl="1"/>
            <a:r>
              <a:rPr lang="en-US" altLang="zh-CN" dirty="0"/>
              <a:t>LDR R1, #0x10000010  // “!”</a:t>
            </a:r>
            <a:r>
              <a:rPr lang="zh-CN" altLang="en-US" dirty="0"/>
              <a:t>，最后的地址写回</a:t>
            </a:r>
            <a:r>
              <a:rPr lang="en-US" altLang="zh-CN" dirty="0"/>
              <a:t>R1</a:t>
            </a:r>
            <a:r>
              <a:rPr lang="zh-CN" altLang="en-US" dirty="0"/>
              <a:t>寄存器</a:t>
            </a:r>
            <a:endParaRPr lang="en-US" altLang="zh-CN" dirty="0"/>
          </a:p>
          <a:p>
            <a:pPr lvl="1"/>
            <a:endParaRPr lang="zh-CN" altLang="en-US" dirty="0"/>
          </a:p>
        </p:txBody>
      </p:sp>
    </p:spTree>
    <p:extLst>
      <p:ext uri="{BB962C8B-B14F-4D97-AF65-F5344CB8AC3E}">
        <p14:creationId xmlns:p14="http://schemas.microsoft.com/office/powerpoint/2010/main" val="37788070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CEA079-DBEE-4F02-A541-E882AB41C08C}"/>
              </a:ext>
            </a:extLst>
          </p:cNvPr>
          <p:cNvSpPr>
            <a:spLocks noGrp="1"/>
          </p:cNvSpPr>
          <p:nvPr>
            <p:ph type="title"/>
          </p:nvPr>
        </p:nvSpPr>
        <p:spPr/>
        <p:txBody>
          <a:bodyPr/>
          <a:lstStyle/>
          <a:p>
            <a:r>
              <a:rPr lang="zh-CN" altLang="en-US" dirty="0"/>
              <a:t>多寄存器寻址实例</a:t>
            </a:r>
          </a:p>
        </p:txBody>
      </p:sp>
      <p:sp>
        <p:nvSpPr>
          <p:cNvPr id="3" name="内容占位符 2">
            <a:extLst>
              <a:ext uri="{FF2B5EF4-FFF2-40B4-BE49-F238E27FC236}">
                <a16:creationId xmlns:a16="http://schemas.microsoft.com/office/drawing/2014/main" id="{0B2D88BB-1D9C-484E-AA28-344AC340EEB2}"/>
              </a:ext>
            </a:extLst>
          </p:cNvPr>
          <p:cNvSpPr>
            <a:spLocks noGrp="1"/>
          </p:cNvSpPr>
          <p:nvPr>
            <p:ph idx="1"/>
          </p:nvPr>
        </p:nvSpPr>
        <p:spPr>
          <a:xfrm>
            <a:off x="838200" y="1825624"/>
            <a:ext cx="10515600" cy="4693871"/>
          </a:xfrm>
        </p:spPr>
        <p:txBody>
          <a:bodyPr>
            <a:normAutofit fontScale="85000" lnSpcReduction="20000"/>
          </a:bodyPr>
          <a:lstStyle/>
          <a:p>
            <a:pPr lvl="1"/>
            <a:r>
              <a:rPr lang="en-US" altLang="zh-CN" dirty="0"/>
              <a:t>MOV R1, #0x10000000 //</a:t>
            </a:r>
            <a:r>
              <a:rPr lang="zh-CN" altLang="en-US" dirty="0"/>
              <a:t>数据传输起始地址</a:t>
            </a:r>
            <a:r>
              <a:rPr lang="en-US" altLang="zh-CN" dirty="0"/>
              <a:t>0x10000000</a:t>
            </a:r>
          </a:p>
          <a:p>
            <a:pPr lvl="1"/>
            <a:r>
              <a:rPr lang="en-US" altLang="zh-CN" dirty="0"/>
              <a:t>MOV R4, #0x10</a:t>
            </a:r>
          </a:p>
          <a:p>
            <a:pPr lvl="1"/>
            <a:r>
              <a:rPr lang="en-US" altLang="zh-CN" dirty="0"/>
              <a:t>MOV R5, #0x20</a:t>
            </a:r>
          </a:p>
          <a:p>
            <a:pPr lvl="1"/>
            <a:r>
              <a:rPr lang="en-US" altLang="zh-CN" dirty="0"/>
              <a:t>MOV R6, #0x30</a:t>
            </a:r>
          </a:p>
          <a:p>
            <a:pPr lvl="1"/>
            <a:r>
              <a:rPr lang="en-US" altLang="zh-CN" dirty="0"/>
              <a:t>STMIB R1, {R4-R6}</a:t>
            </a:r>
            <a:r>
              <a:rPr lang="zh-CN" altLang="en-US" dirty="0"/>
              <a:t> </a:t>
            </a:r>
            <a:r>
              <a:rPr lang="en-US" altLang="zh-CN" dirty="0"/>
              <a:t>//</a:t>
            </a:r>
            <a:r>
              <a:rPr lang="zh-CN" altLang="en-US" dirty="0"/>
              <a:t>从左向右加载</a:t>
            </a:r>
            <a:endParaRPr lang="en-US" altLang="zh-CN" dirty="0"/>
          </a:p>
          <a:p>
            <a:r>
              <a:rPr lang="zh-CN" altLang="en-US" dirty="0"/>
              <a:t>相当于</a:t>
            </a:r>
            <a:endParaRPr lang="en-US" altLang="zh-CN" dirty="0"/>
          </a:p>
          <a:p>
            <a:pPr lvl="1"/>
            <a:r>
              <a:rPr lang="en-US" altLang="zh-CN" dirty="0"/>
              <a:t>R1</a:t>
            </a:r>
            <a:r>
              <a:rPr lang="zh-CN" altLang="en-US" dirty="0"/>
              <a:t>地址加</a:t>
            </a:r>
            <a:r>
              <a:rPr lang="en-US" altLang="zh-CN" dirty="0"/>
              <a:t>4</a:t>
            </a:r>
            <a:r>
              <a:rPr lang="zh-CN" altLang="en-US" dirty="0"/>
              <a:t>，</a:t>
            </a:r>
            <a:r>
              <a:rPr lang="en-US" altLang="zh-CN" dirty="0"/>
              <a:t>STR R4, 0x10000004</a:t>
            </a:r>
          </a:p>
          <a:p>
            <a:pPr lvl="1"/>
            <a:r>
              <a:rPr lang="en-US" altLang="zh-CN" dirty="0"/>
              <a:t>R1</a:t>
            </a:r>
            <a:r>
              <a:rPr lang="zh-CN" altLang="en-US" dirty="0"/>
              <a:t>地址加</a:t>
            </a:r>
            <a:r>
              <a:rPr lang="en-US" altLang="zh-CN" dirty="0"/>
              <a:t>4</a:t>
            </a:r>
            <a:r>
              <a:rPr lang="zh-CN" altLang="en-US" dirty="0"/>
              <a:t>，</a:t>
            </a:r>
            <a:r>
              <a:rPr lang="en-US" altLang="zh-CN" dirty="0"/>
              <a:t>STR R5, 0x10000008</a:t>
            </a:r>
          </a:p>
          <a:p>
            <a:pPr lvl="1"/>
            <a:r>
              <a:rPr lang="en-US" altLang="zh-CN" dirty="0"/>
              <a:t>R1</a:t>
            </a:r>
            <a:r>
              <a:rPr lang="zh-CN" altLang="en-US" dirty="0"/>
              <a:t>地址加</a:t>
            </a:r>
            <a:r>
              <a:rPr lang="en-US" altLang="zh-CN" dirty="0"/>
              <a:t>4</a:t>
            </a:r>
            <a:r>
              <a:rPr lang="zh-CN" altLang="en-US" dirty="0"/>
              <a:t>，</a:t>
            </a:r>
            <a:r>
              <a:rPr lang="en-US" altLang="zh-CN" dirty="0"/>
              <a:t>STR R6, 0x1000000C</a:t>
            </a:r>
          </a:p>
          <a:p>
            <a:pPr lvl="1"/>
            <a:r>
              <a:rPr lang="en-US" altLang="zh-CN" dirty="0"/>
              <a:t>R1</a:t>
            </a:r>
            <a:r>
              <a:rPr lang="zh-CN" altLang="en-US" dirty="0"/>
              <a:t>的值是</a:t>
            </a:r>
            <a:r>
              <a:rPr lang="en-US" altLang="zh-CN" dirty="0"/>
              <a:t>#0x10000000 </a:t>
            </a:r>
          </a:p>
          <a:p>
            <a:pPr lvl="1"/>
            <a:endParaRPr lang="en-US" altLang="zh-CN" dirty="0"/>
          </a:p>
        </p:txBody>
      </p:sp>
    </p:spTree>
    <p:extLst>
      <p:ext uri="{BB962C8B-B14F-4D97-AF65-F5344CB8AC3E}">
        <p14:creationId xmlns:p14="http://schemas.microsoft.com/office/powerpoint/2010/main" val="8206020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7FDB8438-1856-49EF-B8BA-43DEE728202E}"/>
              </a:ext>
            </a:extLst>
          </p:cNvPr>
          <p:cNvSpPr txBox="1"/>
          <p:nvPr>
            <p:custDataLst>
              <p:tags r:id="rId2"/>
            </p:custDataLst>
          </p:nvPr>
        </p:nvSpPr>
        <p:spPr>
          <a:xfrm>
            <a:off x="1219200" y="635000"/>
            <a:ext cx="9753600" cy="4952512"/>
          </a:xfrm>
          <a:prstGeom prst="rect">
            <a:avLst/>
          </a:prstGeom>
          <a:noFill/>
        </p:spPr>
        <p:txBody>
          <a:bodyPr vert="horz" wrap="square" rtlCol="0" anchor="ctr" anchorCtr="0">
            <a:noAutofit/>
          </a:bodyPr>
          <a:lstStyle/>
          <a:p>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MOV R1, #0x1000000C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数据传输起始地址</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0x10000000</a:t>
            </a:r>
          </a:p>
          <a:p>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MOV R4, #0x10</a:t>
            </a:r>
          </a:p>
          <a:p>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MOV R5, #0x20</a:t>
            </a:r>
          </a:p>
          <a:p>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MOV R6, #0x30</a:t>
            </a:r>
          </a:p>
          <a:p>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STMDB</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R1</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{R4-R6}</a:t>
            </a:r>
          </a:p>
          <a:p>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请写出</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STMDB</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指令执行之后</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R1</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寄存器的值？</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R5</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寄存器的值写入的内存地址？</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圆角 6">
            <a:extLst>
              <a:ext uri="{FF2B5EF4-FFF2-40B4-BE49-F238E27FC236}">
                <a16:creationId xmlns:a16="http://schemas.microsoft.com/office/drawing/2014/main" id="{B0DC778D-DBCF-45E5-B9EC-616240DAB757}"/>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98FA6DA1-1B91-4ABC-ABB6-540DF2578032}"/>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A1012F76-C3A2-4F9B-974F-782E4916083D}"/>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395ED741-E4AB-4C4D-82C5-3586518DADDF}"/>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FFC43B4E-444A-4EAF-9BE2-3BCFC1248F97}"/>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AA0FDBAF-D270-467E-AC39-2034B6989751}"/>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45E874E2-1F0B-4966-93A8-4A9B1CD792A9}"/>
              </a:ext>
            </a:extLst>
          </p:cNvPr>
          <p:cNvPicPr>
            <a:picLocks/>
          </p:cNvPicPr>
          <p:nvPr>
            <p:custDataLst>
              <p:tags r:id="rId5"/>
            </p:custDataLst>
          </p:nvPr>
        </p:nvPicPr>
        <p:blipFill>
          <a:blip r:embed="rId1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5561985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8AB922-6FE3-4733-8F0E-6063B6D636CC}"/>
              </a:ext>
            </a:extLst>
          </p:cNvPr>
          <p:cNvSpPr>
            <a:spLocks noGrp="1"/>
          </p:cNvSpPr>
          <p:nvPr>
            <p:ph type="title"/>
          </p:nvPr>
        </p:nvSpPr>
        <p:spPr/>
        <p:txBody>
          <a:bodyPr/>
          <a:lstStyle/>
          <a:p>
            <a:r>
              <a:rPr lang="zh-CN" altLang="en-US" dirty="0"/>
              <a:t>栈寻址</a:t>
            </a:r>
          </a:p>
        </p:txBody>
      </p:sp>
      <p:sp>
        <p:nvSpPr>
          <p:cNvPr id="3" name="内容占位符 2">
            <a:extLst>
              <a:ext uri="{FF2B5EF4-FFF2-40B4-BE49-F238E27FC236}">
                <a16:creationId xmlns:a16="http://schemas.microsoft.com/office/drawing/2014/main" id="{AC164F88-CD27-4952-AB95-E58B391EA556}"/>
              </a:ext>
            </a:extLst>
          </p:cNvPr>
          <p:cNvSpPr>
            <a:spLocks noGrp="1"/>
          </p:cNvSpPr>
          <p:nvPr>
            <p:ph idx="1"/>
          </p:nvPr>
        </p:nvSpPr>
        <p:spPr/>
        <p:txBody>
          <a:bodyPr>
            <a:normAutofit/>
          </a:bodyPr>
          <a:lstStyle/>
          <a:p>
            <a:r>
              <a:rPr lang="zh-CN" altLang="en-US" dirty="0"/>
              <a:t>存储空间中的栈与寄存器组之间的批量数据传输</a:t>
            </a:r>
            <a:endParaRPr lang="en-US" altLang="zh-CN" dirty="0"/>
          </a:p>
          <a:p>
            <a:pPr lvl="1"/>
            <a:r>
              <a:rPr lang="zh-CN" altLang="en-US" dirty="0"/>
              <a:t>使用</a:t>
            </a:r>
            <a:r>
              <a:rPr lang="en-US" altLang="zh-CN" dirty="0"/>
              <a:t>R13</a:t>
            </a:r>
            <a:r>
              <a:rPr lang="zh-CN" altLang="en-US" dirty="0"/>
              <a:t>（</a:t>
            </a:r>
            <a:r>
              <a:rPr lang="en-US" altLang="zh-CN" dirty="0"/>
              <a:t>SP</a:t>
            </a:r>
            <a:r>
              <a:rPr lang="zh-CN" altLang="en-US" dirty="0"/>
              <a:t>）作为栈指针，指向栈顶</a:t>
            </a:r>
            <a:endParaRPr lang="en-US" altLang="zh-CN" dirty="0"/>
          </a:p>
          <a:p>
            <a:pPr lvl="1"/>
            <a:r>
              <a:rPr lang="zh-CN" altLang="en-US" dirty="0"/>
              <a:t>先进后出</a:t>
            </a:r>
            <a:r>
              <a:rPr lang="en-US" altLang="zh-CN" dirty="0"/>
              <a:t>FILO</a:t>
            </a:r>
            <a:r>
              <a:rPr lang="zh-CN" altLang="en-US" dirty="0"/>
              <a:t>方式访问</a:t>
            </a:r>
            <a:endParaRPr lang="en-US" altLang="zh-CN" dirty="0"/>
          </a:p>
          <a:p>
            <a:r>
              <a:rPr lang="zh-CN" altLang="en-US" dirty="0"/>
              <a:t>基本指令：</a:t>
            </a:r>
            <a:r>
              <a:rPr lang="en-US" altLang="zh-CN" dirty="0"/>
              <a:t>LDM/STM</a:t>
            </a:r>
          </a:p>
          <a:p>
            <a:pPr lvl="1"/>
            <a:endParaRPr lang="zh-CN" altLang="en-US" dirty="0"/>
          </a:p>
        </p:txBody>
      </p:sp>
    </p:spTree>
    <p:extLst>
      <p:ext uri="{BB962C8B-B14F-4D97-AF65-F5344CB8AC3E}">
        <p14:creationId xmlns:p14="http://schemas.microsoft.com/office/powerpoint/2010/main" val="30549413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3A9E82-B83F-4A57-85D8-B8F661239453}"/>
              </a:ext>
            </a:extLst>
          </p:cNvPr>
          <p:cNvSpPr>
            <a:spLocks noGrp="1"/>
          </p:cNvSpPr>
          <p:nvPr>
            <p:ph type="title"/>
          </p:nvPr>
        </p:nvSpPr>
        <p:spPr/>
        <p:txBody>
          <a:bodyPr/>
          <a:lstStyle/>
          <a:p>
            <a:r>
              <a:rPr lang="zh-CN" altLang="en-US" dirty="0"/>
              <a:t>栈寻址</a:t>
            </a:r>
          </a:p>
        </p:txBody>
      </p:sp>
      <p:sp>
        <p:nvSpPr>
          <p:cNvPr id="3" name="内容占位符 2">
            <a:extLst>
              <a:ext uri="{FF2B5EF4-FFF2-40B4-BE49-F238E27FC236}">
                <a16:creationId xmlns:a16="http://schemas.microsoft.com/office/drawing/2014/main" id="{CCFCBB62-C863-4992-973D-A494E30EEFF1}"/>
              </a:ext>
            </a:extLst>
          </p:cNvPr>
          <p:cNvSpPr>
            <a:spLocks noGrp="1"/>
          </p:cNvSpPr>
          <p:nvPr>
            <p:ph idx="1"/>
          </p:nvPr>
        </p:nvSpPr>
        <p:spPr/>
        <p:txBody>
          <a:bodyPr>
            <a:normAutofit lnSpcReduction="10000"/>
          </a:bodyPr>
          <a:lstStyle/>
          <a:p>
            <a:r>
              <a:rPr lang="zh-CN" altLang="en-US" dirty="0"/>
              <a:t>栈指针位置</a:t>
            </a:r>
            <a:endParaRPr lang="en-US" altLang="zh-CN" dirty="0"/>
          </a:p>
          <a:p>
            <a:pPr lvl="1"/>
            <a:r>
              <a:rPr lang="en-US" altLang="zh-CN" dirty="0">
                <a:solidFill>
                  <a:srgbClr val="FF0000"/>
                </a:solidFill>
              </a:rPr>
              <a:t>FULL</a:t>
            </a:r>
            <a:r>
              <a:rPr lang="zh-CN" altLang="en-US" dirty="0"/>
              <a:t>：栈指针指向栈顶元素（即最后一个入栈的数据元素）时称为</a:t>
            </a:r>
            <a:r>
              <a:rPr lang="en-US" altLang="zh-CN" dirty="0"/>
              <a:t>FULL</a:t>
            </a:r>
            <a:r>
              <a:rPr lang="zh-CN" altLang="en-US" dirty="0"/>
              <a:t>栈</a:t>
            </a:r>
            <a:endParaRPr lang="en-US" altLang="zh-CN" dirty="0"/>
          </a:p>
          <a:p>
            <a:pPr lvl="1"/>
            <a:r>
              <a:rPr lang="en-US" altLang="zh-CN" dirty="0">
                <a:solidFill>
                  <a:srgbClr val="FF0000"/>
                </a:solidFill>
              </a:rPr>
              <a:t>EMPTY</a:t>
            </a:r>
            <a:r>
              <a:rPr lang="zh-CN" altLang="en-US" dirty="0"/>
              <a:t>：栈指针指向与栈顶元素相邻的一个可用单元时称为</a:t>
            </a:r>
            <a:r>
              <a:rPr lang="en-US" altLang="zh-CN" dirty="0"/>
              <a:t>EMPTY</a:t>
            </a:r>
            <a:r>
              <a:rPr lang="zh-CN" altLang="en-US" dirty="0"/>
              <a:t>栈</a:t>
            </a:r>
            <a:endParaRPr lang="en-US" altLang="zh-CN" dirty="0"/>
          </a:p>
          <a:p>
            <a:r>
              <a:rPr lang="zh-CN" altLang="en-US" dirty="0"/>
              <a:t>栈增长方向</a:t>
            </a:r>
            <a:endParaRPr lang="en-US" altLang="zh-CN" dirty="0"/>
          </a:p>
          <a:p>
            <a:pPr lvl="1"/>
            <a:r>
              <a:rPr lang="en-US" altLang="zh-CN" dirty="0">
                <a:solidFill>
                  <a:srgbClr val="FF0000"/>
                </a:solidFill>
              </a:rPr>
              <a:t>Descending</a:t>
            </a:r>
            <a:r>
              <a:rPr lang="zh-CN" altLang="en-US" dirty="0"/>
              <a:t>：当数据栈向内存地址减小的方向增长时，称为</a:t>
            </a:r>
            <a:r>
              <a:rPr lang="en-US" altLang="zh-CN" dirty="0"/>
              <a:t>Descending</a:t>
            </a:r>
            <a:r>
              <a:rPr lang="zh-CN" altLang="en-US" dirty="0"/>
              <a:t>栈</a:t>
            </a:r>
            <a:endParaRPr lang="en-US" altLang="zh-CN" dirty="0"/>
          </a:p>
          <a:p>
            <a:pPr lvl="1"/>
            <a:r>
              <a:rPr lang="en-US" altLang="zh-CN" dirty="0">
                <a:solidFill>
                  <a:srgbClr val="FF0000"/>
                </a:solidFill>
              </a:rPr>
              <a:t>Ascending</a:t>
            </a:r>
            <a:r>
              <a:rPr lang="zh-CN" altLang="en-US" dirty="0"/>
              <a:t>：当数据栈向内存地址增加的方向增长时，称为 </a:t>
            </a:r>
            <a:r>
              <a:rPr lang="en-US" altLang="zh-CN" dirty="0"/>
              <a:t>Ascending</a:t>
            </a:r>
            <a:r>
              <a:rPr lang="zh-CN" altLang="en-US" dirty="0"/>
              <a:t>栈</a:t>
            </a:r>
          </a:p>
        </p:txBody>
      </p:sp>
    </p:spTree>
    <p:extLst>
      <p:ext uri="{BB962C8B-B14F-4D97-AF65-F5344CB8AC3E}">
        <p14:creationId xmlns:p14="http://schemas.microsoft.com/office/powerpoint/2010/main" val="7545866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3C9580-0195-4F83-820E-815546D5B7DB}"/>
              </a:ext>
            </a:extLst>
          </p:cNvPr>
          <p:cNvSpPr>
            <a:spLocks noGrp="1"/>
          </p:cNvSpPr>
          <p:nvPr>
            <p:ph type="title"/>
          </p:nvPr>
        </p:nvSpPr>
        <p:spPr/>
        <p:txBody>
          <a:bodyPr/>
          <a:lstStyle/>
          <a:p>
            <a:r>
              <a:rPr lang="zh-CN" altLang="en-US" dirty="0"/>
              <a:t>栈寻址</a:t>
            </a:r>
          </a:p>
        </p:txBody>
      </p:sp>
      <p:sp>
        <p:nvSpPr>
          <p:cNvPr id="3" name="内容占位符 2">
            <a:extLst>
              <a:ext uri="{FF2B5EF4-FFF2-40B4-BE49-F238E27FC236}">
                <a16:creationId xmlns:a16="http://schemas.microsoft.com/office/drawing/2014/main" id="{51EB6DFE-6BD4-491F-A970-266875063A11}"/>
              </a:ext>
            </a:extLst>
          </p:cNvPr>
          <p:cNvSpPr>
            <a:spLocks noGrp="1"/>
          </p:cNvSpPr>
          <p:nvPr>
            <p:ph idx="1"/>
          </p:nvPr>
        </p:nvSpPr>
        <p:spPr/>
        <p:txBody>
          <a:bodyPr>
            <a:normAutofit fontScale="92500"/>
          </a:bodyPr>
          <a:lstStyle/>
          <a:p>
            <a:r>
              <a:rPr lang="zh-CN" altLang="en-US" dirty="0"/>
              <a:t>栈的</a:t>
            </a:r>
            <a:r>
              <a:rPr lang="en-US" altLang="zh-CN" dirty="0"/>
              <a:t>4</a:t>
            </a:r>
            <a:r>
              <a:rPr lang="zh-CN" altLang="en-US" dirty="0"/>
              <a:t>种管理方式</a:t>
            </a:r>
            <a:endParaRPr lang="en-US" altLang="zh-CN" dirty="0"/>
          </a:p>
          <a:p>
            <a:pPr lvl="1"/>
            <a:r>
              <a:rPr lang="en-US" altLang="zh-CN" dirty="0"/>
              <a:t>FD</a:t>
            </a:r>
            <a:r>
              <a:rPr lang="zh-CN" altLang="en-US" dirty="0"/>
              <a:t> （</a:t>
            </a:r>
            <a:r>
              <a:rPr lang="en-US" altLang="zh-CN" dirty="0"/>
              <a:t>Full Descending Stack</a:t>
            </a:r>
            <a:r>
              <a:rPr lang="zh-CN" altLang="en-US" dirty="0"/>
              <a:t>） ：满递减栈，数据入栈</a:t>
            </a:r>
            <a:r>
              <a:rPr lang="zh-CN" altLang="en-US" dirty="0">
                <a:solidFill>
                  <a:srgbClr val="FF0000"/>
                </a:solidFill>
              </a:rPr>
              <a:t>前</a:t>
            </a:r>
            <a:r>
              <a:rPr lang="zh-CN" altLang="en-US" dirty="0"/>
              <a:t>栈指针</a:t>
            </a:r>
            <a:r>
              <a:rPr lang="zh-CN" altLang="en-US" dirty="0">
                <a:solidFill>
                  <a:srgbClr val="FF0000"/>
                </a:solidFill>
              </a:rPr>
              <a:t>减</a:t>
            </a:r>
            <a:r>
              <a:rPr lang="en-US" altLang="zh-CN" dirty="0">
                <a:solidFill>
                  <a:srgbClr val="FF0000"/>
                </a:solidFill>
              </a:rPr>
              <a:t>4</a:t>
            </a:r>
            <a:endParaRPr lang="en-US" altLang="zh-CN" dirty="0"/>
          </a:p>
          <a:p>
            <a:pPr lvl="1"/>
            <a:r>
              <a:rPr lang="en-US" altLang="zh-CN" dirty="0"/>
              <a:t>FA</a:t>
            </a:r>
            <a:r>
              <a:rPr lang="zh-CN" altLang="en-US" dirty="0"/>
              <a:t>（</a:t>
            </a:r>
            <a:r>
              <a:rPr lang="en-US" altLang="zh-CN" dirty="0"/>
              <a:t>Full Ascending Stack</a:t>
            </a:r>
            <a:r>
              <a:rPr lang="zh-CN" altLang="en-US" dirty="0"/>
              <a:t>）：满递增栈，数据入栈</a:t>
            </a:r>
            <a:r>
              <a:rPr lang="zh-CN" altLang="en-US" dirty="0">
                <a:solidFill>
                  <a:srgbClr val="FF0000"/>
                </a:solidFill>
              </a:rPr>
              <a:t>前</a:t>
            </a:r>
            <a:r>
              <a:rPr lang="zh-CN" altLang="en-US" dirty="0"/>
              <a:t>栈指针</a:t>
            </a:r>
            <a:r>
              <a:rPr lang="zh-CN" altLang="en-US" dirty="0">
                <a:solidFill>
                  <a:srgbClr val="FF0000"/>
                </a:solidFill>
              </a:rPr>
              <a:t>加</a:t>
            </a:r>
            <a:r>
              <a:rPr lang="en-US" altLang="zh-CN" dirty="0">
                <a:solidFill>
                  <a:srgbClr val="FF0000"/>
                </a:solidFill>
              </a:rPr>
              <a:t>4</a:t>
            </a:r>
            <a:endParaRPr lang="en-US" altLang="zh-CN" dirty="0"/>
          </a:p>
          <a:p>
            <a:pPr lvl="1"/>
            <a:r>
              <a:rPr lang="en-US" altLang="zh-CN" dirty="0"/>
              <a:t>ED</a:t>
            </a:r>
            <a:r>
              <a:rPr lang="zh-CN" altLang="en-US" dirty="0"/>
              <a:t> （</a:t>
            </a:r>
            <a:r>
              <a:rPr lang="en-US" altLang="zh-CN" dirty="0"/>
              <a:t>Empty Descending Stack</a:t>
            </a:r>
            <a:r>
              <a:rPr lang="zh-CN" altLang="en-US" dirty="0"/>
              <a:t>） ：空递减栈，数据入栈</a:t>
            </a:r>
            <a:r>
              <a:rPr lang="zh-CN" altLang="en-US" dirty="0">
                <a:solidFill>
                  <a:srgbClr val="FF0000"/>
                </a:solidFill>
              </a:rPr>
              <a:t>后</a:t>
            </a:r>
            <a:r>
              <a:rPr lang="zh-CN" altLang="en-US" dirty="0"/>
              <a:t>栈指针</a:t>
            </a:r>
            <a:r>
              <a:rPr lang="zh-CN" altLang="en-US" dirty="0">
                <a:solidFill>
                  <a:srgbClr val="FF0000"/>
                </a:solidFill>
              </a:rPr>
              <a:t>减</a:t>
            </a:r>
            <a:r>
              <a:rPr lang="en-US" altLang="zh-CN" dirty="0">
                <a:solidFill>
                  <a:srgbClr val="FF0000"/>
                </a:solidFill>
              </a:rPr>
              <a:t>4</a:t>
            </a:r>
            <a:endParaRPr lang="en-US" altLang="zh-CN" dirty="0"/>
          </a:p>
          <a:p>
            <a:pPr lvl="1"/>
            <a:r>
              <a:rPr lang="en-US" altLang="zh-CN" dirty="0"/>
              <a:t>EA</a:t>
            </a:r>
            <a:r>
              <a:rPr lang="zh-CN" altLang="en-US" dirty="0"/>
              <a:t> （</a:t>
            </a:r>
            <a:r>
              <a:rPr lang="en-US" altLang="zh-CN" dirty="0"/>
              <a:t>Empty Ascending Stack</a:t>
            </a:r>
            <a:r>
              <a:rPr lang="zh-CN" altLang="en-US" dirty="0"/>
              <a:t>） ：空递增栈，数据入栈</a:t>
            </a:r>
            <a:r>
              <a:rPr lang="zh-CN" altLang="en-US" dirty="0">
                <a:solidFill>
                  <a:srgbClr val="FF0000"/>
                </a:solidFill>
              </a:rPr>
              <a:t>后</a:t>
            </a:r>
            <a:r>
              <a:rPr lang="zh-CN" altLang="en-US" dirty="0"/>
              <a:t>栈指针</a:t>
            </a:r>
            <a:r>
              <a:rPr lang="zh-CN" altLang="en-US" dirty="0">
                <a:solidFill>
                  <a:srgbClr val="FF0000"/>
                </a:solidFill>
              </a:rPr>
              <a:t>加</a:t>
            </a:r>
            <a:r>
              <a:rPr lang="en-US" altLang="zh-CN" dirty="0">
                <a:solidFill>
                  <a:srgbClr val="FF0000"/>
                </a:solidFill>
              </a:rPr>
              <a:t>4</a:t>
            </a:r>
            <a:endParaRPr lang="en-US" altLang="zh-CN" dirty="0"/>
          </a:p>
          <a:p>
            <a:endParaRPr lang="zh-CN" altLang="en-US" dirty="0"/>
          </a:p>
        </p:txBody>
      </p:sp>
    </p:spTree>
    <p:extLst>
      <p:ext uri="{BB962C8B-B14F-4D97-AF65-F5344CB8AC3E}">
        <p14:creationId xmlns:p14="http://schemas.microsoft.com/office/powerpoint/2010/main" val="5802901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2C4CCA6-6587-4C05-9089-DBB9F724B3C1}"/>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pPr>
              <a:lnSpc>
                <a:spcPct val="150000"/>
              </a:lnSpc>
            </a:pPr>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ARMv8</a:t>
            </a:r>
            <a:r>
              <a:rPr lang="zh-CN" altLang="en-US"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支持</a:t>
            </a:r>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4</a:t>
            </a:r>
            <a:r>
              <a:rPr lang="zh-CN" altLang="en-US"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种栈的生长（管理）方式：</a:t>
            </a:r>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FA</a:t>
            </a:r>
            <a:r>
              <a:rPr lang="zh-CN" altLang="en-US"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a:t>
            </a:r>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FD</a:t>
            </a:r>
            <a:r>
              <a:rPr lang="zh-CN" altLang="en-US"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a:t>
            </a:r>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EA</a:t>
            </a:r>
            <a:r>
              <a:rPr lang="zh-CN" altLang="en-US"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a:t>
            </a:r>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ED</a:t>
            </a:r>
            <a:r>
              <a:rPr lang="zh-CN" altLang="en-US"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。大家回忆一下，</a:t>
            </a:r>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x86 CPU</a:t>
            </a:r>
            <a:r>
              <a:rPr lang="zh-CN" altLang="en-US"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支持哪种栈的生长方式？</a:t>
            </a:r>
          </a:p>
        </p:txBody>
      </p:sp>
      <p:sp>
        <p:nvSpPr>
          <p:cNvPr id="5" name="文本框 4">
            <a:extLst>
              <a:ext uri="{FF2B5EF4-FFF2-40B4-BE49-F238E27FC236}">
                <a16:creationId xmlns:a16="http://schemas.microsoft.com/office/drawing/2014/main" id="{CE42FA8D-8A1F-407B-8370-1D36EE245548}"/>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FA</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68D52A88-6DFB-4108-8020-44A1B1D746D0}"/>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FD</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81E93201-F9CD-4463-A800-83A08DB4C8FD}"/>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EA</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2D3A29A5-A7F6-49A8-8D6E-E48E1DE1A6F5}"/>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ED</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a:extLst>
              <a:ext uri="{FF2B5EF4-FFF2-40B4-BE49-F238E27FC236}">
                <a16:creationId xmlns:a16="http://schemas.microsoft.com/office/drawing/2014/main" id="{1FEB14DD-5CA7-4142-B140-5A9F98CA62B8}"/>
              </a:ext>
            </a:extLst>
          </p:cNvPr>
          <p:cNvSpPr>
            <a:spLocks noChangeAspect="1"/>
          </p:cNvSpPr>
          <p:nvPr>
            <p:custDataLst>
              <p:tags r:id="rId7"/>
            </p:custDataLst>
          </p:nvPr>
        </p:nvSpPr>
        <p:spPr>
          <a:xfrm>
            <a:off x="1571625" y="28503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a:extLst>
              <a:ext uri="{FF2B5EF4-FFF2-40B4-BE49-F238E27FC236}">
                <a16:creationId xmlns:a16="http://schemas.microsoft.com/office/drawing/2014/main" id="{D216DE79-B618-4881-9DAF-E3DCA7221931}"/>
              </a:ext>
            </a:extLst>
          </p:cNvPr>
          <p:cNvSpPr>
            <a:spLocks noChangeAspect="1"/>
          </p:cNvSpPr>
          <p:nvPr>
            <p:custDataLst>
              <p:tags r:id="rId8"/>
            </p:custDataLst>
          </p:nvPr>
        </p:nvSpPr>
        <p:spPr>
          <a:xfrm>
            <a:off x="15716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a:extLst>
              <a:ext uri="{FF2B5EF4-FFF2-40B4-BE49-F238E27FC236}">
                <a16:creationId xmlns:a16="http://schemas.microsoft.com/office/drawing/2014/main" id="{F675838F-AE87-48A1-9741-893DEF332C6C}"/>
              </a:ext>
            </a:extLst>
          </p:cNvPr>
          <p:cNvSpPr>
            <a:spLocks noChangeAspect="1"/>
          </p:cNvSpPr>
          <p:nvPr>
            <p:custDataLst>
              <p:tags r:id="rId9"/>
            </p:custDataLst>
          </p:nvPr>
        </p:nvSpPr>
        <p:spPr>
          <a:xfrm>
            <a:off x="1571625" y="45648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48EB730A-F409-4D15-9CC0-8328353BE04A}"/>
              </a:ext>
            </a:extLst>
          </p:cNvPr>
          <p:cNvSpPr>
            <a:spLocks noChangeAspect="1"/>
          </p:cNvSpPr>
          <p:nvPr>
            <p:custDataLst>
              <p:tags r:id="rId10"/>
            </p:custDataLst>
          </p:nvPr>
        </p:nvSpPr>
        <p:spPr>
          <a:xfrm>
            <a:off x="1571625" y="54221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37D33E09-383A-4DDA-B19A-6D700A5970A3}"/>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E0FC2C8E-F254-4000-9D41-73297C0B8FF3}"/>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F42CA2F7-03E0-4063-BD2B-A536B7C5E0F3}"/>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A5AD3727-5043-4D61-97BF-C16110786E7A}"/>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75627021-835E-4E9A-A62D-0D82664B5B08}"/>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7" name="TipText">
              <a:extLst>
                <a:ext uri="{FF2B5EF4-FFF2-40B4-BE49-F238E27FC236}">
                  <a16:creationId xmlns:a16="http://schemas.microsoft.com/office/drawing/2014/main" id="{6EB5F8EB-929F-4DE7-8F87-8151A6AE298F}"/>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21E20E51-BDE1-4D87-B5AB-68924D93ED27}"/>
              </a:ext>
            </a:extLst>
          </p:cNvPr>
          <p:cNvPicPr>
            <a:picLocks/>
          </p:cNvPicPr>
          <p:nvPr>
            <p:custDataLst>
              <p:tags r:id="rId13"/>
            </p:custDataLst>
          </p:nvPr>
        </p:nvPicPr>
        <p:blipFill>
          <a:blip r:embed="rId19"/>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5719735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4DEF4C-E21A-4BBB-B367-A6C4D781E66F}"/>
              </a:ext>
            </a:extLst>
          </p:cNvPr>
          <p:cNvSpPr>
            <a:spLocks noGrp="1"/>
          </p:cNvSpPr>
          <p:nvPr>
            <p:ph type="title"/>
          </p:nvPr>
        </p:nvSpPr>
        <p:spPr/>
        <p:txBody>
          <a:bodyPr/>
          <a:lstStyle/>
          <a:p>
            <a:r>
              <a:rPr lang="zh-CN" altLang="en-US" dirty="0"/>
              <a:t>栈寻址</a:t>
            </a:r>
          </a:p>
        </p:txBody>
      </p:sp>
      <p:sp>
        <p:nvSpPr>
          <p:cNvPr id="3" name="内容占位符 2">
            <a:extLst>
              <a:ext uri="{FF2B5EF4-FFF2-40B4-BE49-F238E27FC236}">
                <a16:creationId xmlns:a16="http://schemas.microsoft.com/office/drawing/2014/main" id="{9A4D300D-1CDB-4243-B59D-AA498A20AA9B}"/>
              </a:ext>
            </a:extLst>
          </p:cNvPr>
          <p:cNvSpPr>
            <a:spLocks noGrp="1"/>
          </p:cNvSpPr>
          <p:nvPr>
            <p:ph idx="1"/>
          </p:nvPr>
        </p:nvSpPr>
        <p:spPr/>
        <p:txBody>
          <a:bodyPr/>
          <a:lstStyle/>
          <a:p>
            <a:r>
              <a:rPr lang="en-US" altLang="zh-CN" sz="2800" dirty="0">
                <a:ea typeface="Tahoma" panose="020B0604030504040204" pitchFamily="34" charset="0"/>
              </a:rPr>
              <a:t>LDMFA SP!, {R2-R4}</a:t>
            </a:r>
          </a:p>
          <a:p>
            <a:pPr lvl="1"/>
            <a:r>
              <a:rPr lang="zh-CN" altLang="en-US" b="1" dirty="0"/>
              <a:t>数据出栈</a:t>
            </a:r>
            <a:r>
              <a:rPr lang="zh-CN" altLang="en-US" b="1" dirty="0">
                <a:solidFill>
                  <a:srgbClr val="FF0000"/>
                </a:solidFill>
              </a:rPr>
              <a:t>（</a:t>
            </a:r>
            <a:r>
              <a:rPr lang="en-US" altLang="zh-CN" b="1" dirty="0">
                <a:solidFill>
                  <a:srgbClr val="FF0000"/>
                </a:solidFill>
              </a:rPr>
              <a:t>POP</a:t>
            </a:r>
            <a:r>
              <a:rPr lang="zh-CN" altLang="en-US" b="1" dirty="0">
                <a:solidFill>
                  <a:srgbClr val="FF0000"/>
                </a:solidFill>
              </a:rPr>
              <a:t>）</a:t>
            </a:r>
            <a:r>
              <a:rPr lang="zh-CN" altLang="en-US" dirty="0">
                <a:solidFill>
                  <a:srgbClr val="FF0000"/>
                </a:solidFill>
                <a:ea typeface="Tahoma" panose="020B0604030504040204" pitchFamily="34" charset="0"/>
              </a:rPr>
              <a:t>，</a:t>
            </a:r>
            <a:r>
              <a:rPr lang="zh-CN" altLang="en-US" dirty="0"/>
              <a:t>将数据从内存写入</a:t>
            </a:r>
            <a:r>
              <a:rPr lang="en-US" altLang="zh-CN" b="1" dirty="0"/>
              <a:t>R2-R4</a:t>
            </a:r>
            <a:r>
              <a:rPr lang="zh-CN" altLang="en-US" b="1" dirty="0"/>
              <a:t>寄存器</a:t>
            </a:r>
            <a:endParaRPr lang="en-US" altLang="zh-CN" b="1" dirty="0"/>
          </a:p>
          <a:p>
            <a:pPr lvl="1"/>
            <a:r>
              <a:rPr lang="en-US" altLang="zh-CN" dirty="0"/>
              <a:t>R2</a:t>
            </a:r>
            <a:r>
              <a:rPr lang="en-US" altLang="zh-CN" dirty="0">
                <a:sym typeface="Wingdings" panose="05000000000000000000" pitchFamily="2" charset="2"/>
              </a:rPr>
              <a:t></a:t>
            </a:r>
            <a:r>
              <a:rPr lang="en-US" altLang="zh-CN" dirty="0"/>
              <a:t>mem32[SP]</a:t>
            </a:r>
            <a:r>
              <a:rPr lang="zh-CN" altLang="en-US" dirty="0"/>
              <a:t>，</a:t>
            </a:r>
            <a:r>
              <a:rPr lang="en-US" altLang="zh-CN" dirty="0"/>
              <a:t>SP</a:t>
            </a:r>
            <a:r>
              <a:rPr lang="zh-CN" altLang="en-US" dirty="0"/>
              <a:t>地址</a:t>
            </a:r>
            <a:r>
              <a:rPr lang="zh-CN" altLang="en-US" dirty="0">
                <a:solidFill>
                  <a:srgbClr val="FF0000"/>
                </a:solidFill>
              </a:rPr>
              <a:t>减</a:t>
            </a:r>
            <a:r>
              <a:rPr lang="en-US" altLang="zh-CN" dirty="0"/>
              <a:t>4</a:t>
            </a:r>
            <a:r>
              <a:rPr lang="zh-CN" altLang="en-US" dirty="0"/>
              <a:t>，</a:t>
            </a:r>
            <a:r>
              <a:rPr lang="en-US" altLang="zh-CN" dirty="0">
                <a:sym typeface="Wingdings" panose="05000000000000000000" pitchFamily="2" charset="2"/>
              </a:rPr>
              <a:t> </a:t>
            </a:r>
            <a:endParaRPr lang="en-US" altLang="zh-CN" dirty="0"/>
          </a:p>
          <a:p>
            <a:pPr lvl="1"/>
            <a:r>
              <a:rPr lang="en-US" altLang="zh-CN" dirty="0"/>
              <a:t>R3</a:t>
            </a:r>
            <a:r>
              <a:rPr lang="en-US" altLang="zh-CN" dirty="0">
                <a:sym typeface="Wingdings" panose="05000000000000000000" pitchFamily="2" charset="2"/>
              </a:rPr>
              <a:t></a:t>
            </a:r>
            <a:r>
              <a:rPr lang="en-US" altLang="zh-CN" dirty="0"/>
              <a:t>mem32[SP]</a:t>
            </a:r>
            <a:r>
              <a:rPr lang="zh-CN" altLang="en-US" dirty="0"/>
              <a:t>，</a:t>
            </a:r>
            <a:r>
              <a:rPr lang="en-US" altLang="zh-CN" dirty="0"/>
              <a:t>SP</a:t>
            </a:r>
            <a:r>
              <a:rPr lang="zh-CN" altLang="en-US" dirty="0"/>
              <a:t>地址</a:t>
            </a:r>
            <a:r>
              <a:rPr lang="zh-CN" altLang="en-US" dirty="0">
                <a:solidFill>
                  <a:srgbClr val="FF0000"/>
                </a:solidFill>
              </a:rPr>
              <a:t>减</a:t>
            </a:r>
            <a:r>
              <a:rPr lang="en-US" altLang="zh-CN" dirty="0"/>
              <a:t>4</a:t>
            </a:r>
            <a:r>
              <a:rPr lang="zh-CN" altLang="en-US" dirty="0"/>
              <a:t>，</a:t>
            </a:r>
            <a:r>
              <a:rPr lang="en-US" altLang="zh-CN" dirty="0"/>
              <a:t> </a:t>
            </a:r>
          </a:p>
          <a:p>
            <a:pPr lvl="1"/>
            <a:r>
              <a:rPr lang="en-US" altLang="zh-CN" dirty="0"/>
              <a:t>R4</a:t>
            </a:r>
            <a:r>
              <a:rPr lang="en-US" altLang="zh-CN" dirty="0">
                <a:sym typeface="Wingdings" panose="05000000000000000000" pitchFamily="2" charset="2"/>
              </a:rPr>
              <a:t></a:t>
            </a:r>
            <a:r>
              <a:rPr lang="en-US" altLang="zh-CN" dirty="0"/>
              <a:t>mem32[SP]</a:t>
            </a:r>
            <a:r>
              <a:rPr lang="zh-CN" altLang="en-US" dirty="0"/>
              <a:t>，</a:t>
            </a:r>
            <a:r>
              <a:rPr lang="en-US" altLang="zh-CN" dirty="0"/>
              <a:t>SP</a:t>
            </a:r>
            <a:r>
              <a:rPr lang="zh-CN" altLang="en-US" dirty="0"/>
              <a:t>地址</a:t>
            </a:r>
            <a:r>
              <a:rPr lang="zh-CN" altLang="en-US" dirty="0">
                <a:solidFill>
                  <a:srgbClr val="FF0000"/>
                </a:solidFill>
              </a:rPr>
              <a:t>减</a:t>
            </a:r>
            <a:r>
              <a:rPr lang="en-US" altLang="zh-CN" dirty="0"/>
              <a:t>4</a:t>
            </a:r>
            <a:r>
              <a:rPr lang="zh-CN" altLang="en-US" dirty="0"/>
              <a:t>，</a:t>
            </a:r>
            <a:r>
              <a:rPr lang="en-US" altLang="zh-CN" dirty="0">
                <a:sym typeface="Wingdings" panose="05000000000000000000" pitchFamily="2" charset="2"/>
              </a:rPr>
              <a:t> </a:t>
            </a:r>
            <a:endParaRPr lang="en-US" altLang="zh-CN" dirty="0"/>
          </a:p>
          <a:p>
            <a:pPr lvl="1"/>
            <a:r>
              <a:rPr lang="zh-CN" altLang="en-US" dirty="0"/>
              <a:t>最后的地址再写回</a:t>
            </a:r>
            <a:r>
              <a:rPr lang="en-US" altLang="zh-CN" dirty="0"/>
              <a:t>SP</a:t>
            </a:r>
          </a:p>
          <a:p>
            <a:endParaRPr lang="zh-CN" altLang="en-US" dirty="0"/>
          </a:p>
        </p:txBody>
      </p:sp>
      <p:sp>
        <p:nvSpPr>
          <p:cNvPr id="5" name="文本框 4">
            <a:extLst>
              <a:ext uri="{FF2B5EF4-FFF2-40B4-BE49-F238E27FC236}">
                <a16:creationId xmlns:a16="http://schemas.microsoft.com/office/drawing/2014/main" id="{67BD72CA-F232-4A6E-96A5-4C903023381A}"/>
              </a:ext>
            </a:extLst>
          </p:cNvPr>
          <p:cNvSpPr txBox="1"/>
          <p:nvPr/>
        </p:nvSpPr>
        <p:spPr>
          <a:xfrm>
            <a:off x="124192" y="6251262"/>
            <a:ext cx="9090146" cy="523220"/>
          </a:xfrm>
          <a:prstGeom prst="rect">
            <a:avLst/>
          </a:prstGeom>
          <a:noFill/>
          <a:ln>
            <a:solidFill>
              <a:srgbClr val="7030A0"/>
            </a:solidFill>
          </a:ln>
        </p:spPr>
        <p:txBody>
          <a:bodyPr wrap="square">
            <a:spAutoFit/>
          </a:bodyPr>
          <a:lstStyle/>
          <a:p>
            <a:r>
              <a:rPr lang="en-US" altLang="zh-CN" sz="1400" dirty="0"/>
              <a:t>https://developer.arm.com/documentation/ddi0403/d/Application-Level-Architecture/Instruction-Details/Alphabetical-list-of-ARMv7-M-Thumb-instructions/LDM--LDMIA--LDMFD</a:t>
            </a:r>
            <a:endParaRPr lang="zh-CN" altLang="en-US" sz="1400" dirty="0"/>
          </a:p>
        </p:txBody>
      </p:sp>
      <p:pic>
        <p:nvPicPr>
          <p:cNvPr id="7" name="图片 6">
            <a:extLst>
              <a:ext uri="{FF2B5EF4-FFF2-40B4-BE49-F238E27FC236}">
                <a16:creationId xmlns:a16="http://schemas.microsoft.com/office/drawing/2014/main" id="{84C2458D-68A5-4475-8E06-E1B9040048D5}"/>
              </a:ext>
            </a:extLst>
          </p:cNvPr>
          <p:cNvPicPr>
            <a:picLocks noChangeAspect="1"/>
          </p:cNvPicPr>
          <p:nvPr/>
        </p:nvPicPr>
        <p:blipFill>
          <a:blip r:embed="rId2"/>
          <a:stretch>
            <a:fillRect/>
          </a:stretch>
        </p:blipFill>
        <p:spPr>
          <a:xfrm>
            <a:off x="5103568" y="1980100"/>
            <a:ext cx="5993805" cy="640007"/>
          </a:xfrm>
          <a:prstGeom prst="rect">
            <a:avLst/>
          </a:prstGeom>
        </p:spPr>
      </p:pic>
    </p:spTree>
    <p:extLst>
      <p:ext uri="{BB962C8B-B14F-4D97-AF65-F5344CB8AC3E}">
        <p14:creationId xmlns:p14="http://schemas.microsoft.com/office/powerpoint/2010/main" val="21282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AE17D403-2725-4CF5-9B2A-F657642487E1}"/>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SP</a:t>
            </a:r>
            <a:r>
              <a:rPr lang="zh-CN" altLang="en-US"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寄存器的值是</a:t>
            </a:r>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0x10000010</a:t>
            </a:r>
            <a:r>
              <a:rPr lang="zh-CN" altLang="en-US"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，指令</a:t>
            </a:r>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STMFD SP!, {R2-R4}</a:t>
            </a:r>
            <a:r>
              <a:rPr lang="zh-CN" altLang="en-US"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执行之后，</a:t>
            </a:r>
            <a:r>
              <a:rPr lang="en-US" altLang="zh-CN"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SP</a:t>
            </a:r>
            <a:r>
              <a:rPr lang="zh-CN" altLang="en-US" sz="2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icrosoft Yahei" panose="020B0503020204020204" pitchFamily="34" charset="-122"/>
              </a:rPr>
              <a:t>寄存器的值是多少？</a:t>
            </a:r>
          </a:p>
        </p:txBody>
      </p:sp>
      <p:sp>
        <p:nvSpPr>
          <p:cNvPr id="7" name="矩形: 圆角 6">
            <a:extLst>
              <a:ext uri="{FF2B5EF4-FFF2-40B4-BE49-F238E27FC236}">
                <a16:creationId xmlns:a16="http://schemas.microsoft.com/office/drawing/2014/main" id="{9060FC99-610B-4641-885D-CEBB9794CC95}"/>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E60FE082-77D6-4030-939E-30A09716E035}"/>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FEC4997F-54DE-459F-BA3A-6F0B1265525F}"/>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DA3A1435-EFE3-4E7C-9406-F98E1E0C4D9D}"/>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7258C0B8-E3B2-48ED-AE7E-C54A6EBAAB57}"/>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E579D58A-DFC1-4031-880A-4F68CB721BA0}"/>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086CBFF3-D673-4D03-8E1D-258BAEA56E38}"/>
              </a:ext>
            </a:extLst>
          </p:cNvPr>
          <p:cNvPicPr>
            <a:picLocks/>
          </p:cNvPicPr>
          <p:nvPr>
            <p:custDataLst>
              <p:tags r:id="rId5"/>
            </p:custDataLst>
          </p:nvPr>
        </p:nvPicPr>
        <p:blipFill>
          <a:blip r:embed="rId1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5965551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4DEF4C-E21A-4BBB-B367-A6C4D781E66F}"/>
              </a:ext>
            </a:extLst>
          </p:cNvPr>
          <p:cNvSpPr>
            <a:spLocks noGrp="1"/>
          </p:cNvSpPr>
          <p:nvPr>
            <p:ph type="title"/>
          </p:nvPr>
        </p:nvSpPr>
        <p:spPr/>
        <p:txBody>
          <a:bodyPr/>
          <a:lstStyle/>
          <a:p>
            <a:r>
              <a:rPr lang="zh-CN" altLang="en-US" dirty="0"/>
              <a:t>栈寻址</a:t>
            </a:r>
          </a:p>
        </p:txBody>
      </p:sp>
      <p:sp>
        <p:nvSpPr>
          <p:cNvPr id="3" name="内容占位符 2">
            <a:extLst>
              <a:ext uri="{FF2B5EF4-FFF2-40B4-BE49-F238E27FC236}">
                <a16:creationId xmlns:a16="http://schemas.microsoft.com/office/drawing/2014/main" id="{9A4D300D-1CDB-4243-B59D-AA498A20AA9B}"/>
              </a:ext>
            </a:extLst>
          </p:cNvPr>
          <p:cNvSpPr>
            <a:spLocks noGrp="1"/>
          </p:cNvSpPr>
          <p:nvPr>
            <p:ph idx="1"/>
          </p:nvPr>
        </p:nvSpPr>
        <p:spPr>
          <a:xfrm>
            <a:off x="838200" y="1825624"/>
            <a:ext cx="10515600" cy="4790587"/>
          </a:xfrm>
        </p:spPr>
        <p:txBody>
          <a:bodyPr>
            <a:normAutofit lnSpcReduction="10000"/>
          </a:bodyPr>
          <a:lstStyle/>
          <a:p>
            <a:r>
              <a:rPr lang="en-US" altLang="zh-CN" sz="2800" dirty="0">
                <a:ea typeface="Tahoma" panose="020B0604030504040204" pitchFamily="34" charset="0"/>
              </a:rPr>
              <a:t>STMFD SP!, {R2-R4}</a:t>
            </a:r>
          </a:p>
          <a:p>
            <a:pPr lvl="1"/>
            <a:r>
              <a:rPr lang="en-US" altLang="zh-CN" dirty="0">
                <a:solidFill>
                  <a:srgbClr val="0070C0"/>
                </a:solidFill>
              </a:rPr>
              <a:t>SP</a:t>
            </a:r>
            <a:r>
              <a:rPr lang="zh-CN" altLang="en-US" dirty="0">
                <a:solidFill>
                  <a:srgbClr val="0070C0"/>
                </a:solidFill>
              </a:rPr>
              <a:t>的初始值</a:t>
            </a:r>
            <a:r>
              <a:rPr lang="en-US" altLang="zh-CN" dirty="0">
                <a:solidFill>
                  <a:srgbClr val="0070C0"/>
                </a:solidFill>
              </a:rPr>
              <a:t>0x10000010</a:t>
            </a:r>
            <a:endParaRPr lang="en-US" altLang="zh-CN" dirty="0">
              <a:solidFill>
                <a:srgbClr val="0070C0"/>
              </a:solidFill>
              <a:ea typeface="Tahoma" panose="020B0604030504040204" pitchFamily="34" charset="0"/>
            </a:endParaRPr>
          </a:p>
          <a:p>
            <a:pPr lvl="1"/>
            <a:r>
              <a:rPr lang="zh-CN" altLang="en-US" dirty="0">
                <a:ea typeface="Tahoma" panose="020B0604030504040204" pitchFamily="34" charset="0"/>
              </a:rPr>
              <a:t>数据入栈，将</a:t>
            </a:r>
            <a:r>
              <a:rPr lang="en-US" altLang="zh-CN" dirty="0">
                <a:ea typeface="Tahoma" panose="020B0604030504040204" pitchFamily="34" charset="0"/>
              </a:rPr>
              <a:t>R2-R4</a:t>
            </a:r>
            <a:r>
              <a:rPr lang="zh-CN" altLang="en-US" dirty="0">
                <a:ea typeface="Tahoma" panose="020B0604030504040204" pitchFamily="34" charset="0"/>
              </a:rPr>
              <a:t>寄存器值写入内存</a:t>
            </a:r>
            <a:endParaRPr lang="en-US" altLang="zh-CN" dirty="0">
              <a:ea typeface="Tahoma" panose="020B0604030504040204" pitchFamily="34" charset="0"/>
            </a:endParaRPr>
          </a:p>
          <a:p>
            <a:pPr lvl="1"/>
            <a:r>
              <a:rPr lang="en-US" altLang="zh-CN" dirty="0"/>
              <a:t>SP</a:t>
            </a:r>
            <a:r>
              <a:rPr lang="zh-CN" altLang="en-US" dirty="0"/>
              <a:t>地址减</a:t>
            </a:r>
            <a:r>
              <a:rPr lang="en-US" altLang="zh-CN" dirty="0"/>
              <a:t>4</a:t>
            </a:r>
            <a:r>
              <a:rPr lang="zh-CN" altLang="en-US" dirty="0"/>
              <a:t>，</a:t>
            </a:r>
            <a:r>
              <a:rPr lang="en-US" altLang="zh-CN" dirty="0"/>
              <a:t> 0x1000000C</a:t>
            </a:r>
            <a:r>
              <a:rPr lang="zh-CN" altLang="en-US" dirty="0"/>
              <a:t>，</a:t>
            </a:r>
            <a:r>
              <a:rPr lang="en-US" altLang="zh-CN" dirty="0"/>
              <a:t>mem32[SP] </a:t>
            </a:r>
            <a:r>
              <a:rPr lang="en-US" altLang="zh-CN" dirty="0">
                <a:sym typeface="Wingdings" panose="05000000000000000000" pitchFamily="2" charset="2"/>
              </a:rPr>
              <a:t></a:t>
            </a:r>
            <a:r>
              <a:rPr lang="en-US" altLang="zh-CN" dirty="0"/>
              <a:t>R2</a:t>
            </a:r>
          </a:p>
          <a:p>
            <a:pPr lvl="1"/>
            <a:r>
              <a:rPr lang="en-US" altLang="zh-CN" dirty="0"/>
              <a:t>SP</a:t>
            </a:r>
            <a:r>
              <a:rPr lang="zh-CN" altLang="en-US" dirty="0"/>
              <a:t>地址减</a:t>
            </a:r>
            <a:r>
              <a:rPr lang="en-US" altLang="zh-CN" dirty="0"/>
              <a:t>4</a:t>
            </a:r>
            <a:r>
              <a:rPr lang="zh-CN" altLang="en-US" dirty="0"/>
              <a:t>，</a:t>
            </a:r>
            <a:r>
              <a:rPr lang="en-US" altLang="zh-CN" dirty="0"/>
              <a:t>0x10000008</a:t>
            </a:r>
            <a:r>
              <a:rPr lang="zh-CN" altLang="en-US" dirty="0"/>
              <a:t>，</a:t>
            </a:r>
            <a:r>
              <a:rPr lang="en-US" altLang="zh-CN" dirty="0"/>
              <a:t>mem32[SP] </a:t>
            </a:r>
            <a:r>
              <a:rPr lang="en-US" altLang="zh-CN" dirty="0">
                <a:sym typeface="Wingdings" panose="05000000000000000000" pitchFamily="2" charset="2"/>
              </a:rPr>
              <a:t></a:t>
            </a:r>
            <a:r>
              <a:rPr lang="en-US" altLang="zh-CN" dirty="0"/>
              <a:t>R3 </a:t>
            </a:r>
          </a:p>
          <a:p>
            <a:pPr lvl="1"/>
            <a:r>
              <a:rPr lang="en-US" altLang="zh-CN" dirty="0"/>
              <a:t>SP</a:t>
            </a:r>
            <a:r>
              <a:rPr lang="zh-CN" altLang="en-US" dirty="0"/>
              <a:t>地址减</a:t>
            </a:r>
            <a:r>
              <a:rPr lang="en-US" altLang="zh-CN" dirty="0"/>
              <a:t>4</a:t>
            </a:r>
            <a:r>
              <a:rPr lang="zh-CN" altLang="en-US" dirty="0"/>
              <a:t>，</a:t>
            </a:r>
            <a:r>
              <a:rPr lang="en-US" altLang="zh-CN" dirty="0"/>
              <a:t>0x10000004</a:t>
            </a:r>
            <a:r>
              <a:rPr lang="zh-CN" altLang="en-US" dirty="0"/>
              <a:t>，</a:t>
            </a:r>
            <a:r>
              <a:rPr lang="en-US" altLang="zh-CN" dirty="0"/>
              <a:t>mem32[SP]</a:t>
            </a:r>
            <a:r>
              <a:rPr lang="en-US" altLang="zh-CN" dirty="0">
                <a:sym typeface="Wingdings" panose="05000000000000000000" pitchFamily="2" charset="2"/>
              </a:rPr>
              <a:t> </a:t>
            </a:r>
            <a:r>
              <a:rPr lang="en-US" altLang="zh-CN" dirty="0"/>
              <a:t>R4 </a:t>
            </a:r>
          </a:p>
          <a:p>
            <a:pPr lvl="1"/>
            <a:r>
              <a:rPr lang="zh-CN" altLang="en-US" dirty="0"/>
              <a:t>最后的地址再写回</a:t>
            </a:r>
            <a:r>
              <a:rPr lang="en-US" altLang="zh-CN" dirty="0"/>
              <a:t>SP</a:t>
            </a:r>
          </a:p>
          <a:p>
            <a:pPr lvl="2"/>
            <a:r>
              <a:rPr lang="zh-CN" altLang="en-US" dirty="0"/>
              <a:t>执行之后</a:t>
            </a:r>
            <a:r>
              <a:rPr lang="en-US" altLang="zh-CN" dirty="0"/>
              <a:t>SP</a:t>
            </a:r>
            <a:r>
              <a:rPr lang="zh-CN" altLang="en-US" dirty="0"/>
              <a:t>的值是</a:t>
            </a:r>
            <a:r>
              <a:rPr lang="en-US" altLang="zh-CN" dirty="0"/>
              <a:t>0x10000004</a:t>
            </a:r>
          </a:p>
          <a:p>
            <a:endParaRPr lang="zh-CN" altLang="en-US" dirty="0"/>
          </a:p>
        </p:txBody>
      </p:sp>
      <p:sp>
        <p:nvSpPr>
          <p:cNvPr id="4" name="文本框 3">
            <a:extLst>
              <a:ext uri="{FF2B5EF4-FFF2-40B4-BE49-F238E27FC236}">
                <a16:creationId xmlns:a16="http://schemas.microsoft.com/office/drawing/2014/main" id="{C017BF5C-B916-4246-B4F2-58996F714781}"/>
              </a:ext>
            </a:extLst>
          </p:cNvPr>
          <p:cNvSpPr txBox="1"/>
          <p:nvPr/>
        </p:nvSpPr>
        <p:spPr>
          <a:xfrm>
            <a:off x="124192" y="6400767"/>
            <a:ext cx="9090146" cy="430887"/>
          </a:xfrm>
          <a:prstGeom prst="rect">
            <a:avLst/>
          </a:prstGeom>
          <a:noFill/>
          <a:ln>
            <a:solidFill>
              <a:srgbClr val="7030A0"/>
            </a:solidFill>
          </a:ln>
        </p:spPr>
        <p:txBody>
          <a:bodyPr wrap="square">
            <a:spAutoFit/>
          </a:bodyPr>
          <a:lstStyle/>
          <a:p>
            <a:r>
              <a:rPr lang="zh-CN" altLang="en-US" sz="1100" dirty="0"/>
              <a:t>https://developer.arm.com/documentation/ddi0403/d/Application-Level-Architecture/Instruction-Details/Alphabetical-list-of-ARMv7-M-Thumb-instructions/STMDB--STMFD</a:t>
            </a:r>
          </a:p>
        </p:txBody>
      </p:sp>
      <p:pic>
        <p:nvPicPr>
          <p:cNvPr id="8" name="图片 7">
            <a:extLst>
              <a:ext uri="{FF2B5EF4-FFF2-40B4-BE49-F238E27FC236}">
                <a16:creationId xmlns:a16="http://schemas.microsoft.com/office/drawing/2014/main" id="{7115C950-C0C6-48B4-AF70-4DA0A9661702}"/>
              </a:ext>
            </a:extLst>
          </p:cNvPr>
          <p:cNvPicPr>
            <a:picLocks noChangeAspect="1"/>
          </p:cNvPicPr>
          <p:nvPr/>
        </p:nvPicPr>
        <p:blipFill>
          <a:blip r:embed="rId2"/>
          <a:stretch>
            <a:fillRect/>
          </a:stretch>
        </p:blipFill>
        <p:spPr>
          <a:xfrm>
            <a:off x="5777279" y="2092569"/>
            <a:ext cx="5901839" cy="593481"/>
          </a:xfrm>
          <a:prstGeom prst="rect">
            <a:avLst/>
          </a:prstGeom>
          <a:ln>
            <a:solidFill>
              <a:srgbClr val="7030A0"/>
            </a:solidFill>
          </a:ln>
        </p:spPr>
      </p:pic>
    </p:spTree>
    <p:extLst>
      <p:ext uri="{BB962C8B-B14F-4D97-AF65-F5344CB8AC3E}">
        <p14:creationId xmlns:p14="http://schemas.microsoft.com/office/powerpoint/2010/main" val="12141676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4DEF4C-E21A-4BBB-B367-A6C4D781E66F}"/>
              </a:ext>
            </a:extLst>
          </p:cNvPr>
          <p:cNvSpPr>
            <a:spLocks noGrp="1"/>
          </p:cNvSpPr>
          <p:nvPr>
            <p:ph type="title"/>
          </p:nvPr>
        </p:nvSpPr>
        <p:spPr/>
        <p:txBody>
          <a:bodyPr/>
          <a:lstStyle/>
          <a:p>
            <a:r>
              <a:rPr lang="en-US" altLang="zh-CN" dirty="0"/>
              <a:t>PC</a:t>
            </a:r>
            <a:r>
              <a:rPr lang="zh-CN" altLang="en-US" dirty="0"/>
              <a:t>相对寻址</a:t>
            </a:r>
          </a:p>
        </p:txBody>
      </p:sp>
      <p:sp>
        <p:nvSpPr>
          <p:cNvPr id="5" name="内容占位符 4">
            <a:extLst>
              <a:ext uri="{FF2B5EF4-FFF2-40B4-BE49-F238E27FC236}">
                <a16:creationId xmlns:a16="http://schemas.microsoft.com/office/drawing/2014/main" id="{4C66B785-1E41-7CB5-C1B1-1D08D2A79E79}"/>
              </a:ext>
            </a:extLst>
          </p:cNvPr>
          <p:cNvSpPr>
            <a:spLocks noGrp="1"/>
          </p:cNvSpPr>
          <p:nvPr>
            <p:ph idx="1"/>
          </p:nvPr>
        </p:nvSpPr>
        <p:spPr/>
        <p:txBody>
          <a:bodyPr/>
          <a:lstStyle/>
          <a:p>
            <a:r>
              <a:rPr lang="zh-CN" altLang="en-US" dirty="0">
                <a:solidFill>
                  <a:schemeClr val="accent1">
                    <a:lumMod val="75000"/>
                  </a:schemeClr>
                </a:solidFill>
              </a:rPr>
              <a:t>由程序计数器（</a:t>
            </a:r>
            <a:r>
              <a:rPr lang="en-US" altLang="zh-CN" dirty="0">
                <a:solidFill>
                  <a:schemeClr val="accent1">
                    <a:lumMod val="75000"/>
                  </a:schemeClr>
                </a:solidFill>
              </a:rPr>
              <a:t>PC</a:t>
            </a:r>
            <a:r>
              <a:rPr lang="zh-CN" altLang="en-US" dirty="0">
                <a:solidFill>
                  <a:schemeClr val="accent1">
                    <a:lumMod val="75000"/>
                  </a:schemeClr>
                </a:solidFill>
              </a:rPr>
              <a:t>）提供基准地址，指令中的地址码字段作为偏移量，二者相加后得到的地址则为目标操作数的有效地址</a:t>
            </a:r>
            <a:endParaRPr lang="en-US" altLang="zh-CN" dirty="0">
              <a:solidFill>
                <a:schemeClr val="accent1">
                  <a:lumMod val="75000"/>
                </a:schemeClr>
              </a:solidFill>
            </a:endParaRPr>
          </a:p>
          <a:p>
            <a:r>
              <a:rPr lang="en-US" altLang="zh-CN" sz="2800" dirty="0">
                <a:ea typeface="Tahoma" panose="020B0604030504040204" pitchFamily="34" charset="0"/>
              </a:rPr>
              <a:t>LDR R0, [PC, #8]</a:t>
            </a:r>
          </a:p>
          <a:p>
            <a:pPr lvl="1"/>
            <a:r>
              <a:rPr lang="zh-CN" altLang="en-US" dirty="0"/>
              <a:t>将</a:t>
            </a:r>
            <a:r>
              <a:rPr lang="en-US" altLang="zh-CN" dirty="0"/>
              <a:t>PC</a:t>
            </a:r>
            <a:r>
              <a:rPr lang="zh-CN" altLang="en-US" dirty="0"/>
              <a:t>的当前值加上</a:t>
            </a:r>
            <a:r>
              <a:rPr lang="en-US" altLang="zh-CN" dirty="0"/>
              <a:t>8</a:t>
            </a:r>
            <a:r>
              <a:rPr lang="zh-CN" altLang="en-US" dirty="0"/>
              <a:t>作为目标地址</a:t>
            </a:r>
            <a:endParaRPr lang="en-US" altLang="zh-CN" dirty="0"/>
          </a:p>
          <a:p>
            <a:pPr lvl="1"/>
            <a:r>
              <a:rPr lang="zh-CN" altLang="en-US" dirty="0"/>
              <a:t>从目标地址加载数据到寄存器</a:t>
            </a:r>
            <a:r>
              <a:rPr lang="en-US" altLang="zh-CN" dirty="0"/>
              <a:t>R0</a:t>
            </a:r>
            <a:r>
              <a:rPr lang="zh-CN" altLang="en-US" dirty="0"/>
              <a:t>中</a:t>
            </a:r>
          </a:p>
        </p:txBody>
      </p:sp>
    </p:spTree>
    <p:extLst>
      <p:ext uri="{BB962C8B-B14F-4D97-AF65-F5344CB8AC3E}">
        <p14:creationId xmlns:p14="http://schemas.microsoft.com/office/powerpoint/2010/main" val="22924913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4DEF4C-E21A-4BBB-B367-A6C4D781E66F}"/>
              </a:ext>
            </a:extLst>
          </p:cNvPr>
          <p:cNvSpPr>
            <a:spLocks noGrp="1"/>
          </p:cNvSpPr>
          <p:nvPr>
            <p:ph type="title"/>
          </p:nvPr>
        </p:nvSpPr>
        <p:spPr/>
        <p:txBody>
          <a:bodyPr/>
          <a:lstStyle/>
          <a:p>
            <a:r>
              <a:rPr lang="zh-CN" altLang="en-US" dirty="0"/>
              <a:t>寄存器移位寻址</a:t>
            </a:r>
          </a:p>
        </p:txBody>
      </p:sp>
      <p:sp>
        <p:nvSpPr>
          <p:cNvPr id="5" name="内容占位符 4">
            <a:extLst>
              <a:ext uri="{FF2B5EF4-FFF2-40B4-BE49-F238E27FC236}">
                <a16:creationId xmlns:a16="http://schemas.microsoft.com/office/drawing/2014/main" id="{4C66B785-1E41-7CB5-C1B1-1D08D2A79E79}"/>
              </a:ext>
            </a:extLst>
          </p:cNvPr>
          <p:cNvSpPr>
            <a:spLocks noGrp="1"/>
          </p:cNvSpPr>
          <p:nvPr>
            <p:ph idx="1"/>
          </p:nvPr>
        </p:nvSpPr>
        <p:spPr/>
        <p:txBody>
          <a:bodyPr/>
          <a:lstStyle/>
          <a:p>
            <a:r>
              <a:rPr lang="zh-CN" altLang="en-US" dirty="0">
                <a:solidFill>
                  <a:schemeClr val="accent1">
                    <a:lumMod val="75000"/>
                  </a:schemeClr>
                </a:solidFill>
              </a:rPr>
              <a:t>在执行数据处理指令时动态地对寄存器中的数据进行移位或旋转操作，作为操作的源操作数</a:t>
            </a:r>
            <a:endParaRPr lang="en-US" altLang="zh-CN" dirty="0">
              <a:solidFill>
                <a:schemeClr val="accent1">
                  <a:lumMod val="75000"/>
                </a:schemeClr>
              </a:solidFill>
            </a:endParaRPr>
          </a:p>
          <a:p>
            <a:r>
              <a:rPr lang="pt-BR" altLang="zh-CN" sz="2800" dirty="0">
                <a:ea typeface="Tahoma" panose="020B0604030504040204" pitchFamily="34" charset="0"/>
              </a:rPr>
              <a:t>ADD R2, R1, R0, LSL #2</a:t>
            </a:r>
            <a:endParaRPr lang="en-US" altLang="zh-CN" sz="2800" dirty="0">
              <a:ea typeface="Tahoma" panose="020B0604030504040204" pitchFamily="34" charset="0"/>
            </a:endParaRPr>
          </a:p>
          <a:p>
            <a:pPr lvl="1"/>
            <a:r>
              <a:rPr lang="zh-CN" altLang="en-US" dirty="0"/>
              <a:t>将</a:t>
            </a:r>
            <a:r>
              <a:rPr lang="en-US" altLang="zh-CN" dirty="0"/>
              <a:t>R0</a:t>
            </a:r>
            <a:r>
              <a:rPr lang="zh-CN" altLang="en-US" dirty="0"/>
              <a:t>寄存器中的值左移</a:t>
            </a:r>
            <a:r>
              <a:rPr lang="en-US" altLang="zh-CN" dirty="0"/>
              <a:t>2</a:t>
            </a:r>
            <a:r>
              <a:rPr lang="zh-CN" altLang="en-US" dirty="0"/>
              <a:t>位</a:t>
            </a:r>
            <a:endParaRPr lang="en-US" altLang="zh-CN" dirty="0"/>
          </a:p>
          <a:p>
            <a:pPr lvl="1"/>
            <a:r>
              <a:rPr lang="zh-CN" altLang="en-US" dirty="0"/>
              <a:t>左移结果与</a:t>
            </a:r>
            <a:r>
              <a:rPr lang="en-US" altLang="zh-CN" dirty="0"/>
              <a:t>R1</a:t>
            </a:r>
            <a:r>
              <a:rPr lang="zh-CN" altLang="en-US" dirty="0"/>
              <a:t>寄存器中的值相加</a:t>
            </a:r>
            <a:endParaRPr lang="en-US" altLang="zh-CN" dirty="0"/>
          </a:p>
          <a:p>
            <a:pPr lvl="1"/>
            <a:r>
              <a:rPr lang="zh-CN" altLang="en-US" dirty="0"/>
              <a:t>最终结果存储到</a:t>
            </a:r>
            <a:r>
              <a:rPr lang="en-US" altLang="zh-CN" dirty="0"/>
              <a:t>R2</a:t>
            </a:r>
            <a:r>
              <a:rPr lang="zh-CN" altLang="en-US" dirty="0"/>
              <a:t>寄存器中</a:t>
            </a:r>
          </a:p>
        </p:txBody>
      </p:sp>
    </p:spTree>
    <p:extLst>
      <p:ext uri="{BB962C8B-B14F-4D97-AF65-F5344CB8AC3E}">
        <p14:creationId xmlns:p14="http://schemas.microsoft.com/office/powerpoint/2010/main" val="8039447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9DB09C6-A279-4E9B-A415-12768D74B5A3}"/>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相对于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x86</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汇编，</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ARM</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汇编有哪些新的寻址方式？</a:t>
            </a:r>
          </a:p>
        </p:txBody>
      </p:sp>
      <p:sp>
        <p:nvSpPr>
          <p:cNvPr id="7" name="矩形: 圆角 6">
            <a:extLst>
              <a:ext uri="{FF2B5EF4-FFF2-40B4-BE49-F238E27FC236}">
                <a16:creationId xmlns:a16="http://schemas.microsoft.com/office/drawing/2014/main" id="{0D3BD042-210E-42D9-A301-6BE4C8A3ED12}"/>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16EC0B5B-CC4C-4C15-973C-62D9388AD97A}"/>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407E64B7-A947-4452-A0BC-61EE3758F64E}"/>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C6F5595E-4381-448E-B934-37CA14F15683}"/>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C29A15F9-328F-45E8-9C75-11F58CF2125F}"/>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C7D6C3A8-1BC1-4EDF-8C30-FF14B91EC6BF}"/>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92459B0B-8F3D-41DE-8CD7-AAC14D533286}"/>
              </a:ext>
            </a:extLst>
          </p:cNvPr>
          <p:cNvPicPr>
            <a:picLocks/>
          </p:cNvPicPr>
          <p:nvPr>
            <p:custDataLst>
              <p:tags r:id="rId5"/>
            </p:custDataLst>
          </p:nvPr>
        </p:nvPicPr>
        <p:blipFill>
          <a:blip r:embed="rId1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1516852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4727" y="2337582"/>
            <a:ext cx="6400800" cy="1143000"/>
          </a:xfrm>
        </p:spPr>
        <p:txBody>
          <a:bodyPr/>
          <a:lstStyle/>
          <a:p>
            <a:pPr algn="ctr"/>
            <a:r>
              <a:rPr lang="zh-CN" altLang="en-US" dirty="0">
                <a:solidFill>
                  <a:schemeClr val="tx1"/>
                </a:solidFill>
              </a:rPr>
              <a:t>伪指令</a:t>
            </a:r>
            <a:endParaRPr lang="en-US" dirty="0">
              <a:solidFill>
                <a:schemeClr val="tx1"/>
              </a:solidFill>
            </a:endParaRPr>
          </a:p>
        </p:txBody>
      </p:sp>
    </p:spTree>
    <p:extLst>
      <p:ext uri="{BB962C8B-B14F-4D97-AF65-F5344CB8AC3E}">
        <p14:creationId xmlns:p14="http://schemas.microsoft.com/office/powerpoint/2010/main" val="65912262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F941A42-340F-4219-9CE0-CF0C484EB587}"/>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汇编语言中的指令和伪指令有什么区别？</a:t>
            </a:r>
          </a:p>
        </p:txBody>
      </p:sp>
      <p:sp>
        <p:nvSpPr>
          <p:cNvPr id="6" name="矩形: 圆角 5">
            <a:extLst>
              <a:ext uri="{FF2B5EF4-FFF2-40B4-BE49-F238E27FC236}">
                <a16:creationId xmlns:a16="http://schemas.microsoft.com/office/drawing/2014/main" id="{3FE3FC77-BF7B-4028-8621-6C0C6D30B159}"/>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1" name="组合 10">
            <a:extLst>
              <a:ext uri="{FF2B5EF4-FFF2-40B4-BE49-F238E27FC236}">
                <a16:creationId xmlns:a16="http://schemas.microsoft.com/office/drawing/2014/main" id="{BAA5DD24-384A-4C6A-B178-4D3FCA1C18FA}"/>
              </a:ext>
            </a:extLst>
          </p:cNvPr>
          <p:cNvGrpSpPr/>
          <p:nvPr>
            <p:custDataLst>
              <p:tags r:id="rId4"/>
            </p:custDataLst>
          </p:nvPr>
        </p:nvGrpSpPr>
        <p:grpSpPr>
          <a:xfrm>
            <a:off x="0" y="0"/>
            <a:ext cx="12192000" cy="635000"/>
            <a:chOff x="0" y="0"/>
            <a:chExt cx="12192000" cy="635000"/>
          </a:xfrm>
        </p:grpSpPr>
        <p:sp>
          <p:nvSpPr>
            <p:cNvPr id="7" name="TitleBackground">
              <a:extLst>
                <a:ext uri="{FF2B5EF4-FFF2-40B4-BE49-F238E27FC236}">
                  <a16:creationId xmlns:a16="http://schemas.microsoft.com/office/drawing/2014/main" id="{DEA3F69C-80DB-4406-B3D5-78291F4AC579}"/>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a:extLst>
                <a:ext uri="{FF2B5EF4-FFF2-40B4-BE49-F238E27FC236}">
                  <a16:creationId xmlns:a16="http://schemas.microsoft.com/office/drawing/2014/main" id="{F113E886-2D57-4A23-AB64-F5D18A825922}"/>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a:extLst>
                <a:ext uri="{FF2B5EF4-FFF2-40B4-BE49-F238E27FC236}">
                  <a16:creationId xmlns:a16="http://schemas.microsoft.com/office/drawing/2014/main" id="{A76EDA02-8E6F-4ADA-A822-DFD6041A62A2}"/>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0" name="TipText">
              <a:extLst>
                <a:ext uri="{FF2B5EF4-FFF2-40B4-BE49-F238E27FC236}">
                  <a16:creationId xmlns:a16="http://schemas.microsoft.com/office/drawing/2014/main" id="{30A2373A-0700-4DB5-A24C-00A86E2C3772}"/>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63996B56-4F70-45BA-9727-B8753F3597B9}"/>
              </a:ext>
            </a:extLst>
          </p:cNvPr>
          <p:cNvPicPr>
            <a:picLocks/>
          </p:cNvPicPr>
          <p:nvPr>
            <p:custDataLst>
              <p:tags r:id="rId5"/>
            </p:custDataLst>
          </p:nvPr>
        </p:nvPicPr>
        <p:blipFill>
          <a:blip r:embed="rId1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0518395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a:xfrm>
            <a:off x="838200" y="625652"/>
            <a:ext cx="10515600" cy="784224"/>
          </a:xfrm>
        </p:spPr>
        <p:txBody>
          <a:bodyPr/>
          <a:lstStyle/>
          <a:p>
            <a:r>
              <a:rPr lang="zh-CN" altLang="en-US" dirty="0"/>
              <a:t>伪指令</a:t>
            </a:r>
            <a:endParaRPr lang="en-US" altLang="zh-CN" dirty="0"/>
          </a:p>
        </p:txBody>
      </p:sp>
      <p:sp>
        <p:nvSpPr>
          <p:cNvPr id="3" name="文本框 2">
            <a:extLst>
              <a:ext uri="{FF2B5EF4-FFF2-40B4-BE49-F238E27FC236}">
                <a16:creationId xmlns:a16="http://schemas.microsoft.com/office/drawing/2014/main" id="{65D91ADD-0384-19E5-C5C9-892A30CB7AD3}"/>
              </a:ext>
            </a:extLst>
          </p:cNvPr>
          <p:cNvSpPr txBox="1"/>
          <p:nvPr/>
        </p:nvSpPr>
        <p:spPr>
          <a:xfrm>
            <a:off x="698500" y="1725092"/>
            <a:ext cx="11117239" cy="4529702"/>
          </a:xfrm>
          <a:prstGeom prst="rect">
            <a:avLst/>
          </a:prstGeom>
          <a:noFill/>
        </p:spPr>
        <p:txBody>
          <a:bodyPr wrap="square" rtlCol="0">
            <a:spAutoFit/>
          </a:bodyPr>
          <a:lstStyle/>
          <a:p>
            <a:pPr marL="228600" indent="-228600" defTabSz="914400">
              <a:lnSpc>
                <a:spcPct val="150000"/>
              </a:lnSpc>
              <a:spcBef>
                <a:spcPts val="1000"/>
              </a:spcBef>
              <a:buFont typeface="Arial" panose="020B0604020202020204" pitchFamily="34" charset="0"/>
              <a:buChar char="•"/>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伪指令是</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编译器支持的指令</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，而非硬件芯片支持的指令</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685800" lvl="1" indent="-228600" defTabSz="914400">
              <a:lnSpc>
                <a:spcPct val="150000"/>
              </a:lnSpc>
              <a:spcBef>
                <a:spcPts val="1000"/>
              </a:spcBef>
              <a:buFont typeface="Arial" panose="020B0604020202020204" pitchFamily="34" charset="0"/>
              <a:buChar char="•"/>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编译器把伪指令转化成对应芯片支持的指令</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685800" lvl="1" indent="-228600" defTabSz="914400">
              <a:lnSpc>
                <a:spcPct val="150000"/>
              </a:lnSpc>
              <a:spcBef>
                <a:spcPts val="1000"/>
              </a:spcBef>
              <a:buFont typeface="Arial" panose="020B0604020202020204" pitchFamily="34" charset="0"/>
              <a:buChar char="•"/>
            </a:pP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伪操作</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2" defTabSz="914400">
              <a:lnSpc>
                <a:spcPct val="150000"/>
              </a:lnSpc>
              <a:spcBef>
                <a:spcPts val="1000"/>
              </a:spcBef>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数据定义伪操作、汇编控制伪操作、杂项伪操作</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p>
          <a:p>
            <a:pPr marL="685800" lvl="1" indent="-228600" defTabSz="914400">
              <a:lnSpc>
                <a:spcPct val="150000"/>
              </a:lnSpc>
              <a:spcBef>
                <a:spcPts val="1000"/>
              </a:spcBef>
              <a:buFont typeface="Arial" panose="020B0604020202020204" pitchFamily="34" charset="0"/>
              <a:buChar char="•"/>
            </a:pP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伪指令</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2" defTabSz="914400">
              <a:lnSpc>
                <a:spcPct val="150000"/>
              </a:lnSpc>
              <a:spcBef>
                <a:spcPts val="10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ADR</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伪指令、</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ADRL</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伪指令、</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LDR</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伪指令</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612551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a:xfrm>
            <a:off x="838200" y="625652"/>
            <a:ext cx="10515600" cy="784224"/>
          </a:xfrm>
        </p:spPr>
        <p:txBody>
          <a:bodyPr/>
          <a:lstStyle/>
          <a:p>
            <a:r>
              <a:rPr lang="zh-CN" altLang="en-US" dirty="0"/>
              <a:t>数据定义伪操作</a:t>
            </a:r>
            <a:endParaRPr lang="en-US" altLang="zh-CN" dirty="0"/>
          </a:p>
        </p:txBody>
      </p:sp>
      <p:sp>
        <p:nvSpPr>
          <p:cNvPr id="3" name="文本框 2">
            <a:extLst>
              <a:ext uri="{FF2B5EF4-FFF2-40B4-BE49-F238E27FC236}">
                <a16:creationId xmlns:a16="http://schemas.microsoft.com/office/drawing/2014/main" id="{65D91ADD-0384-19E5-C5C9-892A30CB7AD3}"/>
              </a:ext>
            </a:extLst>
          </p:cNvPr>
          <p:cNvSpPr txBox="1"/>
          <p:nvPr/>
        </p:nvSpPr>
        <p:spPr>
          <a:xfrm>
            <a:off x="838200" y="1889346"/>
            <a:ext cx="11117239" cy="4034181"/>
          </a:xfrm>
          <a:prstGeom prst="rect">
            <a:avLst/>
          </a:prstGeom>
          <a:noFill/>
        </p:spPr>
        <p:txBody>
          <a:bodyPr wrap="square" rtlCol="0">
            <a:spAutoFit/>
          </a:bodyPr>
          <a:lstStyle/>
          <a:p>
            <a:pPr lvl="1" defTabSz="914400">
              <a:lnSpc>
                <a:spcPct val="130000"/>
              </a:lnSpc>
              <a:spcBef>
                <a:spcPts val="10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.byte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单字节定义</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.byte	0x12, ‘a’, 23</a:t>
            </a:r>
          </a:p>
          <a:p>
            <a:pPr lvl="1" defTabSz="914400">
              <a:lnSpc>
                <a:spcPct val="130000"/>
              </a:lnSpc>
              <a:spcBef>
                <a:spcPts val="10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.short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定义</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字节数据</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.short	0x1234, 65535</a:t>
            </a:r>
          </a:p>
          <a:p>
            <a:pPr lvl="1" defTabSz="914400">
              <a:lnSpc>
                <a:spcPct val="130000"/>
              </a:lnSpc>
              <a:spcBef>
                <a:spcPts val="10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.long /.word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定义</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字节数据</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.word	0x12345678</a:t>
            </a:r>
          </a:p>
          <a:p>
            <a:pPr lvl="1" defTabSz="914400">
              <a:lnSpc>
                <a:spcPct val="130000"/>
              </a:lnSpc>
              <a:spcBef>
                <a:spcPts val="10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.quad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定义</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8</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字节</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.quad	0x1234567812345678</a:t>
            </a:r>
          </a:p>
          <a:p>
            <a:pPr lvl="1" defTabSz="914400">
              <a:lnSpc>
                <a:spcPct val="130000"/>
              </a:lnSpc>
              <a:spcBef>
                <a:spcPts val="10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.float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定义浮点数</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.float	0f3.2</a:t>
            </a:r>
          </a:p>
          <a:p>
            <a:pPr lvl="1" defTabSz="914400">
              <a:lnSpc>
                <a:spcPct val="130000"/>
              </a:lnSpc>
              <a:spcBef>
                <a:spcPts val="10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.string /.</a:t>
            </a:r>
            <a:r>
              <a:rPr lang="en-US" altLang="zh-CN" sz="2800" dirty="0" err="1">
                <a:latin typeface="Times New Roman" panose="02020603050405020304" pitchFamily="18" charset="0"/>
                <a:ea typeface="宋体" panose="02010600030101010101" pitchFamily="2" charset="-122"/>
                <a:cs typeface="Times New Roman" panose="02020603050405020304" pitchFamily="18" charset="0"/>
              </a:rPr>
              <a:t>asciz</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/.ascii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定义字符串</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.ascii	“</a:t>
            </a:r>
            <a:r>
              <a:rPr lang="en-US" altLang="zh-CN" sz="2800" dirty="0" err="1">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abcd</a:t>
            </a:r>
            <a:r>
              <a:rPr lang="en-US" altLang="zh-CN" sz="28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\0”</a:t>
            </a:r>
          </a:p>
        </p:txBody>
      </p:sp>
    </p:spTree>
    <p:extLst>
      <p:ext uri="{BB962C8B-B14F-4D97-AF65-F5344CB8AC3E}">
        <p14:creationId xmlns:p14="http://schemas.microsoft.com/office/powerpoint/2010/main" val="36920759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a:xfrm>
            <a:off x="838200" y="625652"/>
            <a:ext cx="10515600" cy="784224"/>
          </a:xfrm>
        </p:spPr>
        <p:txBody>
          <a:bodyPr/>
          <a:lstStyle/>
          <a:p>
            <a:r>
              <a:rPr lang="zh-CN" altLang="en-US" dirty="0"/>
              <a:t>汇编控制伪操作</a:t>
            </a:r>
            <a:endParaRPr lang="en-US" altLang="zh-CN" dirty="0"/>
          </a:p>
        </p:txBody>
      </p:sp>
      <p:sp>
        <p:nvSpPr>
          <p:cNvPr id="3" name="文本框 2">
            <a:extLst>
              <a:ext uri="{FF2B5EF4-FFF2-40B4-BE49-F238E27FC236}">
                <a16:creationId xmlns:a16="http://schemas.microsoft.com/office/drawing/2014/main" id="{65D91ADD-0384-19E5-C5C9-892A30CB7AD3}"/>
              </a:ext>
            </a:extLst>
          </p:cNvPr>
          <p:cNvSpPr txBox="1"/>
          <p:nvPr/>
        </p:nvSpPr>
        <p:spPr>
          <a:xfrm>
            <a:off x="838200" y="1749646"/>
            <a:ext cx="11117239" cy="4106445"/>
          </a:xfrm>
          <a:prstGeom prst="rect">
            <a:avLst/>
          </a:prstGeom>
          <a:noFill/>
        </p:spPr>
        <p:txBody>
          <a:bodyPr wrap="square" rtlCol="0">
            <a:spAutoFit/>
          </a:bodyPr>
          <a:lstStyle/>
          <a:p>
            <a:pPr lvl="1" defTabSz="914400">
              <a:lnSpc>
                <a:spcPct val="130000"/>
              </a:lnSpc>
              <a:spcBef>
                <a:spcPts val="1000"/>
              </a:spcBef>
            </a:pPr>
            <a:r>
              <a:rPr lang="en-US" altLang="zh-CN"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.if</a:t>
            </a:r>
            <a:r>
              <a:rPr lang="zh-CN" altLang="en-US"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.else</a:t>
            </a:r>
            <a:r>
              <a:rPr lang="zh-CN" altLang="en-US"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.endif</a:t>
            </a:r>
          </a:p>
          <a:p>
            <a:pPr lvl="1" defTabSz="914400">
              <a:lnSpc>
                <a:spcPct val="130000"/>
              </a:lnSpc>
              <a:spcBef>
                <a:spcPts val="100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类似</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语言里的条件编译，汇编控制伪操作用于控制汇编程序的执行流程。</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.if</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.else</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.endif</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伪指令可以嵌套使用。</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defTabSz="914400">
              <a:lnSpc>
                <a:spcPct val="130000"/>
              </a:lnSpc>
              <a:spcBef>
                <a:spcPts val="1000"/>
              </a:spcBef>
            </a:pPr>
            <a:r>
              <a:rPr lang="en-US" altLang="zh-CN"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.macro </a:t>
            </a:r>
            <a:r>
              <a:rPr lang="zh-CN" altLang="en-US"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 mend</a:t>
            </a:r>
          </a:p>
          <a:p>
            <a:pPr lvl="1" defTabSz="914400">
              <a:lnSpc>
                <a:spcPct val="130000"/>
              </a:lnSpc>
              <a:spcBef>
                <a:spcPts val="100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类似</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语言里的宏函数。</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.macro</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伪操作可以将一段代码定义为一个整体，称为宏指令，在程序中通过宏指令可以多次调用该段代码。宏操作可以使用一个或多个参数。</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026756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a:xfrm>
            <a:off x="838200" y="625652"/>
            <a:ext cx="10515600" cy="784224"/>
          </a:xfrm>
        </p:spPr>
        <p:txBody>
          <a:bodyPr/>
          <a:lstStyle/>
          <a:p>
            <a:r>
              <a:rPr lang="zh-CN" altLang="en-US" dirty="0"/>
              <a:t>汇编控制伪操作</a:t>
            </a:r>
            <a:endParaRPr lang="en-US" altLang="zh-CN" dirty="0"/>
          </a:p>
        </p:txBody>
      </p:sp>
      <p:sp>
        <p:nvSpPr>
          <p:cNvPr id="3" name="文本框 2">
            <a:extLst>
              <a:ext uri="{FF2B5EF4-FFF2-40B4-BE49-F238E27FC236}">
                <a16:creationId xmlns:a16="http://schemas.microsoft.com/office/drawing/2014/main" id="{65D91ADD-0384-19E5-C5C9-892A30CB7AD3}"/>
              </a:ext>
            </a:extLst>
          </p:cNvPr>
          <p:cNvSpPr txBox="1"/>
          <p:nvPr/>
        </p:nvSpPr>
        <p:spPr>
          <a:xfrm>
            <a:off x="838198" y="1381522"/>
            <a:ext cx="11117239" cy="663643"/>
          </a:xfrm>
          <a:prstGeom prst="rect">
            <a:avLst/>
          </a:prstGeom>
          <a:noFill/>
        </p:spPr>
        <p:txBody>
          <a:bodyPr wrap="square" rtlCol="0">
            <a:spAutoFit/>
          </a:bodyPr>
          <a:lstStyle/>
          <a:p>
            <a:pPr lvl="1" defTabSz="914400">
              <a:lnSpc>
                <a:spcPct val="130000"/>
              </a:lnSpc>
              <a:spcBef>
                <a:spcPts val="1000"/>
              </a:spcBef>
            </a:pPr>
            <a:r>
              <a:rPr lang="en-US" altLang="zh-CN"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.macro </a:t>
            </a:r>
            <a:r>
              <a:rPr lang="zh-CN" altLang="en-US"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.mend</a:t>
            </a:r>
            <a:r>
              <a:rPr lang="zh-CN" altLang="en-US"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示例</a:t>
            </a:r>
            <a:endParaRPr lang="en-US" altLang="zh-CN"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641A4949-7FA2-9619-3BD3-5F67FCE59168}"/>
              </a:ext>
            </a:extLst>
          </p:cNvPr>
          <p:cNvPicPr>
            <a:picLocks noChangeAspect="1"/>
          </p:cNvPicPr>
          <p:nvPr/>
        </p:nvPicPr>
        <p:blipFill>
          <a:blip r:embed="rId2"/>
          <a:stretch>
            <a:fillRect/>
          </a:stretch>
        </p:blipFill>
        <p:spPr>
          <a:xfrm>
            <a:off x="802710" y="2165746"/>
            <a:ext cx="10586580" cy="4284305"/>
          </a:xfrm>
          <a:prstGeom prst="rect">
            <a:avLst/>
          </a:prstGeom>
        </p:spPr>
      </p:pic>
    </p:spTree>
    <p:extLst>
      <p:ext uri="{BB962C8B-B14F-4D97-AF65-F5344CB8AC3E}">
        <p14:creationId xmlns:p14="http://schemas.microsoft.com/office/powerpoint/2010/main" val="3062882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a:xfrm>
            <a:off x="838200" y="625652"/>
            <a:ext cx="10515600" cy="784224"/>
          </a:xfrm>
        </p:spPr>
        <p:txBody>
          <a:bodyPr/>
          <a:lstStyle/>
          <a:p>
            <a:r>
              <a:rPr lang="zh-CN" altLang="en-US" dirty="0"/>
              <a:t>杂项伪操作</a:t>
            </a:r>
            <a:endParaRPr lang="en-US" altLang="zh-CN" dirty="0"/>
          </a:p>
        </p:txBody>
      </p:sp>
      <p:graphicFrame>
        <p:nvGraphicFramePr>
          <p:cNvPr id="4" name="表格 5">
            <a:extLst>
              <a:ext uri="{FF2B5EF4-FFF2-40B4-BE49-F238E27FC236}">
                <a16:creationId xmlns:a16="http://schemas.microsoft.com/office/drawing/2014/main" id="{5BE3F66F-4603-5582-B7D0-5440DB7FB5A0}"/>
              </a:ext>
            </a:extLst>
          </p:cNvPr>
          <p:cNvGraphicFramePr>
            <a:graphicFrameLocks noGrp="1"/>
          </p:cNvGraphicFramePr>
          <p:nvPr>
            <p:extLst>
              <p:ext uri="{D42A27DB-BD31-4B8C-83A1-F6EECF244321}">
                <p14:modId xmlns:p14="http://schemas.microsoft.com/office/powerpoint/2010/main" val="2460676783"/>
              </p:ext>
            </p:extLst>
          </p:nvPr>
        </p:nvGraphicFramePr>
        <p:xfrm>
          <a:off x="838200" y="1511300"/>
          <a:ext cx="10515601" cy="4792641"/>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729393184"/>
                    </a:ext>
                  </a:extLst>
                </a:gridCol>
                <a:gridCol w="3213100">
                  <a:extLst>
                    <a:ext uri="{9D8B030D-6E8A-4147-A177-3AD203B41FA5}">
                      <a16:colId xmlns:a16="http://schemas.microsoft.com/office/drawing/2014/main" val="1449412870"/>
                    </a:ext>
                  </a:extLst>
                </a:gridCol>
                <a:gridCol w="5778501">
                  <a:extLst>
                    <a:ext uri="{9D8B030D-6E8A-4147-A177-3AD203B41FA5}">
                      <a16:colId xmlns:a16="http://schemas.microsoft.com/office/drawing/2014/main" val="199195498"/>
                    </a:ext>
                  </a:extLst>
                </a:gridCol>
              </a:tblGrid>
              <a:tr h="684663">
                <a:tc>
                  <a:txBody>
                    <a:bodyPr/>
                    <a:lstStyle/>
                    <a:p>
                      <a:pPr algn="ctr"/>
                      <a:r>
                        <a:rPr lang="zh-CN" altLang="en-US" sz="2400" dirty="0"/>
                        <a:t>伪操作</a:t>
                      </a:r>
                    </a:p>
                  </a:txBody>
                  <a:tcPr anchor="ctr"/>
                </a:tc>
                <a:tc>
                  <a:txBody>
                    <a:bodyPr/>
                    <a:lstStyle/>
                    <a:p>
                      <a:pPr algn="ctr"/>
                      <a:r>
                        <a:rPr lang="zh-CN" altLang="en-US" sz="2400" dirty="0"/>
                        <a:t>语法</a:t>
                      </a:r>
                    </a:p>
                  </a:txBody>
                  <a:tcPr anchor="ctr"/>
                </a:tc>
                <a:tc>
                  <a:txBody>
                    <a:bodyPr/>
                    <a:lstStyle/>
                    <a:p>
                      <a:pPr algn="ctr"/>
                      <a:r>
                        <a:rPr lang="zh-CN" altLang="en-US" sz="2400" dirty="0"/>
                        <a:t>说明</a:t>
                      </a:r>
                    </a:p>
                  </a:txBody>
                  <a:tcPr anchor="ctr"/>
                </a:tc>
                <a:extLst>
                  <a:ext uri="{0D108BD9-81ED-4DB2-BD59-A6C34878D82A}">
                    <a16:rowId xmlns:a16="http://schemas.microsoft.com/office/drawing/2014/main" val="3769028612"/>
                  </a:ext>
                </a:extLst>
              </a:tr>
              <a:tr h="684663">
                <a:tc>
                  <a:txBody>
                    <a:bodyPr/>
                    <a:lstStyle/>
                    <a:p>
                      <a:pPr algn="l"/>
                      <a:r>
                        <a:rPr lang="en-US" altLang="zh-CN" sz="2000" dirty="0"/>
                        <a:t>.arm</a:t>
                      </a:r>
                      <a:endParaRPr lang="zh-CN" altLang="en-US" sz="2000" dirty="0"/>
                    </a:p>
                  </a:txBody>
                  <a:tcPr anchor="ctr"/>
                </a:tc>
                <a:tc>
                  <a:txBody>
                    <a:bodyPr/>
                    <a:lstStyle/>
                    <a:p>
                      <a:pPr algn="l"/>
                      <a:r>
                        <a:rPr lang="en-US" altLang="zh-CN" sz="2000" dirty="0"/>
                        <a:t>.arm</a:t>
                      </a:r>
                      <a:endParaRPr lang="zh-CN" altLang="en-US" sz="2000" dirty="0"/>
                    </a:p>
                  </a:txBody>
                  <a:tcPr anchor="ctr"/>
                </a:tc>
                <a:tc>
                  <a:txBody>
                    <a:bodyPr/>
                    <a:lstStyle/>
                    <a:p>
                      <a:pPr algn="l"/>
                      <a:r>
                        <a:rPr lang="zh-CN" altLang="en-US" sz="2000" dirty="0"/>
                        <a:t>定义以下代码使用</a:t>
                      </a:r>
                      <a:r>
                        <a:rPr lang="en-US" altLang="zh-CN" sz="2000" dirty="0"/>
                        <a:t>ARM</a:t>
                      </a:r>
                      <a:r>
                        <a:rPr lang="zh-CN" altLang="en-US" sz="2000" dirty="0"/>
                        <a:t>指令集编译</a:t>
                      </a:r>
                    </a:p>
                  </a:txBody>
                  <a:tcPr anchor="ctr"/>
                </a:tc>
                <a:extLst>
                  <a:ext uri="{0D108BD9-81ED-4DB2-BD59-A6C34878D82A}">
                    <a16:rowId xmlns:a16="http://schemas.microsoft.com/office/drawing/2014/main" val="3852123554"/>
                  </a:ext>
                </a:extLst>
              </a:tr>
              <a:tr h="684663">
                <a:tc>
                  <a:txBody>
                    <a:bodyPr/>
                    <a:lstStyle/>
                    <a:p>
                      <a:pPr algn="l"/>
                      <a:r>
                        <a:rPr lang="en-US" altLang="zh-CN" sz="2000" dirty="0"/>
                        <a:t>.thumb</a:t>
                      </a:r>
                      <a:endParaRPr lang="zh-CN" altLang="en-US" sz="2000" dirty="0"/>
                    </a:p>
                  </a:txBody>
                  <a:tcPr anchor="ctr"/>
                </a:tc>
                <a:tc>
                  <a:txBody>
                    <a:bodyPr/>
                    <a:lstStyle/>
                    <a:p>
                      <a:pPr algn="l"/>
                      <a:r>
                        <a:rPr lang="en-US" altLang="zh-CN" sz="2000" dirty="0"/>
                        <a:t>.thumb</a:t>
                      </a:r>
                      <a:endParaRPr lang="zh-CN" altLang="en-US" sz="2000" dirty="0"/>
                    </a:p>
                  </a:txBody>
                  <a:tcPr anchor="ctr"/>
                </a:tc>
                <a:tc>
                  <a:txBody>
                    <a:bodyPr/>
                    <a:lstStyle/>
                    <a:p>
                      <a:pPr algn="l"/>
                      <a:r>
                        <a:rPr lang="zh-CN" altLang="en-US" sz="2000" dirty="0"/>
                        <a:t>定义以下代码使用</a:t>
                      </a:r>
                      <a:r>
                        <a:rPr lang="en-US" altLang="zh-CN" sz="2000" dirty="0"/>
                        <a:t>Thumb</a:t>
                      </a:r>
                      <a:r>
                        <a:rPr lang="zh-CN" altLang="en-US" sz="2000" dirty="0"/>
                        <a:t>指令集编译</a:t>
                      </a:r>
                    </a:p>
                  </a:txBody>
                  <a:tcPr anchor="ctr"/>
                </a:tc>
                <a:extLst>
                  <a:ext uri="{0D108BD9-81ED-4DB2-BD59-A6C34878D82A}">
                    <a16:rowId xmlns:a16="http://schemas.microsoft.com/office/drawing/2014/main" val="3732431473"/>
                  </a:ext>
                </a:extLst>
              </a:tr>
              <a:tr h="684663">
                <a:tc>
                  <a:txBody>
                    <a:bodyPr/>
                    <a:lstStyle/>
                    <a:p>
                      <a:pPr algn="l"/>
                      <a:r>
                        <a:rPr lang="en-US" altLang="zh-CN" sz="2000" dirty="0"/>
                        <a:t>.section</a:t>
                      </a:r>
                      <a:endParaRPr lang="zh-CN" altLang="en-US" sz="2000" dirty="0"/>
                    </a:p>
                  </a:txBody>
                  <a:tcPr anchor="ctr"/>
                </a:tc>
                <a:tc>
                  <a:txBody>
                    <a:bodyPr/>
                    <a:lstStyle/>
                    <a:p>
                      <a:pPr algn="l"/>
                      <a:r>
                        <a:rPr lang="en-US" altLang="zh-CN" sz="2000" dirty="0"/>
                        <a:t>.section expr</a:t>
                      </a:r>
                      <a:endParaRPr lang="zh-CN" altLang="en-US" sz="2000" dirty="0"/>
                    </a:p>
                  </a:txBody>
                  <a:tcPr anchor="ctr"/>
                </a:tc>
                <a:tc>
                  <a:txBody>
                    <a:bodyPr/>
                    <a:lstStyle/>
                    <a:p>
                      <a:pPr algn="l"/>
                      <a:r>
                        <a:rPr lang="zh-CN" altLang="en-US" sz="2000" dirty="0"/>
                        <a:t>定义一个段。</a:t>
                      </a:r>
                      <a:r>
                        <a:rPr lang="en-US" altLang="zh-CN" sz="2000" dirty="0"/>
                        <a:t>expr</a:t>
                      </a:r>
                      <a:r>
                        <a:rPr lang="zh-CN" altLang="en-US" sz="2000" dirty="0"/>
                        <a:t>可以是</a:t>
                      </a:r>
                      <a:r>
                        <a:rPr lang="en-US" altLang="zh-CN" sz="2000" dirty="0"/>
                        <a:t>.text .data .</a:t>
                      </a:r>
                      <a:r>
                        <a:rPr lang="en-US" altLang="zh-CN" sz="2000" dirty="0" err="1"/>
                        <a:t>bss</a:t>
                      </a:r>
                      <a:endParaRPr lang="zh-CN" altLang="en-US" sz="2000" dirty="0"/>
                    </a:p>
                  </a:txBody>
                  <a:tcPr anchor="ctr"/>
                </a:tc>
                <a:extLst>
                  <a:ext uri="{0D108BD9-81ED-4DB2-BD59-A6C34878D82A}">
                    <a16:rowId xmlns:a16="http://schemas.microsoft.com/office/drawing/2014/main" val="3502301252"/>
                  </a:ext>
                </a:extLst>
              </a:tr>
              <a:tr h="684663">
                <a:tc>
                  <a:txBody>
                    <a:bodyPr/>
                    <a:lstStyle/>
                    <a:p>
                      <a:pPr algn="l"/>
                      <a:r>
                        <a:rPr lang="en-US" altLang="zh-CN" sz="2000" dirty="0"/>
                        <a:t>.text</a:t>
                      </a:r>
                      <a:endParaRPr lang="zh-CN" altLang="en-US" sz="2000" dirty="0"/>
                    </a:p>
                  </a:txBody>
                  <a:tcPr anchor="ctr"/>
                </a:tc>
                <a:tc>
                  <a:txBody>
                    <a:bodyPr/>
                    <a:lstStyle/>
                    <a:p>
                      <a:pPr algn="l"/>
                      <a:r>
                        <a:rPr lang="en-US" altLang="zh-CN" sz="2000" dirty="0"/>
                        <a:t>.text {subsection}</a:t>
                      </a:r>
                    </a:p>
                  </a:txBody>
                  <a:tcPr anchor="ctr"/>
                </a:tc>
                <a:tc>
                  <a:txBody>
                    <a:bodyPr/>
                    <a:lstStyle/>
                    <a:p>
                      <a:pPr algn="l"/>
                      <a:r>
                        <a:rPr lang="zh-CN" altLang="en-US" sz="2000" dirty="0"/>
                        <a:t>将定义符开始的代码编译到代码段</a:t>
                      </a:r>
                      <a:endParaRPr lang="en-US" altLang="zh-CN" sz="2000" dirty="0"/>
                    </a:p>
                  </a:txBody>
                  <a:tcPr anchor="ctr"/>
                </a:tc>
                <a:extLst>
                  <a:ext uri="{0D108BD9-81ED-4DB2-BD59-A6C34878D82A}">
                    <a16:rowId xmlns:a16="http://schemas.microsoft.com/office/drawing/2014/main" val="489409989"/>
                  </a:ext>
                </a:extLst>
              </a:tr>
              <a:tr h="684663">
                <a:tc>
                  <a:txBody>
                    <a:bodyPr/>
                    <a:lstStyle/>
                    <a:p>
                      <a:pPr algn="l"/>
                      <a:r>
                        <a:rPr lang="en-US" altLang="zh-CN" sz="2000" dirty="0"/>
                        <a:t>.data</a:t>
                      </a:r>
                      <a:endParaRPr lang="zh-CN" altLang="en-US" sz="2000" dirty="0"/>
                    </a:p>
                  </a:txBody>
                  <a:tcPr anchor="ctr"/>
                </a:tc>
                <a:tc>
                  <a:txBody>
                    <a:bodyPr/>
                    <a:lstStyle/>
                    <a:p>
                      <a:pPr algn="l"/>
                      <a:r>
                        <a:rPr lang="en-US" altLang="zh-CN" sz="2000" dirty="0"/>
                        <a:t>.data {subsection}</a:t>
                      </a:r>
                    </a:p>
                  </a:txBody>
                  <a:tcPr anchor="ctr"/>
                </a:tc>
                <a:tc>
                  <a:txBody>
                    <a:bodyPr/>
                    <a:lstStyle/>
                    <a:p>
                      <a:pPr algn="l"/>
                      <a:r>
                        <a:rPr lang="zh-CN" altLang="en-US" sz="2000" dirty="0"/>
                        <a:t>将定义符开始的代码编译到数据段，初始化数据段</a:t>
                      </a:r>
                      <a:endParaRPr lang="en-US" altLang="zh-CN" sz="2000" dirty="0"/>
                    </a:p>
                  </a:txBody>
                  <a:tcPr anchor="ctr"/>
                </a:tc>
                <a:extLst>
                  <a:ext uri="{0D108BD9-81ED-4DB2-BD59-A6C34878D82A}">
                    <a16:rowId xmlns:a16="http://schemas.microsoft.com/office/drawing/2014/main" val="2437215152"/>
                  </a:ext>
                </a:extLst>
              </a:tr>
              <a:tr h="684663">
                <a:tc>
                  <a:txBody>
                    <a:bodyPr/>
                    <a:lstStyle/>
                    <a:p>
                      <a:pPr algn="l"/>
                      <a:r>
                        <a:rPr lang="en-US" altLang="zh-CN" sz="2000" dirty="0"/>
                        <a:t>.</a:t>
                      </a:r>
                      <a:r>
                        <a:rPr lang="en-US" altLang="zh-CN" sz="2000" dirty="0" err="1"/>
                        <a:t>bss</a:t>
                      </a:r>
                      <a:endParaRPr lang="zh-CN" altLang="en-US" sz="2000" dirty="0"/>
                    </a:p>
                  </a:txBody>
                  <a:tcPr anchor="ctr"/>
                </a:tc>
                <a:tc>
                  <a:txBody>
                    <a:bodyPr/>
                    <a:lstStyle/>
                    <a:p>
                      <a:pPr algn="l"/>
                      <a:r>
                        <a:rPr lang="en-US" altLang="zh-CN" sz="2000" dirty="0"/>
                        <a:t>.</a:t>
                      </a:r>
                      <a:r>
                        <a:rPr lang="en-US" altLang="zh-CN" sz="2000" dirty="0" err="1"/>
                        <a:t>bss</a:t>
                      </a:r>
                      <a:r>
                        <a:rPr lang="en-US" altLang="zh-CN" sz="2000" dirty="0"/>
                        <a:t> {subsection}</a:t>
                      </a:r>
                    </a:p>
                  </a:txBody>
                  <a:tcPr anchor="ctr"/>
                </a:tc>
                <a:tc>
                  <a:txBody>
                    <a:bodyPr/>
                    <a:lstStyle/>
                    <a:p>
                      <a:pPr algn="l"/>
                      <a:r>
                        <a:rPr lang="zh-CN" altLang="en-US" sz="2000" dirty="0"/>
                        <a:t>将变量存放到</a:t>
                      </a:r>
                      <a:r>
                        <a:rPr lang="en-US" altLang="zh-CN" sz="2000" dirty="0"/>
                        <a:t>.</a:t>
                      </a:r>
                      <a:r>
                        <a:rPr lang="en-US" altLang="zh-CN" sz="2000" dirty="0" err="1"/>
                        <a:t>bss</a:t>
                      </a:r>
                      <a:r>
                        <a:rPr lang="zh-CN" altLang="en-US" sz="2000" dirty="0"/>
                        <a:t>段，未初始化数据段</a:t>
                      </a:r>
                      <a:endParaRPr lang="en-US" altLang="zh-CN" sz="2000" dirty="0"/>
                    </a:p>
                  </a:txBody>
                  <a:tcPr anchor="ctr"/>
                </a:tc>
                <a:extLst>
                  <a:ext uri="{0D108BD9-81ED-4DB2-BD59-A6C34878D82A}">
                    <a16:rowId xmlns:a16="http://schemas.microsoft.com/office/drawing/2014/main" val="1902562242"/>
                  </a:ext>
                </a:extLst>
              </a:tr>
            </a:tbl>
          </a:graphicData>
        </a:graphic>
      </p:graphicFrame>
    </p:spTree>
    <p:extLst>
      <p:ext uri="{BB962C8B-B14F-4D97-AF65-F5344CB8AC3E}">
        <p14:creationId xmlns:p14="http://schemas.microsoft.com/office/powerpoint/2010/main" val="9454272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a:xfrm>
            <a:off x="838200" y="625652"/>
            <a:ext cx="10515600" cy="784224"/>
          </a:xfrm>
        </p:spPr>
        <p:txBody>
          <a:bodyPr/>
          <a:lstStyle/>
          <a:p>
            <a:r>
              <a:rPr lang="en-US" altLang="zh-CN" dirty="0"/>
              <a:t>ADR</a:t>
            </a:r>
            <a:r>
              <a:rPr lang="zh-CN" altLang="en-US" dirty="0"/>
              <a:t>伪指令</a:t>
            </a:r>
            <a:endParaRPr lang="en-US" altLang="zh-CN" dirty="0"/>
          </a:p>
        </p:txBody>
      </p:sp>
      <p:sp>
        <p:nvSpPr>
          <p:cNvPr id="3" name="文本框 2">
            <a:extLst>
              <a:ext uri="{FF2B5EF4-FFF2-40B4-BE49-F238E27FC236}">
                <a16:creationId xmlns:a16="http://schemas.microsoft.com/office/drawing/2014/main" id="{65D91ADD-0384-19E5-C5C9-892A30CB7AD3}"/>
              </a:ext>
            </a:extLst>
          </p:cNvPr>
          <p:cNvSpPr txBox="1"/>
          <p:nvPr/>
        </p:nvSpPr>
        <p:spPr>
          <a:xfrm>
            <a:off x="537379" y="1508034"/>
            <a:ext cx="11117239" cy="1292983"/>
          </a:xfrm>
          <a:prstGeom prst="rect">
            <a:avLst/>
          </a:prstGeom>
          <a:noFill/>
        </p:spPr>
        <p:txBody>
          <a:bodyPr wrap="square" rtlCol="0">
            <a:spAutoFit/>
          </a:bodyPr>
          <a:lstStyle/>
          <a:p>
            <a:pPr marL="914400" lvl="1" indent="-457200" defTabSz="914400">
              <a:lnSpc>
                <a:spcPct val="130000"/>
              </a:lnSpc>
              <a:spcBef>
                <a:spcPts val="1000"/>
              </a:spcBef>
              <a:buFont typeface="Arial" panose="020B0604020202020204" pitchFamily="34" charset="0"/>
              <a:buChar char="•"/>
            </a:pPr>
            <a:r>
              <a:rPr lang="zh-CN" altLang="en-US"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获得标签内存地址的伪指令</a:t>
            </a:r>
            <a:endParaRPr lang="en-US" altLang="zh-CN" sz="32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marL="1371600" lvl="2" indent="-457200" defTabSz="914400">
              <a:lnSpc>
                <a:spcPct val="130000"/>
              </a:lnSpc>
              <a:spcBef>
                <a:spcPts val="1000"/>
              </a:spcBef>
              <a:buFont typeface="Arial" panose="020B0604020202020204" pitchFamily="34" charset="0"/>
              <a:buChar cha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ADR{</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cond</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register, label </a:t>
            </a:r>
          </a:p>
        </p:txBody>
      </p:sp>
      <p:pic>
        <p:nvPicPr>
          <p:cNvPr id="8" name="图片 7">
            <a:extLst>
              <a:ext uri="{FF2B5EF4-FFF2-40B4-BE49-F238E27FC236}">
                <a16:creationId xmlns:a16="http://schemas.microsoft.com/office/drawing/2014/main" id="{DDB18E23-8B8A-400F-A923-C6B657BF910E}"/>
              </a:ext>
            </a:extLst>
          </p:cNvPr>
          <p:cNvPicPr>
            <a:picLocks noChangeAspect="1"/>
          </p:cNvPicPr>
          <p:nvPr/>
        </p:nvPicPr>
        <p:blipFill>
          <a:blip r:embed="rId2"/>
          <a:stretch>
            <a:fillRect/>
          </a:stretch>
        </p:blipFill>
        <p:spPr>
          <a:xfrm>
            <a:off x="2355605" y="2899175"/>
            <a:ext cx="7480789" cy="3715036"/>
          </a:xfrm>
          <a:prstGeom prst="rect">
            <a:avLst/>
          </a:prstGeom>
          <a:ln>
            <a:solidFill>
              <a:srgbClr val="7030A0"/>
            </a:solidFill>
          </a:ln>
        </p:spPr>
      </p:pic>
      <p:sp>
        <p:nvSpPr>
          <p:cNvPr id="9" name="矩形 8">
            <a:extLst>
              <a:ext uri="{FF2B5EF4-FFF2-40B4-BE49-F238E27FC236}">
                <a16:creationId xmlns:a16="http://schemas.microsoft.com/office/drawing/2014/main" id="{FC8AA80E-A223-460E-9310-B7A5FF235092}"/>
              </a:ext>
            </a:extLst>
          </p:cNvPr>
          <p:cNvSpPr/>
          <p:nvPr/>
        </p:nvSpPr>
        <p:spPr>
          <a:xfrm>
            <a:off x="3380642" y="4281854"/>
            <a:ext cx="2162908" cy="4440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17169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a:xfrm>
            <a:off x="838200" y="625652"/>
            <a:ext cx="10515600" cy="784224"/>
          </a:xfrm>
        </p:spPr>
        <p:txBody>
          <a:bodyPr/>
          <a:lstStyle/>
          <a:p>
            <a:r>
              <a:rPr lang="en-US" altLang="zh-CN" dirty="0"/>
              <a:t>ADRL</a:t>
            </a:r>
            <a:r>
              <a:rPr lang="zh-CN" altLang="en-US" dirty="0"/>
              <a:t>伪指令</a:t>
            </a:r>
            <a:endParaRPr lang="en-US" altLang="zh-CN" dirty="0"/>
          </a:p>
        </p:txBody>
      </p:sp>
      <p:sp>
        <p:nvSpPr>
          <p:cNvPr id="3" name="文本框 2">
            <a:extLst>
              <a:ext uri="{FF2B5EF4-FFF2-40B4-BE49-F238E27FC236}">
                <a16:creationId xmlns:a16="http://schemas.microsoft.com/office/drawing/2014/main" id="{65D91ADD-0384-19E5-C5C9-892A30CB7AD3}"/>
              </a:ext>
            </a:extLst>
          </p:cNvPr>
          <p:cNvSpPr txBox="1"/>
          <p:nvPr/>
        </p:nvSpPr>
        <p:spPr>
          <a:xfrm>
            <a:off x="537380" y="1635522"/>
            <a:ext cx="11117239" cy="2217723"/>
          </a:xfrm>
          <a:prstGeom prst="rect">
            <a:avLst/>
          </a:prstGeom>
          <a:noFill/>
        </p:spPr>
        <p:txBody>
          <a:bodyPr wrap="square" rtlCol="0">
            <a:spAutoFit/>
          </a:bodyPr>
          <a:lstStyle/>
          <a:p>
            <a:pPr marL="914400" lvl="1" indent="-457200" defTabSz="914400">
              <a:lnSpc>
                <a:spcPct val="130000"/>
              </a:lnSpc>
              <a:spcBef>
                <a:spcPts val="1000"/>
              </a:spcBef>
              <a:buFont typeface="Arial" panose="020B0604020202020204" pitchFamily="34" charset="0"/>
              <a:buChar char="•"/>
            </a:pPr>
            <a:r>
              <a:rPr lang="en-US" altLang="zh-CN" sz="24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ADR</a:t>
            </a:r>
            <a:r>
              <a:rPr lang="zh-CN" altLang="en-US" sz="24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的地址范围是</a:t>
            </a:r>
            <a:r>
              <a:rPr lang="en-US" altLang="zh-CN" sz="24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+/-1020</a:t>
            </a:r>
            <a:r>
              <a:rPr lang="zh-CN" altLang="en-US" sz="24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字节</a:t>
            </a:r>
            <a:endParaRPr lang="en-US" altLang="zh-CN" sz="24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marL="914400" lvl="1" indent="-457200" defTabSz="914400">
              <a:lnSpc>
                <a:spcPct val="130000"/>
              </a:lnSpc>
              <a:spcBef>
                <a:spcPts val="1000"/>
              </a:spcBef>
              <a:buFont typeface="Arial" panose="020B0604020202020204" pitchFamily="34" charset="0"/>
              <a:buChar char="•"/>
            </a:pPr>
            <a:r>
              <a:rPr lang="en-US" altLang="zh-CN" sz="24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ADRL</a:t>
            </a:r>
            <a:r>
              <a:rPr lang="zh-CN" altLang="en-US" sz="24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的地址范围是</a:t>
            </a:r>
            <a:r>
              <a:rPr lang="en-US" altLang="zh-CN" sz="24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+/-64KB</a:t>
            </a:r>
            <a:r>
              <a:rPr lang="zh-CN" altLang="en-US" sz="24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字节（没有字对齐），</a:t>
            </a:r>
            <a:r>
              <a:rPr lang="en-US" altLang="zh-CN" sz="24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+/-256KB</a:t>
            </a:r>
            <a:r>
              <a:rPr lang="zh-CN" altLang="en-US" sz="24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（字对齐）</a:t>
            </a:r>
            <a:endParaRPr lang="en-US" altLang="zh-CN" sz="24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marL="1371600" lvl="2" indent="-457200" defTabSz="914400">
              <a:lnSpc>
                <a:spcPct val="130000"/>
              </a:lnSpc>
              <a:spcBef>
                <a:spcPts val="1000"/>
              </a:spcBef>
              <a:buFont typeface="Arial" panose="020B0604020202020204" pitchFamily="34" charset="0"/>
              <a:buChar cha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The range of an ADRL pseudo-instruction is ±64KB for a non word-aligned address and ±256KB for a </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word-aligned address</a:t>
            </a:r>
          </a:p>
        </p:txBody>
      </p:sp>
      <p:pic>
        <p:nvPicPr>
          <p:cNvPr id="5" name="图片 4">
            <a:extLst>
              <a:ext uri="{FF2B5EF4-FFF2-40B4-BE49-F238E27FC236}">
                <a16:creationId xmlns:a16="http://schemas.microsoft.com/office/drawing/2014/main" id="{76739CCD-D780-4800-8EE4-F8C4D5348C70}"/>
              </a:ext>
            </a:extLst>
          </p:cNvPr>
          <p:cNvPicPr>
            <a:picLocks noChangeAspect="1"/>
          </p:cNvPicPr>
          <p:nvPr/>
        </p:nvPicPr>
        <p:blipFill>
          <a:blip r:embed="rId2"/>
          <a:stretch>
            <a:fillRect/>
          </a:stretch>
        </p:blipFill>
        <p:spPr>
          <a:xfrm>
            <a:off x="1856275" y="3988410"/>
            <a:ext cx="8479448" cy="2364871"/>
          </a:xfrm>
          <a:prstGeom prst="rect">
            <a:avLst/>
          </a:prstGeom>
          <a:ln>
            <a:solidFill>
              <a:srgbClr val="7030A0"/>
            </a:solidFill>
          </a:ln>
        </p:spPr>
      </p:pic>
    </p:spTree>
    <p:extLst>
      <p:ext uri="{BB962C8B-B14F-4D97-AF65-F5344CB8AC3E}">
        <p14:creationId xmlns:p14="http://schemas.microsoft.com/office/powerpoint/2010/main" val="2476308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E59C19B-D17D-45D8-9C03-5DF3B013FA28}"/>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哪些是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ARM</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伪指令？</a:t>
            </a:r>
          </a:p>
        </p:txBody>
      </p:sp>
      <p:sp>
        <p:nvSpPr>
          <p:cNvPr id="7" name="文本框 6">
            <a:extLst>
              <a:ext uri="{FF2B5EF4-FFF2-40B4-BE49-F238E27FC236}">
                <a16:creationId xmlns:a16="http://schemas.microsoft.com/office/drawing/2014/main" id="{8C0BFBC5-B247-4EE8-A053-B9F915CCC9C6}"/>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ADR</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760B94D2-8072-4A6E-97BB-6765A2739922}"/>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ADRL</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7EAB9EE5-26A2-4BFD-957F-448FC87D1050}"/>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MOVLE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7949AD06-0293-4840-AF60-479ACA34303B}"/>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STMFD</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a:extLst>
              <a:ext uri="{FF2B5EF4-FFF2-40B4-BE49-F238E27FC236}">
                <a16:creationId xmlns:a16="http://schemas.microsoft.com/office/drawing/2014/main" id="{F0CE31FA-05B9-4A76-A91C-976CE844E7D4}"/>
              </a:ext>
            </a:extLst>
          </p:cNvPr>
          <p:cNvSpPr>
            <a:spLocks noChangeAspect="1"/>
          </p:cNvSpPr>
          <p:nvPr>
            <p:custDataLst>
              <p:tags r:id="rId7"/>
            </p:custDataLst>
          </p:nvPr>
        </p:nvSpPr>
        <p:spPr>
          <a:xfrm>
            <a:off x="15716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AF169DDE-D8D7-4F67-B21D-1B5F05DB054D}"/>
              </a:ext>
            </a:extLst>
          </p:cNvPr>
          <p:cNvSpPr>
            <a:spLocks noChangeAspect="1"/>
          </p:cNvSpPr>
          <p:nvPr>
            <p:custDataLst>
              <p:tags r:id="rId8"/>
            </p:custDataLst>
          </p:nvPr>
        </p:nvSpPr>
        <p:spPr>
          <a:xfrm>
            <a:off x="15716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a:extLst>
              <a:ext uri="{FF2B5EF4-FFF2-40B4-BE49-F238E27FC236}">
                <a16:creationId xmlns:a16="http://schemas.microsoft.com/office/drawing/2014/main" id="{8F635045-1403-4E21-9CA1-533D46E306B0}"/>
              </a:ext>
            </a:extLst>
          </p:cNvPr>
          <p:cNvSpPr>
            <a:spLocks noChangeAspect="1"/>
          </p:cNvSpPr>
          <p:nvPr>
            <p:custDataLst>
              <p:tags r:id="rId9"/>
            </p:custDataLst>
          </p:nvPr>
        </p:nvSpPr>
        <p:spPr>
          <a:xfrm>
            <a:off x="1571625" y="45648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13">
            <a:extLst>
              <a:ext uri="{FF2B5EF4-FFF2-40B4-BE49-F238E27FC236}">
                <a16:creationId xmlns:a16="http://schemas.microsoft.com/office/drawing/2014/main" id="{F8AA3D6A-2CD5-4BF4-9E21-0A5EFF60C231}"/>
              </a:ext>
            </a:extLst>
          </p:cNvPr>
          <p:cNvSpPr>
            <a:spLocks noChangeAspect="1"/>
          </p:cNvSpPr>
          <p:nvPr>
            <p:custDataLst>
              <p:tags r:id="rId10"/>
            </p:custDataLst>
          </p:nvPr>
        </p:nvSpPr>
        <p:spPr>
          <a:xfrm>
            <a:off x="1571625" y="54221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00FDC4D3-ADE0-4E99-AEC3-AE2A5775607A}"/>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BA334CF8-8BC2-49F8-81EA-1C3CC03AB144}"/>
              </a:ext>
            </a:extLst>
          </p:cNvPr>
          <p:cNvGrpSpPr/>
          <p:nvPr>
            <p:custDataLst>
              <p:tags r:id="rId12"/>
            </p:custDataLst>
          </p:nvPr>
        </p:nvGrpSpPr>
        <p:grpSpPr>
          <a:xfrm>
            <a:off x="0" y="0"/>
            <a:ext cx="12192000" cy="635000"/>
            <a:chOff x="0" y="0"/>
            <a:chExt cx="12192000" cy="635000"/>
          </a:xfrm>
        </p:grpSpPr>
        <p:sp>
          <p:nvSpPr>
            <p:cNvPr id="16" name="TitleBackground">
              <a:extLst>
                <a:ext uri="{FF2B5EF4-FFF2-40B4-BE49-F238E27FC236}">
                  <a16:creationId xmlns:a16="http://schemas.microsoft.com/office/drawing/2014/main" id="{21484E18-1B10-45DD-9373-331F6F673D1D}"/>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3A1A8448-B17B-4EC4-8870-0662C16772EF}"/>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EDC48ABD-E009-4F1C-AAC7-8A47B5C73783}"/>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9" name="TipText">
              <a:extLst>
                <a:ext uri="{FF2B5EF4-FFF2-40B4-BE49-F238E27FC236}">
                  <a16:creationId xmlns:a16="http://schemas.microsoft.com/office/drawing/2014/main" id="{C65DBF58-0C02-4C64-A966-4BB294039827}"/>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6E5DD9ED-3ADD-4C4E-9924-76CDD3756935}"/>
              </a:ext>
            </a:extLst>
          </p:cNvPr>
          <p:cNvPicPr>
            <a:picLocks/>
          </p:cNvPicPr>
          <p:nvPr>
            <p:custDataLst>
              <p:tags r:id="rId13"/>
            </p:custDataLst>
          </p:nvPr>
        </p:nvPicPr>
        <p:blipFill>
          <a:blip r:embed="rId19"/>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2886561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29C44-E8F3-4F61-B68C-4EDDAC3FDF7F}"/>
              </a:ext>
            </a:extLst>
          </p:cNvPr>
          <p:cNvSpPr>
            <a:spLocks noGrp="1"/>
          </p:cNvSpPr>
          <p:nvPr>
            <p:ph type="title"/>
          </p:nvPr>
        </p:nvSpPr>
        <p:spPr>
          <a:xfrm>
            <a:off x="838200" y="1087248"/>
            <a:ext cx="10515600" cy="784224"/>
          </a:xfrm>
        </p:spPr>
        <p:txBody>
          <a:bodyPr/>
          <a:lstStyle/>
          <a:p>
            <a:r>
              <a:rPr lang="zh-CN" altLang="en-US" dirty="0"/>
              <a:t>鲲鹏</a:t>
            </a:r>
            <a:r>
              <a:rPr lang="en-US" altLang="zh-CN" dirty="0"/>
              <a:t>CPU</a:t>
            </a:r>
            <a:r>
              <a:rPr lang="zh-CN" altLang="en-US" dirty="0"/>
              <a:t>示例程序</a:t>
            </a:r>
            <a:endParaRPr lang="en-US" altLang="zh-CN" dirty="0"/>
          </a:p>
        </p:txBody>
      </p:sp>
      <p:sp>
        <p:nvSpPr>
          <p:cNvPr id="3" name="文本框 2">
            <a:extLst>
              <a:ext uri="{FF2B5EF4-FFF2-40B4-BE49-F238E27FC236}">
                <a16:creationId xmlns:a16="http://schemas.microsoft.com/office/drawing/2014/main" id="{65D91ADD-0384-19E5-C5C9-892A30CB7AD3}"/>
              </a:ext>
            </a:extLst>
          </p:cNvPr>
          <p:cNvSpPr txBox="1"/>
          <p:nvPr/>
        </p:nvSpPr>
        <p:spPr>
          <a:xfrm>
            <a:off x="597895" y="2099164"/>
            <a:ext cx="10996209" cy="737510"/>
          </a:xfrm>
          <a:prstGeom prst="rect">
            <a:avLst/>
          </a:prstGeom>
          <a:noFill/>
        </p:spPr>
        <p:txBody>
          <a:bodyPr wrap="square" rtlCol="0">
            <a:spAutoFit/>
          </a:bodyPr>
          <a:lstStyle/>
          <a:p>
            <a:pPr marL="914400" lvl="1" indent="-457200" defTabSz="914400">
              <a:lnSpc>
                <a:spcPct val="150000"/>
              </a:lnSpc>
              <a:spcBef>
                <a:spcPts val="1000"/>
              </a:spcBef>
              <a:buFont typeface="Arial" panose="020B0604020202020204" pitchFamily="34" charset="0"/>
              <a:buChar char="•"/>
            </a:pP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思考：同样的代码在</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x86</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平台是否能够运行，为什么？</a:t>
            </a:r>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975755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C765749-EF49-4E65-895C-D4028E15C111}"/>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pPr lvl="1" defTabSz="914400">
              <a:lnSpc>
                <a:spcPct val="150000"/>
              </a:lnSpc>
              <a:spcBef>
                <a:spcPts val="1000"/>
              </a:spcBef>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思考：同样的华为鲲鹏处理器程序在</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x86</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平台是否能够运行，为什么？</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圆角 6">
            <a:extLst>
              <a:ext uri="{FF2B5EF4-FFF2-40B4-BE49-F238E27FC236}">
                <a16:creationId xmlns:a16="http://schemas.microsoft.com/office/drawing/2014/main" id="{4FF6E4F4-BC05-4BB3-AFE4-144913532B71}"/>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E28F61EB-8D1C-4900-A5E6-E87483CCD8C8}"/>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7F5C0D57-B758-4A4F-BDD1-7BE06CEC0F76}"/>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3E498C68-7934-484F-B2E4-801A6F84D332}"/>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A00F5C6D-86B8-4379-A269-322B4FE0A933}"/>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CE19576D-7FCD-4BAF-91F4-0A790BE8B75A}"/>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06E4BD55-E670-4A05-92C0-39B2F25F987E}"/>
              </a:ext>
            </a:extLst>
          </p:cNvPr>
          <p:cNvPicPr>
            <a:picLocks/>
          </p:cNvPicPr>
          <p:nvPr>
            <p:custDataLst>
              <p:tags r:id="rId5"/>
            </p:custDataLst>
          </p:nvPr>
        </p:nvPicPr>
        <p:blipFill>
          <a:blip r:embed="rId1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8370517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3969D0-D159-47F9-957C-49963E18CC9A}"/>
              </a:ext>
            </a:extLst>
          </p:cNvPr>
          <p:cNvSpPr>
            <a:spLocks noGrp="1"/>
          </p:cNvSpPr>
          <p:nvPr>
            <p:ph type="title"/>
          </p:nvPr>
        </p:nvSpPr>
        <p:spPr/>
        <p:txBody>
          <a:bodyPr/>
          <a:lstStyle/>
          <a:p>
            <a:r>
              <a:rPr lang="zh-CN" altLang="en-US" dirty="0"/>
              <a:t>本章知识点</a:t>
            </a:r>
          </a:p>
        </p:txBody>
      </p:sp>
      <p:sp>
        <p:nvSpPr>
          <p:cNvPr id="3" name="内容占位符 2">
            <a:extLst>
              <a:ext uri="{FF2B5EF4-FFF2-40B4-BE49-F238E27FC236}">
                <a16:creationId xmlns:a16="http://schemas.microsoft.com/office/drawing/2014/main" id="{9CB8B89F-D60A-42C3-84D9-4CFC30452A6F}"/>
              </a:ext>
            </a:extLst>
          </p:cNvPr>
          <p:cNvSpPr>
            <a:spLocks noGrp="1"/>
          </p:cNvSpPr>
          <p:nvPr>
            <p:ph idx="1"/>
          </p:nvPr>
        </p:nvSpPr>
        <p:spPr>
          <a:xfrm>
            <a:off x="838199" y="1825625"/>
            <a:ext cx="10152185" cy="4351338"/>
          </a:xfrm>
        </p:spPr>
        <p:txBody>
          <a:bodyPr>
            <a:normAutofit/>
          </a:bodyPr>
          <a:lstStyle/>
          <a:p>
            <a:r>
              <a:rPr lang="zh-CN" altLang="en-US" dirty="0"/>
              <a:t>数据类型和寄存器</a:t>
            </a:r>
            <a:endParaRPr lang="en-US" altLang="zh-CN" dirty="0"/>
          </a:p>
          <a:p>
            <a:pPr lvl="1"/>
            <a:r>
              <a:rPr lang="zh-CN" altLang="en-US" dirty="0">
                <a:solidFill>
                  <a:srgbClr val="FF0000"/>
                </a:solidFill>
              </a:rPr>
              <a:t>重点：</a:t>
            </a:r>
            <a:r>
              <a:rPr lang="en-US" altLang="zh-CN" dirty="0">
                <a:solidFill>
                  <a:srgbClr val="FF0000"/>
                </a:solidFill>
              </a:rPr>
              <a:t>CPSR</a:t>
            </a:r>
            <a:r>
              <a:rPr lang="zh-CN" altLang="en-US" dirty="0">
                <a:solidFill>
                  <a:srgbClr val="FF0000"/>
                </a:solidFill>
              </a:rPr>
              <a:t>寄存器</a:t>
            </a:r>
            <a:endParaRPr lang="en-US" altLang="zh-CN" dirty="0">
              <a:solidFill>
                <a:srgbClr val="FF0000"/>
              </a:solidFill>
            </a:endParaRPr>
          </a:p>
          <a:p>
            <a:r>
              <a:rPr lang="en-US" altLang="zh-CN" dirty="0"/>
              <a:t>ARM</a:t>
            </a:r>
            <a:r>
              <a:rPr lang="zh-CN" altLang="en-US" dirty="0"/>
              <a:t>指令</a:t>
            </a:r>
            <a:endParaRPr lang="en-US" altLang="zh-CN" dirty="0"/>
          </a:p>
          <a:p>
            <a:pPr lvl="1"/>
            <a:r>
              <a:rPr lang="zh-CN" altLang="en-US" dirty="0">
                <a:solidFill>
                  <a:srgbClr val="FF0000"/>
                </a:solidFill>
              </a:rPr>
              <a:t>难点：执行条件（</a:t>
            </a:r>
            <a:r>
              <a:rPr lang="en-US" altLang="zh-CN" dirty="0">
                <a:solidFill>
                  <a:srgbClr val="FF0000"/>
                </a:solidFill>
              </a:rPr>
              <a:t>Conditional Code</a:t>
            </a:r>
            <a:r>
              <a:rPr lang="zh-CN" altLang="en-US" dirty="0">
                <a:solidFill>
                  <a:srgbClr val="FF0000"/>
                </a:solidFill>
              </a:rPr>
              <a:t>）</a:t>
            </a:r>
            <a:endParaRPr lang="en-US" altLang="zh-CN" dirty="0">
              <a:solidFill>
                <a:srgbClr val="FF0000"/>
              </a:solidFill>
            </a:endParaRPr>
          </a:p>
          <a:p>
            <a:r>
              <a:rPr lang="zh-CN" altLang="en-US" dirty="0"/>
              <a:t>寻址方式</a:t>
            </a:r>
            <a:endParaRPr lang="en-US" altLang="zh-CN" dirty="0"/>
          </a:p>
          <a:p>
            <a:pPr lvl="1"/>
            <a:r>
              <a:rPr lang="zh-CN" altLang="en-US" dirty="0">
                <a:solidFill>
                  <a:srgbClr val="FF0000"/>
                </a:solidFill>
              </a:rPr>
              <a:t>难点：多寄存器寻址、栈寻址</a:t>
            </a:r>
            <a:endParaRPr lang="en-US" altLang="zh-CN" dirty="0">
              <a:solidFill>
                <a:srgbClr val="FF0000"/>
              </a:solidFill>
            </a:endParaRPr>
          </a:p>
          <a:p>
            <a:r>
              <a:rPr lang="zh-CN" altLang="en-US" dirty="0"/>
              <a:t>伪指令</a:t>
            </a:r>
            <a:endParaRPr lang="en-US" altLang="zh-CN" dirty="0"/>
          </a:p>
        </p:txBody>
      </p:sp>
    </p:spTree>
    <p:extLst>
      <p:ext uri="{BB962C8B-B14F-4D97-AF65-F5344CB8AC3E}">
        <p14:creationId xmlns:p14="http://schemas.microsoft.com/office/powerpoint/2010/main" val="291400123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882802"/>
            <a:ext cx="12192000" cy="1405305"/>
          </a:xfrm>
        </p:spPr>
        <p:txBody>
          <a:bodyPr>
            <a:normAutofit fontScale="90000"/>
          </a:bodyPr>
          <a:lstStyle/>
          <a:p>
            <a:pPr algn="ctr">
              <a:lnSpc>
                <a:spcPct val="150000"/>
              </a:lnSpc>
            </a:pPr>
            <a:r>
              <a:rPr lang="zh-CN" altLang="en-US" sz="4400" b="1" i="0" dirty="0">
                <a:solidFill>
                  <a:schemeClr val="tx1"/>
                </a:solidFill>
                <a:ea typeface="宋体" panose="02010600030101010101" pitchFamily="2" charset="-122"/>
              </a:rPr>
              <a:t>汇编语言与逆向技术</a:t>
            </a:r>
            <a:br>
              <a:rPr lang="en-US" i="0" dirty="0">
                <a:solidFill>
                  <a:schemeClr val="tx1"/>
                </a:solidFill>
                <a:ea typeface="宋体" panose="02010600030101010101" pitchFamily="2" charset="-122"/>
              </a:rPr>
            </a:br>
            <a:r>
              <a:rPr lang="zh-CN" altLang="en-US" sz="3600" b="1" dirty="0">
                <a:solidFill>
                  <a:srgbClr val="7030A0"/>
                </a:solidFill>
              </a:rPr>
              <a:t>第</a:t>
            </a:r>
            <a:r>
              <a:rPr lang="en-US" altLang="zh-CN" sz="3600" b="1">
                <a:solidFill>
                  <a:srgbClr val="7030A0"/>
                </a:solidFill>
              </a:rPr>
              <a:t>8</a:t>
            </a:r>
            <a:r>
              <a:rPr lang="zh-CN" altLang="en-US" sz="3600" b="1">
                <a:solidFill>
                  <a:srgbClr val="7030A0"/>
                </a:solidFill>
              </a:rPr>
              <a:t>章 </a:t>
            </a:r>
            <a:r>
              <a:rPr lang="zh-CN" altLang="en-US" sz="3600" b="1" dirty="0">
                <a:solidFill>
                  <a:srgbClr val="7030A0"/>
                </a:solidFill>
              </a:rPr>
              <a:t>华为鲲鹏处理器汇编编程</a:t>
            </a:r>
            <a:endParaRPr lang="en-US" sz="2800" b="1" dirty="0">
              <a:solidFill>
                <a:srgbClr val="7030A0"/>
              </a:solidFill>
              <a:ea typeface="宋体" panose="02010600030101010101" pitchFamily="2" charset="-122"/>
            </a:endParaRPr>
          </a:p>
        </p:txBody>
      </p:sp>
      <p:sp>
        <p:nvSpPr>
          <p:cNvPr id="5" name="Title 1"/>
          <p:cNvSpPr txBox="1">
            <a:spLocks/>
          </p:cNvSpPr>
          <p:nvPr/>
        </p:nvSpPr>
        <p:spPr bwMode="auto">
          <a:xfrm>
            <a:off x="0" y="3626471"/>
            <a:ext cx="12192000" cy="1301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4300" b="1" i="1" kern="1200">
                <a:solidFill>
                  <a:schemeClr val="bg1"/>
                </a:solidFill>
                <a:latin typeface="+mj-lt"/>
                <a:ea typeface="+mj-ea"/>
                <a:cs typeface="+mj-cs"/>
              </a:defRPr>
            </a:lvl1pPr>
            <a:lvl2pPr algn="ctr" rtl="0" fontAlgn="base">
              <a:spcBef>
                <a:spcPct val="0"/>
              </a:spcBef>
              <a:spcAft>
                <a:spcPct val="0"/>
              </a:spcAft>
              <a:defRPr sz="4200" b="1" i="1">
                <a:solidFill>
                  <a:schemeClr val="tx1"/>
                </a:solidFill>
                <a:latin typeface="Arial" charset="0"/>
              </a:defRPr>
            </a:lvl2pPr>
            <a:lvl3pPr algn="ctr" rtl="0" fontAlgn="base">
              <a:spcBef>
                <a:spcPct val="0"/>
              </a:spcBef>
              <a:spcAft>
                <a:spcPct val="0"/>
              </a:spcAft>
              <a:defRPr sz="4200" b="1" i="1">
                <a:solidFill>
                  <a:schemeClr val="tx1"/>
                </a:solidFill>
                <a:latin typeface="Arial" charset="0"/>
              </a:defRPr>
            </a:lvl3pPr>
            <a:lvl4pPr algn="ctr" rtl="0" fontAlgn="base">
              <a:spcBef>
                <a:spcPct val="0"/>
              </a:spcBef>
              <a:spcAft>
                <a:spcPct val="0"/>
              </a:spcAft>
              <a:defRPr sz="4200" b="1" i="1">
                <a:solidFill>
                  <a:schemeClr val="tx1"/>
                </a:solidFill>
                <a:latin typeface="Arial" charset="0"/>
              </a:defRPr>
            </a:lvl4pPr>
            <a:lvl5pPr algn="ctr" rtl="0" fontAlgn="base">
              <a:spcBef>
                <a:spcPct val="0"/>
              </a:spcBef>
              <a:spcAft>
                <a:spcPct val="0"/>
              </a:spcAft>
              <a:defRPr sz="4200" b="1" i="1">
                <a:solidFill>
                  <a:schemeClr val="tx1"/>
                </a:solidFill>
                <a:latin typeface="Arial" charset="0"/>
              </a:defRPr>
            </a:lvl5pPr>
            <a:lvl6pPr marL="457200" algn="ctr" rtl="0" fontAlgn="base">
              <a:spcBef>
                <a:spcPct val="0"/>
              </a:spcBef>
              <a:spcAft>
                <a:spcPct val="0"/>
              </a:spcAft>
              <a:defRPr sz="4200" b="1" i="1">
                <a:solidFill>
                  <a:schemeClr val="tx1"/>
                </a:solidFill>
                <a:latin typeface="Arial" charset="0"/>
              </a:defRPr>
            </a:lvl6pPr>
            <a:lvl7pPr marL="914400" algn="ctr" rtl="0" fontAlgn="base">
              <a:spcBef>
                <a:spcPct val="0"/>
              </a:spcBef>
              <a:spcAft>
                <a:spcPct val="0"/>
              </a:spcAft>
              <a:defRPr sz="4200" b="1" i="1">
                <a:solidFill>
                  <a:schemeClr val="tx1"/>
                </a:solidFill>
                <a:latin typeface="Arial" charset="0"/>
              </a:defRPr>
            </a:lvl7pPr>
            <a:lvl8pPr marL="1371600" algn="ctr" rtl="0" fontAlgn="base">
              <a:spcBef>
                <a:spcPct val="0"/>
              </a:spcBef>
              <a:spcAft>
                <a:spcPct val="0"/>
              </a:spcAft>
              <a:defRPr sz="4200" b="1" i="1">
                <a:solidFill>
                  <a:schemeClr val="tx1"/>
                </a:solidFill>
                <a:latin typeface="Arial" charset="0"/>
              </a:defRPr>
            </a:lvl8pPr>
            <a:lvl9pPr marL="1828800" algn="ctr" rtl="0" fontAlgn="base">
              <a:spcBef>
                <a:spcPct val="0"/>
              </a:spcBef>
              <a:spcAft>
                <a:spcPct val="0"/>
              </a:spcAft>
              <a:defRPr sz="4200" b="1" i="1">
                <a:solidFill>
                  <a:schemeClr val="tx1"/>
                </a:solidFill>
                <a:latin typeface="Arial" charset="0"/>
              </a:defRPr>
            </a:lvl9pPr>
          </a:lstStyle>
          <a:p>
            <a:pPr algn="ctr" defTabSz="914400"/>
            <a:r>
              <a:rPr lang="zh-CN" altLang="en-US" sz="3600" b="0" i="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王志、李旭昇、过辰锴、邓琮弋</a:t>
            </a:r>
            <a:r>
              <a:rPr lang="en-US" altLang="zh-CN" sz="3600" b="0" i="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gn="ctr" defTabSz="914400"/>
            <a:r>
              <a:rPr lang="en-US" altLang="zh-CN" sz="2400" b="0" i="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zwang@nankai.edu.cn</a:t>
            </a:r>
          </a:p>
        </p:txBody>
      </p:sp>
      <p:sp>
        <p:nvSpPr>
          <p:cNvPr id="4" name="Title 1"/>
          <p:cNvSpPr txBox="1">
            <a:spLocks/>
          </p:cNvSpPr>
          <p:nvPr/>
        </p:nvSpPr>
        <p:spPr bwMode="auto">
          <a:xfrm>
            <a:off x="0" y="5179843"/>
            <a:ext cx="12192000" cy="1678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4300" b="1" i="1" kern="1200">
                <a:solidFill>
                  <a:schemeClr val="bg1"/>
                </a:solidFill>
                <a:latin typeface="+mj-lt"/>
                <a:ea typeface="+mj-ea"/>
                <a:cs typeface="+mj-cs"/>
              </a:defRPr>
            </a:lvl1pPr>
            <a:lvl2pPr algn="ctr" rtl="0" fontAlgn="base">
              <a:spcBef>
                <a:spcPct val="0"/>
              </a:spcBef>
              <a:spcAft>
                <a:spcPct val="0"/>
              </a:spcAft>
              <a:defRPr sz="4200" b="1" i="1">
                <a:solidFill>
                  <a:schemeClr val="tx1"/>
                </a:solidFill>
                <a:latin typeface="Arial" charset="0"/>
              </a:defRPr>
            </a:lvl2pPr>
            <a:lvl3pPr algn="ctr" rtl="0" fontAlgn="base">
              <a:spcBef>
                <a:spcPct val="0"/>
              </a:spcBef>
              <a:spcAft>
                <a:spcPct val="0"/>
              </a:spcAft>
              <a:defRPr sz="4200" b="1" i="1">
                <a:solidFill>
                  <a:schemeClr val="tx1"/>
                </a:solidFill>
                <a:latin typeface="Arial" charset="0"/>
              </a:defRPr>
            </a:lvl3pPr>
            <a:lvl4pPr algn="ctr" rtl="0" fontAlgn="base">
              <a:spcBef>
                <a:spcPct val="0"/>
              </a:spcBef>
              <a:spcAft>
                <a:spcPct val="0"/>
              </a:spcAft>
              <a:defRPr sz="4200" b="1" i="1">
                <a:solidFill>
                  <a:schemeClr val="tx1"/>
                </a:solidFill>
                <a:latin typeface="Arial" charset="0"/>
              </a:defRPr>
            </a:lvl4pPr>
            <a:lvl5pPr algn="ctr" rtl="0" fontAlgn="base">
              <a:spcBef>
                <a:spcPct val="0"/>
              </a:spcBef>
              <a:spcAft>
                <a:spcPct val="0"/>
              </a:spcAft>
              <a:defRPr sz="4200" b="1" i="1">
                <a:solidFill>
                  <a:schemeClr val="tx1"/>
                </a:solidFill>
                <a:latin typeface="Arial" charset="0"/>
              </a:defRPr>
            </a:lvl5pPr>
            <a:lvl6pPr marL="457200" algn="ctr" rtl="0" fontAlgn="base">
              <a:spcBef>
                <a:spcPct val="0"/>
              </a:spcBef>
              <a:spcAft>
                <a:spcPct val="0"/>
              </a:spcAft>
              <a:defRPr sz="4200" b="1" i="1">
                <a:solidFill>
                  <a:schemeClr val="tx1"/>
                </a:solidFill>
                <a:latin typeface="Arial" charset="0"/>
              </a:defRPr>
            </a:lvl6pPr>
            <a:lvl7pPr marL="914400" algn="ctr" rtl="0" fontAlgn="base">
              <a:spcBef>
                <a:spcPct val="0"/>
              </a:spcBef>
              <a:spcAft>
                <a:spcPct val="0"/>
              </a:spcAft>
              <a:defRPr sz="4200" b="1" i="1">
                <a:solidFill>
                  <a:schemeClr val="tx1"/>
                </a:solidFill>
                <a:latin typeface="Arial" charset="0"/>
              </a:defRPr>
            </a:lvl7pPr>
            <a:lvl8pPr marL="1371600" algn="ctr" rtl="0" fontAlgn="base">
              <a:spcBef>
                <a:spcPct val="0"/>
              </a:spcBef>
              <a:spcAft>
                <a:spcPct val="0"/>
              </a:spcAft>
              <a:defRPr sz="4200" b="1" i="1">
                <a:solidFill>
                  <a:schemeClr val="tx1"/>
                </a:solidFill>
                <a:latin typeface="Arial" charset="0"/>
              </a:defRPr>
            </a:lvl8pPr>
            <a:lvl9pPr marL="1828800" algn="ctr" rtl="0" fontAlgn="base">
              <a:spcBef>
                <a:spcPct val="0"/>
              </a:spcBef>
              <a:spcAft>
                <a:spcPct val="0"/>
              </a:spcAft>
              <a:defRPr sz="4200" b="1" i="1">
                <a:solidFill>
                  <a:schemeClr val="tx1"/>
                </a:solidFill>
                <a:latin typeface="Arial" charset="0"/>
              </a:defRPr>
            </a:lvl9pPr>
          </a:lstStyle>
          <a:p>
            <a:pPr algn="ctr" defTabSz="914400">
              <a:lnSpc>
                <a:spcPct val="150000"/>
              </a:lnSpc>
            </a:pPr>
            <a:r>
              <a:rPr lang="zh-CN" altLang="en-US" sz="2400" i="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南开大学 网络空间安全学院</a:t>
            </a:r>
            <a:endParaRPr lang="en-US" altLang="zh-CN" sz="2400" i="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endParaRPr>
          </a:p>
          <a:p>
            <a:pPr algn="ctr" defTabSz="914400">
              <a:lnSpc>
                <a:spcPct val="150000"/>
              </a:lnSpc>
            </a:pPr>
            <a:r>
              <a:rPr lang="en-US" altLang="zh-CN" sz="2400" i="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2025-2026</a:t>
            </a:r>
            <a:r>
              <a:rPr lang="zh-CN" altLang="en-US" sz="2400" i="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学年</a:t>
            </a:r>
            <a:endParaRPr lang="en-US" altLang="zh-CN" sz="2400" i="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4017448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10.0"/>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5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8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7.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9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6.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3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14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5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9.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6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8.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6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7.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7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6.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18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0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2_400TGp_globalcity_light_ani">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6327</TotalTime>
  <Words>3470</Words>
  <Application>Microsoft Office PowerPoint</Application>
  <PresentationFormat>宽屏</PresentationFormat>
  <Paragraphs>466</Paragraphs>
  <Slides>73</Slides>
  <Notes>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73</vt:i4>
      </vt:variant>
    </vt:vector>
  </HeadingPairs>
  <TitlesOfParts>
    <vt:vector size="81" baseType="lpstr">
      <vt:lpstr>DengXian</vt:lpstr>
      <vt:lpstr>DengXian</vt:lpstr>
      <vt:lpstr>Microsoft Yahei</vt:lpstr>
      <vt:lpstr>Arial</vt:lpstr>
      <vt:lpstr>Calibri</vt:lpstr>
      <vt:lpstr>Tahoma</vt:lpstr>
      <vt:lpstr>Times New Roman</vt:lpstr>
      <vt:lpstr>2_400TGp_globalcity_light_ani</vt:lpstr>
      <vt:lpstr>汇编语言与逆向技术 第8章 华为鲲鹏处理器汇编编程</vt:lpstr>
      <vt:lpstr>本章知识点</vt:lpstr>
      <vt:lpstr>数据类型和寄存器</vt:lpstr>
      <vt:lpstr>PowerPoint 演示文稿</vt:lpstr>
      <vt:lpstr>数据定义</vt:lpstr>
      <vt:lpstr>PowerPoint 演示文稿</vt:lpstr>
      <vt:lpstr>寄存器</vt:lpstr>
      <vt:lpstr>PowerPoint 演示文稿</vt:lpstr>
      <vt:lpstr>CPSR寄存器</vt:lpstr>
      <vt:lpstr>CPSR寄存器</vt:lpstr>
      <vt:lpstr>PowerPoint 演示文稿</vt:lpstr>
      <vt:lpstr>ARM指令</vt:lpstr>
      <vt:lpstr>ARM指令</vt:lpstr>
      <vt:lpstr>ARM指令</vt:lpstr>
      <vt:lpstr>ARM指令</vt:lpstr>
      <vt:lpstr>GNU ARM汇编语法格式</vt:lpstr>
      <vt:lpstr>MOV指令</vt:lpstr>
      <vt:lpstr>数据传输指令</vt:lpstr>
      <vt:lpstr>内存访问指令</vt:lpstr>
      <vt:lpstr>分支和控制指令</vt:lpstr>
      <vt:lpstr>分支和控制指令</vt:lpstr>
      <vt:lpstr>分支和控制指令</vt:lpstr>
      <vt:lpstr>分支和控制指令</vt:lpstr>
      <vt:lpstr>算数运算指令</vt:lpstr>
      <vt:lpstr>逻辑运算指令</vt:lpstr>
      <vt:lpstr>移位运算指令</vt:lpstr>
      <vt:lpstr>PowerPoint 演示文稿</vt:lpstr>
      <vt:lpstr>PowerPoint 演示文稿</vt:lpstr>
      <vt:lpstr>PowerPoint 演示文稿</vt:lpstr>
      <vt:lpstr>PowerPoint 演示文稿</vt:lpstr>
      <vt:lpstr>PowerPoint 演示文稿</vt:lpstr>
      <vt:lpstr>寻址方式</vt:lpstr>
      <vt:lpstr>PowerPoint 演示文稿</vt:lpstr>
      <vt:lpstr>ARM寻址方式</vt:lpstr>
      <vt:lpstr>立即数</vt:lpstr>
      <vt:lpstr>PowerPoint 演示文稿</vt:lpstr>
      <vt:lpstr>寄存器</vt:lpstr>
      <vt:lpstr>寄存器间接寻址</vt:lpstr>
      <vt:lpstr>基址寻址</vt:lpstr>
      <vt:lpstr>基址寻址</vt:lpstr>
      <vt:lpstr>基址寻址</vt:lpstr>
      <vt:lpstr>多寄存器寻址类型</vt:lpstr>
      <vt:lpstr>多寄存器寻址格式</vt:lpstr>
      <vt:lpstr>多寄存器寻址模式</vt:lpstr>
      <vt:lpstr>多寄存器寻址实例</vt:lpstr>
      <vt:lpstr>PowerPoint 演示文稿</vt:lpstr>
      <vt:lpstr>多寄存器寻址实例</vt:lpstr>
      <vt:lpstr>多寄存器寻址实例</vt:lpstr>
      <vt:lpstr>PowerPoint 演示文稿</vt:lpstr>
      <vt:lpstr>栈寻址</vt:lpstr>
      <vt:lpstr>栈寻址</vt:lpstr>
      <vt:lpstr>栈寻址</vt:lpstr>
      <vt:lpstr>PowerPoint 演示文稿</vt:lpstr>
      <vt:lpstr>栈寻址</vt:lpstr>
      <vt:lpstr>PowerPoint 演示文稿</vt:lpstr>
      <vt:lpstr>栈寻址</vt:lpstr>
      <vt:lpstr>PC相对寻址</vt:lpstr>
      <vt:lpstr>寄存器移位寻址</vt:lpstr>
      <vt:lpstr>PowerPoint 演示文稿</vt:lpstr>
      <vt:lpstr>伪指令</vt:lpstr>
      <vt:lpstr>PowerPoint 演示文稿</vt:lpstr>
      <vt:lpstr>伪指令</vt:lpstr>
      <vt:lpstr>数据定义伪操作</vt:lpstr>
      <vt:lpstr>汇编控制伪操作</vt:lpstr>
      <vt:lpstr>汇编控制伪操作</vt:lpstr>
      <vt:lpstr>杂项伪操作</vt:lpstr>
      <vt:lpstr>ADR伪指令</vt:lpstr>
      <vt:lpstr>ADRL伪指令</vt:lpstr>
      <vt:lpstr>PowerPoint 演示文稿</vt:lpstr>
      <vt:lpstr>鲲鹏CPU示例程序</vt:lpstr>
      <vt:lpstr>PowerPoint 演示文稿</vt:lpstr>
      <vt:lpstr>本章知识点</vt:lpstr>
      <vt:lpstr>汇编语言与逆向技术 第8章 华为鲲鹏处理器汇编编程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汇编与逆向技术基础  第2章 IA-32处理器体系结构</dc:title>
  <dc:creator>zwang</dc:creator>
  <cp:lastModifiedBy>志 王</cp:lastModifiedBy>
  <cp:revision>664</cp:revision>
  <dcterms:created xsi:type="dcterms:W3CDTF">2020-03-01T14:18:02Z</dcterms:created>
  <dcterms:modified xsi:type="dcterms:W3CDTF">2025-11-10T09:19:25Z</dcterms:modified>
</cp:coreProperties>
</file>