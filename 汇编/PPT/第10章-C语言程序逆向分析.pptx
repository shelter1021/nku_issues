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5" r:id="rId1"/>
  </p:sldMasterIdLst>
  <p:notesMasterIdLst>
    <p:notesMasterId r:id="rId72"/>
  </p:notesMasterIdLst>
  <p:sldIdLst>
    <p:sldId id="785" r:id="rId2"/>
    <p:sldId id="356" r:id="rId3"/>
    <p:sldId id="374" r:id="rId4"/>
    <p:sldId id="692" r:id="rId5"/>
    <p:sldId id="648" r:id="rId6"/>
    <p:sldId id="649" r:id="rId7"/>
    <p:sldId id="650" r:id="rId8"/>
    <p:sldId id="651" r:id="rId9"/>
    <p:sldId id="652" r:id="rId10"/>
    <p:sldId id="627" r:id="rId11"/>
    <p:sldId id="387" r:id="rId12"/>
    <p:sldId id="693" r:id="rId13"/>
    <p:sldId id="628" r:id="rId14"/>
    <p:sldId id="654" r:id="rId15"/>
    <p:sldId id="788" r:id="rId16"/>
    <p:sldId id="655" r:id="rId17"/>
    <p:sldId id="661" r:id="rId18"/>
    <p:sldId id="662" r:id="rId19"/>
    <p:sldId id="629" r:id="rId20"/>
    <p:sldId id="657" r:id="rId21"/>
    <p:sldId id="658" r:id="rId22"/>
    <p:sldId id="634" r:id="rId23"/>
    <p:sldId id="656" r:id="rId24"/>
    <p:sldId id="630" r:id="rId25"/>
    <p:sldId id="659" r:id="rId26"/>
    <p:sldId id="694" r:id="rId27"/>
    <p:sldId id="695" r:id="rId28"/>
    <p:sldId id="690" r:id="rId29"/>
    <p:sldId id="696" r:id="rId30"/>
    <p:sldId id="388" r:id="rId31"/>
    <p:sldId id="615" r:id="rId32"/>
    <p:sldId id="328" r:id="rId33"/>
    <p:sldId id="321" r:id="rId34"/>
    <p:sldId id="789" r:id="rId35"/>
    <p:sldId id="616" r:id="rId36"/>
    <p:sldId id="790" r:id="rId37"/>
    <p:sldId id="618" r:id="rId38"/>
    <p:sldId id="660" r:id="rId39"/>
    <p:sldId id="635" r:id="rId40"/>
    <p:sldId id="636" r:id="rId41"/>
    <p:sldId id="637" r:id="rId42"/>
    <p:sldId id="638" r:id="rId43"/>
    <p:sldId id="639" r:id="rId44"/>
    <p:sldId id="664" r:id="rId45"/>
    <p:sldId id="665" r:id="rId46"/>
    <p:sldId id="373" r:id="rId47"/>
    <p:sldId id="376" r:id="rId48"/>
    <p:sldId id="377" r:id="rId49"/>
    <p:sldId id="378" r:id="rId50"/>
    <p:sldId id="379" r:id="rId51"/>
    <p:sldId id="380" r:id="rId52"/>
    <p:sldId id="666" r:id="rId53"/>
    <p:sldId id="667" r:id="rId54"/>
    <p:sldId id="668" r:id="rId55"/>
    <p:sldId id="669" r:id="rId56"/>
    <p:sldId id="672" r:id="rId57"/>
    <p:sldId id="673" r:id="rId58"/>
    <p:sldId id="675" r:id="rId59"/>
    <p:sldId id="674" r:id="rId60"/>
    <p:sldId id="676" r:id="rId61"/>
    <p:sldId id="677" r:id="rId62"/>
    <p:sldId id="678" r:id="rId63"/>
    <p:sldId id="679" r:id="rId64"/>
    <p:sldId id="680" r:id="rId65"/>
    <p:sldId id="681" r:id="rId66"/>
    <p:sldId id="682" r:id="rId67"/>
    <p:sldId id="683" r:id="rId68"/>
    <p:sldId id="684" r:id="rId69"/>
    <p:sldId id="691" r:id="rId70"/>
    <p:sldId id="792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80607" autoAdjust="0"/>
  </p:normalViewPr>
  <p:slideViewPr>
    <p:cSldViewPr snapToGrid="0" snapToObjects="1">
      <p:cViewPr varScale="1">
        <p:scale>
          <a:sx n="77" d="100"/>
          <a:sy n="77" d="100"/>
        </p:scale>
        <p:origin x="267" y="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12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48" d="100"/>
          <a:sy n="48" d="100"/>
        </p:scale>
        <p:origin x="2184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B8E9B-9938-FE4B-AE28-1C6AC5DA2731}" type="datetimeFigureOut">
              <a:rPr kumimoji="1" lang="zh-CN" altLang="en-US" smtClean="0"/>
              <a:t>2025/12/13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215D2-4FF9-AF41-91A8-41FD4B9A92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1771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96312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70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2535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558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fld id="{C764DE79-268F-4C1A-8933-263129D2AF90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651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371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979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351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>
            <a:grpSpLocks/>
          </p:cNvGrpSpPr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>
              <a:spLocks/>
            </p:cNvSpPr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>
              <a:spLocks/>
            </p:cNvSpPr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>
              <a:spLocks/>
            </p:cNvSpPr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>
              <a:spLocks/>
            </p:cNvSpPr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>
              <a:spLocks/>
            </p:cNvSpPr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>
              <a:spLocks/>
            </p:cNvSpPr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>
              <a:spLocks/>
            </p:cNvSpPr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>
              <a:spLocks/>
            </p:cNvSpPr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>
              <a:spLocks/>
            </p:cNvSpPr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>
              <a:spLocks/>
            </p:cNvSpPr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>
              <a:spLocks/>
            </p:cNvSpPr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>
              <a:spLocks/>
            </p:cNvSpPr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>
              <a:spLocks/>
            </p:cNvSpPr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>
              <a:spLocks/>
            </p:cNvSpPr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>
              <a:spLocks/>
            </p:cNvSpPr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>
              <a:spLocks/>
            </p:cNvSpPr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>
              <a:spLocks/>
            </p:cNvSpPr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>
              <a:spLocks/>
            </p:cNvSpPr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>
              <a:spLocks/>
            </p:cNvSpPr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>
              <a:spLocks/>
            </p:cNvSpPr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>
              <a:spLocks/>
            </p:cNvSpPr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>
              <a:spLocks/>
            </p:cNvSpPr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>
              <a:spLocks/>
            </p:cNvSpPr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>
              <a:spLocks/>
            </p:cNvSpPr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>
              <a:spLocks/>
            </p:cNvSpPr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>
              <a:spLocks/>
            </p:cNvSpPr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>
              <a:spLocks/>
            </p:cNvSpPr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>
              <a:spLocks/>
            </p:cNvSpPr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>
              <a:spLocks/>
            </p:cNvSpPr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>
              <a:spLocks/>
            </p:cNvSpPr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>
              <a:spLocks/>
            </p:cNvSpPr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>
              <a:spLocks/>
            </p:cNvSpPr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>
              <a:spLocks/>
            </p:cNvSpPr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>
              <a:spLocks/>
            </p:cNvSpPr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>
              <a:spLocks/>
            </p:cNvSpPr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>
              <a:spLocks/>
            </p:cNvSpPr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>
              <a:spLocks/>
            </p:cNvSpPr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>
              <a:spLocks/>
            </p:cNvSpPr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>
              <a:spLocks/>
            </p:cNvSpPr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>
              <a:spLocks/>
            </p:cNvSpPr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>
              <a:spLocks/>
            </p:cNvSpPr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>
              <a:spLocks/>
            </p:cNvSpPr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>
              <a:spLocks/>
            </p:cNvSpPr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>
              <a:spLocks/>
            </p:cNvSpPr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>
              <a:spLocks/>
            </p:cNvSpPr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>
              <a:spLocks/>
            </p:cNvSpPr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>
              <a:spLocks/>
            </p:cNvSpPr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>
              <a:spLocks/>
            </p:cNvSpPr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>
              <a:spLocks/>
            </p:cNvSpPr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>
              <a:spLocks/>
            </p:cNvSpPr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>
              <a:spLocks/>
            </p:cNvSpPr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>
              <a:spLocks/>
            </p:cNvSpPr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>
              <a:spLocks/>
            </p:cNvSpPr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>
              <a:spLocks/>
            </p:cNvSpPr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>
              <a:spLocks/>
            </p:cNvSpPr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>
              <a:spLocks/>
            </p:cNvSpPr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>
              <a:spLocks/>
            </p:cNvSpPr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>
              <a:spLocks/>
            </p:cNvSpPr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>
              <a:spLocks/>
            </p:cNvSpPr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>
              <a:spLocks/>
            </p:cNvSpPr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>
              <a:spLocks/>
            </p:cNvSpPr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>
              <a:spLocks/>
            </p:cNvSpPr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>
              <a:spLocks/>
            </p:cNvSpPr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>
              <a:spLocks/>
            </p:cNvSpPr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362975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>
            <a:grpSpLocks/>
          </p:cNvGrpSpPr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>
              <a:spLocks/>
            </p:cNvSpPr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>
              <a:spLocks/>
            </p:cNvSpPr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>
              <a:spLocks/>
            </p:cNvSpPr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>
              <a:spLocks/>
            </p:cNvSpPr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>
              <a:spLocks/>
            </p:cNvSpPr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>
              <a:spLocks/>
            </p:cNvSpPr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>
              <a:spLocks/>
            </p:cNvSpPr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>
              <a:spLocks/>
            </p:cNvSpPr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>
              <a:spLocks/>
            </p:cNvSpPr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>
              <a:spLocks/>
            </p:cNvSpPr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>
              <a:spLocks/>
            </p:cNvSpPr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>
              <a:spLocks/>
            </p:cNvSpPr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>
              <a:spLocks/>
            </p:cNvSpPr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>
              <a:spLocks/>
            </p:cNvSpPr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>
              <a:spLocks/>
            </p:cNvSpPr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>
              <a:spLocks/>
            </p:cNvSpPr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>
              <a:spLocks/>
            </p:cNvSpPr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>
              <a:spLocks/>
            </p:cNvSpPr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>
              <a:spLocks/>
            </p:cNvSpPr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>
              <a:spLocks/>
            </p:cNvSpPr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>
              <a:spLocks/>
            </p:cNvSpPr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>
              <a:spLocks/>
            </p:cNvSpPr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>
              <a:spLocks/>
            </p:cNvSpPr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>
              <a:spLocks/>
            </p:cNvSpPr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>
              <a:spLocks/>
            </p:cNvSpPr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>
              <a:spLocks/>
            </p:cNvSpPr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>
              <a:spLocks/>
            </p:cNvSpPr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>
              <a:spLocks/>
            </p:cNvSpPr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>
              <a:spLocks/>
            </p:cNvSpPr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>
              <a:spLocks/>
            </p:cNvSpPr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>
              <a:spLocks/>
            </p:cNvSpPr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>
              <a:spLocks/>
            </p:cNvSpPr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>
              <a:spLocks/>
            </p:cNvSpPr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>
              <a:spLocks/>
            </p:cNvSpPr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>
              <a:spLocks/>
            </p:cNvSpPr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>
              <a:spLocks/>
            </p:cNvSpPr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>
              <a:spLocks/>
            </p:cNvSpPr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>
              <a:spLocks/>
            </p:cNvSpPr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>
              <a:spLocks/>
            </p:cNvSpPr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>
              <a:spLocks/>
            </p:cNvSpPr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>
              <a:spLocks/>
            </p:cNvSpPr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>
              <a:spLocks/>
            </p:cNvSpPr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>
              <a:spLocks/>
            </p:cNvSpPr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>
              <a:spLocks/>
            </p:cNvSpPr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>
              <a:spLocks/>
            </p:cNvSpPr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>
              <a:spLocks/>
            </p:cNvSpPr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>
              <a:spLocks/>
            </p:cNvSpPr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>
              <a:spLocks/>
            </p:cNvSpPr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>
              <a:spLocks/>
            </p:cNvSpPr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>
              <a:spLocks/>
            </p:cNvSpPr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>
              <a:spLocks/>
            </p:cNvSpPr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>
              <a:spLocks/>
            </p:cNvSpPr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>
              <a:spLocks/>
            </p:cNvSpPr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>
              <a:spLocks/>
            </p:cNvSpPr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>
              <a:spLocks/>
            </p:cNvSpPr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>
              <a:spLocks/>
            </p:cNvSpPr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>
              <a:spLocks/>
            </p:cNvSpPr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>
              <a:spLocks/>
            </p:cNvSpPr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>
              <a:spLocks/>
            </p:cNvSpPr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>
              <a:spLocks/>
            </p:cNvSpPr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>
              <a:spLocks/>
            </p:cNvSpPr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>
              <a:spLocks/>
            </p:cNvSpPr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>
              <a:spLocks/>
            </p:cNvSpPr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>
              <a:spLocks/>
            </p:cNvSpPr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061066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3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>
            <a:grpSpLocks/>
          </p:cNvGrpSpPr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>
              <a:spLocks/>
            </p:cNvSpPr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>
              <a:spLocks/>
            </p:cNvSpPr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>
              <a:spLocks/>
            </p:cNvSpPr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>
              <a:spLocks/>
            </p:cNvSpPr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>
              <a:spLocks/>
            </p:cNvSpPr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>
              <a:spLocks/>
            </p:cNvSpPr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>
              <a:spLocks/>
            </p:cNvSpPr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>
              <a:spLocks/>
            </p:cNvSpPr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>
              <a:spLocks/>
            </p:cNvSpPr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>
              <a:spLocks/>
            </p:cNvSpPr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>
              <a:spLocks/>
            </p:cNvSpPr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>
              <a:spLocks/>
            </p:cNvSpPr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>
              <a:spLocks/>
            </p:cNvSpPr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>
              <a:spLocks/>
            </p:cNvSpPr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>
              <a:spLocks/>
            </p:cNvSpPr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>
              <a:spLocks/>
            </p:cNvSpPr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>
              <a:spLocks/>
            </p:cNvSpPr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>
              <a:spLocks/>
            </p:cNvSpPr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>
              <a:spLocks/>
            </p:cNvSpPr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>
              <a:spLocks/>
            </p:cNvSpPr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>
              <a:spLocks/>
            </p:cNvSpPr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>
              <a:spLocks/>
            </p:cNvSpPr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>
              <a:spLocks/>
            </p:cNvSpPr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>
              <a:spLocks/>
            </p:cNvSpPr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>
              <a:spLocks/>
            </p:cNvSpPr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>
              <a:spLocks/>
            </p:cNvSpPr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>
              <a:spLocks/>
            </p:cNvSpPr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>
              <a:spLocks/>
            </p:cNvSpPr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>
              <a:spLocks/>
            </p:cNvSpPr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>
              <a:spLocks/>
            </p:cNvSpPr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>
              <a:spLocks/>
            </p:cNvSpPr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>
              <a:spLocks/>
            </p:cNvSpPr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>
              <a:spLocks/>
            </p:cNvSpPr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>
              <a:spLocks/>
            </p:cNvSpPr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>
              <a:spLocks/>
            </p:cNvSpPr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>
              <a:spLocks/>
            </p:cNvSpPr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>
              <a:spLocks/>
            </p:cNvSpPr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>
              <a:spLocks/>
            </p:cNvSpPr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>
              <a:spLocks/>
            </p:cNvSpPr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>
              <a:spLocks/>
            </p:cNvSpPr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>
              <a:spLocks/>
            </p:cNvSpPr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>
              <a:spLocks/>
            </p:cNvSpPr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>
              <a:spLocks/>
            </p:cNvSpPr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>
              <a:spLocks/>
            </p:cNvSpPr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>
              <a:spLocks/>
            </p:cNvSpPr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>
              <a:spLocks/>
            </p:cNvSpPr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>
              <a:spLocks/>
            </p:cNvSpPr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>
              <a:spLocks/>
            </p:cNvSpPr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>
              <a:spLocks/>
            </p:cNvSpPr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>
              <a:spLocks/>
            </p:cNvSpPr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>
              <a:spLocks/>
            </p:cNvSpPr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>
              <a:spLocks/>
            </p:cNvSpPr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>
              <a:spLocks/>
            </p:cNvSpPr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>
              <a:spLocks/>
            </p:cNvSpPr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>
              <a:spLocks/>
            </p:cNvSpPr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>
              <a:spLocks/>
            </p:cNvSpPr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>
              <a:spLocks/>
            </p:cNvSpPr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>
              <a:spLocks/>
            </p:cNvSpPr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>
              <a:spLocks/>
            </p:cNvSpPr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>
              <a:spLocks/>
            </p:cNvSpPr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>
              <a:spLocks/>
            </p:cNvSpPr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>
              <a:spLocks/>
            </p:cNvSpPr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>
              <a:spLocks/>
            </p:cNvSpPr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>
              <a:spLocks/>
            </p:cNvSpPr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627714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C764DE79-268F-4C1A-8933-263129D2AF90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32" descr="7">
            <a:extLst>
              <a:ext uri="{FF2B5EF4-FFF2-40B4-BE49-F238E27FC236}">
                <a16:creationId xmlns:a16="http://schemas.microsoft.com/office/drawing/2014/main" id="{45EC0469-6790-451E-B201-C8367CAEA4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534" y="6165851"/>
            <a:ext cx="2785533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1" descr="6">
            <a:extLst>
              <a:ext uri="{FF2B5EF4-FFF2-40B4-BE49-F238E27FC236}">
                <a16:creationId xmlns:a16="http://schemas.microsoft.com/office/drawing/2014/main" id="{31CDA450-A5B8-4330-99E3-F9B6A772B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3695700" cy="90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6" descr="2">
            <a:extLst>
              <a:ext uri="{FF2B5EF4-FFF2-40B4-BE49-F238E27FC236}">
                <a16:creationId xmlns:a16="http://schemas.microsoft.com/office/drawing/2014/main" id="{B546B0F0-D40D-4BF2-9D82-6DCDE4268A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441326"/>
            <a:ext cx="4656667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4">
            <a:extLst>
              <a:ext uri="{FF2B5EF4-FFF2-40B4-BE49-F238E27FC236}">
                <a16:creationId xmlns:a16="http://schemas.microsoft.com/office/drawing/2014/main" id="{81FBDE5C-7887-4AA5-A708-FF2C1014AA7F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0" y="1"/>
            <a:ext cx="12192000" cy="1484313"/>
          </a:xfrm>
          <a:prstGeom prst="rect">
            <a:avLst/>
          </a:prstGeom>
          <a:gradFill rotWithShape="1">
            <a:gsLst>
              <a:gs pos="0">
                <a:srgbClr val="3366FF">
                  <a:alpha val="60001"/>
                </a:srgbClr>
              </a:gs>
              <a:gs pos="100000">
                <a:srgbClr val="FFFFFF">
                  <a:alpha val="7000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29" descr="artplus_nature_naturalcity42_f">
            <a:extLst>
              <a:ext uri="{FF2B5EF4-FFF2-40B4-BE49-F238E27FC236}">
                <a16:creationId xmlns:a16="http://schemas.microsoft.com/office/drawing/2014/main" id="{E2DE8516-21A4-469E-B6D9-28E869766E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417" y="6334126"/>
            <a:ext cx="1826683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28688"/>
            <a:ext cx="10515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01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34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6.tmp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image" Target="../media/image6.tmp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slideLayout" Target="../slideLayouts/slideLayout5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13" Type="http://schemas.openxmlformats.org/officeDocument/2006/relationships/image" Target="../media/image6.tmp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image" Target="../media/image12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30.xml"/><Relationship Id="rId10" Type="http://schemas.openxmlformats.org/officeDocument/2006/relationships/tags" Target="../tags/tag35.xml"/><Relationship Id="rId4" Type="http://schemas.openxmlformats.org/officeDocument/2006/relationships/tags" Target="../tags/tag29.xml"/><Relationship Id="rId9" Type="http://schemas.openxmlformats.org/officeDocument/2006/relationships/tags" Target="../tags/tag3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image" Target="../media/image15.png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image" Target="../media/image14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40.xml"/><Relationship Id="rId15" Type="http://schemas.openxmlformats.org/officeDocument/2006/relationships/image" Target="../media/image6.tmp"/><Relationship Id="rId10" Type="http://schemas.openxmlformats.org/officeDocument/2006/relationships/tags" Target="../tags/tag45.xml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18" Type="http://schemas.openxmlformats.org/officeDocument/2006/relationships/image" Target="../media/image6.tmp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slideLayout" Target="../slideLayouts/slideLayout5.xml"/><Relationship Id="rId2" Type="http://schemas.openxmlformats.org/officeDocument/2006/relationships/tags" Target="../tags/tag47.xml"/><Relationship Id="rId16" Type="http://schemas.openxmlformats.org/officeDocument/2006/relationships/tags" Target="../tags/tag61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tags" Target="../tags/tag60.xml"/><Relationship Id="rId10" Type="http://schemas.openxmlformats.org/officeDocument/2006/relationships/tags" Target="../tags/tag55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image" Target="../media/image6.tmp"/><Relationship Id="rId5" Type="http://schemas.openxmlformats.org/officeDocument/2006/relationships/tags" Target="../tags/tag66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65.xml"/><Relationship Id="rId9" Type="http://schemas.openxmlformats.org/officeDocument/2006/relationships/tags" Target="../tags/tag7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13" Type="http://schemas.openxmlformats.org/officeDocument/2006/relationships/tags" Target="../tags/tag83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tags" Target="../tags/tag82.xml"/><Relationship Id="rId2" Type="http://schemas.openxmlformats.org/officeDocument/2006/relationships/tags" Target="../tags/tag72.xml"/><Relationship Id="rId16" Type="http://schemas.openxmlformats.org/officeDocument/2006/relationships/image" Target="../media/image6.tmp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tags" Target="../tags/tag81.xml"/><Relationship Id="rId5" Type="http://schemas.openxmlformats.org/officeDocument/2006/relationships/tags" Target="../tags/tag75.xml"/><Relationship Id="rId15" Type="http://schemas.openxmlformats.org/officeDocument/2006/relationships/image" Target="../media/image29.png"/><Relationship Id="rId10" Type="http://schemas.openxmlformats.org/officeDocument/2006/relationships/tags" Target="../tags/tag80.xml"/><Relationship Id="rId4" Type="http://schemas.openxmlformats.org/officeDocument/2006/relationships/tags" Target="../tags/tag74.xml"/><Relationship Id="rId9" Type="http://schemas.openxmlformats.org/officeDocument/2006/relationships/tags" Target="../tags/tag79.xml"/><Relationship Id="rId14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13" Type="http://schemas.openxmlformats.org/officeDocument/2006/relationships/tags" Target="../tags/tag96.xml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12" Type="http://schemas.openxmlformats.org/officeDocument/2006/relationships/tags" Target="../tags/tag95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tags" Target="../tags/tag94.xml"/><Relationship Id="rId5" Type="http://schemas.openxmlformats.org/officeDocument/2006/relationships/tags" Target="../tags/tag88.xml"/><Relationship Id="rId15" Type="http://schemas.openxmlformats.org/officeDocument/2006/relationships/image" Target="../media/image6.tmp"/><Relationship Id="rId10" Type="http://schemas.openxmlformats.org/officeDocument/2006/relationships/tags" Target="../tags/tag93.xml"/><Relationship Id="rId4" Type="http://schemas.openxmlformats.org/officeDocument/2006/relationships/tags" Target="../tags/tag87.xml"/><Relationship Id="rId9" Type="http://schemas.openxmlformats.org/officeDocument/2006/relationships/tags" Target="../tags/tag92.xml"/><Relationship Id="rId14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82802"/>
            <a:ext cx="12192000" cy="140530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i="0" dirty="0">
                <a:solidFill>
                  <a:schemeClr val="tx1"/>
                </a:solidFill>
                <a:ea typeface="宋体" panose="02010600030101010101" pitchFamily="2" charset="-122"/>
              </a:rPr>
              <a:t>汇编语言与逆向技术</a:t>
            </a:r>
            <a:br>
              <a:rPr lang="en-US" i="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3600" b="1" dirty="0">
                <a:solidFill>
                  <a:srgbClr val="7030A0"/>
                </a:solidFill>
              </a:rPr>
              <a:t>第</a:t>
            </a:r>
            <a:r>
              <a:rPr lang="en-US" altLang="zh-CN" sz="3600" b="1" dirty="0">
                <a:solidFill>
                  <a:srgbClr val="7030A0"/>
                </a:solidFill>
              </a:rPr>
              <a:t>10</a:t>
            </a:r>
            <a:r>
              <a:rPr lang="zh-CN" altLang="en-US" sz="3600" b="1" dirty="0">
                <a:solidFill>
                  <a:srgbClr val="7030A0"/>
                </a:solidFill>
              </a:rPr>
              <a:t>章 </a:t>
            </a:r>
            <a:r>
              <a:rPr lang="en-US" altLang="zh-CN" sz="3600" b="1" dirty="0">
                <a:solidFill>
                  <a:srgbClr val="7030A0"/>
                </a:solidFill>
              </a:rPr>
              <a:t>C</a:t>
            </a:r>
            <a:r>
              <a:rPr lang="zh-CN" altLang="en-US" sz="3600" b="1" dirty="0">
                <a:solidFill>
                  <a:srgbClr val="7030A0"/>
                </a:solidFill>
              </a:rPr>
              <a:t>语言程序逆向分析</a:t>
            </a:r>
            <a:endParaRPr lang="en-US" sz="2800" b="1" dirty="0">
              <a:solidFill>
                <a:srgbClr val="7030A0"/>
              </a:solidFill>
              <a:ea typeface="宋体" panose="02010600030101010101" pitchFamily="2" charset="-122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3626471"/>
            <a:ext cx="12192000" cy="130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/>
            <a:r>
              <a:rPr lang="zh-CN" altLang="en-US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王志、李旭昇、过辰锴、邓琮弋</a:t>
            </a:r>
            <a:r>
              <a:rPr lang="en-US" altLang="zh-CN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ctr" defTabSz="914400"/>
            <a:r>
              <a:rPr lang="en-US" altLang="zh-CN" sz="24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zwang@nankai.edu.cn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0" y="5179843"/>
            <a:ext cx="12192000" cy="167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南开大学 网络空间安全学院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defTabSz="914400">
              <a:lnSpc>
                <a:spcPct val="150000"/>
              </a:lnSpc>
            </a:pPr>
            <a:r>
              <a:rPr lang="en-US" altLang="zh-CN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2025-2026</a:t>
            </a: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179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969D0-D159-47F9-957C-49963E18C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本章知识点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B8B89F-D60A-42C3-84D9-4CFC30452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5663" y="2008074"/>
            <a:ext cx="7940675" cy="4092575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cs typeface="Times New Roman" panose="02020603050405020304" pitchFamily="18" charset="0"/>
              </a:rPr>
              <a:t>识别函数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难点：参数、局部变量、栈指针、函数调用约定</a:t>
            </a:r>
            <a:endParaRPr lang="en-US" altLang="zh-CN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r>
              <a:rPr lang="zh-CN" altLang="en-US" dirty="0">
                <a:cs typeface="Times New Roman" panose="02020603050405020304" pitchFamily="18" charset="0"/>
              </a:rPr>
              <a:t>识别变量、数组、结构体</a:t>
            </a:r>
            <a:endParaRPr lang="en-US" altLang="zh-CN" dirty="0">
              <a:cs typeface="Times New Roman" panose="02020603050405020304" pitchFamily="18" charset="0"/>
            </a:endParaRPr>
          </a:p>
          <a:p>
            <a:r>
              <a:rPr lang="zh-CN" altLang="en-US" dirty="0">
                <a:cs typeface="Times New Roman" panose="02020603050405020304" pitchFamily="18" charset="0"/>
              </a:rPr>
              <a:t>识别</a:t>
            </a:r>
            <a:r>
              <a:rPr lang="en-US" altLang="zh-CN" dirty="0">
                <a:cs typeface="Times New Roman" panose="02020603050405020304" pitchFamily="18" charset="0"/>
              </a:rPr>
              <a:t>IF</a:t>
            </a:r>
            <a:r>
              <a:rPr lang="zh-CN" altLang="en-US" dirty="0">
                <a:cs typeface="Times New Roman" panose="02020603050405020304" pitchFamily="18" charset="0"/>
              </a:rPr>
              <a:t>分支结构</a:t>
            </a:r>
            <a:endParaRPr lang="en-US" altLang="zh-CN" dirty="0">
              <a:cs typeface="Times New Roman" panose="02020603050405020304" pitchFamily="18" charset="0"/>
            </a:endParaRPr>
          </a:p>
          <a:p>
            <a:r>
              <a:rPr lang="zh-CN" altLang="en-US" dirty="0">
                <a:cs typeface="Times New Roman" panose="02020603050405020304" pitchFamily="18" charset="0"/>
              </a:rPr>
              <a:t>识别</a:t>
            </a:r>
            <a:r>
              <a:rPr lang="en-US" altLang="zh-CN" dirty="0">
                <a:cs typeface="Times New Roman" panose="02020603050405020304" pitchFamily="18" charset="0"/>
              </a:rPr>
              <a:t>Switch</a:t>
            </a:r>
            <a:r>
              <a:rPr lang="zh-CN" altLang="en-US" dirty="0">
                <a:cs typeface="Times New Roman" panose="02020603050405020304" pitchFamily="18" charset="0"/>
              </a:rPr>
              <a:t>结构</a:t>
            </a:r>
            <a:endParaRPr lang="en-US" altLang="zh-CN" dirty="0">
              <a:cs typeface="Times New Roman" panose="02020603050405020304" pitchFamily="18" charset="0"/>
            </a:endParaRPr>
          </a:p>
          <a:p>
            <a:r>
              <a:rPr lang="zh-CN" altLang="en-US" dirty="0">
                <a:cs typeface="Times New Roman" panose="02020603050405020304" pitchFamily="18" charset="0"/>
              </a:rPr>
              <a:t>识别循环结构</a:t>
            </a:r>
            <a:endParaRPr lang="en-US" altLang="zh-CN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575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/>
              <a:t>识别函数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03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2C7D20A-6134-468C-AD9A-515BD13F3CA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Windows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将程序转载到内存之后，执行的第一条指令是不是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函数的指令？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B20820D-4B58-4D4F-AD54-D07B798C5B8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5F64ACC-389E-4BFF-9939-11E7005AE674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ED4AF811-283D-4599-9406-FAB7D0E39F3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E228DDF6-13A7-4388-99E8-252A4409572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76C21AC4-A65B-4AA0-AF04-4A7CC9A1AE31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F07FDF8C-EB16-432C-AAC2-D9D7CCB9C374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D39B6D99-FE38-4BB2-9281-980DD77CB302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86957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0C90C-505B-416F-B7EA-D774F575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启动函数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1316AF-021A-4755-BA9B-68E288F6B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kern="0" dirty="0">
                <a:latin typeface="宋体" panose="02010600030101010101" pitchFamily="2" charset="-122"/>
                <a:cs typeface="华文黑体" pitchFamily="2" charset="-122"/>
              </a:rPr>
              <a:t>在编写</a:t>
            </a:r>
            <a:r>
              <a:rPr lang="en-US" altLang="zh-CN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Win32</a:t>
            </a:r>
            <a:r>
              <a:rPr lang="zh-CN" altLang="en-US" sz="2800" kern="0" dirty="0">
                <a:latin typeface="宋体" panose="02010600030101010101" pitchFamily="2" charset="-122"/>
                <a:cs typeface="华文黑体" pitchFamily="2" charset="-122"/>
              </a:rPr>
              <a:t>应用程序时，在源码里都有一个</a:t>
            </a:r>
            <a:r>
              <a:rPr lang="en-US" altLang="zh-CN" sz="2800" dirty="0" err="1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WinMain</a:t>
            </a:r>
            <a:r>
              <a:rPr lang="zh-CN" altLang="en-US" sz="2800" kern="0" dirty="0">
                <a:latin typeface="宋体" panose="02010600030101010101" pitchFamily="2" charset="-122"/>
                <a:cs typeface="华文黑体" pitchFamily="2" charset="-122"/>
              </a:rPr>
              <a:t>函数。</a:t>
            </a:r>
          </a:p>
          <a:p>
            <a:r>
              <a:rPr lang="en-US" altLang="zh-CN" sz="2800" kern="0" dirty="0">
                <a:latin typeface="宋体" panose="02010600030101010101" pitchFamily="2" charset="-122"/>
                <a:cs typeface="Times New Roman" panose="02020603050405020304" pitchFamily="18" charset="0"/>
              </a:rPr>
              <a:t>Windows</a:t>
            </a:r>
            <a:r>
              <a:rPr lang="zh-CN" altLang="en-US" sz="2800" kern="0" dirty="0">
                <a:latin typeface="宋体" panose="02010600030101010101" pitchFamily="2" charset="-122"/>
                <a:cs typeface="华文黑体" pitchFamily="2" charset="-122"/>
              </a:rPr>
              <a:t>程序的执行并不是从</a:t>
            </a:r>
            <a:r>
              <a:rPr lang="en-US" altLang="zh-CN" sz="2800" kern="0" dirty="0" err="1">
                <a:latin typeface="宋体" panose="02010600030101010101" pitchFamily="2" charset="-122"/>
                <a:cs typeface="Times New Roman" panose="02020603050405020304" pitchFamily="18" charset="0"/>
              </a:rPr>
              <a:t>WinMain</a:t>
            </a:r>
            <a:r>
              <a:rPr lang="zh-CN" altLang="en-US" sz="2800" kern="0" dirty="0">
                <a:latin typeface="宋体" panose="02010600030101010101" pitchFamily="2" charset="-122"/>
                <a:cs typeface="华文黑体" pitchFamily="2" charset="-122"/>
              </a:rPr>
              <a:t>函数开始的，而是先执行</a:t>
            </a:r>
            <a:r>
              <a:rPr lang="zh-CN" altLang="en-US" sz="2800" kern="0" dirty="0">
                <a:solidFill>
                  <a:srgbClr val="FF0000"/>
                </a:solidFill>
                <a:latin typeface="宋体" panose="02010600030101010101" pitchFamily="2" charset="-122"/>
                <a:cs typeface="华文黑体" pitchFamily="2" charset="-122"/>
              </a:rPr>
              <a:t>启动函数</a:t>
            </a:r>
            <a:endParaRPr lang="en-US" altLang="zh-CN" sz="2800" kern="0" dirty="0">
              <a:solidFill>
                <a:srgbClr val="FF0000"/>
              </a:solidFill>
              <a:latin typeface="宋体" panose="02010600030101010101" pitchFamily="2" charset="-122"/>
              <a:cs typeface="华文黑体" pitchFamily="2" charset="-122"/>
            </a:endParaRPr>
          </a:p>
          <a:p>
            <a:pPr lvl="1">
              <a:defRPr/>
            </a:pPr>
            <a:r>
              <a:rPr lang="zh-CN" altLang="en-US" sz="2400" kern="0" dirty="0">
                <a:latin typeface="宋体" panose="02010600030101010101" pitchFamily="2" charset="-122"/>
                <a:cs typeface="华文黑体" pitchFamily="2" charset="-122"/>
              </a:rPr>
              <a:t>首先执行启动函数的代码，启动函数是</a:t>
            </a:r>
            <a:r>
              <a:rPr lang="zh-CN" altLang="en-US" sz="2400" kern="0" dirty="0">
                <a:solidFill>
                  <a:srgbClr val="FF0000"/>
                </a:solidFill>
                <a:latin typeface="宋体" panose="02010600030101010101" pitchFamily="2" charset="-122"/>
                <a:cs typeface="华文黑体" pitchFamily="2" charset="-122"/>
              </a:rPr>
              <a:t>编译器</a:t>
            </a:r>
            <a:r>
              <a:rPr lang="zh-CN" altLang="en-US" sz="2400" kern="0" dirty="0">
                <a:latin typeface="宋体" panose="02010600030101010101" pitchFamily="2" charset="-122"/>
                <a:cs typeface="华文黑体" pitchFamily="2" charset="-122"/>
              </a:rPr>
              <a:t>生成的</a:t>
            </a:r>
          </a:p>
          <a:p>
            <a:pPr lvl="1">
              <a:defRPr/>
            </a:pPr>
            <a:r>
              <a:rPr lang="zh-CN" altLang="en-US" sz="2400" kern="0" dirty="0">
                <a:latin typeface="宋体" panose="02010600030101010101" pitchFamily="2" charset="-122"/>
                <a:cs typeface="华文黑体" pitchFamily="2" charset="-122"/>
              </a:rPr>
              <a:t>启动函数初始化进程完成后，才会执行</a:t>
            </a:r>
            <a:r>
              <a:rPr lang="en-US" altLang="zh-CN" sz="2400" kern="0" dirty="0" err="1">
                <a:latin typeface="宋体" panose="02010600030101010101" pitchFamily="2" charset="-122"/>
                <a:cs typeface="Times New Roman" panose="02020603050405020304" pitchFamily="18" charset="0"/>
              </a:rPr>
              <a:t>WinMain</a:t>
            </a:r>
            <a:r>
              <a:rPr lang="zh-CN" altLang="en-US" sz="2400" kern="0" dirty="0">
                <a:latin typeface="宋体" panose="02010600030101010101" pitchFamily="2" charset="-122"/>
                <a:cs typeface="华文黑体" pitchFamily="2" charset="-122"/>
              </a:rPr>
              <a:t>函数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7303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9A4699-E2AB-4B6B-9557-93E22753D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启动函数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0179C5-8607-44C7-A264-427577009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cs typeface="Times New Roman" panose="02020603050405020304" pitchFamily="18" charset="0"/>
              </a:rPr>
              <a:t>C/C++</a:t>
            </a:r>
            <a:r>
              <a:rPr lang="zh-CN" altLang="en-US" dirty="0">
                <a:cs typeface="Times New Roman" panose="02020603050405020304" pitchFamily="18" charset="0"/>
              </a:rPr>
              <a:t>程序运行时，启动函数的作用基本相同</a:t>
            </a:r>
          </a:p>
          <a:p>
            <a:pPr lvl="1"/>
            <a:r>
              <a:rPr lang="zh-CN" altLang="en-US" dirty="0">
                <a:cs typeface="Times New Roman" panose="02020603050405020304" pitchFamily="18" charset="0"/>
              </a:rPr>
              <a:t>检索指向新进程的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命令行指针</a:t>
            </a:r>
          </a:p>
          <a:p>
            <a:pPr lvl="1"/>
            <a:r>
              <a:rPr lang="zh-CN" altLang="en-US" dirty="0">
                <a:cs typeface="Times New Roman" panose="02020603050405020304" pitchFamily="18" charset="0"/>
              </a:rPr>
              <a:t>检索指向新进程的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环境变量指针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全局变量</a:t>
            </a:r>
            <a:r>
              <a:rPr lang="zh-CN" altLang="en-US" dirty="0">
                <a:cs typeface="Times New Roman" panose="02020603050405020304" pitchFamily="18" charset="0"/>
              </a:rPr>
              <a:t>初始化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内存栈</a:t>
            </a:r>
            <a:r>
              <a:rPr lang="zh-CN" altLang="en-US" dirty="0">
                <a:cs typeface="Times New Roman" panose="02020603050405020304" pitchFamily="18" charset="0"/>
              </a:rPr>
              <a:t>初始化</a:t>
            </a:r>
          </a:p>
        </p:txBody>
      </p:sp>
    </p:spTree>
    <p:extLst>
      <p:ext uri="{BB962C8B-B14F-4D97-AF65-F5344CB8AC3E}">
        <p14:creationId xmlns:p14="http://schemas.microsoft.com/office/powerpoint/2010/main" val="2818812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51376-AC25-49D8-8095-9C602297E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启动函数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E46FF1-3D79-47D8-ABC1-BBD648268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cs typeface="Times New Roman" panose="02020603050405020304" pitchFamily="18" charset="0"/>
              </a:rPr>
              <a:t>当所有的初始化操作完成后，启动函数就会调用应用程序的进入点函数</a:t>
            </a:r>
            <a:r>
              <a:rPr lang="en-US" altLang="zh-CN" sz="2800" dirty="0">
                <a:cs typeface="Times New Roman" panose="02020603050405020304" pitchFamily="18" charset="0"/>
              </a:rPr>
              <a:t>(main</a:t>
            </a:r>
            <a:r>
              <a:rPr lang="zh-CN" altLang="en-US" sz="2800" dirty="0">
                <a:cs typeface="Times New Roman" panose="02020603050405020304" pitchFamily="18" charset="0"/>
              </a:rPr>
              <a:t>和</a:t>
            </a:r>
            <a:r>
              <a:rPr lang="en-US" altLang="zh-CN" sz="2800" dirty="0" err="1">
                <a:cs typeface="Times New Roman" panose="02020603050405020304" pitchFamily="18" charset="0"/>
              </a:rPr>
              <a:t>WinMain</a:t>
            </a:r>
            <a:r>
              <a:rPr lang="en-US" altLang="zh-CN" sz="2800" dirty="0">
                <a:cs typeface="Times New Roman" panose="02020603050405020304" pitchFamily="18" charset="0"/>
              </a:rPr>
              <a:t> )</a:t>
            </a:r>
            <a:r>
              <a:rPr lang="zh-CN" altLang="en-US" sz="2800" dirty="0">
                <a:cs typeface="Times New Roman" panose="02020603050405020304" pitchFamily="18" charset="0"/>
              </a:rPr>
              <a:t>。</a:t>
            </a:r>
          </a:p>
          <a:p>
            <a:r>
              <a:rPr lang="zh-CN" altLang="en-US" sz="2800" dirty="0">
                <a:cs typeface="Times New Roman" panose="02020603050405020304" pitchFamily="18" charset="0"/>
              </a:rPr>
              <a:t>调用</a:t>
            </a:r>
            <a:r>
              <a:rPr lang="en-US" altLang="zh-CN" sz="28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WinMain</a:t>
            </a:r>
            <a:r>
              <a:rPr lang="zh-CN" altLang="en-US" sz="2800" dirty="0">
                <a:cs typeface="Times New Roman" panose="02020603050405020304" pitchFamily="18" charset="0"/>
              </a:rPr>
              <a:t>函数的示例</a:t>
            </a:r>
          </a:p>
          <a:p>
            <a:endParaRPr lang="zh-CN" altLang="en-US" sz="2800" dirty="0"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7A7AD5-0379-416C-99EB-B27B5321E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095" y="4945891"/>
            <a:ext cx="8052045" cy="148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32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2132B1-5E42-4CD8-B015-65A39D75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启动函数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55E139-BFF9-ABAF-BF95-CDDAE520F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303" y="2079143"/>
            <a:ext cx="5273497" cy="2232853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F1F907C3-15DD-4783-9106-006FDE62710A}"/>
              </a:ext>
            </a:extLst>
          </p:cNvPr>
          <p:cNvSpPr/>
          <p:nvPr/>
        </p:nvSpPr>
        <p:spPr>
          <a:xfrm>
            <a:off x="7200589" y="3859706"/>
            <a:ext cx="1102936" cy="2681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5FCF55-FC9C-B434-7D6C-42F1B8F68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044" y="4700451"/>
            <a:ext cx="4671465" cy="73158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6CABF51-33A9-E3CF-B8DC-0AFABDAAA2A6}"/>
              </a:ext>
            </a:extLst>
          </p:cNvPr>
          <p:cNvSpPr txBox="1"/>
          <p:nvPr/>
        </p:nvSpPr>
        <p:spPr>
          <a:xfrm>
            <a:off x="1637211" y="2447108"/>
            <a:ext cx="38753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EXE</a:t>
            </a:r>
            <a:r>
              <a:rPr lang="zh-CN" altLang="en-US" sz="2400" dirty="0"/>
              <a:t>文件的入口点并不是</a:t>
            </a:r>
            <a:r>
              <a:rPr lang="en-US" altLang="zh-CN" sz="2400" dirty="0"/>
              <a:t>main</a:t>
            </a:r>
            <a:r>
              <a:rPr lang="zh-CN" altLang="en-US" sz="2400" dirty="0"/>
              <a:t>函数，而是一段启动函数代码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27622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5">
            <a:extLst>
              <a:ext uri="{FF2B5EF4-FFF2-40B4-BE49-F238E27FC236}">
                <a16:creationId xmlns:a16="http://schemas.microsoft.com/office/drawing/2014/main" id="{DB706AC7-2F71-4998-A36A-01A2239FE5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2410" y="1941335"/>
            <a:ext cx="5847179" cy="331060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F86FCEA-14E4-46CD-9D6B-4F3D4262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启动函数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A53C65B-83FA-42FB-88BF-E28A8F29394D}"/>
              </a:ext>
            </a:extLst>
          </p:cNvPr>
          <p:cNvSpPr/>
          <p:nvPr/>
        </p:nvSpPr>
        <p:spPr>
          <a:xfrm>
            <a:off x="4465970" y="3596636"/>
            <a:ext cx="1885361" cy="556182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585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770A67-9999-9BDD-DCB0-4EA1C36BE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783" y="3199165"/>
            <a:ext cx="6111770" cy="336833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56CED2C-701A-48F6-90A8-7BE84F2C8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0FFE89-9407-4406-B04B-E3760EA82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程序通过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CALL</a:t>
            </a:r>
            <a:r>
              <a:rPr lang="zh-CN" altLang="en-US" dirty="0">
                <a:cs typeface="Times New Roman" panose="02020603050405020304" pitchFamily="18" charset="0"/>
              </a:rPr>
              <a:t>指令来调用函数，在函数执行结束后，通过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RET</a:t>
            </a:r>
            <a:r>
              <a:rPr lang="zh-CN" altLang="en-US" dirty="0">
                <a:cs typeface="Times New Roman" panose="02020603050405020304" pitchFamily="18" charset="0"/>
              </a:rPr>
              <a:t>指令返回调用程序继续执行</a:t>
            </a:r>
            <a:endParaRPr lang="en-US" altLang="zh-CN" dirty="0">
              <a:cs typeface="Times New Roman" panose="02020603050405020304" pitchFamily="18" charset="0"/>
            </a:endParaRPr>
          </a:p>
          <a:p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878843-238A-4A21-8B0F-E04F785CD4F3}"/>
              </a:ext>
            </a:extLst>
          </p:cNvPr>
          <p:cNvSpPr/>
          <p:nvPr/>
        </p:nvSpPr>
        <p:spPr>
          <a:xfrm>
            <a:off x="5146764" y="6311900"/>
            <a:ext cx="1226921" cy="3660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151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C77527-9773-4332-8AB7-CFED4BD8D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83D75A-F0B2-470D-9C25-41002E09C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 函数定义</a:t>
            </a:r>
            <a:endParaRPr lang="en-US" altLang="zh-CN" dirty="0"/>
          </a:p>
          <a:p>
            <a:r>
              <a:rPr lang="en-US" altLang="zh-CN" dirty="0" err="1">
                <a:solidFill>
                  <a:srgbClr val="00B050"/>
                </a:solidFill>
              </a:rPr>
              <a:t>return_type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function_name</a:t>
            </a:r>
            <a:r>
              <a:rPr lang="en-US" altLang="zh-CN" dirty="0"/>
              <a:t>( </a:t>
            </a:r>
            <a:r>
              <a:rPr lang="en-US" altLang="zh-CN" dirty="0">
                <a:solidFill>
                  <a:srgbClr val="0070C0"/>
                </a:solidFill>
              </a:rPr>
              <a:t>parameter list </a:t>
            </a:r>
            <a:r>
              <a:rPr lang="en-US" altLang="zh-CN" dirty="0"/>
              <a:t>) {</a:t>
            </a:r>
          </a:p>
          <a:p>
            <a:pPr marL="800100" lvl="2" indent="0">
              <a:buNone/>
            </a:pPr>
            <a:r>
              <a:rPr lang="en-US" altLang="zh-CN" dirty="0"/>
              <a:t> </a:t>
            </a:r>
            <a:r>
              <a:rPr lang="en-US" altLang="zh-CN" sz="2800" dirty="0">
                <a:solidFill>
                  <a:srgbClr val="7030A0"/>
                </a:solidFill>
              </a:rPr>
              <a:t>body of the function </a:t>
            </a:r>
            <a:endParaRPr lang="en-US" altLang="zh-CN" dirty="0">
              <a:solidFill>
                <a:srgbClr val="7030A0"/>
              </a:solidFill>
            </a:endParaRPr>
          </a:p>
          <a:p>
            <a:pPr marL="40005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7900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2AF9CF6-4F66-4D54-86D8-580E7D387D2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32587" y="1480975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3200" dirty="0">
                <a:cs typeface="Times New Roman" panose="02020603050405020304" pitchFamily="18" charset="0"/>
              </a:rPr>
              <a:t>函数的</a:t>
            </a:r>
            <a:r>
              <a:rPr lang="zh-CN" altLang="en-US" sz="3200" dirty="0">
                <a:solidFill>
                  <a:srgbClr val="FF0000"/>
                </a:solidFill>
                <a:cs typeface="Times New Roman" panose="02020603050405020304" pitchFamily="18" charset="0"/>
              </a:rPr>
              <a:t>参数</a:t>
            </a:r>
            <a:r>
              <a:rPr lang="zh-CN" altLang="en-US" sz="3200" dirty="0">
                <a:cs typeface="Times New Roman" panose="02020603050405020304" pitchFamily="18" charset="0"/>
              </a:rPr>
              <a:t>如何传递、局部变量如何定义、函数如何返回</a:t>
            </a:r>
            <a:r>
              <a:rPr lang="en-US" altLang="zh-CN" sz="3200" dirty="0"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52C0AE3-A6E0-428A-B661-54698493B79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81CC42-2FA2-4FFF-A30B-A3695EDBA67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06FD9E8-43F6-4138-A5C5-15527BD0282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F5DCF-C9EC-4313-9025-DF64514DF35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2827000" y="1270000"/>
            <a:ext cx="3332480" cy="1015663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使用栈传递参数、存储局部变量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返回值通过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eax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寄存器返回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71C442A-A5A8-41C5-BEBD-D4C6D75C66CA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14" name="RemarkBack">
              <a:extLst>
                <a:ext uri="{FF2B5EF4-FFF2-40B4-BE49-F238E27FC236}">
                  <a16:creationId xmlns:a16="http://schemas.microsoft.com/office/drawing/2014/main" id="{15048CED-95B5-4448-9E95-914C90C4412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Block">
              <a:extLst>
                <a:ext uri="{FF2B5EF4-FFF2-40B4-BE49-F238E27FC236}">
                  <a16:creationId xmlns:a16="http://schemas.microsoft.com/office/drawing/2014/main" id="{E371594C-CC5F-49D2-988D-48246F65740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RemarkTitleText">
              <a:extLst>
                <a:ext uri="{FF2B5EF4-FFF2-40B4-BE49-F238E27FC236}">
                  <a16:creationId xmlns:a16="http://schemas.microsoft.com/office/drawing/2014/main" id="{243972C0-D7D4-4DEF-B518-4F69590C983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03F380D-F824-4C2B-860C-090B8029C842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A9869AB5-DE6A-4BA9-B32B-FA8ED9D2F3C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FBDD0E1B-547B-4439-8941-A5509A967EEB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76E29463-48AB-4B24-BDD7-013497338AEB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1B18C0F9-6B1C-453A-A985-3AD1CDF185D0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AB7F2FD7-2E65-49B3-8EDB-6F4F32AC42F5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83374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61C0C65-CD37-E0A1-C2DF-A26EE37C3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587" y="5337283"/>
            <a:ext cx="6414201" cy="1549551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16ED194-98DC-4D77-B656-C32594E5D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146"/>
            <a:ext cx="10515600" cy="7620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Call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C6B383-B8FE-40AD-9A38-E4865885C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421"/>
            <a:ext cx="10515600" cy="4351338"/>
          </a:xfrm>
        </p:spPr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函数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调用</a:t>
            </a:r>
            <a:r>
              <a:rPr lang="zh-CN" altLang="en-US" dirty="0">
                <a:cs typeface="Times New Roman" panose="02020603050405020304" pitchFamily="18" charset="0"/>
              </a:rPr>
              <a:t>使用</a:t>
            </a:r>
            <a:r>
              <a:rPr lang="en-US" altLang="zh-CN" dirty="0">
                <a:cs typeface="Times New Roman" panose="02020603050405020304" pitchFamily="18" charset="0"/>
              </a:rPr>
              <a:t>Call</a:t>
            </a:r>
            <a:r>
              <a:rPr lang="zh-CN" altLang="en-US" dirty="0">
                <a:cs typeface="Times New Roman" panose="02020603050405020304" pitchFamily="18" charset="0"/>
              </a:rPr>
              <a:t>指令</a:t>
            </a:r>
            <a:endParaRPr lang="en-US" altLang="zh-CN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常见的</a:t>
            </a:r>
            <a:r>
              <a:rPr lang="en-US" altLang="zh-CN" dirty="0">
                <a:cs typeface="Times New Roman" panose="02020603050405020304" pitchFamily="18" charset="0"/>
              </a:rPr>
              <a:t>Call</a:t>
            </a:r>
            <a:r>
              <a:rPr lang="zh-CN" altLang="en-US" dirty="0">
                <a:cs typeface="Times New Roman" panose="02020603050405020304" pitchFamily="18" charset="0"/>
              </a:rPr>
              <a:t>指令的操作码是</a:t>
            </a:r>
            <a:r>
              <a:rPr lang="en-US" altLang="zh-CN" dirty="0">
                <a:cs typeface="Times New Roman" panose="02020603050405020304" pitchFamily="18" charset="0"/>
              </a:rPr>
              <a:t>E8</a:t>
            </a:r>
            <a:r>
              <a:rPr lang="zh-CN" altLang="en-US" dirty="0">
                <a:cs typeface="Times New Roman" panose="02020603050405020304" pitchFamily="18" charset="0"/>
              </a:rPr>
              <a:t>，操作数是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32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位有符号</a:t>
            </a:r>
            <a:r>
              <a:rPr lang="zh-CN" altLang="en-US" dirty="0">
                <a:cs typeface="Times New Roman" panose="02020603050405020304" pitchFamily="18" charset="0"/>
              </a:rPr>
              <a:t>的相对位移，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相对于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EIP</a:t>
            </a:r>
            <a:r>
              <a:rPr lang="zh-CN" altLang="en-US" dirty="0"/>
              <a:t>寄存器的值</a:t>
            </a:r>
            <a:r>
              <a:rPr lang="zh-CN" altLang="en-US" sz="2400" dirty="0"/>
              <a:t>（</a:t>
            </a:r>
            <a:r>
              <a:rPr lang="en-US" altLang="zh-CN" sz="2400" dirty="0"/>
              <a:t>a signed displacement relative to the current value of the instruction pointer in the EIP register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dirty="0">
                <a:cs typeface="Times New Roman" panose="02020603050405020304" pitchFamily="18" charset="0"/>
              </a:rPr>
              <a:t>Call</a:t>
            </a:r>
            <a:r>
              <a:rPr lang="zh-CN" altLang="en-US" dirty="0">
                <a:cs typeface="Times New Roman" panose="02020603050405020304" pitchFamily="18" charset="0"/>
              </a:rPr>
              <a:t>指令的地址是</a:t>
            </a:r>
            <a:r>
              <a:rPr lang="en-US" altLang="zh-CN" dirty="0">
                <a:solidFill>
                  <a:schemeClr val="accent1"/>
                </a:solidFill>
                <a:cs typeface="Times New Roman" panose="02020603050405020304" pitchFamily="18" charset="0"/>
              </a:rPr>
              <a:t>opcode + EIP 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B1F9566-1535-43C9-97B2-C09CCEBC04FE}"/>
              </a:ext>
            </a:extLst>
          </p:cNvPr>
          <p:cNvSpPr/>
          <p:nvPr/>
        </p:nvSpPr>
        <p:spPr>
          <a:xfrm>
            <a:off x="6498969" y="6195309"/>
            <a:ext cx="1419497" cy="3570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3131784-4291-4A9C-BDF5-4325806A3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12" y="5325149"/>
            <a:ext cx="5550714" cy="1384218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10" name="椭圆 9">
            <a:extLst>
              <a:ext uri="{FF2B5EF4-FFF2-40B4-BE49-F238E27FC236}">
                <a16:creationId xmlns:a16="http://schemas.microsoft.com/office/drawing/2014/main" id="{97F916AA-619E-45CE-A1D4-B7F7519774E4}"/>
              </a:ext>
            </a:extLst>
          </p:cNvPr>
          <p:cNvSpPr/>
          <p:nvPr/>
        </p:nvSpPr>
        <p:spPr>
          <a:xfrm>
            <a:off x="1008413" y="5654020"/>
            <a:ext cx="1117271" cy="1635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841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1B0837D-2880-4794-8B5B-9BE36792693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24000" y="635001"/>
            <a:ext cx="9118600" cy="3591121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如下图所示，指令“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call j__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scanf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”的二进制编码是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e8 87 fb ff 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ff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，该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call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指令所在的内存地址是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00401492h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，则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j__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scanf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函数的入口地址是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1]. </a:t>
            </a:r>
            <a:endParaRPr lang="en-US" altLang="zh-CN" sz="2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注意：内存地址的书写格式，例如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0040101Eh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，可以写成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0040101E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0040101eh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0040101e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，都是正确的。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32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位的内存地址要保证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8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个有效字符，字符之间不加空格。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F277FD6-6418-4A96-874F-EA8B8EE0825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A96440-5D97-4ECE-A36E-490612EBDB2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以上版本雨课堂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5282D7-E5B6-A1CF-DBDA-5D7BEC8A896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93291" y="3994581"/>
            <a:ext cx="7205418" cy="1740694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BB4E6E6B-8446-4683-80BD-A6C850DA155D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BFDEF0DB-EE15-4246-B81D-4BB66D65C81D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EFE8238C-8D02-4D99-8B33-4F59FAA9756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343E1C73-981F-4BD7-984E-F70DCA2E52BA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3CC5AE66-6F03-49C8-BD1D-D307DEFCE420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2DFF1DC-09E0-4E39-87A4-1B30CA2F6344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85824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4D0C37-9D87-4216-8CB3-DFAFE5DA0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Call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C2327D-3B95-48D3-8602-7E2549EC5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call</a:t>
            </a:r>
            <a:r>
              <a:rPr lang="zh-CN" altLang="en-US" dirty="0"/>
              <a:t>指令的内存</a:t>
            </a:r>
            <a:r>
              <a:rPr lang="en-US" altLang="zh-CN" dirty="0"/>
              <a:t>00401492h</a:t>
            </a:r>
          </a:p>
          <a:p>
            <a:r>
              <a:rPr lang="zh-CN" altLang="en-US" dirty="0"/>
              <a:t>下一条指令的地址是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00401492h+5 = 00401497h</a:t>
            </a:r>
          </a:p>
          <a:p>
            <a:r>
              <a:rPr lang="en-US" altLang="zh-CN" dirty="0">
                <a:solidFill>
                  <a:srgbClr val="000000"/>
                </a:solidFill>
                <a:sym typeface="Microsoft Yahei" panose="020B0503020204020204" pitchFamily="34" charset="-122"/>
              </a:rPr>
              <a:t>call</a:t>
            </a:r>
            <a:r>
              <a:rPr lang="zh-CN" altLang="en-US" dirty="0">
                <a:solidFill>
                  <a:srgbClr val="000000"/>
                </a:solidFill>
                <a:sym typeface="Microsoft Yahei" panose="020B0503020204020204" pitchFamily="34" charset="-122"/>
              </a:rPr>
              <a:t>指令的操作数是一个有符号相对位移值</a:t>
            </a:r>
            <a:r>
              <a:rPr lang="en-US" altLang="zh-CN" dirty="0">
                <a:solidFill>
                  <a:srgbClr val="000000"/>
                </a:solidFill>
                <a:sym typeface="Microsoft Yahei" panose="020B0503020204020204" pitchFamily="34" charset="-122"/>
              </a:rPr>
              <a:t>0fffffb87h</a:t>
            </a:r>
            <a:r>
              <a:rPr lang="zh-CN" altLang="en-US" dirty="0">
                <a:solidFill>
                  <a:srgbClr val="FF0000"/>
                </a:solidFill>
                <a:sym typeface="Microsoft Yahei" panose="020B0503020204020204" pitchFamily="34" charset="-122"/>
              </a:rPr>
              <a:t>（符号位）</a:t>
            </a:r>
            <a:endParaRPr lang="en-US" altLang="zh-CN" dirty="0">
              <a:solidFill>
                <a:srgbClr val="FF0000"/>
              </a:solidFill>
              <a:sym typeface="Microsoft Yahei" panose="020B0503020204020204" pitchFamily="34" charset="-122"/>
            </a:endParaRPr>
          </a:p>
          <a:p>
            <a:r>
              <a:rPr lang="en-US" altLang="zh-CN" dirty="0" err="1">
                <a:solidFill>
                  <a:srgbClr val="000000"/>
                </a:solidFill>
                <a:sym typeface="Microsoft Yahei" panose="020B0503020204020204" pitchFamily="34" charset="-122"/>
              </a:rPr>
              <a:t>j_scan</a:t>
            </a:r>
            <a:r>
              <a:rPr lang="zh-CN" altLang="en-US" dirty="0">
                <a:solidFill>
                  <a:srgbClr val="000000"/>
                </a:solidFill>
                <a:sym typeface="Microsoft Yahei" panose="020B0503020204020204" pitchFamily="34" charset="-122"/>
              </a:rPr>
              <a:t>函数的入口地址是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00401497h + </a:t>
            </a:r>
            <a:r>
              <a:rPr lang="en-US" altLang="zh-CN" dirty="0">
                <a:solidFill>
                  <a:srgbClr val="000000"/>
                </a:solidFill>
                <a:sym typeface="Microsoft Yahei" panose="020B0503020204020204" pitchFamily="34" charset="-122"/>
              </a:rPr>
              <a:t>0fffffb87h = 1</a:t>
            </a:r>
            <a:r>
              <a:rPr lang="en-US" altLang="zh-CN" dirty="0">
                <a:solidFill>
                  <a:srgbClr val="FF0000"/>
                </a:solidFill>
                <a:sym typeface="Microsoft Yahei" panose="020B0503020204020204" pitchFamily="34" charset="-122"/>
              </a:rPr>
              <a:t>0040101E</a:t>
            </a:r>
            <a:r>
              <a:rPr lang="en-US" altLang="zh-CN" dirty="0">
                <a:solidFill>
                  <a:srgbClr val="000000"/>
                </a:solidFill>
                <a:sym typeface="Microsoft Yahei" panose="020B0503020204020204" pitchFamily="34" charset="-122"/>
              </a:rPr>
              <a:t>h</a:t>
            </a:r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67900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E93C2F-C02F-4E6A-B636-475CE4FA1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241EBB-BC6A-4A05-AE59-CC9FE3B01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zh-CN" altLang="en-US" sz="2400" kern="0" dirty="0">
                <a:cs typeface="Times New Roman" panose="02020603050405020304" pitchFamily="18" charset="0"/>
              </a:rPr>
              <a:t>栈是一种</a:t>
            </a:r>
            <a:r>
              <a:rPr lang="zh-CN" altLang="en-US" sz="2400" kern="0" dirty="0">
                <a:solidFill>
                  <a:srgbClr val="FF0000"/>
                </a:solidFill>
                <a:cs typeface="Times New Roman" panose="02020603050405020304" pitchFamily="18" charset="0"/>
              </a:rPr>
              <a:t>后入先出</a:t>
            </a:r>
            <a:r>
              <a:rPr lang="zh-CN" altLang="en-US" sz="2400" kern="0" dirty="0">
                <a:cs typeface="Times New Roman" panose="02020603050405020304" pitchFamily="18" charset="0"/>
              </a:rPr>
              <a:t>的数据存储结构</a:t>
            </a:r>
          </a:p>
          <a:p>
            <a:pPr lvl="0">
              <a:defRPr/>
            </a:pPr>
            <a:r>
              <a:rPr lang="zh-CN" altLang="en-US" sz="2400" kern="0" dirty="0">
                <a:cs typeface="Times New Roman" panose="02020603050405020304" pitchFamily="18" charset="0"/>
              </a:rPr>
              <a:t>函数的</a:t>
            </a:r>
            <a:r>
              <a:rPr lang="zh-CN" altLang="en-US" sz="2400" kern="0" dirty="0">
                <a:solidFill>
                  <a:srgbClr val="FF0000"/>
                </a:solidFill>
                <a:cs typeface="Times New Roman" panose="02020603050405020304" pitchFamily="18" charset="0"/>
              </a:rPr>
              <a:t>参数</a:t>
            </a:r>
            <a:r>
              <a:rPr lang="zh-CN" altLang="en-US" sz="2400" kern="0" dirty="0">
                <a:cs typeface="Times New Roman" panose="02020603050405020304" pitchFamily="18" charset="0"/>
              </a:rPr>
              <a:t>、</a:t>
            </a:r>
            <a:r>
              <a:rPr lang="zh-CN" altLang="en-US" sz="2400" kern="0" dirty="0">
                <a:solidFill>
                  <a:srgbClr val="FF0000"/>
                </a:solidFill>
                <a:cs typeface="Times New Roman" panose="02020603050405020304" pitchFamily="18" charset="0"/>
              </a:rPr>
              <a:t>局部变量</a:t>
            </a:r>
            <a:r>
              <a:rPr lang="zh-CN" altLang="en-US" sz="2400" kern="0" dirty="0">
                <a:cs typeface="Times New Roman" panose="02020603050405020304" pitchFamily="18" charset="0"/>
              </a:rPr>
              <a:t>、</a:t>
            </a:r>
            <a:r>
              <a:rPr lang="zh-CN" altLang="en-US" sz="2400" kern="0" dirty="0">
                <a:solidFill>
                  <a:srgbClr val="FF0000"/>
                </a:solidFill>
                <a:cs typeface="Times New Roman" panose="02020603050405020304" pitchFamily="18" charset="0"/>
              </a:rPr>
              <a:t>返回地址</a:t>
            </a:r>
            <a:r>
              <a:rPr lang="zh-CN" altLang="en-US" sz="2400" kern="0" dirty="0">
                <a:cs typeface="Times New Roman" panose="02020603050405020304" pitchFamily="18" charset="0"/>
              </a:rPr>
              <a:t>等被存储在栈中</a:t>
            </a:r>
          </a:p>
          <a:p>
            <a:pPr lvl="0">
              <a:defRPr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ESP</a:t>
            </a:r>
            <a:r>
              <a:rPr lang="en-US" altLang="zh-CN" sz="2400" dirty="0">
                <a:cs typeface="Times New Roman" panose="02020603050405020304" pitchFamily="18" charset="0"/>
              </a:rPr>
              <a:t> (Extended Stack Pointer) </a:t>
            </a:r>
            <a:r>
              <a:rPr lang="zh-CN" altLang="en-US" sz="2400" kern="0" dirty="0">
                <a:cs typeface="Times New Roman" panose="02020603050405020304" pitchFamily="18" charset="0"/>
              </a:rPr>
              <a:t>存储栈顶的内存地址，栈指针</a:t>
            </a:r>
          </a:p>
          <a:p>
            <a:pPr lvl="0">
              <a:defRPr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EBP</a:t>
            </a:r>
            <a:r>
              <a:rPr lang="en-US" altLang="zh-CN" sz="2400" dirty="0">
                <a:cs typeface="Times New Roman" panose="02020603050405020304" pitchFamily="18" charset="0"/>
              </a:rPr>
              <a:t> (Extended Base Pointer) </a:t>
            </a:r>
            <a:r>
              <a:rPr lang="zh-CN" altLang="en-US" sz="2400" kern="0" dirty="0">
                <a:cs typeface="Times New Roman" panose="02020603050405020304" pitchFamily="18" charset="0"/>
              </a:rPr>
              <a:t>存储栈底的内存地址，帧指针</a:t>
            </a:r>
          </a:p>
          <a:p>
            <a:pPr lvl="0">
              <a:defRPr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PUSH</a:t>
            </a:r>
            <a:r>
              <a:rPr lang="zh-CN" altLang="en-US" sz="2400" kern="0" dirty="0">
                <a:cs typeface="Times New Roman" panose="02020603050405020304" pitchFamily="18" charset="0"/>
              </a:rPr>
              <a:t>指令将数据压入栈顶</a:t>
            </a:r>
          </a:p>
          <a:p>
            <a:pPr lvl="0">
              <a:defRPr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POP</a:t>
            </a:r>
            <a:r>
              <a:rPr lang="zh-CN" altLang="en-US" sz="2400" kern="0" dirty="0">
                <a:cs typeface="Times New Roman" panose="02020603050405020304" pitchFamily="18" charset="0"/>
              </a:rPr>
              <a:t>指令从栈顶取出数据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873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ED31E7F-B920-46EC-8E9C-925CB541BD0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778000" y="635000"/>
            <a:ext cx="8762999" cy="300767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如下图所示，指令“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Push 30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”执行之前，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ESP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的值是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0019FA80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。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Push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指令执行之后，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ESP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的值是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。</a:t>
            </a:r>
            <a:endParaRPr lang="en-US" altLang="zh-CN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注意：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32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位的内存地址要保证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8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个有效字符，字符之间不加空格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C585321-C5DE-4CCA-AB5D-E73FB20582D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D6F6C27-D375-49C3-884B-17E2A20D273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0F60AF-1B17-84BB-6023-7624FA003828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9493" r="24423"/>
          <a:stretch/>
        </p:blipFill>
        <p:spPr>
          <a:xfrm>
            <a:off x="1300346" y="3398221"/>
            <a:ext cx="5023117" cy="15018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009CF2-CD2A-99E1-A271-05845EE1262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2434" y="3412043"/>
            <a:ext cx="1457954" cy="14351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86437C1-DA0D-6093-FE02-C4F9ABB6B55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9215" y="3412043"/>
            <a:ext cx="2784480" cy="1435172"/>
          </a:xfrm>
          <a:prstGeom prst="rect">
            <a:avLst/>
          </a:prstGeom>
        </p:spPr>
      </p:pic>
      <p:sp>
        <p:nvSpPr>
          <p:cNvPr id="19" name="椭圆 2">
            <a:extLst>
              <a:ext uri="{FF2B5EF4-FFF2-40B4-BE49-F238E27FC236}">
                <a16:creationId xmlns:a16="http://schemas.microsoft.com/office/drawing/2014/main" id="{177B88AC-0C59-E8D5-8C3C-232CDFD6D616}"/>
              </a:ext>
            </a:extLst>
          </p:cNvPr>
          <p:cNvSpPr/>
          <p:nvPr/>
        </p:nvSpPr>
        <p:spPr>
          <a:xfrm flipV="1">
            <a:off x="6480303" y="4260259"/>
            <a:ext cx="712977" cy="1927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2">
            <a:extLst>
              <a:ext uri="{FF2B5EF4-FFF2-40B4-BE49-F238E27FC236}">
                <a16:creationId xmlns:a16="http://schemas.microsoft.com/office/drawing/2014/main" id="{D20118D8-EC2E-CEAE-20D0-0E5167D0F3A2}"/>
              </a:ext>
            </a:extLst>
          </p:cNvPr>
          <p:cNvSpPr/>
          <p:nvPr/>
        </p:nvSpPr>
        <p:spPr>
          <a:xfrm>
            <a:off x="8219937" y="3303046"/>
            <a:ext cx="1036731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1401AC9-5A9A-4885-9AAC-915C1622BAF4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B8372425-2EFD-41AF-BF34-895E1189C97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9DEB9B78-66BB-46AB-84FB-36E724B7F913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1881F1DC-E579-44E8-BFB5-01265EC05793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2B7E8BF6-2D73-497C-8A24-E43580B8E3BF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1096A5C1-BF79-4761-B10C-66F6109526CB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10865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C8E7850-16D4-DA2C-FD9F-FA41095DA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146" y="1520328"/>
            <a:ext cx="6107489" cy="12790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CFA7F7-6731-82ED-40FE-0A96B66D0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146" y="3177132"/>
            <a:ext cx="2389455" cy="23894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112FF9-3E0E-0618-03BE-470872046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565" y="3234105"/>
            <a:ext cx="2811790" cy="1943226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57C55C09-A706-47A5-A7A8-726558B2E072}"/>
              </a:ext>
            </a:extLst>
          </p:cNvPr>
          <p:cNvSpPr/>
          <p:nvPr/>
        </p:nvSpPr>
        <p:spPr>
          <a:xfrm>
            <a:off x="2981478" y="4698144"/>
            <a:ext cx="846385" cy="30928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906DCDC-94E1-4B31-BA1A-143698E40899}"/>
              </a:ext>
            </a:extLst>
          </p:cNvPr>
          <p:cNvSpPr/>
          <p:nvPr/>
        </p:nvSpPr>
        <p:spPr>
          <a:xfrm>
            <a:off x="6761400" y="3177132"/>
            <a:ext cx="1415950" cy="36504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991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66A9D-803E-4647-8274-3141F9730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函数的调用过程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8D669F-056D-4315-BD0B-10D72A040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775007"/>
            <a:ext cx="7940675" cy="4092575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cs typeface="Times New Roman" panose="02020603050405020304" pitchFamily="18" charset="0"/>
              </a:rPr>
              <a:t>1</a:t>
            </a:r>
            <a:r>
              <a:rPr lang="zh-CN" altLang="en-US" dirty="0">
                <a:cs typeface="Times New Roman" panose="02020603050405020304" pitchFamily="18" charset="0"/>
              </a:rPr>
              <a:t>）传参：使用</a:t>
            </a:r>
            <a:r>
              <a:rPr lang="en-US" altLang="zh-CN" dirty="0">
                <a:cs typeface="Times New Roman" panose="02020603050405020304" pitchFamily="18" charset="0"/>
              </a:rPr>
              <a:t>push</a:t>
            </a:r>
            <a:r>
              <a:rPr lang="zh-CN" altLang="en-US" dirty="0">
                <a:cs typeface="Times New Roman" panose="02020603050405020304" pitchFamily="18" charset="0"/>
              </a:rPr>
              <a:t>指令将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参数</a:t>
            </a:r>
            <a:r>
              <a:rPr lang="zh-CN" altLang="en-US" dirty="0">
                <a:cs typeface="Times New Roman" panose="02020603050405020304" pitchFamily="18" charset="0"/>
              </a:rPr>
              <a:t>压入栈中。</a:t>
            </a:r>
          </a:p>
          <a:p>
            <a:r>
              <a:rPr lang="zh-CN" altLang="en-US" dirty="0"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cs typeface="Times New Roman" panose="02020603050405020304" pitchFamily="18" charset="0"/>
              </a:rPr>
              <a:t>2</a:t>
            </a:r>
            <a:r>
              <a:rPr lang="zh-CN" altLang="en-US" dirty="0">
                <a:cs typeface="Times New Roman" panose="02020603050405020304" pitchFamily="18" charset="0"/>
              </a:rPr>
              <a:t>）保存返回值：</a:t>
            </a:r>
            <a:r>
              <a:rPr lang="en-US" altLang="zh-CN" dirty="0">
                <a:cs typeface="Times New Roman" panose="02020603050405020304" pitchFamily="18" charset="0"/>
              </a:rPr>
              <a:t>call </a:t>
            </a:r>
            <a:r>
              <a:rPr lang="en-US" altLang="zh-CN" dirty="0" err="1">
                <a:cs typeface="Times New Roman" panose="02020603050405020304" pitchFamily="18" charset="0"/>
              </a:rPr>
              <a:t>memory_location</a:t>
            </a:r>
            <a:r>
              <a:rPr lang="en-US" altLang="zh-CN" dirty="0"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call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的返回地址压入栈中</a:t>
            </a:r>
            <a:endParaRPr lang="en-US" altLang="zh-CN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修改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EIP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的值</a:t>
            </a:r>
            <a:endParaRPr lang="en-US" altLang="zh-CN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r>
              <a:rPr lang="zh-CN" altLang="en-US" dirty="0">
                <a:cs typeface="Times New Roman" panose="02020603050405020304" pitchFamily="18" charset="0"/>
              </a:rPr>
              <a:t>（</a:t>
            </a:r>
            <a:r>
              <a:rPr lang="en-US" altLang="zh-CN" dirty="0"/>
              <a:t>3</a:t>
            </a:r>
            <a:r>
              <a:rPr lang="zh-CN" altLang="en-US" dirty="0"/>
              <a:t>）保存栈帧：</a:t>
            </a:r>
            <a:r>
              <a:rPr lang="en-US" altLang="zh-CN" dirty="0">
                <a:cs typeface="Times New Roman" panose="02020603050405020304" pitchFamily="18" charset="0"/>
              </a:rPr>
              <a:t>push </a:t>
            </a:r>
            <a:r>
              <a:rPr lang="en-US" altLang="zh-CN" dirty="0" err="1">
                <a:cs typeface="Times New Roman" panose="02020603050405020304" pitchFamily="18" charset="0"/>
              </a:rPr>
              <a:t>ebp</a:t>
            </a:r>
            <a:r>
              <a:rPr lang="zh-CN" altLang="en-US" dirty="0"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cs typeface="Times New Roman" panose="02020603050405020304" pitchFamily="18" charset="0"/>
              </a:rPr>
              <a:t>mov </a:t>
            </a:r>
            <a:r>
              <a:rPr lang="en-US" altLang="zh-CN" dirty="0" err="1">
                <a:cs typeface="Times New Roman" panose="02020603050405020304" pitchFamily="18" charset="0"/>
              </a:rPr>
              <a:t>ebp</a:t>
            </a:r>
            <a:r>
              <a:rPr lang="zh-CN" altLang="en-US" dirty="0">
                <a:cs typeface="Times New Roman" panose="02020603050405020304" pitchFamily="18" charset="0"/>
              </a:rPr>
              <a:t>，</a:t>
            </a:r>
            <a:r>
              <a:rPr lang="en-US" altLang="zh-CN" dirty="0" err="1">
                <a:cs typeface="Times New Roman" panose="02020603050405020304" pitchFamily="18" charset="0"/>
              </a:rPr>
              <a:t>esp</a:t>
            </a:r>
            <a:endParaRPr lang="en-US" altLang="zh-CN" dirty="0"/>
          </a:p>
          <a:p>
            <a:r>
              <a:rPr lang="zh-CN" altLang="en-US" dirty="0"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cs typeface="Times New Roman" panose="02020603050405020304" pitchFamily="18" charset="0"/>
              </a:rPr>
              <a:t>4</a:t>
            </a:r>
            <a:r>
              <a:rPr lang="zh-CN" altLang="en-US" dirty="0">
                <a:cs typeface="Times New Roman" panose="02020603050405020304" pitchFamily="18" charset="0"/>
              </a:rPr>
              <a:t>）创建局部变量：</a:t>
            </a:r>
            <a:r>
              <a:rPr lang="en-US" altLang="zh-CN" dirty="0">
                <a:cs typeface="Times New Roman" panose="02020603050405020304" pitchFamily="18" charset="0"/>
              </a:rPr>
              <a:t>add </a:t>
            </a:r>
            <a:r>
              <a:rPr lang="en-US" altLang="zh-CN" dirty="0" err="1">
                <a:cs typeface="Times New Roman" panose="02020603050405020304" pitchFamily="18" charset="0"/>
              </a:rPr>
              <a:t>esp</a:t>
            </a:r>
            <a:r>
              <a:rPr lang="en-US" altLang="zh-CN" dirty="0"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xxx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xxx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（局部标量占用的空间）</a:t>
            </a:r>
            <a:endParaRPr lang="en-US" altLang="zh-CN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cs typeface="Times New Roman" panose="02020603050405020304" pitchFamily="18" charset="0"/>
              </a:rPr>
              <a:t>在栈中分配局部变量的空间</a:t>
            </a:r>
          </a:p>
          <a:p>
            <a:endParaRPr lang="zh-CN" alt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345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A8980C-3040-41F9-AEAE-42BB08936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传递参数、保存返回地址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96BF9DB-EA62-DBB2-ECA6-3A7B922BA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4" y="2238102"/>
            <a:ext cx="4587240" cy="3139321"/>
          </a:xfrm>
          <a:ln>
            <a:solidFill>
              <a:srgbClr val="7030A0"/>
            </a:solidFill>
          </a:ln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0040101d  </a:t>
            </a:r>
            <a:r>
              <a:rPr lang="en-US" sz="1800" b="1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push    0x2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0040101f  </a:t>
            </a:r>
            <a:r>
              <a:rPr lang="en-US" sz="1800" b="1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push    0x1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00401021  </a:t>
            </a:r>
            <a:r>
              <a:rPr lang="en-US" sz="1800" b="1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call    </a:t>
            </a:r>
            <a:r>
              <a:rPr lang="en-US" sz="1800" b="1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func</a:t>
            </a:r>
            <a:endParaRPr lang="en-US" sz="1800" b="1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00401026  add    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esp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, 0x8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327428-4D5D-73BA-6FCB-0A3F4F4A4C7D}"/>
              </a:ext>
            </a:extLst>
          </p:cNvPr>
          <p:cNvSpPr txBox="1"/>
          <p:nvPr/>
        </p:nvSpPr>
        <p:spPr>
          <a:xfrm>
            <a:off x="6365965" y="2238101"/>
            <a:ext cx="4354286" cy="313932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</a:pPr>
            <a:r>
              <a:rPr lang="en-US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func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 marL="0" marR="0"/>
            <a:r>
              <a:rPr lang="en-US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00401000  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push    </a:t>
            </a:r>
            <a:r>
              <a:rPr lang="en-US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ebp</a:t>
            </a:r>
            <a:endParaRPr lang="en-US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00401001  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mov     </a:t>
            </a:r>
            <a:r>
              <a:rPr lang="en-US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ebp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esp</a:t>
            </a:r>
            <a:endParaRPr lang="en-US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00401003  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sub     </a:t>
            </a:r>
            <a:r>
              <a:rPr lang="en-US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esp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, 0x8</a:t>
            </a:r>
          </a:p>
          <a:p>
            <a:pPr marL="0" marR="0"/>
            <a:r>
              <a:rPr lang="en-US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/>
            <a:r>
              <a:rPr lang="en-US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…….</a:t>
            </a:r>
          </a:p>
          <a:p>
            <a:pPr marL="0" marR="0"/>
            <a:r>
              <a:rPr lang="en-US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/>
            <a:r>
              <a:rPr lang="en-US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0040101f  mov    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esp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ebp</a:t>
            </a:r>
            <a:endParaRPr lang="en-US" sz="1800" kern="100" dirty="0">
              <a:solidFill>
                <a:srgbClr val="000000"/>
              </a:solidFill>
              <a:effectLst/>
              <a:latin typeface="Courier New" panose="02070309020205020404" pitchFamily="49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00401021  pop    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ebp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marR="0"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00401022 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SimSun" panose="02010600030101010101" pitchFamily="2" charset="-122"/>
                <a:cs typeface="Times New Roman" panose="02020603050405020304" pitchFamily="18" charset="0"/>
              </a:rPr>
              <a:t>retn</a:t>
            </a:r>
            <a:endParaRPr lang="en-US" sz="1800" kern="100" dirty="0">
              <a:solidFill>
                <a:srgbClr val="000000"/>
              </a:solidFill>
              <a:effectLst/>
              <a:latin typeface="Courier New" panose="02070309020205020404" pitchFamily="49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84F38E87-D695-42FB-AC18-471BA291FB72}"/>
              </a:ext>
            </a:extLst>
          </p:cNvPr>
          <p:cNvCxnSpPr/>
          <p:nvPr/>
        </p:nvCxnSpPr>
        <p:spPr>
          <a:xfrm flipV="1">
            <a:off x="4798646" y="2719754"/>
            <a:ext cx="1598246" cy="636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ED55646-4BF7-49D3-8DEB-1648B64C10A1}"/>
              </a:ext>
            </a:extLst>
          </p:cNvPr>
          <p:cNvCxnSpPr/>
          <p:nvPr/>
        </p:nvCxnSpPr>
        <p:spPr>
          <a:xfrm flipH="1" flipV="1">
            <a:off x="5126892" y="3919415"/>
            <a:ext cx="1297354" cy="976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026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B3B42A-C5D1-49A7-9871-C02B25766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局部变量的初始化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0B6E5144-771B-4175-949A-B8C6006825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2951" y="1927852"/>
            <a:ext cx="7296525" cy="2927500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D2924288-FEEB-45A9-BBE5-458C2D12524C}"/>
              </a:ext>
            </a:extLst>
          </p:cNvPr>
          <p:cNvSpPr/>
          <p:nvPr/>
        </p:nvSpPr>
        <p:spPr>
          <a:xfrm>
            <a:off x="4446309" y="3723588"/>
            <a:ext cx="3044858" cy="8683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08617E9-9540-4E5A-860C-2F82F48FE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950" y="4855352"/>
            <a:ext cx="7233642" cy="1532333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B7380F64-700B-47A4-A9E6-C2A0EC348E36}"/>
              </a:ext>
            </a:extLst>
          </p:cNvPr>
          <p:cNvSpPr/>
          <p:nvPr/>
        </p:nvSpPr>
        <p:spPr>
          <a:xfrm>
            <a:off x="3321364" y="4915990"/>
            <a:ext cx="1502019" cy="8683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496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E665E-004C-44A6-B6A2-11649A300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栈帧（</a:t>
            </a:r>
            <a:r>
              <a:rPr lang="en-US" altLang="zh-CN" dirty="0"/>
              <a:t>Stack Frame</a:t>
            </a:r>
            <a:r>
              <a:rPr lang="zh-CN" altLang="en-US" dirty="0"/>
              <a:t>）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952DC81C-A1FE-4AE9-8806-CFB69A0EB3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203" y="2104476"/>
            <a:ext cx="5365708" cy="451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01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2181D7-B749-406A-AD15-A67283C84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栈帧（</a:t>
            </a:r>
            <a:r>
              <a:rPr lang="en-US" altLang="zh-CN" dirty="0"/>
              <a:t>Stack Frame</a:t>
            </a:r>
            <a:r>
              <a:rPr lang="zh-CN" altLang="en-US" dirty="0"/>
              <a:t>）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D06DBD7F-0FF3-439C-A63A-3A707A7A80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087" y="1825625"/>
            <a:ext cx="462182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49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53434E-7DEC-46DF-AF18-17EAA1ECF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函数执行和返回过程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8EEADE-65F0-497C-B251-445782616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）执行函数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）清除</a:t>
            </a:r>
            <a:r>
              <a:rPr lang="zh-CN" altLang="en-US" dirty="0">
                <a:solidFill>
                  <a:srgbClr val="FF0000"/>
                </a:solidFill>
              </a:rPr>
              <a:t>局部变量</a:t>
            </a:r>
            <a:r>
              <a:rPr lang="zh-CN" altLang="en-US" dirty="0"/>
              <a:t>占用的栈空间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ret</a:t>
            </a:r>
            <a:r>
              <a:rPr lang="zh-CN" altLang="en-US" dirty="0"/>
              <a:t>指令从栈中读取</a:t>
            </a:r>
            <a:r>
              <a:rPr lang="zh-CN" altLang="en-US" dirty="0">
                <a:solidFill>
                  <a:srgbClr val="FF0000"/>
                </a:solidFill>
              </a:rPr>
              <a:t>返回地址</a:t>
            </a:r>
            <a:r>
              <a:rPr lang="zh-CN" altLang="en-US" dirty="0"/>
              <a:t>，设置</a:t>
            </a:r>
            <a:r>
              <a:rPr lang="en-US" altLang="zh-CN" dirty="0"/>
              <a:t>EIP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）清除</a:t>
            </a:r>
            <a:r>
              <a:rPr lang="zh-CN" altLang="en-US" dirty="0">
                <a:solidFill>
                  <a:srgbClr val="FF0000"/>
                </a:solidFill>
              </a:rPr>
              <a:t>参数</a:t>
            </a:r>
            <a:r>
              <a:rPr lang="zh-CN" altLang="en-US" dirty="0"/>
              <a:t>占用的栈空间</a:t>
            </a:r>
          </a:p>
        </p:txBody>
      </p:sp>
    </p:spTree>
    <p:extLst>
      <p:ext uri="{BB962C8B-B14F-4D97-AF65-F5344CB8AC3E}">
        <p14:creationId xmlns:p14="http://schemas.microsoft.com/office/powerpoint/2010/main" val="17528534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09CDA-00F8-45EF-AA82-9A08EEDD5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函数的调用过程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016D627-C2C1-4DFE-AAB2-E827F01DE9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5663" y="2326065"/>
            <a:ext cx="7940675" cy="17317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945E61A-C27D-4810-A7B3-AD8CD05A9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188" y="4673397"/>
            <a:ext cx="8154186" cy="1586761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7A0001E5-1EF0-41D0-94E0-7593B861835A}"/>
              </a:ext>
            </a:extLst>
          </p:cNvPr>
          <p:cNvSpPr/>
          <p:nvPr/>
        </p:nvSpPr>
        <p:spPr>
          <a:xfrm>
            <a:off x="6212282" y="3195687"/>
            <a:ext cx="1967043" cy="7352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865E449-5D89-445B-AB27-2B15EB317769}"/>
              </a:ext>
            </a:extLst>
          </p:cNvPr>
          <p:cNvSpPr/>
          <p:nvPr/>
        </p:nvSpPr>
        <p:spPr>
          <a:xfrm>
            <a:off x="6364682" y="5524867"/>
            <a:ext cx="1967043" cy="7352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92B9CA2-4B15-4B5A-B1BA-95F7DDE474DF}"/>
              </a:ext>
            </a:extLst>
          </p:cNvPr>
          <p:cNvSpPr/>
          <p:nvPr/>
        </p:nvSpPr>
        <p:spPr>
          <a:xfrm>
            <a:off x="2538970" y="4451782"/>
            <a:ext cx="1967043" cy="7352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6BFC216-D171-4F2B-A326-915D453647DE}"/>
              </a:ext>
            </a:extLst>
          </p:cNvPr>
          <p:cNvSpPr/>
          <p:nvPr/>
        </p:nvSpPr>
        <p:spPr>
          <a:xfrm>
            <a:off x="2917614" y="2243367"/>
            <a:ext cx="1967043" cy="7352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2534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DCD77F-307C-417A-B076-15E665EF7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LEAVE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6A6F5F-6997-474F-86AF-97C7173CA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43531" cy="4351338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The LEAVE instruction copies the </a:t>
            </a:r>
            <a:r>
              <a:rPr lang="en-US" altLang="zh-CN" dirty="0">
                <a:solidFill>
                  <a:srgbClr val="FF0000"/>
                </a:solidFill>
              </a:rPr>
              <a:t>frame pointer </a:t>
            </a:r>
            <a:r>
              <a:rPr lang="en-US" altLang="zh-CN" dirty="0"/>
              <a:t>(in the EBP register) into the </a:t>
            </a:r>
            <a:r>
              <a:rPr lang="en-US" altLang="zh-CN" dirty="0">
                <a:solidFill>
                  <a:srgbClr val="FF0000"/>
                </a:solidFill>
              </a:rPr>
              <a:t>stack pointer </a:t>
            </a:r>
            <a:r>
              <a:rPr lang="en-US" altLang="zh-CN" dirty="0"/>
              <a:t>register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(ESP), which releases the stack space allocated to the stack frame.</a:t>
            </a:r>
          </a:p>
          <a:p>
            <a:r>
              <a:rPr lang="en-US" altLang="zh-CN" dirty="0"/>
              <a:t>The </a:t>
            </a:r>
            <a:r>
              <a:rPr lang="en-US" altLang="zh-CN" dirty="0">
                <a:solidFill>
                  <a:srgbClr val="FF0000"/>
                </a:solidFill>
              </a:rPr>
              <a:t>old frame pointer </a:t>
            </a:r>
            <a:r>
              <a:rPr lang="en-US" altLang="zh-CN" dirty="0"/>
              <a:t>is then </a:t>
            </a:r>
            <a:r>
              <a:rPr lang="en-US" altLang="zh-CN" dirty="0">
                <a:solidFill>
                  <a:srgbClr val="FF0000"/>
                </a:solidFill>
              </a:rPr>
              <a:t>popped </a:t>
            </a:r>
            <a:r>
              <a:rPr lang="en-US" altLang="zh-CN" dirty="0"/>
              <a:t>from the stack into the EBP register, restoring the calling procedure’s stack frame.</a:t>
            </a:r>
          </a:p>
          <a:p>
            <a:r>
              <a:rPr lang="zh-CN" altLang="en-US" dirty="0"/>
              <a:t>清除局部变量所占用的栈空间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DBA70530-2AB0-4E6D-A226-6C0186A3D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9081" y="2353293"/>
            <a:ext cx="4311037" cy="362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580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B1CA1B-B1DE-4287-A733-E6708D1A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RETN 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BFDBB9-BF61-47EF-91CA-6D3236491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/>
              <a:t>Transfers program control to a </a:t>
            </a:r>
            <a:r>
              <a:rPr lang="en-US" altLang="zh-CN" dirty="0">
                <a:solidFill>
                  <a:srgbClr val="FF0000"/>
                </a:solidFill>
              </a:rPr>
              <a:t>return address </a:t>
            </a:r>
            <a:r>
              <a:rPr lang="en-US" altLang="zh-CN" dirty="0"/>
              <a:t>located </a:t>
            </a:r>
            <a:r>
              <a:rPr lang="en-US" altLang="zh-CN" dirty="0">
                <a:solidFill>
                  <a:srgbClr val="FF0000"/>
                </a:solidFill>
              </a:rPr>
              <a:t>on the top of the stack</a:t>
            </a:r>
          </a:p>
          <a:p>
            <a:r>
              <a:rPr lang="en-US" altLang="zh-CN" dirty="0"/>
              <a:t>The optional source operand specifies the number of stack bytes to be released after the return address is popped; This operand can be used to release </a:t>
            </a:r>
            <a:r>
              <a:rPr lang="en-US" altLang="zh-CN" dirty="0">
                <a:solidFill>
                  <a:srgbClr val="FF0000"/>
                </a:solidFill>
              </a:rPr>
              <a:t>parameters </a:t>
            </a:r>
            <a:r>
              <a:rPr lang="en-US" altLang="zh-CN" dirty="0"/>
              <a:t>from the stack that were passed to the called procedure and are no longer needed. </a:t>
            </a:r>
          </a:p>
          <a:p>
            <a:r>
              <a:rPr lang="zh-CN" altLang="en-US" dirty="0"/>
              <a:t>函数返回，并清除参数占用的栈空间。</a:t>
            </a:r>
          </a:p>
        </p:txBody>
      </p:sp>
    </p:spTree>
    <p:extLst>
      <p:ext uri="{BB962C8B-B14F-4D97-AF65-F5344CB8AC3E}">
        <p14:creationId xmlns:p14="http://schemas.microsoft.com/office/powerpoint/2010/main" val="34825132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160C4EA-2326-4DF1-B2AC-14EB4F15853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ESP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0019FF6Ch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[ESP]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0040100Fh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retn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4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指令执行之后，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ESP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EIP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的值是多少？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EE46287-35E4-4E40-B176-4C761A20163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4414A1D-A6E3-40B8-920D-2341194AFF8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EEDD093-62ED-4AC1-A68A-48920494B91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58C5D4A-9186-47C4-A168-B7244E85E7C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2827000" y="1270000"/>
            <a:ext cx="3332480" cy="707886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ESP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的值是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0019FF74h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EIP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的值是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0040100Fh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B2A3505-44F7-4C37-8313-144D38BF68F2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14" name="RemarkBack">
              <a:extLst>
                <a:ext uri="{FF2B5EF4-FFF2-40B4-BE49-F238E27FC236}">
                  <a16:creationId xmlns:a16="http://schemas.microsoft.com/office/drawing/2014/main" id="{1E10FD47-40DE-4B77-9BC6-35096384E4B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Block">
              <a:extLst>
                <a:ext uri="{FF2B5EF4-FFF2-40B4-BE49-F238E27FC236}">
                  <a16:creationId xmlns:a16="http://schemas.microsoft.com/office/drawing/2014/main" id="{84946A07-A04D-4081-946A-F2162C1E10C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RemarkTitleText">
              <a:extLst>
                <a:ext uri="{FF2B5EF4-FFF2-40B4-BE49-F238E27FC236}">
                  <a16:creationId xmlns:a16="http://schemas.microsoft.com/office/drawing/2014/main" id="{8AC0B7CA-578D-49DB-B9D1-C713E71339E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E3673AB-B4EB-48D2-9229-164AD67D7F31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88E5242E-D34D-4972-BCCD-A12C059311BF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C6F28AA3-5424-4D98-BC20-9FAE6B40F73E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F715B847-CDAE-49CF-94C5-95485D09C8C9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52D0DD4B-3DD8-4314-8564-681F52D8E204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2911EED-6C18-4CAA-9A06-1DD65BDDAF83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486866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4AFC56F-13C6-41DF-B373-61B98475989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反汇编代码中，函数的开头都有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cdecl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或者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stdcall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符号，这些符号是什么？ 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303C9DF-5159-4127-8B12-9AA74C82435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DA784FF-56AF-4DA9-A46E-9FA9F27AA84C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A10A3835-FA48-4044-BEAD-591EB93C49D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F29698D-F0B2-4EB3-B40E-FE714D59C51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593A03C0-C03A-492F-8A4A-478CE4A2551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B72C36E3-B805-412D-92E7-60A79EAE50EF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4B36022-6E53-45BD-8899-C432EDB3D81B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189077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2000A5-7D91-479D-8D4C-B78C773F8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调用约定（</a:t>
            </a:r>
            <a:r>
              <a:rPr lang="en-US" altLang="zh-CN" dirty="0"/>
              <a:t>Calling Convention</a:t>
            </a:r>
            <a:r>
              <a:rPr lang="zh-CN" altLang="en-US" dirty="0"/>
              <a:t>）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535D986-7D0B-62DE-CE33-B028E48D2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635DD0-B872-8ECC-DF6E-DCE87D8F4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521" y="2307658"/>
            <a:ext cx="6080957" cy="347483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7D69117E-EE48-AF9B-52DF-3E417FD01518}"/>
              </a:ext>
            </a:extLst>
          </p:cNvPr>
          <p:cNvSpPr/>
          <p:nvPr/>
        </p:nvSpPr>
        <p:spPr>
          <a:xfrm>
            <a:off x="2926079" y="3596642"/>
            <a:ext cx="1846217" cy="9840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503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C23620-B221-4FFF-8876-CB8AA27C0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Calling Convention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F564D8-06D2-4D7C-AAD8-D0BEB6ECA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x86</a:t>
            </a:r>
            <a:r>
              <a:rPr lang="zh-CN" altLang="en-US" dirty="0"/>
              <a:t>平台，函数所有</a:t>
            </a:r>
            <a:r>
              <a:rPr lang="zh-CN" altLang="en-US" dirty="0">
                <a:solidFill>
                  <a:srgbClr val="FF0000"/>
                </a:solidFill>
              </a:rPr>
              <a:t>参数</a:t>
            </a:r>
            <a:r>
              <a:rPr lang="zh-CN" altLang="en-US" dirty="0"/>
              <a:t>的宽度都是</a:t>
            </a:r>
            <a:r>
              <a:rPr lang="en-US" altLang="zh-CN" dirty="0"/>
              <a:t>32bits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函数的</a:t>
            </a:r>
            <a:r>
              <a:rPr lang="zh-CN" altLang="en-US" dirty="0">
                <a:solidFill>
                  <a:srgbClr val="0070C0"/>
                </a:solidFill>
              </a:rPr>
              <a:t>返回值</a:t>
            </a:r>
            <a:r>
              <a:rPr lang="zh-CN" altLang="en-US" dirty="0"/>
              <a:t>（</a:t>
            </a:r>
            <a:r>
              <a:rPr lang="en-US" altLang="zh-CN" dirty="0"/>
              <a:t>Return values</a:t>
            </a:r>
            <a:r>
              <a:rPr lang="zh-CN" altLang="en-US" dirty="0"/>
              <a:t>）的宽度是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32bits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存储在</a:t>
            </a:r>
            <a:r>
              <a:rPr lang="en-US" altLang="zh-CN" dirty="0">
                <a:solidFill>
                  <a:srgbClr val="FF0000"/>
                </a:solidFill>
              </a:rPr>
              <a:t>EAX</a:t>
            </a:r>
            <a:r>
              <a:rPr lang="en-US" altLang="zh-CN" dirty="0"/>
              <a:t> </a:t>
            </a:r>
            <a:r>
              <a:rPr lang="zh-CN" altLang="en-US" dirty="0"/>
              <a:t>寄存器中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579486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008199-99D9-47EA-83F4-049E36721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Calling Convention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77EC1A-C994-4D8F-973D-3FE6EE91C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被调函数</a:t>
            </a:r>
            <a:r>
              <a:rPr lang="en-US" altLang="zh-CN" dirty="0" err="1"/>
              <a:t>callee</a:t>
            </a:r>
            <a:r>
              <a:rPr lang="zh-CN" altLang="en-US" dirty="0"/>
              <a:t>和主函数</a:t>
            </a:r>
            <a:r>
              <a:rPr lang="en-US" altLang="zh-CN" dirty="0"/>
              <a:t>caller</a:t>
            </a:r>
            <a:r>
              <a:rPr lang="zh-CN" altLang="en-US" dirty="0"/>
              <a:t>如何传递参数和返回值的约定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VC </a:t>
            </a:r>
            <a:r>
              <a:rPr lang="zh-CN" altLang="en-US" dirty="0"/>
              <a:t>编译器支持以下两种调用约定</a:t>
            </a:r>
            <a:endParaRPr lang="en-US" altLang="zh-CN" dirty="0"/>
          </a:p>
          <a:p>
            <a:pPr lvl="1"/>
            <a:r>
              <a:rPr lang="en-US" altLang="zh-CN" dirty="0"/>
              <a:t>__</a:t>
            </a:r>
            <a:r>
              <a:rPr lang="en-US" altLang="zh-CN" dirty="0" err="1"/>
              <a:t>cdecl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__</a:t>
            </a:r>
            <a:r>
              <a:rPr lang="en-US" altLang="zh-CN" dirty="0" err="1"/>
              <a:t>stdcall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469707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Calling Convention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__</a:t>
            </a:r>
            <a:r>
              <a:rPr lang="en-US" altLang="zh-CN" b="1" dirty="0" err="1"/>
              <a:t>cdecl</a:t>
            </a:r>
            <a:r>
              <a:rPr lang="en-US" altLang="zh-CN" dirty="0"/>
              <a:t> </a:t>
            </a:r>
            <a:r>
              <a:rPr lang="zh-CN" altLang="en-US" dirty="0"/>
              <a:t>是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C </a:t>
            </a:r>
            <a:r>
              <a:rPr lang="en-US" altLang="zh-CN" dirty="0"/>
              <a:t>and</a:t>
            </a:r>
            <a:r>
              <a:rPr lang="en-US" altLang="zh-CN" dirty="0">
                <a:solidFill>
                  <a:srgbClr val="FF0000"/>
                </a:solidFill>
              </a:rPr>
              <a:t> C++ </a:t>
            </a:r>
            <a:r>
              <a:rPr lang="zh-CN" altLang="en-US" dirty="0"/>
              <a:t>程序的标准函数调用</a:t>
            </a:r>
            <a:endParaRPr lang="en-US" altLang="zh-CN" dirty="0"/>
          </a:p>
          <a:p>
            <a:endParaRPr kumimoji="1"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B8391C6-9829-4EB4-A80C-DFB6E0057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716809"/>
              </p:ext>
            </p:extLst>
          </p:nvPr>
        </p:nvGraphicFramePr>
        <p:xfrm>
          <a:off x="1111370" y="3217985"/>
          <a:ext cx="10342075" cy="2390776"/>
        </p:xfrm>
        <a:graphic>
          <a:graphicData uri="http://schemas.openxmlformats.org/drawingml/2006/table">
            <a:tbl>
              <a:tblPr/>
              <a:tblGrid>
                <a:gridCol w="4728183">
                  <a:extLst>
                    <a:ext uri="{9D8B030D-6E8A-4147-A177-3AD203B41FA5}">
                      <a16:colId xmlns:a16="http://schemas.microsoft.com/office/drawing/2014/main" val="1900125301"/>
                    </a:ext>
                  </a:extLst>
                </a:gridCol>
                <a:gridCol w="5613892">
                  <a:extLst>
                    <a:ext uri="{9D8B030D-6E8A-4147-A177-3AD203B41FA5}">
                      <a16:colId xmlns:a16="http://schemas.microsoft.com/office/drawing/2014/main" val="1989393893"/>
                    </a:ext>
                  </a:extLst>
                </a:gridCol>
              </a:tblGrid>
              <a:tr h="7658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dirty="0">
                          <a:ln>
                            <a:noFill/>
                          </a:ln>
                          <a:effectLst/>
                        </a:rPr>
                        <a:t>Element</a:t>
                      </a:r>
                    </a:p>
                  </a:txBody>
                  <a:tcPr anchor="b">
                    <a:lnL w="12700" cap="flat" cmpd="sng" algn="ctr">
                      <a:solidFill>
                        <a:srgbClr val="80B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B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B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dirty="0">
                          <a:ln>
                            <a:noFill/>
                          </a:ln>
                          <a:effectLst/>
                        </a:rPr>
                        <a:t>Implementation</a:t>
                      </a:r>
                    </a:p>
                  </a:txBody>
                  <a:tcPr anchor="b">
                    <a:lnL w="12700" cap="flat" cmpd="sng" algn="ctr">
                      <a:solidFill>
                        <a:srgbClr val="20B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B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B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918706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参数传递顺序</a:t>
                      </a:r>
                      <a:endParaRPr lang="en-US" altLang="zh-CN" sz="20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</a:endParaRPr>
                    </a:p>
                    <a:p>
                      <a:pPr algn="l" fontAlgn="t"/>
                      <a:r>
                        <a:rPr lang="en-US" sz="20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Argument-passing order</a:t>
                      </a:r>
                    </a:p>
                  </a:txBody>
                  <a:tcPr>
                    <a:lnL w="12700" cap="flat" cmpd="sng" algn="ctr">
                      <a:solidFill>
                        <a:srgbClr val="20B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B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B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C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从右向左</a:t>
                      </a:r>
                      <a:endParaRPr lang="en-US" sz="200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l" fontAlgn="t"/>
                      <a:r>
                        <a:rPr lang="en-US" sz="2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Right to left.</a:t>
                      </a:r>
                    </a:p>
                  </a:txBody>
                  <a:tcPr>
                    <a:lnL w="12700" cap="flat" cmpd="sng" algn="ctr">
                      <a:solidFill>
                        <a:srgbClr val="10B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B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B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CA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974067"/>
                  </a:ext>
                </a:extLst>
              </a:tr>
              <a:tr h="859156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栈的维护（谁负责清除参数）</a:t>
                      </a:r>
                      <a:endParaRPr lang="en-US" sz="20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</a:endParaRPr>
                    </a:p>
                    <a:p>
                      <a:pPr algn="l" fontAlgn="t"/>
                      <a:r>
                        <a:rPr lang="en-US" sz="20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Stack-maintenance responsibility</a:t>
                      </a:r>
                    </a:p>
                  </a:txBody>
                  <a:tcPr>
                    <a:lnL w="12700" cap="flat" cmpd="sng" algn="ctr">
                      <a:solidFill>
                        <a:srgbClr val="10C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C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C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C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主函数负责清除参数 </a:t>
                      </a:r>
                      <a:endParaRPr lang="en-US" altLang="zh-CN" sz="200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l" fontAlgn="t"/>
                      <a:r>
                        <a:rPr lang="en-US" sz="2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Calling function pops the arguments from the stack.</a:t>
                      </a:r>
                    </a:p>
                  </a:txBody>
                  <a:tcPr>
                    <a:lnL w="12700" cap="flat" cmpd="sng" algn="ctr">
                      <a:solidFill>
                        <a:srgbClr val="20C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C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CA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C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010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5650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0A1BD6-FF07-4AD1-9FBC-10D627B71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__</a:t>
            </a:r>
            <a:r>
              <a:rPr lang="en-US" altLang="zh-CN" dirty="0" err="1"/>
              <a:t>cdecl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A48E0C43-8A64-4926-A280-B6DEA754AC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1816" y="2963015"/>
            <a:ext cx="4248368" cy="2076557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D48F5565-4CFD-40C3-99AB-B259651B1C64}"/>
              </a:ext>
            </a:extLst>
          </p:cNvPr>
          <p:cNvSpPr/>
          <p:nvPr/>
        </p:nvSpPr>
        <p:spPr>
          <a:xfrm>
            <a:off x="3825039" y="4260082"/>
            <a:ext cx="2790334" cy="6127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7328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7BA785-014F-492D-82AB-21F14C5B9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Calling Convention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2FDF0E-1633-42B7-B3EC-097D00EDC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__</a:t>
            </a:r>
            <a:r>
              <a:rPr lang="en-US" altLang="zh-CN" b="1" dirty="0" err="1"/>
              <a:t>stdcall</a:t>
            </a:r>
            <a:r>
              <a:rPr lang="en-US" altLang="zh-CN" dirty="0"/>
              <a:t> </a:t>
            </a:r>
            <a:r>
              <a:rPr lang="zh-CN" altLang="en-US" dirty="0"/>
              <a:t>是</a:t>
            </a:r>
            <a:r>
              <a:rPr lang="en-US" altLang="zh-CN" dirty="0">
                <a:solidFill>
                  <a:srgbClr val="FF0000"/>
                </a:solidFill>
              </a:rPr>
              <a:t>Win32 API </a:t>
            </a:r>
            <a:r>
              <a:rPr lang="zh-CN" altLang="en-US" dirty="0"/>
              <a:t>函数的调用约定</a:t>
            </a:r>
            <a:r>
              <a:rPr lang="en-US" altLang="zh-CN" dirty="0"/>
              <a:t>   </a:t>
            </a:r>
          </a:p>
          <a:p>
            <a:endParaRPr lang="en-US" altLang="zh-CN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91975B9-7485-4199-ACAE-153D192BE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01723"/>
              </p:ext>
            </p:extLst>
          </p:nvPr>
        </p:nvGraphicFramePr>
        <p:xfrm>
          <a:off x="1796781" y="2979737"/>
          <a:ext cx="7940674" cy="2537460"/>
        </p:xfrm>
        <a:graphic>
          <a:graphicData uri="http://schemas.openxmlformats.org/drawingml/2006/table">
            <a:tbl>
              <a:tblPr/>
              <a:tblGrid>
                <a:gridCol w="3970337">
                  <a:extLst>
                    <a:ext uri="{9D8B030D-6E8A-4147-A177-3AD203B41FA5}">
                      <a16:colId xmlns:a16="http://schemas.microsoft.com/office/drawing/2014/main" val="1900125301"/>
                    </a:ext>
                  </a:extLst>
                </a:gridCol>
                <a:gridCol w="3970337">
                  <a:extLst>
                    <a:ext uri="{9D8B030D-6E8A-4147-A177-3AD203B41FA5}">
                      <a16:colId xmlns:a16="http://schemas.microsoft.com/office/drawing/2014/main" val="1989393893"/>
                    </a:ext>
                  </a:extLst>
                </a:gridCol>
              </a:tblGrid>
              <a:tr h="7658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dirty="0">
                          <a:ln>
                            <a:noFill/>
                          </a:ln>
                          <a:effectLst/>
                        </a:rPr>
                        <a:t>Element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dirty="0">
                          <a:ln>
                            <a:noFill/>
                          </a:ln>
                          <a:effectLst/>
                        </a:rPr>
                        <a:t>Implementation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918706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参数传递顺序</a:t>
                      </a:r>
                      <a:endParaRPr lang="en-US" altLang="zh-CN" sz="20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</a:endParaRPr>
                    </a:p>
                    <a:p>
                      <a:pPr algn="l" fontAlgn="t"/>
                      <a:r>
                        <a:rPr lang="en-US" sz="20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Argument-passing order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从右向左</a:t>
                      </a:r>
                      <a:endParaRPr lang="en-US" sz="200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l" fontAlgn="t"/>
                      <a:r>
                        <a:rPr lang="en-US" sz="2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Right to left.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974067"/>
                  </a:ext>
                </a:extLst>
              </a:tr>
              <a:tr h="859156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栈的维护（谁负责清除参数）</a:t>
                      </a:r>
                      <a:endParaRPr lang="en-US" altLang="zh-CN" sz="20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</a:endParaRPr>
                    </a:p>
                    <a:p>
                      <a:pPr algn="l" fontAlgn="t"/>
                      <a:r>
                        <a:rPr lang="en-US" sz="20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Stack-maintenance responsibility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被调用函数负责清除参数 </a:t>
                      </a:r>
                      <a:endParaRPr lang="en-US" altLang="zh-CN" sz="200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l" fontAlgn="t"/>
                      <a:r>
                        <a:rPr lang="en-US" sz="2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Called function pops its own arguments from the stack.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010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4422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BF1C07-D9A1-4E54-8187-43A061006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__</a:t>
            </a:r>
            <a:r>
              <a:rPr lang="en-US" altLang="zh-CN" dirty="0" err="1"/>
              <a:t>stdcall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32D07489-0D23-424B-B8C8-02B40687F3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1387" y="2797907"/>
            <a:ext cx="7309226" cy="2406774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26347BF7-90F3-47B3-8123-22E8DEB40092}"/>
              </a:ext>
            </a:extLst>
          </p:cNvPr>
          <p:cNvSpPr/>
          <p:nvPr/>
        </p:nvSpPr>
        <p:spPr>
          <a:xfrm>
            <a:off x="3956117" y="3729054"/>
            <a:ext cx="2790334" cy="6127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2970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EC41546-C836-4FDB-A1E6-702D2046E4E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131572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函数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URLDownloadToFileA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的调用约定是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? 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315D98-3333-410C-A2B7-F99CD1E05E0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152775" y="4498499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cdecl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B340F57-4922-4975-A99E-00704B4726F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152775" y="5355749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stdcall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9D7D3FB-0906-4053-8B8A-0E652461867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2438400" y="4562792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482A148-9868-4496-920C-7251B8F01C33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2438400" y="5420042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9C08921-418F-4703-AB88-2EAAC9E9999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C83D5C95-A649-40C5-AE83-0CE67A11DCA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01333" y="1837247"/>
            <a:ext cx="6089963" cy="2444876"/>
          </a:xfrm>
          <a:prstGeom prst="rect">
            <a:avLst/>
          </a:pr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8C4E07AC-39B1-4CA9-A08C-C23807F465E3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48329E9D-3E84-46C7-892F-F20F293F68BF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BA4A7A22-8970-42A2-B4C4-9F8D1DAC346D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7507E550-5024-40AB-AF2F-3274C955EAED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251A2F88-FF39-4179-8FDD-6BFEE3ED4350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C7B8F5C-9001-4755-9EC8-D82D7D3FDD52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114268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731801" cy="1143000"/>
          </a:xfrm>
        </p:spPr>
        <p:txBody>
          <a:bodyPr/>
          <a:lstStyle/>
          <a:p>
            <a:pPr algn="ctr"/>
            <a:r>
              <a:rPr lang="zh-CN" altLang="en-US" dirty="0"/>
              <a:t>识别变量、数组、结构体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575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EEC62-E5C1-4386-89BB-7D0DE72C9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局部变量和全局变量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EC52B8-38B9-42D5-9297-1E314CEE6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全局变量</a:t>
            </a:r>
            <a:endParaRPr lang="en-US" altLang="zh-CN" dirty="0"/>
          </a:p>
          <a:p>
            <a:pPr lvl="1"/>
            <a:r>
              <a:rPr lang="zh-CN" altLang="en-US" dirty="0"/>
              <a:t>可以任意函数访问和修改的变量</a:t>
            </a:r>
            <a:endParaRPr lang="en-US" altLang="zh-CN" dirty="0"/>
          </a:p>
          <a:p>
            <a:r>
              <a:rPr lang="zh-CN" altLang="en-US" dirty="0"/>
              <a:t>局部变量</a:t>
            </a:r>
            <a:endParaRPr lang="en-US" altLang="zh-CN" dirty="0"/>
          </a:p>
          <a:p>
            <a:pPr lvl="1"/>
            <a:r>
              <a:rPr lang="zh-CN" altLang="en-US" dirty="0"/>
              <a:t>只能在定义该变量的函数内部，访问和修改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03532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A9CDA5-691F-4D77-90A3-4C3CF63B1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全局变量和局部变量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45E8B23-928F-4976-8C98-E2957D5EF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556" y="2088029"/>
            <a:ext cx="3975100" cy="2413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778BBCC-0296-44D1-AD28-96F5BAE0D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794" y="2176929"/>
            <a:ext cx="4013200" cy="22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9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A33151-03E8-4FBE-B5FF-2D0B94286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全局变量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5BF46D5-37FF-48AB-9EBD-5682A42768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0180" y="2864585"/>
            <a:ext cx="6591639" cy="227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3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D0887-A3F9-41EE-A0F9-2197671EB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局部变量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0B702A6-4FC2-419D-9302-5779E19CE5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2881" y="2597872"/>
            <a:ext cx="6566237" cy="280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2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295E1A8-D18F-4A8D-8076-2E7F8D51957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mov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eax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, [ebp+var_4]”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[ebp+var_4]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一个全局变量还是局部变量？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D0E3D9-0D7C-426B-8BA0-683F36C47F5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局部变量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8FF891-45DC-4C98-A92D-75E5F58881D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全局变量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1E9E56F-EB40-4DD6-8040-74BF44FF74F4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DDC6A5B-12E9-40D5-B0D9-7937D70539B7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E9F0144-BC26-4C1A-BC29-3A705F353B9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ED052BF-994E-4DE0-B608-78EF569A22C8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21530A5D-914C-4D45-86A9-891B285F718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DA4E230A-4791-4D19-A0F9-8C0244A74E4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ECD0BE58-3355-425C-9D7A-D42DD198F042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0B51B1BF-2F22-4189-B14E-B7D86543AF2B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BB4B75C-3F35-452D-A1E1-1EF64FFBCBCF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651032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C7E2C-D845-4B12-8BC7-04694B900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数组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151E1E-3FE8-4F9E-A94B-5CD8C3118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822141"/>
            <a:ext cx="7940675" cy="4092575"/>
          </a:xfrm>
        </p:spPr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数组是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相同数据类型</a:t>
            </a:r>
            <a:r>
              <a:rPr lang="zh-CN" altLang="en-US" dirty="0">
                <a:cs typeface="Times New Roman" panose="02020603050405020304" pitchFamily="18" charset="0"/>
              </a:rPr>
              <a:t>的元素的集合，它们在内存中按顺序连续存放在一起。</a:t>
            </a:r>
          </a:p>
          <a:p>
            <a:r>
              <a:rPr lang="zh-CN" altLang="en-US" dirty="0">
                <a:cs typeface="Times New Roman" panose="02020603050405020304" pitchFamily="18" charset="0"/>
              </a:rPr>
              <a:t>在汇编状态下访问数组一般是通过基址加变址寻址实现的</a:t>
            </a:r>
          </a:p>
        </p:txBody>
      </p:sp>
    </p:spTree>
    <p:extLst>
      <p:ext uri="{BB962C8B-B14F-4D97-AF65-F5344CB8AC3E}">
        <p14:creationId xmlns:p14="http://schemas.microsoft.com/office/powerpoint/2010/main" val="7056544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E56212-4E45-4D75-BEBD-681B238D4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844" y="651138"/>
            <a:ext cx="7345362" cy="868363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数组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D25B49-C22B-4175-9DF3-D12889091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442303"/>
            <a:ext cx="7940675" cy="469454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cs typeface="Times New Roman" panose="02020603050405020304" pitchFamily="18" charset="0"/>
              </a:rPr>
              <a:t>int </a:t>
            </a:r>
            <a:r>
              <a:rPr lang="en-US" altLang="zh-CN" sz="2800" dirty="0" err="1">
                <a:cs typeface="Times New Roman" panose="02020603050405020304" pitchFamily="18" charset="0"/>
              </a:rPr>
              <a:t>ary</a:t>
            </a:r>
            <a:r>
              <a:rPr lang="en-US" altLang="zh-CN" sz="2800" dirty="0">
                <a:cs typeface="Times New Roman" panose="02020603050405020304" pitchFamily="18" charset="0"/>
              </a:rPr>
              <a:t>[4] = {1, 2, 3, 4}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cs typeface="Times New Roman" panose="02020603050405020304" pitchFamily="18" charset="0"/>
              </a:rPr>
              <a:t>每个整数占用</a:t>
            </a:r>
            <a:r>
              <a:rPr lang="en-US" altLang="zh-CN" sz="2400" dirty="0"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cs typeface="Times New Roman" panose="02020603050405020304" pitchFamily="18" charset="0"/>
              </a:rPr>
              <a:t>个字节，数组占用了</a:t>
            </a:r>
            <a:r>
              <a:rPr lang="en-US" altLang="zh-CN" sz="2400" dirty="0">
                <a:cs typeface="Times New Roman" panose="02020603050405020304" pitchFamily="18" charset="0"/>
              </a:rPr>
              <a:t>16</a:t>
            </a:r>
            <a:r>
              <a:rPr lang="zh-CN" altLang="en-US" sz="2400" dirty="0">
                <a:cs typeface="Times New Roman" panose="02020603050405020304" pitchFamily="18" charset="0"/>
              </a:rPr>
              <a:t>个字节，假设数组的首地址是</a:t>
            </a:r>
            <a:r>
              <a:rPr lang="en-US" altLang="zh-CN" sz="2400" dirty="0">
                <a:cs typeface="Times New Roman" panose="02020603050405020304" pitchFamily="18" charset="0"/>
              </a:rPr>
              <a:t>0x1000</a:t>
            </a:r>
          </a:p>
          <a:p>
            <a:pPr lvl="1"/>
            <a:r>
              <a:rPr lang="en-US" altLang="zh-CN" sz="2400" dirty="0" err="1">
                <a:cs typeface="Times New Roman" panose="02020603050405020304" pitchFamily="18" charset="0"/>
              </a:rPr>
              <a:t>ary</a:t>
            </a:r>
            <a:r>
              <a:rPr lang="en-US" altLang="zh-CN" sz="2400" dirty="0">
                <a:cs typeface="Times New Roman" panose="02020603050405020304" pitchFamily="18" charset="0"/>
              </a:rPr>
              <a:t>[0] </a:t>
            </a:r>
            <a:r>
              <a:rPr lang="zh-CN" altLang="en-US" sz="2400" dirty="0">
                <a:cs typeface="Times New Roman" panose="02020603050405020304" pitchFamily="18" charset="0"/>
              </a:rPr>
              <a:t>的位置是</a:t>
            </a:r>
            <a:r>
              <a:rPr lang="en-US" altLang="zh-CN" sz="2400" dirty="0">
                <a:cs typeface="Times New Roman" panose="02020603050405020304" pitchFamily="18" charset="0"/>
              </a:rPr>
              <a:t>0x1000</a:t>
            </a:r>
          </a:p>
          <a:p>
            <a:pPr lvl="1"/>
            <a:r>
              <a:rPr lang="en-US" altLang="zh-CN" sz="2400" dirty="0" err="1">
                <a:cs typeface="Times New Roman" panose="02020603050405020304" pitchFamily="18" charset="0"/>
              </a:rPr>
              <a:t>ary</a:t>
            </a:r>
            <a:r>
              <a:rPr lang="en-US" altLang="zh-CN" sz="2400" dirty="0">
                <a:cs typeface="Times New Roman" panose="02020603050405020304" pitchFamily="18" charset="0"/>
              </a:rPr>
              <a:t>[1]</a:t>
            </a:r>
            <a:r>
              <a:rPr lang="zh-CN" altLang="en-US" sz="2400" dirty="0">
                <a:cs typeface="Times New Roman" panose="02020603050405020304" pitchFamily="18" charset="0"/>
              </a:rPr>
              <a:t>的位置是</a:t>
            </a:r>
            <a:r>
              <a:rPr lang="en-US" altLang="zh-CN" sz="2400" dirty="0">
                <a:cs typeface="Times New Roman" panose="02020603050405020304" pitchFamily="18" charset="0"/>
              </a:rPr>
              <a:t>0x1004</a:t>
            </a:r>
          </a:p>
          <a:p>
            <a:pPr lvl="1"/>
            <a:r>
              <a:rPr lang="en-US" altLang="zh-CN" sz="2400" dirty="0" err="1">
                <a:cs typeface="Times New Roman" panose="02020603050405020304" pitchFamily="18" charset="0"/>
              </a:rPr>
              <a:t>ary</a:t>
            </a:r>
            <a:r>
              <a:rPr lang="en-US" altLang="zh-CN" sz="2400" dirty="0">
                <a:cs typeface="Times New Roman" panose="02020603050405020304" pitchFamily="18" charset="0"/>
              </a:rPr>
              <a:t>[2]</a:t>
            </a:r>
            <a:r>
              <a:rPr lang="zh-CN" altLang="en-US" sz="2400" dirty="0">
                <a:cs typeface="Times New Roman" panose="02020603050405020304" pitchFamily="18" charset="0"/>
              </a:rPr>
              <a:t>的位置是</a:t>
            </a:r>
            <a:r>
              <a:rPr lang="en-US" altLang="zh-CN" sz="2400" dirty="0">
                <a:cs typeface="Times New Roman" panose="02020603050405020304" pitchFamily="18" charset="0"/>
              </a:rPr>
              <a:t>0x1008</a:t>
            </a:r>
          </a:p>
          <a:p>
            <a:pPr lvl="1"/>
            <a:r>
              <a:rPr lang="en-US" altLang="zh-CN" sz="2400" dirty="0" err="1">
                <a:cs typeface="Times New Roman" panose="02020603050405020304" pitchFamily="18" charset="0"/>
              </a:rPr>
              <a:t>ary</a:t>
            </a:r>
            <a:r>
              <a:rPr lang="en-US" altLang="zh-CN" sz="2400" dirty="0">
                <a:cs typeface="Times New Roman" panose="02020603050405020304" pitchFamily="18" charset="0"/>
              </a:rPr>
              <a:t>[3]</a:t>
            </a:r>
            <a:r>
              <a:rPr lang="zh-CN" altLang="en-US" sz="2400" dirty="0">
                <a:cs typeface="Times New Roman" panose="02020603050405020304" pitchFamily="18" charset="0"/>
              </a:rPr>
              <a:t>的位置是</a:t>
            </a:r>
            <a:r>
              <a:rPr lang="en-US" altLang="zh-CN" sz="2400" dirty="0">
                <a:cs typeface="Times New Roman" panose="02020603050405020304" pitchFamily="18" charset="0"/>
              </a:rPr>
              <a:t>0x100C</a:t>
            </a:r>
          </a:p>
          <a:p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数组元素的地址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=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数组首地址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+ </a:t>
            </a:r>
            <a:r>
              <a:rPr lang="en-US" altLang="zh-CN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sizeof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元素类型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)*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索引值</a:t>
            </a:r>
          </a:p>
          <a:p>
            <a:endParaRPr lang="en-US" altLang="zh-CN" sz="2800" dirty="0"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82234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4DA8DD-7D46-4F99-BEE8-06A07B6EA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数组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FCD766-6E97-4F85-8AD9-E3ADB8630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cs typeface="Times New Roman" pitchFamily="18" charset="0"/>
              </a:rPr>
              <a:t>数组</a:t>
            </a:r>
            <a:r>
              <a:rPr lang="en-US" altLang="zh-CN" dirty="0">
                <a:latin typeface="宋体" panose="02010600030101010101" pitchFamily="2" charset="-122"/>
                <a:cs typeface="Times New Roman" pitchFamily="18" charset="0"/>
              </a:rPr>
              <a:t>a</a:t>
            </a:r>
            <a:r>
              <a:rPr lang="zh-CN" altLang="en-US" dirty="0">
                <a:latin typeface="宋体" panose="02010600030101010101" pitchFamily="2" charset="-122"/>
                <a:cs typeface="Times New Roman" pitchFamily="18" charset="0"/>
              </a:rPr>
              <a:t>是局部</a:t>
            </a:r>
            <a:endParaRPr lang="en-US" altLang="zh-CN" dirty="0">
              <a:latin typeface="宋体" panose="02010600030101010101" pitchFamily="2" charset="-122"/>
              <a:cs typeface="Times New Roman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cs typeface="Times New Roman" pitchFamily="18" charset="0"/>
              </a:rPr>
              <a:t>变量，数组</a:t>
            </a:r>
            <a:r>
              <a:rPr lang="en-US" altLang="zh-CN" dirty="0">
                <a:latin typeface="宋体" panose="02010600030101010101" pitchFamily="2" charset="-122"/>
                <a:cs typeface="Times New Roman" pitchFamily="18" charset="0"/>
              </a:rPr>
              <a:t>b</a:t>
            </a:r>
            <a:r>
              <a:rPr lang="zh-CN" altLang="en-US" dirty="0">
                <a:latin typeface="宋体" panose="02010600030101010101" pitchFamily="2" charset="-122"/>
                <a:cs typeface="Times New Roman" pitchFamily="18" charset="0"/>
              </a:rPr>
              <a:t>是全局变量</a:t>
            </a:r>
            <a:endParaRPr lang="en-US" altLang="zh-CN" dirty="0">
              <a:latin typeface="宋体" panose="02010600030101010101" pitchFamily="2" charset="-122"/>
              <a:cs typeface="Times New Roman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0A58861-43B5-43B7-A6A3-26A55A6FD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858" y="3429001"/>
            <a:ext cx="3521296" cy="3144741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4A5F00FE-0021-4DE3-9F2B-1C541D19FB51}"/>
              </a:ext>
            </a:extLst>
          </p:cNvPr>
          <p:cNvSpPr/>
          <p:nvPr/>
        </p:nvSpPr>
        <p:spPr>
          <a:xfrm>
            <a:off x="4182360" y="3572760"/>
            <a:ext cx="1168923" cy="43363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ABA7191-753C-488C-AC67-0904A5576B45}"/>
              </a:ext>
            </a:extLst>
          </p:cNvPr>
          <p:cNvSpPr/>
          <p:nvPr/>
        </p:nvSpPr>
        <p:spPr>
          <a:xfrm>
            <a:off x="4504442" y="4486956"/>
            <a:ext cx="1168923" cy="43363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7072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83CEB-B8C8-4CE3-876C-ED4F663BA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113" y="981076"/>
            <a:ext cx="7345362" cy="868363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数组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720B25DE-06F6-4051-9BCE-1B6BEE3962A2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7" y="1825625"/>
            <a:ext cx="8388465" cy="4351338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5F4F1417-B8A7-48FC-AB77-E80C220E2949}"/>
              </a:ext>
            </a:extLst>
          </p:cNvPr>
          <p:cNvSpPr/>
          <p:nvPr/>
        </p:nvSpPr>
        <p:spPr>
          <a:xfrm>
            <a:off x="2004768" y="4647414"/>
            <a:ext cx="5429839" cy="5844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D1F743F-711A-4927-90C0-86F941EF2CAA}"/>
              </a:ext>
            </a:extLst>
          </p:cNvPr>
          <p:cNvSpPr/>
          <p:nvPr/>
        </p:nvSpPr>
        <p:spPr>
          <a:xfrm>
            <a:off x="1883791" y="5384276"/>
            <a:ext cx="5429839" cy="5844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317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EE5EEE-44D4-4992-8B33-EEECA3C5D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结构体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FAB132-9781-4AF2-BD9C-291ADAAF3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在</a:t>
            </a:r>
            <a:r>
              <a:rPr lang="en-US" altLang="zh-CN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c</a:t>
            </a:r>
            <a:r>
              <a:rPr lang="zh-CN" altLang="zh-CN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语言中</a:t>
            </a:r>
            <a:r>
              <a:rPr lang="zh-CN" altLang="en-US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，</a:t>
            </a:r>
            <a:r>
              <a:rPr lang="zh-CN" altLang="zh-CN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结构体</a:t>
            </a:r>
            <a:r>
              <a:rPr lang="en-US" altLang="zh-CN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(struct)</a:t>
            </a:r>
            <a:r>
              <a:rPr lang="zh-CN" altLang="en-US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是一种数据结构，可以将不同类型的数据结构组合到</a:t>
            </a:r>
            <a:r>
              <a:rPr lang="zh-CN" altLang="zh-CN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一个复合的</a:t>
            </a:r>
            <a:r>
              <a:rPr lang="zh-CN" altLang="en-US" dirty="0">
                <a:latin typeface="宋体" panose="02010600030101010101" pitchFamily="2" charset="-122"/>
                <a:cs typeface="Times New Roman" pitchFamily="18" charset="0"/>
                <a:sym typeface="+mn-ea"/>
              </a:rPr>
              <a:t>数据类型中</a:t>
            </a:r>
            <a:endParaRPr lang="zh-CN" altLang="en-US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25739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A2322-1FEB-4547-9E60-031A80DB4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结构体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D5E86699-D620-4C8C-B683-593A1A974E7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75" y="1867694"/>
            <a:ext cx="657225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93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21C0F57-E490-4803-A98C-76E2B94F9108}"/>
              </a:ext>
            </a:extLst>
          </p:cNvPr>
          <p:cNvGrpSpPr/>
          <p:nvPr/>
        </p:nvGrpSpPr>
        <p:grpSpPr>
          <a:xfrm>
            <a:off x="3239205" y="886120"/>
            <a:ext cx="6665225" cy="5697764"/>
            <a:chOff x="3877472" y="1282753"/>
            <a:chExt cx="4467270" cy="483083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EB45584-2F48-4C9E-A992-B83ED23CBE45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877472" y="1282753"/>
              <a:ext cx="4467270" cy="3552860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B817D236-55C5-4D08-B7F3-C51C2DF0152E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877472" y="4794281"/>
              <a:ext cx="4458596" cy="1319308"/>
            </a:xfrm>
            <a:prstGeom prst="rect">
              <a:avLst/>
            </a:prstGeom>
          </p:spPr>
        </p:pic>
      </p:grpSp>
      <p:sp>
        <p:nvSpPr>
          <p:cNvPr id="2" name="椭圆 1">
            <a:extLst>
              <a:ext uri="{FF2B5EF4-FFF2-40B4-BE49-F238E27FC236}">
                <a16:creationId xmlns:a16="http://schemas.microsoft.com/office/drawing/2014/main" id="{DADE757E-15CD-4952-924B-95EEDC48E820}"/>
              </a:ext>
            </a:extLst>
          </p:cNvPr>
          <p:cNvSpPr/>
          <p:nvPr/>
        </p:nvSpPr>
        <p:spPr>
          <a:xfrm>
            <a:off x="4144652" y="1753387"/>
            <a:ext cx="3450210" cy="3487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414BA6C-DB2E-46D0-A3D9-4DD9FD23CB5B}"/>
              </a:ext>
            </a:extLst>
          </p:cNvPr>
          <p:cNvSpPr/>
          <p:nvPr/>
        </p:nvSpPr>
        <p:spPr>
          <a:xfrm>
            <a:off x="3731443" y="4139938"/>
            <a:ext cx="3450210" cy="14124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193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80EE36-60C8-42F9-A63C-685B8702D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结构体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ED284DAF-35EF-435B-86C4-7DCC68BD39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0217" y="2008491"/>
            <a:ext cx="5151566" cy="398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3266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/>
              <a:t>识别</a:t>
            </a:r>
            <a:r>
              <a:rPr lang="en-US" altLang="zh-CN" dirty="0"/>
              <a:t>IF</a:t>
            </a:r>
            <a:r>
              <a:rPr lang="zh-CN" altLang="en-US" dirty="0"/>
              <a:t>分支结构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7898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D3A2F-C9F5-49A7-A5A2-04D77CDCC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识别</a:t>
            </a:r>
            <a:r>
              <a:rPr lang="en-US" altLang="zh-CN" dirty="0"/>
              <a:t>IF</a:t>
            </a:r>
            <a:r>
              <a:rPr lang="zh-CN" altLang="en-US" dirty="0"/>
              <a:t>分支结构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D8411E2-554E-4E00-9F3C-6AD61A84B9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788" y="1849438"/>
            <a:ext cx="5724425" cy="17422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8C4E1FD-B457-4E08-922B-D73F2151C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710" y="3844086"/>
            <a:ext cx="6160580" cy="2132509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5D225077-999B-42D4-B955-A50BB307AD47}"/>
              </a:ext>
            </a:extLst>
          </p:cNvPr>
          <p:cNvSpPr/>
          <p:nvPr/>
        </p:nvSpPr>
        <p:spPr>
          <a:xfrm>
            <a:off x="3486346" y="4366182"/>
            <a:ext cx="3450210" cy="4132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99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67657C-E8A6-407F-B2D0-FA573D32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识别</a:t>
            </a:r>
            <a:r>
              <a:rPr lang="en-US" altLang="zh-CN" dirty="0"/>
              <a:t>IF</a:t>
            </a:r>
            <a:r>
              <a:rPr lang="zh-CN" altLang="en-US" dirty="0"/>
              <a:t>分支结构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28256C-341B-490C-9D20-71AD87273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989139"/>
            <a:ext cx="4130494" cy="4092575"/>
          </a:xfrm>
        </p:spPr>
        <p:txBody>
          <a:bodyPr/>
          <a:lstStyle/>
          <a:p>
            <a:r>
              <a:rPr lang="en-US" altLang="zh-CN" dirty="0">
                <a:cs typeface="Times New Roman" panose="02020603050405020304" pitchFamily="18" charset="0"/>
              </a:rPr>
              <a:t>IF</a:t>
            </a:r>
            <a:r>
              <a:rPr lang="zh-CN" altLang="en-US" dirty="0">
                <a:cs typeface="Times New Roman" panose="02020603050405020304" pitchFamily="18" charset="0"/>
              </a:rPr>
              <a:t>语句的识别特征，</a:t>
            </a:r>
            <a:r>
              <a:rPr lang="en-US" altLang="zh-CN" dirty="0" err="1">
                <a:cs typeface="Times New Roman" panose="02020603050405020304" pitchFamily="18" charset="0"/>
              </a:rPr>
              <a:t>jxx</a:t>
            </a:r>
            <a:r>
              <a:rPr lang="zh-CN" altLang="en-US" dirty="0">
                <a:cs typeface="Times New Roman" panose="02020603050405020304" pitchFamily="18" charset="0"/>
              </a:rPr>
              <a:t>的跳转和一个无条件</a:t>
            </a:r>
            <a:r>
              <a:rPr lang="en-US" altLang="zh-CN" dirty="0" err="1">
                <a:cs typeface="Times New Roman" panose="02020603050405020304" pitchFamily="18" charset="0"/>
              </a:rPr>
              <a:t>jmp</a:t>
            </a:r>
            <a:r>
              <a:rPr lang="zh-CN" altLang="en-US" dirty="0">
                <a:cs typeface="Times New Roman" panose="02020603050405020304" pitchFamily="18" charset="0"/>
              </a:rPr>
              <a:t>指令</a:t>
            </a:r>
          </a:p>
          <a:p>
            <a:pPr marL="0" indent="0">
              <a:buNone/>
            </a:pPr>
            <a:endParaRPr lang="zh-CN" altLang="en-US" dirty="0"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593E1D4-5C52-40DA-A122-138A20E84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525" y="2104551"/>
            <a:ext cx="4281264" cy="411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80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2F9B52-F751-42D6-8C8D-AA01D80FA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识别</a:t>
            </a:r>
            <a:r>
              <a:rPr lang="en-US" altLang="zh-CN" dirty="0"/>
              <a:t>IF</a:t>
            </a:r>
            <a:r>
              <a:rPr lang="zh-CN" altLang="en-US" dirty="0"/>
              <a:t>分支结构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59994B0-94F2-44F5-B0D9-8030D94C1C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377" y="1825625"/>
            <a:ext cx="476124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0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/>
              <a:t>识别</a:t>
            </a:r>
            <a:r>
              <a:rPr lang="en-US" altLang="zh-CN" dirty="0"/>
              <a:t>Switch</a:t>
            </a:r>
            <a:r>
              <a:rPr lang="zh-CN" altLang="en-US" dirty="0"/>
              <a:t>结构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170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FCA95A-5A2F-4652-A6B2-504D2CF17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识别</a:t>
            </a:r>
            <a:r>
              <a:rPr lang="en-US" altLang="zh-CN" dirty="0"/>
              <a:t>Switch</a:t>
            </a:r>
            <a:r>
              <a:rPr lang="zh-CN" altLang="en-US" dirty="0"/>
              <a:t>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70AD10-41B6-4881-B08F-E7304E25B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cs typeface="Times New Roman" panose="02020603050405020304" pitchFamily="18" charset="0"/>
              </a:rPr>
              <a:t>S</a:t>
            </a:r>
            <a:r>
              <a:rPr lang="zh-CN" altLang="en-US" dirty="0">
                <a:cs typeface="Times New Roman" panose="02020603050405020304" pitchFamily="18" charset="0"/>
              </a:rPr>
              <a:t>witch结构用来实现基于字符或者整数的决策。</a:t>
            </a:r>
            <a:endParaRPr lang="en-US" altLang="zh-CN" dirty="0"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cs typeface="Times New Roman" panose="02020603050405020304" pitchFamily="18" charset="0"/>
              </a:rPr>
              <a:t>S</a:t>
            </a:r>
            <a:r>
              <a:rPr lang="zh-CN" altLang="en-US" dirty="0">
                <a:cs typeface="Times New Roman" panose="02020603050405020304" pitchFamily="18" charset="0"/>
              </a:rPr>
              <a:t>witch结构通常以两种方式被编译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>
                <a:cs typeface="Times New Roman" panose="02020603050405020304" pitchFamily="18" charset="0"/>
              </a:rPr>
              <a:t>使用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IF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方式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>
                <a:cs typeface="Times New Roman" panose="02020603050405020304" pitchFamily="18" charset="0"/>
              </a:rPr>
              <a:t>使用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跳转表</a:t>
            </a:r>
            <a:endParaRPr lang="zh-CN" altLang="en-US" dirty="0"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91838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59296BE4-8BA2-4E3E-9543-3199D2283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319" y="764260"/>
            <a:ext cx="7345362" cy="868363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识别</a:t>
            </a:r>
            <a:r>
              <a:rPr lang="en-US" altLang="zh-CN" dirty="0"/>
              <a:t>Switch</a:t>
            </a:r>
            <a:r>
              <a:rPr lang="zh-CN" altLang="en-US" dirty="0"/>
              <a:t>结构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DEE7EE1-B5E1-41C3-AF0D-FC77266BEF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0737" y="1510073"/>
            <a:ext cx="4079795" cy="522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6432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086F6F-3F15-45DD-9370-47306907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113" y="776288"/>
            <a:ext cx="7345362" cy="868363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跳转表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7B568C3A-CB51-489F-9602-037DFBEE28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1840" y="1536652"/>
            <a:ext cx="4881434" cy="517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4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/>
              <a:t>识别循环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534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48B5D2-4057-4F32-A6EA-1605C5E4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识别循环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8799FF-3DB3-4803-875E-BCF70B0FB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cs typeface="Times New Roman" panose="02020603050405020304" pitchFamily="18" charset="0"/>
              </a:rPr>
              <a:t>FOR</a:t>
            </a:r>
            <a:r>
              <a:rPr lang="zh-CN" altLang="en-US" dirty="0">
                <a:cs typeface="Times New Roman" panose="02020603050405020304" pitchFamily="18" charset="0"/>
              </a:rPr>
              <a:t>循环是一个C</a:t>
            </a:r>
            <a:r>
              <a:rPr lang="en-US" altLang="zh-CN" dirty="0">
                <a:cs typeface="Times New Roman" panose="02020603050405020304" pitchFamily="18" charset="0"/>
              </a:rPr>
              <a:t>/C++</a:t>
            </a:r>
            <a:r>
              <a:rPr lang="zh-CN" altLang="en-US" dirty="0">
                <a:cs typeface="Times New Roman" panose="02020603050405020304" pitchFamily="18" charset="0"/>
              </a:rPr>
              <a:t>编程使用的基本循环机制。</a:t>
            </a:r>
          </a:p>
          <a:p>
            <a:r>
              <a:rPr lang="en-US" altLang="zh-CN" dirty="0">
                <a:cs typeface="Times New Roman" panose="02020603050405020304" pitchFamily="18" charset="0"/>
              </a:rPr>
              <a:t>FOR</a:t>
            </a:r>
            <a:r>
              <a:rPr lang="zh-CN" altLang="en-US" dirty="0">
                <a:cs typeface="Times New Roman" panose="02020603050405020304" pitchFamily="18" charset="0"/>
              </a:rPr>
              <a:t>循环有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4个组件</a:t>
            </a:r>
            <a:r>
              <a:rPr lang="zh-CN" altLang="en-US" dirty="0">
                <a:cs typeface="Times New Roman" panose="02020603050405020304" pitchFamily="18" charset="0"/>
              </a:rPr>
              <a:t>：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初始化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比较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指令执行体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递增或递减</a:t>
            </a:r>
          </a:p>
        </p:txBody>
      </p:sp>
    </p:spTree>
    <p:extLst>
      <p:ext uri="{BB962C8B-B14F-4D97-AF65-F5344CB8AC3E}">
        <p14:creationId xmlns:p14="http://schemas.microsoft.com/office/powerpoint/2010/main" val="740290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492ECF-FE3C-4C77-AA69-71B7838B1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识别循环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72FBE0-B20E-4B66-AB49-5434ADA1F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746" y="1989138"/>
            <a:ext cx="5679175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B541E75-FAAA-4031-BD64-63053CB57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6094" y="3295651"/>
            <a:ext cx="6137275" cy="342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06475E4D-1979-4688-BA22-D6F2203D6260}"/>
              </a:ext>
            </a:extLst>
          </p:cNvPr>
          <p:cNvSpPr/>
          <p:nvPr/>
        </p:nvSpPr>
        <p:spPr>
          <a:xfrm>
            <a:off x="3439212" y="4884622"/>
            <a:ext cx="3450210" cy="4132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A49812E-BA27-42DC-82FA-314E6BEE5A40}"/>
              </a:ext>
            </a:extLst>
          </p:cNvPr>
          <p:cNvSpPr/>
          <p:nvPr/>
        </p:nvSpPr>
        <p:spPr>
          <a:xfrm>
            <a:off x="3439212" y="3363158"/>
            <a:ext cx="3450210" cy="4132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8A942AD-7C94-4EFE-9B58-2945F67BF277}"/>
              </a:ext>
            </a:extLst>
          </p:cNvPr>
          <p:cNvSpPr/>
          <p:nvPr/>
        </p:nvSpPr>
        <p:spPr>
          <a:xfrm>
            <a:off x="3337088" y="4024762"/>
            <a:ext cx="3450210" cy="4132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D6E7396-D963-403A-AD3A-F4133B9C0080}"/>
              </a:ext>
            </a:extLst>
          </p:cNvPr>
          <p:cNvSpPr/>
          <p:nvPr/>
        </p:nvSpPr>
        <p:spPr>
          <a:xfrm>
            <a:off x="3489488" y="5677578"/>
            <a:ext cx="3450210" cy="4132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73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5682B4B-AC4A-4004-A8ED-452A347FE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700" y="185132"/>
            <a:ext cx="65786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465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B0A90F-B68D-417D-8D3A-0E7BC9993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While</a:t>
            </a:r>
            <a:r>
              <a:rPr lang="zh-CN" altLang="en-US" dirty="0"/>
              <a:t>循环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E334DA-A18C-4A5C-B1C4-002FDA9AE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004" y="3381375"/>
            <a:ext cx="3111500" cy="15621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2F3D548-A50E-47FC-B36C-63DE626CB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091" y="2733675"/>
            <a:ext cx="42672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0799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2E5ED6-A1B3-41AA-B38A-273207FC2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4400" kern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en-US" altLang="zh-CN" sz="4400" kern="0" noProof="1">
                <a:sym typeface="+mn-ea"/>
              </a:rPr>
              <a:t>W</a:t>
            </a:r>
            <a:r>
              <a:rPr lang="zh-CN" altLang="en-US" sz="4400" kern="0" noProof="1">
                <a:sym typeface="+mn-ea"/>
              </a:rPr>
              <a:t>hile循环的识别特征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BBFDB8D3-68ED-4EC7-AFB6-A8328B82AF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868" y="2695011"/>
            <a:ext cx="4902527" cy="3148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8061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76975E-A238-4628-9865-C88EED75A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Do</a:t>
            </a:r>
            <a:r>
              <a:rPr lang="zh-CN" altLang="en-US" dirty="0"/>
              <a:t>循环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77FA7BE2-DCA9-473A-86E2-307E305574E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87358" y="1825625"/>
            <a:ext cx="6617283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988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C4C20F-D3C7-4BBD-9603-4E22AF9FA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Do</a:t>
            </a:r>
            <a:r>
              <a:rPr lang="zh-CN" altLang="en-US" dirty="0"/>
              <a:t>循环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646066E3-7DA9-4EED-B831-110994982A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2303665"/>
            <a:ext cx="10515600" cy="3395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474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989034-EDD3-4C12-A737-F9C79E916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Do</a:t>
            </a:r>
            <a:r>
              <a:rPr lang="zh-CN" altLang="en-US" dirty="0"/>
              <a:t>循环的识别特征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3364942D-8A9F-42EA-9620-98855E9FC71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40512" y="2236172"/>
            <a:ext cx="7110976" cy="3773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0337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969D0-D159-47F9-957C-49963E18C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本章知识点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B8B89F-D60A-42C3-84D9-4CFC30452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5663" y="2008074"/>
            <a:ext cx="7940675" cy="4092575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cs typeface="Times New Roman" panose="02020603050405020304" pitchFamily="18" charset="0"/>
              </a:rPr>
              <a:t>识别函数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难点：参数、局部变量、栈指针、函数调用约定</a:t>
            </a:r>
            <a:endParaRPr lang="en-US" altLang="zh-CN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cs typeface="Times New Roman" panose="02020603050405020304" pitchFamily="18" charset="0"/>
              </a:rPr>
              <a:t>识别变量、数组、结构体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cs typeface="Times New Roman" panose="02020603050405020304" pitchFamily="18" charset="0"/>
              </a:rPr>
              <a:t>识别</a:t>
            </a:r>
            <a:r>
              <a:rPr lang="en-US" altLang="zh-CN" dirty="0">
                <a:cs typeface="Times New Roman" panose="02020603050405020304" pitchFamily="18" charset="0"/>
              </a:rPr>
              <a:t>IF</a:t>
            </a:r>
            <a:r>
              <a:rPr lang="zh-CN" altLang="en-US" dirty="0">
                <a:cs typeface="Times New Roman" panose="02020603050405020304" pitchFamily="18" charset="0"/>
              </a:rPr>
              <a:t>分支结构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cs typeface="Times New Roman" panose="02020603050405020304" pitchFamily="18" charset="0"/>
              </a:rPr>
              <a:t>识别</a:t>
            </a:r>
            <a:r>
              <a:rPr lang="en-US" altLang="zh-CN" dirty="0">
                <a:cs typeface="Times New Roman" panose="02020603050405020304" pitchFamily="18" charset="0"/>
              </a:rPr>
              <a:t>Switch</a:t>
            </a:r>
            <a:r>
              <a:rPr lang="zh-CN" altLang="en-US" dirty="0">
                <a:cs typeface="Times New Roman" panose="02020603050405020304" pitchFamily="18" charset="0"/>
              </a:rPr>
              <a:t>结构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cs typeface="Times New Roman" panose="02020603050405020304" pitchFamily="18" charset="0"/>
              </a:rPr>
              <a:t>识别循环结构</a:t>
            </a:r>
            <a:endParaRPr lang="en-US" altLang="zh-CN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83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82802"/>
            <a:ext cx="12192000" cy="140530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i="0" dirty="0">
                <a:solidFill>
                  <a:schemeClr val="tx1"/>
                </a:solidFill>
                <a:ea typeface="宋体" panose="02010600030101010101" pitchFamily="2" charset="-122"/>
              </a:rPr>
              <a:t>汇编语言与逆向技术</a:t>
            </a:r>
            <a:br>
              <a:rPr lang="en-US" i="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3600" b="1" dirty="0">
                <a:solidFill>
                  <a:srgbClr val="7030A0"/>
                </a:solidFill>
              </a:rPr>
              <a:t>第</a:t>
            </a:r>
            <a:r>
              <a:rPr lang="en-US" altLang="zh-CN" sz="3600" b="1" dirty="0">
                <a:solidFill>
                  <a:srgbClr val="7030A0"/>
                </a:solidFill>
              </a:rPr>
              <a:t>10</a:t>
            </a:r>
            <a:r>
              <a:rPr lang="zh-CN" altLang="en-US" sz="3600" b="1" dirty="0">
                <a:solidFill>
                  <a:srgbClr val="7030A0"/>
                </a:solidFill>
              </a:rPr>
              <a:t>章 </a:t>
            </a:r>
            <a:r>
              <a:rPr lang="en-US" altLang="zh-CN" sz="3600" b="1" dirty="0">
                <a:solidFill>
                  <a:srgbClr val="7030A0"/>
                </a:solidFill>
              </a:rPr>
              <a:t>C</a:t>
            </a:r>
            <a:r>
              <a:rPr lang="zh-CN" altLang="en-US" sz="3600" b="1" dirty="0">
                <a:solidFill>
                  <a:srgbClr val="7030A0"/>
                </a:solidFill>
              </a:rPr>
              <a:t>语言程序逆向分析</a:t>
            </a:r>
            <a:endParaRPr lang="en-US" sz="2800" b="1" dirty="0">
              <a:solidFill>
                <a:srgbClr val="7030A0"/>
              </a:solidFill>
              <a:ea typeface="宋体" panose="02010600030101010101" pitchFamily="2" charset="-122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3626471"/>
            <a:ext cx="12192000" cy="130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/>
            <a:r>
              <a:rPr lang="zh-CN" altLang="en-US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王志、李旭昇、过辰锴、邓琮弋</a:t>
            </a:r>
            <a:r>
              <a:rPr lang="en-US" altLang="zh-CN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ctr" defTabSz="914400"/>
            <a:r>
              <a:rPr lang="en-US" altLang="zh-CN" sz="24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zwang@nankai.edu.cn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0" y="5179843"/>
            <a:ext cx="12192000" cy="167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南开大学 网络空间安全学院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defTabSz="914400">
              <a:lnSpc>
                <a:spcPct val="150000"/>
              </a:lnSpc>
            </a:pPr>
            <a:r>
              <a:rPr lang="en-US" altLang="zh-CN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2025-2026</a:t>
            </a: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97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HASREMARK" val="True"/>
  <p:tag name="PROBLEMVOICEALLOWED" val="False"/>
  <p:tag name="PROBLEMREMARK" val="使用栈传递参数、存储局部变量&#10;返回值通过eax寄存器返回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0.0"/>
  <p:tag name="PROBLEMBLANK" val="[{&quot;num&quot;:1,&quot;caseSensitive&quot;:false,&quot;fuzzyMatch&quot;:false,&quot;Score&quot;:10.0,&quot;answers&quot;:[&quot;0040DB00&quot;,&quot;0040DB00h&quot;]}]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0.0"/>
  <p:tag name="PROBLEMBLANK" val="[{&quot;num&quot;:1,&quot;caseSensitive&quot;:false,&quot;fuzzyMatch&quot;:false,&quot;Score&quot;:10.0,&quot;answers&quot;:[&quot;0019FF70&quot;,&quot;0019FF70h&quot;]}]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HASREMARK" val="True"/>
  <p:tag name="PROBLEMREMARK" val="ESP的值是0019FF74h，EIP的值是0040100Fh"/>
  <p:tag name="PROBLEMVOICEALLOWED" val="Fals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0.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3_400TGp_globalcity_light_ani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1855</TotalTime>
  <Words>1721</Words>
  <Application>Microsoft Office PowerPoint</Application>
  <PresentationFormat>宽屏</PresentationFormat>
  <Paragraphs>250</Paragraphs>
  <Slides>70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78" baseType="lpstr">
      <vt:lpstr>DengXian</vt:lpstr>
      <vt:lpstr>宋体</vt:lpstr>
      <vt:lpstr>Microsoft Yahei</vt:lpstr>
      <vt:lpstr>Arial</vt:lpstr>
      <vt:lpstr>Calibri</vt:lpstr>
      <vt:lpstr>Courier New</vt:lpstr>
      <vt:lpstr>Times New Roman</vt:lpstr>
      <vt:lpstr>3_400TGp_globalcity_light_ani</vt:lpstr>
      <vt:lpstr>汇编语言与逆向技术 第10章 C语言程序逆向分析</vt:lpstr>
      <vt:lpstr>本章知识点</vt:lpstr>
      <vt:lpstr>识别函数</vt:lpstr>
      <vt:lpstr>PowerPoint 演示文稿</vt:lpstr>
      <vt:lpstr>启动函数</vt:lpstr>
      <vt:lpstr>启动函数</vt:lpstr>
      <vt:lpstr>启动函数</vt:lpstr>
      <vt:lpstr>启动函数</vt:lpstr>
      <vt:lpstr>启动函数</vt:lpstr>
      <vt:lpstr>函数</vt:lpstr>
      <vt:lpstr>函数</vt:lpstr>
      <vt:lpstr>PowerPoint 演示文稿</vt:lpstr>
      <vt:lpstr>Call指令</vt:lpstr>
      <vt:lpstr>PowerPoint 演示文稿</vt:lpstr>
      <vt:lpstr>Call指令</vt:lpstr>
      <vt:lpstr>栈</vt:lpstr>
      <vt:lpstr>PowerPoint 演示文稿</vt:lpstr>
      <vt:lpstr>PowerPoint 演示文稿</vt:lpstr>
      <vt:lpstr>函数的调用过程</vt:lpstr>
      <vt:lpstr>传递参数、保存返回地址</vt:lpstr>
      <vt:lpstr>局部变量的初始化</vt:lpstr>
      <vt:lpstr>栈帧（Stack Frame）</vt:lpstr>
      <vt:lpstr>栈帧（Stack Frame）</vt:lpstr>
      <vt:lpstr>函数执行和返回过程</vt:lpstr>
      <vt:lpstr>函数的调用过程</vt:lpstr>
      <vt:lpstr>LEAVE指令</vt:lpstr>
      <vt:lpstr>RETN 指令</vt:lpstr>
      <vt:lpstr>PowerPoint 演示文稿</vt:lpstr>
      <vt:lpstr>PowerPoint 演示文稿</vt:lpstr>
      <vt:lpstr>调用约定（Calling Convention）</vt:lpstr>
      <vt:lpstr>Calling Convention</vt:lpstr>
      <vt:lpstr>Calling Convention</vt:lpstr>
      <vt:lpstr>Calling Convention</vt:lpstr>
      <vt:lpstr>__cdecl</vt:lpstr>
      <vt:lpstr>Calling Convention</vt:lpstr>
      <vt:lpstr>__stdcall</vt:lpstr>
      <vt:lpstr>PowerPoint 演示文稿</vt:lpstr>
      <vt:lpstr>识别变量、数组、结构体</vt:lpstr>
      <vt:lpstr>局部变量和全局变量</vt:lpstr>
      <vt:lpstr>全局变量和局部变量</vt:lpstr>
      <vt:lpstr>全局变量</vt:lpstr>
      <vt:lpstr>局部变量</vt:lpstr>
      <vt:lpstr>PowerPoint 演示文稿</vt:lpstr>
      <vt:lpstr>数组</vt:lpstr>
      <vt:lpstr>数组</vt:lpstr>
      <vt:lpstr>数组</vt:lpstr>
      <vt:lpstr>数组</vt:lpstr>
      <vt:lpstr>结构体</vt:lpstr>
      <vt:lpstr>结构体</vt:lpstr>
      <vt:lpstr>PowerPoint 演示文稿</vt:lpstr>
      <vt:lpstr>结构体</vt:lpstr>
      <vt:lpstr>识别IF分支结构</vt:lpstr>
      <vt:lpstr>识别IF分支结构</vt:lpstr>
      <vt:lpstr>识别IF分支结构</vt:lpstr>
      <vt:lpstr>识别IF分支结构</vt:lpstr>
      <vt:lpstr>识别Switch结构</vt:lpstr>
      <vt:lpstr>识别Switch结构</vt:lpstr>
      <vt:lpstr>识别Switch结构</vt:lpstr>
      <vt:lpstr>跳转表</vt:lpstr>
      <vt:lpstr>识别循环</vt:lpstr>
      <vt:lpstr>识别循环</vt:lpstr>
      <vt:lpstr>识别循环</vt:lpstr>
      <vt:lpstr>PowerPoint 演示文稿</vt:lpstr>
      <vt:lpstr>While循环</vt:lpstr>
      <vt:lpstr> While循环的识别特征</vt:lpstr>
      <vt:lpstr>Do循环</vt:lpstr>
      <vt:lpstr>Do循环</vt:lpstr>
      <vt:lpstr>Do循环的识别特征</vt:lpstr>
      <vt:lpstr>本章知识点</vt:lpstr>
      <vt:lpstr>汇编语言与逆向技术 第10章 C语言程序逆向分析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汇编与逆向技术基础  第6章 PE文件结构</dc:title>
  <dc:creator>zwang</dc:creator>
  <cp:lastModifiedBy>志 王</cp:lastModifiedBy>
  <cp:revision>326</cp:revision>
  <dcterms:created xsi:type="dcterms:W3CDTF">2020-04-06T07:26:55Z</dcterms:created>
  <dcterms:modified xsi:type="dcterms:W3CDTF">2025-12-13T14:01:03Z</dcterms:modified>
</cp:coreProperties>
</file>