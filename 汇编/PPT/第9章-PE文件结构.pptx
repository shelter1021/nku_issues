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vml" ContentType="application/vnd.openxmlformats-officedocument.vmlDrawing"/>
  <Default Extension="vsdx" ContentType="application/vnd.ms-visio.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0.xml" ContentType="application/vnd.openxmlformats-officedocument.presentationml.tags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2" r:id="rId1"/>
  </p:sldMasterIdLst>
  <p:notesMasterIdLst>
    <p:notesMasterId r:id="rId151"/>
  </p:notesMasterIdLst>
  <p:sldIdLst>
    <p:sldId id="332" r:id="rId2"/>
    <p:sldId id="356" r:id="rId3"/>
    <p:sldId id="266" r:id="rId4"/>
    <p:sldId id="668" r:id="rId5"/>
    <p:sldId id="675" r:id="rId6"/>
    <p:sldId id="544" r:id="rId7"/>
    <p:sldId id="669" r:id="rId8"/>
    <p:sldId id="671" r:id="rId9"/>
    <p:sldId id="672" r:id="rId10"/>
    <p:sldId id="545" r:id="rId11"/>
    <p:sldId id="547" r:id="rId12"/>
    <p:sldId id="548" r:id="rId13"/>
    <p:sldId id="684" r:id="rId14"/>
    <p:sldId id="549" r:id="rId15"/>
    <p:sldId id="685" r:id="rId16"/>
    <p:sldId id="603" r:id="rId17"/>
    <p:sldId id="676" r:id="rId18"/>
    <p:sldId id="677" r:id="rId19"/>
    <p:sldId id="543" r:id="rId20"/>
    <p:sldId id="550" r:id="rId21"/>
    <p:sldId id="551" r:id="rId22"/>
    <p:sldId id="552" r:id="rId23"/>
    <p:sldId id="705" r:id="rId24"/>
    <p:sldId id="553" r:id="rId25"/>
    <p:sldId id="706" r:id="rId26"/>
    <p:sldId id="558" r:id="rId27"/>
    <p:sldId id="565" r:id="rId28"/>
    <p:sldId id="673" r:id="rId29"/>
    <p:sldId id="556" r:id="rId30"/>
    <p:sldId id="554" r:id="rId31"/>
    <p:sldId id="555" r:id="rId32"/>
    <p:sldId id="557" r:id="rId33"/>
    <p:sldId id="702" r:id="rId34"/>
    <p:sldId id="559" r:id="rId35"/>
    <p:sldId id="560" r:id="rId36"/>
    <p:sldId id="561" r:id="rId37"/>
    <p:sldId id="562" r:id="rId38"/>
    <p:sldId id="563" r:id="rId39"/>
    <p:sldId id="564" r:id="rId40"/>
    <p:sldId id="678" r:id="rId41"/>
    <p:sldId id="679" r:id="rId42"/>
    <p:sldId id="613" r:id="rId43"/>
    <p:sldId id="566" r:id="rId44"/>
    <p:sldId id="674" r:id="rId45"/>
    <p:sldId id="567" r:id="rId46"/>
    <p:sldId id="568" r:id="rId47"/>
    <p:sldId id="569" r:id="rId48"/>
    <p:sldId id="681" r:id="rId49"/>
    <p:sldId id="680" r:id="rId50"/>
    <p:sldId id="682" r:id="rId51"/>
    <p:sldId id="570" r:id="rId52"/>
    <p:sldId id="571" r:id="rId53"/>
    <p:sldId id="572" r:id="rId54"/>
    <p:sldId id="574" r:id="rId55"/>
    <p:sldId id="575" r:id="rId56"/>
    <p:sldId id="576" r:id="rId57"/>
    <p:sldId id="577" r:id="rId58"/>
    <p:sldId id="578" r:id="rId59"/>
    <p:sldId id="579" r:id="rId60"/>
    <p:sldId id="580" r:id="rId61"/>
    <p:sldId id="581" r:id="rId62"/>
    <p:sldId id="614" r:id="rId63"/>
    <p:sldId id="582" r:id="rId64"/>
    <p:sldId id="584" r:id="rId65"/>
    <p:sldId id="585" r:id="rId66"/>
    <p:sldId id="586" r:id="rId67"/>
    <p:sldId id="587" r:id="rId68"/>
    <p:sldId id="588" r:id="rId69"/>
    <p:sldId id="589" r:id="rId70"/>
    <p:sldId id="590" r:id="rId71"/>
    <p:sldId id="591" r:id="rId72"/>
    <p:sldId id="592" r:id="rId73"/>
    <p:sldId id="593" r:id="rId74"/>
    <p:sldId id="594" r:id="rId75"/>
    <p:sldId id="595" r:id="rId76"/>
    <p:sldId id="596" r:id="rId77"/>
    <p:sldId id="597" r:id="rId78"/>
    <p:sldId id="598" r:id="rId79"/>
    <p:sldId id="601" r:id="rId80"/>
    <p:sldId id="602" r:id="rId81"/>
    <p:sldId id="600" r:id="rId82"/>
    <p:sldId id="686" r:id="rId83"/>
    <p:sldId id="628" r:id="rId84"/>
    <p:sldId id="687" r:id="rId85"/>
    <p:sldId id="605" r:id="rId86"/>
    <p:sldId id="606" r:id="rId87"/>
    <p:sldId id="607" r:id="rId88"/>
    <p:sldId id="608" r:id="rId89"/>
    <p:sldId id="688" r:id="rId90"/>
    <p:sldId id="609" r:id="rId91"/>
    <p:sldId id="610" r:id="rId92"/>
    <p:sldId id="611" r:id="rId93"/>
    <p:sldId id="612" r:id="rId94"/>
    <p:sldId id="689" r:id="rId95"/>
    <p:sldId id="690" r:id="rId96"/>
    <p:sldId id="615" r:id="rId97"/>
    <p:sldId id="616" r:id="rId98"/>
    <p:sldId id="617" r:id="rId99"/>
    <p:sldId id="618" r:id="rId100"/>
    <p:sldId id="619" r:id="rId101"/>
    <p:sldId id="620" r:id="rId102"/>
    <p:sldId id="629" r:id="rId103"/>
    <p:sldId id="621" r:id="rId104"/>
    <p:sldId id="622" r:id="rId105"/>
    <p:sldId id="623" r:id="rId106"/>
    <p:sldId id="691" r:id="rId107"/>
    <p:sldId id="625" r:id="rId108"/>
    <p:sldId id="627" r:id="rId109"/>
    <p:sldId id="626" r:id="rId110"/>
    <p:sldId id="704" r:id="rId111"/>
    <p:sldId id="644" r:id="rId112"/>
    <p:sldId id="692" r:id="rId113"/>
    <p:sldId id="645" r:id="rId114"/>
    <p:sldId id="693" r:id="rId115"/>
    <p:sldId id="630" r:id="rId116"/>
    <p:sldId id="631" r:id="rId117"/>
    <p:sldId id="632" r:id="rId118"/>
    <p:sldId id="636" r:id="rId119"/>
    <p:sldId id="637" r:id="rId120"/>
    <p:sldId id="638" r:id="rId121"/>
    <p:sldId id="633" r:id="rId122"/>
    <p:sldId id="634" r:id="rId123"/>
    <p:sldId id="639" r:id="rId124"/>
    <p:sldId id="640" r:id="rId125"/>
    <p:sldId id="642" r:id="rId126"/>
    <p:sldId id="643" r:id="rId127"/>
    <p:sldId id="635" r:id="rId128"/>
    <p:sldId id="646" r:id="rId129"/>
    <p:sldId id="647" r:id="rId130"/>
    <p:sldId id="649" r:id="rId131"/>
    <p:sldId id="694" r:id="rId132"/>
    <p:sldId id="695" r:id="rId133"/>
    <p:sldId id="650" r:id="rId134"/>
    <p:sldId id="703" r:id="rId135"/>
    <p:sldId id="651" r:id="rId136"/>
    <p:sldId id="652" r:id="rId137"/>
    <p:sldId id="654" r:id="rId138"/>
    <p:sldId id="656" r:id="rId139"/>
    <p:sldId id="657" r:id="rId140"/>
    <p:sldId id="655" r:id="rId141"/>
    <p:sldId id="653" r:id="rId142"/>
    <p:sldId id="659" r:id="rId143"/>
    <p:sldId id="660" r:id="rId144"/>
    <p:sldId id="696" r:id="rId145"/>
    <p:sldId id="664" r:id="rId146"/>
    <p:sldId id="665" r:id="rId147"/>
    <p:sldId id="667" r:id="rId148"/>
    <p:sldId id="699" r:id="rId149"/>
    <p:sldId id="701" r:id="rId15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80607" autoAdjust="0"/>
  </p:normalViewPr>
  <p:slideViewPr>
    <p:cSldViewPr snapToGrid="0" snapToObjects="1">
      <p:cViewPr varScale="1">
        <p:scale>
          <a:sx n="77" d="100"/>
          <a:sy n="77" d="100"/>
        </p:scale>
        <p:origin x="267" y="4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21296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napToObjects="1">
      <p:cViewPr varScale="1">
        <p:scale>
          <a:sx n="48" d="100"/>
          <a:sy n="48" d="100"/>
        </p:scale>
        <p:origin x="2184" y="1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slide" Target="slides/slide133.xml"/><Relationship Id="rId139" Type="http://schemas.openxmlformats.org/officeDocument/2006/relationships/slide" Target="slides/slide13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55" Type="http://schemas.openxmlformats.org/officeDocument/2006/relationships/tableStyles" Target="tableStyles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45" Type="http://schemas.openxmlformats.org/officeDocument/2006/relationships/slide" Target="slides/slide14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51" Type="http://schemas.openxmlformats.org/officeDocument/2006/relationships/notesMaster" Target="notesMasters/notesMaster1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viewProps" Target="viewProps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theme" Target="theme/theme1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0B8E9B-9938-FE4B-AE28-1C6AC5DA2731}" type="datetimeFigureOut">
              <a:rPr kumimoji="1" lang="zh-CN" altLang="en-US" smtClean="0"/>
              <a:t>2025/11/13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B215D2-4FF9-AF41-91A8-41FD4B9A927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417714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B215D2-4FF9-AF41-91A8-41FD4B9A9275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730156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B215D2-4FF9-AF41-91A8-41FD4B9A9275}" type="slidenum">
              <a:rPr kumimoji="1" lang="zh-CN" altLang="en-US" smtClean="0"/>
              <a:t>149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41594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05525" y="1122363"/>
            <a:ext cx="10180949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25604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18144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82961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11/13/2025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52735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userDrawn="1">
  <p:cSld name="1_标题幻灯片">
    <p:bg>
      <p:bgPr>
        <a:gradFill rotWithShape="0">
          <a:gsLst>
            <a:gs pos="0">
              <a:schemeClr val="bg1"/>
            </a:gs>
            <a:gs pos="100000">
              <a:srgbClr val="3366FF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31" name="Picture 135" descr="3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68717" cy="1638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223" name="Rectangle 127"/>
          <p:cNvSpPr>
            <a:spLocks noChangeArrowheads="1"/>
          </p:cNvSpPr>
          <p:nvPr userDrawn="1"/>
        </p:nvSpPr>
        <p:spPr bwMode="gray">
          <a:xfrm>
            <a:off x="0" y="1"/>
            <a:ext cx="12192000" cy="1628775"/>
          </a:xfrm>
          <a:prstGeom prst="rect">
            <a:avLst/>
          </a:prstGeom>
          <a:gradFill rotWithShape="1">
            <a:gsLst>
              <a:gs pos="0">
                <a:srgbClr val="3366FF">
                  <a:alpha val="30000"/>
                </a:srgbClr>
              </a:gs>
              <a:gs pos="100000">
                <a:schemeClr val="bg1">
                  <a:alpha val="78999"/>
                </a:scheme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800"/>
          </a:p>
        </p:txBody>
      </p:sp>
      <p:grpSp>
        <p:nvGrpSpPr>
          <p:cNvPr id="4111" name="Group 15"/>
          <p:cNvGrpSpPr>
            <a:grpSpLocks/>
          </p:cNvGrpSpPr>
          <p:nvPr/>
        </p:nvGrpSpPr>
        <p:grpSpPr bwMode="auto">
          <a:xfrm>
            <a:off x="0" y="1773238"/>
            <a:ext cx="12192000" cy="4895850"/>
            <a:chOff x="664" y="1951"/>
            <a:chExt cx="4308" cy="2120"/>
          </a:xfrm>
        </p:grpSpPr>
        <p:sp>
          <p:nvSpPr>
            <p:cNvPr id="4112" name="Freeform 16"/>
            <p:cNvSpPr>
              <a:spLocks/>
            </p:cNvSpPr>
            <p:nvPr/>
          </p:nvSpPr>
          <p:spPr bwMode="invGray">
            <a:xfrm>
              <a:off x="743" y="2045"/>
              <a:ext cx="1267" cy="1938"/>
            </a:xfrm>
            <a:custGeom>
              <a:avLst/>
              <a:gdLst>
                <a:gd name="T0" fmla="*/ 116 w 1692"/>
                <a:gd name="T1" fmla="*/ 258 h 2586"/>
                <a:gd name="T2" fmla="*/ 320 w 1692"/>
                <a:gd name="T3" fmla="*/ 210 h 2586"/>
                <a:gd name="T4" fmla="*/ 434 w 1692"/>
                <a:gd name="T5" fmla="*/ 240 h 2586"/>
                <a:gd name="T6" fmla="*/ 416 w 1692"/>
                <a:gd name="T7" fmla="*/ 444 h 2586"/>
                <a:gd name="T8" fmla="*/ 272 w 1692"/>
                <a:gd name="T9" fmla="*/ 582 h 2586"/>
                <a:gd name="T10" fmla="*/ 218 w 1692"/>
                <a:gd name="T11" fmla="*/ 714 h 2586"/>
                <a:gd name="T12" fmla="*/ 284 w 1692"/>
                <a:gd name="T13" fmla="*/ 964 h 2586"/>
                <a:gd name="T14" fmla="*/ 316 w 1692"/>
                <a:gd name="T15" fmla="*/ 960 h 2586"/>
                <a:gd name="T16" fmla="*/ 328 w 1692"/>
                <a:gd name="T17" fmla="*/ 906 h 2586"/>
                <a:gd name="T18" fmla="*/ 478 w 1692"/>
                <a:gd name="T19" fmla="*/ 1154 h 2586"/>
                <a:gd name="T20" fmla="*/ 650 w 1692"/>
                <a:gd name="T21" fmla="*/ 1200 h 2586"/>
                <a:gd name="T22" fmla="*/ 794 w 1692"/>
                <a:gd name="T23" fmla="*/ 1350 h 2586"/>
                <a:gd name="T24" fmla="*/ 854 w 1692"/>
                <a:gd name="T25" fmla="*/ 1422 h 2586"/>
                <a:gd name="T26" fmla="*/ 770 w 1692"/>
                <a:gd name="T27" fmla="*/ 1608 h 2586"/>
                <a:gd name="T28" fmla="*/ 916 w 1692"/>
                <a:gd name="T29" fmla="*/ 1782 h 2586"/>
                <a:gd name="T30" fmla="*/ 1034 w 1692"/>
                <a:gd name="T31" fmla="*/ 2022 h 2586"/>
                <a:gd name="T32" fmla="*/ 1094 w 1692"/>
                <a:gd name="T33" fmla="*/ 2310 h 2586"/>
                <a:gd name="T34" fmla="*/ 1194 w 1692"/>
                <a:gd name="T35" fmla="*/ 2540 h 2586"/>
                <a:gd name="T36" fmla="*/ 1280 w 1692"/>
                <a:gd name="T37" fmla="*/ 2520 h 2586"/>
                <a:gd name="T38" fmla="*/ 1244 w 1692"/>
                <a:gd name="T39" fmla="*/ 2394 h 2586"/>
                <a:gd name="T40" fmla="*/ 1288 w 1692"/>
                <a:gd name="T41" fmla="*/ 2306 h 2586"/>
                <a:gd name="T42" fmla="*/ 1368 w 1692"/>
                <a:gd name="T43" fmla="*/ 2228 h 2586"/>
                <a:gd name="T44" fmla="*/ 1448 w 1692"/>
                <a:gd name="T45" fmla="*/ 2076 h 2586"/>
                <a:gd name="T46" fmla="*/ 1568 w 1692"/>
                <a:gd name="T47" fmla="*/ 1950 h 2586"/>
                <a:gd name="T48" fmla="*/ 1622 w 1692"/>
                <a:gd name="T49" fmla="*/ 1746 h 2586"/>
                <a:gd name="T50" fmla="*/ 1552 w 1692"/>
                <a:gd name="T51" fmla="*/ 1538 h 2586"/>
                <a:gd name="T52" fmla="*/ 1376 w 1692"/>
                <a:gd name="T53" fmla="*/ 1410 h 2586"/>
                <a:gd name="T54" fmla="*/ 1104 w 1692"/>
                <a:gd name="T55" fmla="*/ 1280 h 2586"/>
                <a:gd name="T56" fmla="*/ 974 w 1692"/>
                <a:gd name="T57" fmla="*/ 1260 h 2586"/>
                <a:gd name="T58" fmla="*/ 904 w 1692"/>
                <a:gd name="T59" fmla="*/ 1268 h 2586"/>
                <a:gd name="T60" fmla="*/ 794 w 1692"/>
                <a:gd name="T61" fmla="*/ 1308 h 2586"/>
                <a:gd name="T62" fmla="*/ 758 w 1692"/>
                <a:gd name="T63" fmla="*/ 1174 h 2586"/>
                <a:gd name="T64" fmla="*/ 736 w 1692"/>
                <a:gd name="T65" fmla="*/ 1062 h 2586"/>
                <a:gd name="T66" fmla="*/ 632 w 1692"/>
                <a:gd name="T67" fmla="*/ 1104 h 2586"/>
                <a:gd name="T68" fmla="*/ 568 w 1692"/>
                <a:gd name="T69" fmla="*/ 950 h 2586"/>
                <a:gd name="T70" fmla="*/ 740 w 1692"/>
                <a:gd name="T71" fmla="*/ 912 h 2586"/>
                <a:gd name="T72" fmla="*/ 842 w 1692"/>
                <a:gd name="T73" fmla="*/ 906 h 2586"/>
                <a:gd name="T74" fmla="*/ 896 w 1692"/>
                <a:gd name="T75" fmla="*/ 900 h 2586"/>
                <a:gd name="T76" fmla="*/ 1058 w 1692"/>
                <a:gd name="T77" fmla="*/ 750 h 2586"/>
                <a:gd name="T78" fmla="*/ 1184 w 1692"/>
                <a:gd name="T79" fmla="*/ 678 h 2586"/>
                <a:gd name="T80" fmla="*/ 1278 w 1692"/>
                <a:gd name="T81" fmla="*/ 636 h 2586"/>
                <a:gd name="T82" fmla="*/ 1340 w 1692"/>
                <a:gd name="T83" fmla="*/ 538 h 2586"/>
                <a:gd name="T84" fmla="*/ 1288 w 1692"/>
                <a:gd name="T85" fmla="*/ 512 h 2586"/>
                <a:gd name="T86" fmla="*/ 1526 w 1692"/>
                <a:gd name="T87" fmla="*/ 456 h 2586"/>
                <a:gd name="T88" fmla="*/ 1406 w 1692"/>
                <a:gd name="T89" fmla="*/ 342 h 2586"/>
                <a:gd name="T90" fmla="*/ 1328 w 1692"/>
                <a:gd name="T91" fmla="*/ 264 h 2586"/>
                <a:gd name="T92" fmla="*/ 1222 w 1692"/>
                <a:gd name="T93" fmla="*/ 364 h 2586"/>
                <a:gd name="T94" fmla="*/ 1110 w 1692"/>
                <a:gd name="T95" fmla="*/ 444 h 2586"/>
                <a:gd name="T96" fmla="*/ 1022 w 1692"/>
                <a:gd name="T97" fmla="*/ 304 h 2586"/>
                <a:gd name="T98" fmla="*/ 1212 w 1692"/>
                <a:gd name="T99" fmla="*/ 240 h 2586"/>
                <a:gd name="T100" fmla="*/ 1266 w 1692"/>
                <a:gd name="T101" fmla="*/ 198 h 2586"/>
                <a:gd name="T102" fmla="*/ 1328 w 1692"/>
                <a:gd name="T103" fmla="*/ 172 h 2586"/>
                <a:gd name="T104" fmla="*/ 1286 w 1692"/>
                <a:gd name="T105" fmla="*/ 144 h 2586"/>
                <a:gd name="T106" fmla="*/ 1262 w 1692"/>
                <a:gd name="T107" fmla="*/ 120 h 2586"/>
                <a:gd name="T108" fmla="*/ 1202 w 1692"/>
                <a:gd name="T109" fmla="*/ 102 h 2586"/>
                <a:gd name="T110" fmla="*/ 1106 w 1692"/>
                <a:gd name="T111" fmla="*/ 136 h 2586"/>
                <a:gd name="T112" fmla="*/ 950 w 1692"/>
                <a:gd name="T113" fmla="*/ 120 h 2586"/>
                <a:gd name="T114" fmla="*/ 550 w 1692"/>
                <a:gd name="T115" fmla="*/ 0 h 2586"/>
                <a:gd name="T116" fmla="*/ 344 w 1692"/>
                <a:gd name="T117" fmla="*/ 32 h 2586"/>
                <a:gd name="T118" fmla="*/ 290 w 1692"/>
                <a:gd name="T119" fmla="*/ 102 h 2586"/>
                <a:gd name="T120" fmla="*/ 128 w 1692"/>
                <a:gd name="T121" fmla="*/ 174 h 2586"/>
                <a:gd name="T122" fmla="*/ 128 w 1692"/>
                <a:gd name="T123" fmla="*/ 216 h 2586"/>
                <a:gd name="T124" fmla="*/ 2 w 1692"/>
                <a:gd name="T125" fmla="*/ 252 h 25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692" h="2586">
                  <a:moveTo>
                    <a:pt x="2" y="252"/>
                  </a:moveTo>
                  <a:lnTo>
                    <a:pt x="68" y="264"/>
                  </a:lnTo>
                  <a:lnTo>
                    <a:pt x="116" y="258"/>
                  </a:lnTo>
                  <a:lnTo>
                    <a:pt x="188" y="216"/>
                  </a:lnTo>
                  <a:lnTo>
                    <a:pt x="236" y="210"/>
                  </a:lnTo>
                  <a:lnTo>
                    <a:pt x="320" y="210"/>
                  </a:lnTo>
                  <a:lnTo>
                    <a:pt x="368" y="216"/>
                  </a:lnTo>
                  <a:lnTo>
                    <a:pt x="398" y="246"/>
                  </a:lnTo>
                  <a:lnTo>
                    <a:pt x="434" y="240"/>
                  </a:lnTo>
                  <a:lnTo>
                    <a:pt x="422" y="294"/>
                  </a:lnTo>
                  <a:lnTo>
                    <a:pt x="404" y="354"/>
                  </a:lnTo>
                  <a:lnTo>
                    <a:pt x="416" y="444"/>
                  </a:lnTo>
                  <a:lnTo>
                    <a:pt x="408" y="480"/>
                  </a:lnTo>
                  <a:lnTo>
                    <a:pt x="380" y="474"/>
                  </a:lnTo>
                  <a:lnTo>
                    <a:pt x="272" y="582"/>
                  </a:lnTo>
                  <a:lnTo>
                    <a:pt x="236" y="628"/>
                  </a:lnTo>
                  <a:lnTo>
                    <a:pt x="242" y="672"/>
                  </a:lnTo>
                  <a:lnTo>
                    <a:pt x="218" y="714"/>
                  </a:lnTo>
                  <a:lnTo>
                    <a:pt x="268" y="774"/>
                  </a:lnTo>
                  <a:lnTo>
                    <a:pt x="262" y="844"/>
                  </a:lnTo>
                  <a:lnTo>
                    <a:pt x="284" y="964"/>
                  </a:lnTo>
                  <a:lnTo>
                    <a:pt x="320" y="1010"/>
                  </a:lnTo>
                  <a:lnTo>
                    <a:pt x="324" y="970"/>
                  </a:lnTo>
                  <a:lnTo>
                    <a:pt x="316" y="960"/>
                  </a:lnTo>
                  <a:lnTo>
                    <a:pt x="302" y="834"/>
                  </a:lnTo>
                  <a:lnTo>
                    <a:pt x="326" y="830"/>
                  </a:lnTo>
                  <a:lnTo>
                    <a:pt x="328" y="906"/>
                  </a:lnTo>
                  <a:lnTo>
                    <a:pt x="380" y="996"/>
                  </a:lnTo>
                  <a:lnTo>
                    <a:pt x="368" y="1074"/>
                  </a:lnTo>
                  <a:lnTo>
                    <a:pt x="478" y="1154"/>
                  </a:lnTo>
                  <a:lnTo>
                    <a:pt x="564" y="1164"/>
                  </a:lnTo>
                  <a:lnTo>
                    <a:pt x="612" y="1208"/>
                  </a:lnTo>
                  <a:lnTo>
                    <a:pt x="650" y="1200"/>
                  </a:lnTo>
                  <a:lnTo>
                    <a:pt x="680" y="1224"/>
                  </a:lnTo>
                  <a:lnTo>
                    <a:pt x="698" y="1272"/>
                  </a:lnTo>
                  <a:lnTo>
                    <a:pt x="794" y="1350"/>
                  </a:lnTo>
                  <a:lnTo>
                    <a:pt x="842" y="1308"/>
                  </a:lnTo>
                  <a:lnTo>
                    <a:pt x="848" y="1350"/>
                  </a:lnTo>
                  <a:lnTo>
                    <a:pt x="854" y="1422"/>
                  </a:lnTo>
                  <a:lnTo>
                    <a:pt x="786" y="1490"/>
                  </a:lnTo>
                  <a:lnTo>
                    <a:pt x="788" y="1542"/>
                  </a:lnTo>
                  <a:lnTo>
                    <a:pt x="770" y="1608"/>
                  </a:lnTo>
                  <a:lnTo>
                    <a:pt x="802" y="1634"/>
                  </a:lnTo>
                  <a:lnTo>
                    <a:pt x="848" y="1668"/>
                  </a:lnTo>
                  <a:lnTo>
                    <a:pt x="916" y="1782"/>
                  </a:lnTo>
                  <a:lnTo>
                    <a:pt x="956" y="1800"/>
                  </a:lnTo>
                  <a:lnTo>
                    <a:pt x="1010" y="1848"/>
                  </a:lnTo>
                  <a:lnTo>
                    <a:pt x="1034" y="2022"/>
                  </a:lnTo>
                  <a:lnTo>
                    <a:pt x="1058" y="2178"/>
                  </a:lnTo>
                  <a:lnTo>
                    <a:pt x="1046" y="2244"/>
                  </a:lnTo>
                  <a:lnTo>
                    <a:pt x="1094" y="2310"/>
                  </a:lnTo>
                  <a:lnTo>
                    <a:pt x="1118" y="2364"/>
                  </a:lnTo>
                  <a:lnTo>
                    <a:pt x="1138" y="2458"/>
                  </a:lnTo>
                  <a:lnTo>
                    <a:pt x="1194" y="2540"/>
                  </a:lnTo>
                  <a:lnTo>
                    <a:pt x="1286" y="2586"/>
                  </a:lnTo>
                  <a:lnTo>
                    <a:pt x="1382" y="2574"/>
                  </a:lnTo>
                  <a:lnTo>
                    <a:pt x="1280" y="2520"/>
                  </a:lnTo>
                  <a:lnTo>
                    <a:pt x="1266" y="2472"/>
                  </a:lnTo>
                  <a:lnTo>
                    <a:pt x="1288" y="2428"/>
                  </a:lnTo>
                  <a:lnTo>
                    <a:pt x="1244" y="2394"/>
                  </a:lnTo>
                  <a:lnTo>
                    <a:pt x="1284" y="2334"/>
                  </a:lnTo>
                  <a:lnTo>
                    <a:pt x="1244" y="2300"/>
                  </a:lnTo>
                  <a:lnTo>
                    <a:pt x="1288" y="2306"/>
                  </a:lnTo>
                  <a:lnTo>
                    <a:pt x="1286" y="2244"/>
                  </a:lnTo>
                  <a:lnTo>
                    <a:pt x="1330" y="2268"/>
                  </a:lnTo>
                  <a:lnTo>
                    <a:pt x="1368" y="2228"/>
                  </a:lnTo>
                  <a:lnTo>
                    <a:pt x="1334" y="2160"/>
                  </a:lnTo>
                  <a:lnTo>
                    <a:pt x="1382" y="2184"/>
                  </a:lnTo>
                  <a:lnTo>
                    <a:pt x="1448" y="2076"/>
                  </a:lnTo>
                  <a:lnTo>
                    <a:pt x="1468" y="2052"/>
                  </a:lnTo>
                  <a:lnTo>
                    <a:pt x="1476" y="1982"/>
                  </a:lnTo>
                  <a:lnTo>
                    <a:pt x="1568" y="1950"/>
                  </a:lnTo>
                  <a:lnTo>
                    <a:pt x="1612" y="1880"/>
                  </a:lnTo>
                  <a:lnTo>
                    <a:pt x="1628" y="1830"/>
                  </a:lnTo>
                  <a:lnTo>
                    <a:pt x="1622" y="1746"/>
                  </a:lnTo>
                  <a:lnTo>
                    <a:pt x="1692" y="1644"/>
                  </a:lnTo>
                  <a:lnTo>
                    <a:pt x="1652" y="1578"/>
                  </a:lnTo>
                  <a:lnTo>
                    <a:pt x="1552" y="1538"/>
                  </a:lnTo>
                  <a:lnTo>
                    <a:pt x="1448" y="1500"/>
                  </a:lnTo>
                  <a:lnTo>
                    <a:pt x="1376" y="1494"/>
                  </a:lnTo>
                  <a:lnTo>
                    <a:pt x="1376" y="1410"/>
                  </a:lnTo>
                  <a:lnTo>
                    <a:pt x="1262" y="1356"/>
                  </a:lnTo>
                  <a:lnTo>
                    <a:pt x="1166" y="1272"/>
                  </a:lnTo>
                  <a:lnTo>
                    <a:pt x="1104" y="1280"/>
                  </a:lnTo>
                  <a:lnTo>
                    <a:pt x="1048" y="1276"/>
                  </a:lnTo>
                  <a:lnTo>
                    <a:pt x="1020" y="1244"/>
                  </a:lnTo>
                  <a:lnTo>
                    <a:pt x="974" y="1260"/>
                  </a:lnTo>
                  <a:lnTo>
                    <a:pt x="984" y="1238"/>
                  </a:lnTo>
                  <a:lnTo>
                    <a:pt x="934" y="1268"/>
                  </a:lnTo>
                  <a:lnTo>
                    <a:pt x="904" y="1268"/>
                  </a:lnTo>
                  <a:lnTo>
                    <a:pt x="872" y="1314"/>
                  </a:lnTo>
                  <a:lnTo>
                    <a:pt x="836" y="1272"/>
                  </a:lnTo>
                  <a:lnTo>
                    <a:pt x="794" y="1308"/>
                  </a:lnTo>
                  <a:lnTo>
                    <a:pt x="748" y="1278"/>
                  </a:lnTo>
                  <a:lnTo>
                    <a:pt x="758" y="1242"/>
                  </a:lnTo>
                  <a:lnTo>
                    <a:pt x="758" y="1174"/>
                  </a:lnTo>
                  <a:lnTo>
                    <a:pt x="698" y="1176"/>
                  </a:lnTo>
                  <a:lnTo>
                    <a:pt x="668" y="1140"/>
                  </a:lnTo>
                  <a:lnTo>
                    <a:pt x="736" y="1062"/>
                  </a:lnTo>
                  <a:lnTo>
                    <a:pt x="712" y="1050"/>
                  </a:lnTo>
                  <a:lnTo>
                    <a:pt x="658" y="1062"/>
                  </a:lnTo>
                  <a:lnTo>
                    <a:pt x="632" y="1104"/>
                  </a:lnTo>
                  <a:lnTo>
                    <a:pt x="596" y="1110"/>
                  </a:lnTo>
                  <a:lnTo>
                    <a:pt x="538" y="1066"/>
                  </a:lnTo>
                  <a:lnTo>
                    <a:pt x="568" y="950"/>
                  </a:lnTo>
                  <a:lnTo>
                    <a:pt x="632" y="894"/>
                  </a:lnTo>
                  <a:lnTo>
                    <a:pt x="686" y="894"/>
                  </a:lnTo>
                  <a:lnTo>
                    <a:pt x="740" y="912"/>
                  </a:lnTo>
                  <a:lnTo>
                    <a:pt x="736" y="900"/>
                  </a:lnTo>
                  <a:lnTo>
                    <a:pt x="766" y="868"/>
                  </a:lnTo>
                  <a:lnTo>
                    <a:pt x="842" y="906"/>
                  </a:lnTo>
                  <a:lnTo>
                    <a:pt x="848" y="966"/>
                  </a:lnTo>
                  <a:lnTo>
                    <a:pt x="884" y="984"/>
                  </a:lnTo>
                  <a:lnTo>
                    <a:pt x="896" y="900"/>
                  </a:lnTo>
                  <a:lnTo>
                    <a:pt x="878" y="858"/>
                  </a:lnTo>
                  <a:lnTo>
                    <a:pt x="998" y="806"/>
                  </a:lnTo>
                  <a:lnTo>
                    <a:pt x="1058" y="750"/>
                  </a:lnTo>
                  <a:lnTo>
                    <a:pt x="1100" y="696"/>
                  </a:lnTo>
                  <a:lnTo>
                    <a:pt x="1130" y="672"/>
                  </a:lnTo>
                  <a:lnTo>
                    <a:pt x="1184" y="678"/>
                  </a:lnTo>
                  <a:lnTo>
                    <a:pt x="1190" y="636"/>
                  </a:lnTo>
                  <a:lnTo>
                    <a:pt x="1280" y="588"/>
                  </a:lnTo>
                  <a:lnTo>
                    <a:pt x="1278" y="636"/>
                  </a:lnTo>
                  <a:lnTo>
                    <a:pt x="1360" y="602"/>
                  </a:lnTo>
                  <a:lnTo>
                    <a:pt x="1322" y="570"/>
                  </a:lnTo>
                  <a:lnTo>
                    <a:pt x="1340" y="538"/>
                  </a:lnTo>
                  <a:lnTo>
                    <a:pt x="1320" y="522"/>
                  </a:lnTo>
                  <a:lnTo>
                    <a:pt x="1286" y="546"/>
                  </a:lnTo>
                  <a:lnTo>
                    <a:pt x="1288" y="512"/>
                  </a:lnTo>
                  <a:lnTo>
                    <a:pt x="1400" y="504"/>
                  </a:lnTo>
                  <a:lnTo>
                    <a:pt x="1490" y="480"/>
                  </a:lnTo>
                  <a:lnTo>
                    <a:pt x="1526" y="456"/>
                  </a:lnTo>
                  <a:lnTo>
                    <a:pt x="1484" y="394"/>
                  </a:lnTo>
                  <a:cubicBezTo>
                    <a:pt x="1474" y="370"/>
                    <a:pt x="1479" y="319"/>
                    <a:pt x="1466" y="310"/>
                  </a:cubicBezTo>
                  <a:cubicBezTo>
                    <a:pt x="1456" y="300"/>
                    <a:pt x="1423" y="343"/>
                    <a:pt x="1406" y="342"/>
                  </a:cubicBezTo>
                  <a:lnTo>
                    <a:pt x="1376" y="312"/>
                  </a:lnTo>
                  <a:lnTo>
                    <a:pt x="1376" y="270"/>
                  </a:lnTo>
                  <a:lnTo>
                    <a:pt x="1328" y="264"/>
                  </a:lnTo>
                  <a:lnTo>
                    <a:pt x="1312" y="252"/>
                  </a:lnTo>
                  <a:lnTo>
                    <a:pt x="1256" y="314"/>
                  </a:lnTo>
                  <a:lnTo>
                    <a:pt x="1222" y="364"/>
                  </a:lnTo>
                  <a:lnTo>
                    <a:pt x="1172" y="402"/>
                  </a:lnTo>
                  <a:lnTo>
                    <a:pt x="1136" y="474"/>
                  </a:lnTo>
                  <a:lnTo>
                    <a:pt x="1110" y="444"/>
                  </a:lnTo>
                  <a:lnTo>
                    <a:pt x="1128" y="394"/>
                  </a:lnTo>
                  <a:lnTo>
                    <a:pt x="1038" y="334"/>
                  </a:lnTo>
                  <a:lnTo>
                    <a:pt x="1022" y="304"/>
                  </a:lnTo>
                  <a:lnTo>
                    <a:pt x="1122" y="226"/>
                  </a:lnTo>
                  <a:lnTo>
                    <a:pt x="1184" y="222"/>
                  </a:lnTo>
                  <a:lnTo>
                    <a:pt x="1212" y="240"/>
                  </a:lnTo>
                  <a:lnTo>
                    <a:pt x="1248" y="220"/>
                  </a:lnTo>
                  <a:lnTo>
                    <a:pt x="1300" y="220"/>
                  </a:lnTo>
                  <a:lnTo>
                    <a:pt x="1266" y="198"/>
                  </a:lnTo>
                  <a:lnTo>
                    <a:pt x="1208" y="196"/>
                  </a:lnTo>
                  <a:lnTo>
                    <a:pt x="1250" y="174"/>
                  </a:lnTo>
                  <a:lnTo>
                    <a:pt x="1328" y="172"/>
                  </a:lnTo>
                  <a:lnTo>
                    <a:pt x="1364" y="132"/>
                  </a:lnTo>
                  <a:cubicBezTo>
                    <a:pt x="1346" y="124"/>
                    <a:pt x="1343" y="119"/>
                    <a:pt x="1324" y="122"/>
                  </a:cubicBezTo>
                  <a:cubicBezTo>
                    <a:pt x="1310" y="124"/>
                    <a:pt x="1294" y="132"/>
                    <a:pt x="1286" y="144"/>
                  </a:cubicBezTo>
                  <a:cubicBezTo>
                    <a:pt x="1282" y="149"/>
                    <a:pt x="1274" y="148"/>
                    <a:pt x="1268" y="150"/>
                  </a:cubicBezTo>
                  <a:cubicBezTo>
                    <a:pt x="1266" y="144"/>
                    <a:pt x="1259" y="138"/>
                    <a:pt x="1262" y="132"/>
                  </a:cubicBezTo>
                  <a:cubicBezTo>
                    <a:pt x="1269" y="118"/>
                    <a:pt x="1303" y="134"/>
                    <a:pt x="1262" y="120"/>
                  </a:cubicBezTo>
                  <a:cubicBezTo>
                    <a:pt x="1221" y="134"/>
                    <a:pt x="1252" y="105"/>
                    <a:pt x="1262" y="90"/>
                  </a:cubicBezTo>
                  <a:cubicBezTo>
                    <a:pt x="1260" y="84"/>
                    <a:pt x="1262" y="75"/>
                    <a:pt x="1256" y="72"/>
                  </a:cubicBezTo>
                  <a:cubicBezTo>
                    <a:pt x="1238" y="63"/>
                    <a:pt x="1202" y="102"/>
                    <a:pt x="1202" y="102"/>
                  </a:cubicBezTo>
                  <a:cubicBezTo>
                    <a:pt x="1198" y="108"/>
                    <a:pt x="1186" y="140"/>
                    <a:pt x="1180" y="144"/>
                  </a:cubicBezTo>
                  <a:cubicBezTo>
                    <a:pt x="1169" y="151"/>
                    <a:pt x="1148" y="122"/>
                    <a:pt x="1148" y="122"/>
                  </a:cubicBezTo>
                  <a:cubicBezTo>
                    <a:pt x="1138" y="123"/>
                    <a:pt x="1121" y="137"/>
                    <a:pt x="1106" y="136"/>
                  </a:cubicBezTo>
                  <a:cubicBezTo>
                    <a:pt x="1091" y="135"/>
                    <a:pt x="1074" y="117"/>
                    <a:pt x="1056" y="116"/>
                  </a:cubicBezTo>
                  <a:cubicBezTo>
                    <a:pt x="1038" y="115"/>
                    <a:pt x="1016" y="131"/>
                    <a:pt x="998" y="132"/>
                  </a:cubicBezTo>
                  <a:cubicBezTo>
                    <a:pt x="997" y="132"/>
                    <a:pt x="956" y="125"/>
                    <a:pt x="950" y="120"/>
                  </a:cubicBezTo>
                  <a:cubicBezTo>
                    <a:pt x="918" y="94"/>
                    <a:pt x="960" y="108"/>
                    <a:pt x="920" y="90"/>
                  </a:cubicBezTo>
                  <a:cubicBezTo>
                    <a:pt x="852" y="60"/>
                    <a:pt x="806" y="58"/>
                    <a:pt x="730" y="54"/>
                  </a:cubicBezTo>
                  <a:cubicBezTo>
                    <a:pt x="656" y="39"/>
                    <a:pt x="625" y="15"/>
                    <a:pt x="550" y="0"/>
                  </a:cubicBezTo>
                  <a:cubicBezTo>
                    <a:pt x="510" y="2"/>
                    <a:pt x="486" y="5"/>
                    <a:pt x="446" y="8"/>
                  </a:cubicBezTo>
                  <a:cubicBezTo>
                    <a:pt x="424" y="9"/>
                    <a:pt x="423" y="14"/>
                    <a:pt x="406" y="18"/>
                  </a:cubicBezTo>
                  <a:cubicBezTo>
                    <a:pt x="389" y="22"/>
                    <a:pt x="353" y="24"/>
                    <a:pt x="344" y="32"/>
                  </a:cubicBezTo>
                  <a:cubicBezTo>
                    <a:pt x="346" y="38"/>
                    <a:pt x="354" y="60"/>
                    <a:pt x="350" y="64"/>
                  </a:cubicBezTo>
                  <a:cubicBezTo>
                    <a:pt x="274" y="50"/>
                    <a:pt x="250" y="81"/>
                    <a:pt x="236" y="82"/>
                  </a:cubicBezTo>
                  <a:cubicBezTo>
                    <a:pt x="278" y="110"/>
                    <a:pt x="270" y="72"/>
                    <a:pt x="290" y="102"/>
                  </a:cubicBezTo>
                  <a:cubicBezTo>
                    <a:pt x="234" y="121"/>
                    <a:pt x="178" y="104"/>
                    <a:pt x="128" y="138"/>
                  </a:cubicBezTo>
                  <a:cubicBezTo>
                    <a:pt x="126" y="144"/>
                    <a:pt x="122" y="150"/>
                    <a:pt x="122" y="156"/>
                  </a:cubicBezTo>
                  <a:cubicBezTo>
                    <a:pt x="122" y="162"/>
                    <a:pt x="132" y="170"/>
                    <a:pt x="128" y="174"/>
                  </a:cubicBezTo>
                  <a:cubicBezTo>
                    <a:pt x="126" y="182"/>
                    <a:pt x="109" y="197"/>
                    <a:pt x="112" y="202"/>
                  </a:cubicBezTo>
                  <a:cubicBezTo>
                    <a:pt x="124" y="206"/>
                    <a:pt x="137" y="195"/>
                    <a:pt x="146" y="204"/>
                  </a:cubicBezTo>
                  <a:cubicBezTo>
                    <a:pt x="151" y="209"/>
                    <a:pt x="135" y="213"/>
                    <a:pt x="128" y="216"/>
                  </a:cubicBezTo>
                  <a:cubicBezTo>
                    <a:pt x="116" y="221"/>
                    <a:pt x="104" y="226"/>
                    <a:pt x="92" y="228"/>
                  </a:cubicBezTo>
                  <a:cubicBezTo>
                    <a:pt x="48" y="237"/>
                    <a:pt x="72" y="233"/>
                    <a:pt x="20" y="240"/>
                  </a:cubicBezTo>
                  <a:cubicBezTo>
                    <a:pt x="0" y="247"/>
                    <a:pt x="2" y="240"/>
                    <a:pt x="2" y="25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13" name="Freeform 17"/>
            <p:cNvSpPr>
              <a:spLocks/>
            </p:cNvSpPr>
            <p:nvPr/>
          </p:nvSpPr>
          <p:spPr bwMode="invGray">
            <a:xfrm>
              <a:off x="703" y="2230"/>
              <a:ext cx="34" cy="28"/>
            </a:xfrm>
            <a:custGeom>
              <a:avLst/>
              <a:gdLst>
                <a:gd name="T0" fmla="*/ 16 w 46"/>
                <a:gd name="T1" fmla="*/ 4 h 38"/>
                <a:gd name="T2" fmla="*/ 0 w 46"/>
                <a:gd name="T3" fmla="*/ 22 h 38"/>
                <a:gd name="T4" fmla="*/ 22 w 46"/>
                <a:gd name="T5" fmla="*/ 38 h 38"/>
                <a:gd name="T6" fmla="*/ 46 w 46"/>
                <a:gd name="T7" fmla="*/ 26 h 38"/>
                <a:gd name="T8" fmla="*/ 30 w 46"/>
                <a:gd name="T9" fmla="*/ 0 h 38"/>
                <a:gd name="T10" fmla="*/ 16 w 46"/>
                <a:gd name="T11" fmla="*/ 4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6" h="38">
                  <a:moveTo>
                    <a:pt x="16" y="4"/>
                  </a:moveTo>
                  <a:lnTo>
                    <a:pt x="0" y="22"/>
                  </a:lnTo>
                  <a:lnTo>
                    <a:pt x="22" y="38"/>
                  </a:lnTo>
                  <a:lnTo>
                    <a:pt x="46" y="26"/>
                  </a:lnTo>
                  <a:lnTo>
                    <a:pt x="30" y="0"/>
                  </a:lnTo>
                  <a:lnTo>
                    <a:pt x="16" y="4"/>
                  </a:ln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14" name="Freeform 18"/>
            <p:cNvSpPr>
              <a:spLocks/>
            </p:cNvSpPr>
            <p:nvPr/>
          </p:nvSpPr>
          <p:spPr bwMode="invGray">
            <a:xfrm>
              <a:off x="1010" y="2353"/>
              <a:ext cx="39" cy="32"/>
            </a:xfrm>
            <a:custGeom>
              <a:avLst/>
              <a:gdLst>
                <a:gd name="T0" fmla="*/ 12 w 52"/>
                <a:gd name="T1" fmla="*/ 0 h 44"/>
                <a:gd name="T2" fmla="*/ 26 w 52"/>
                <a:gd name="T3" fmla="*/ 44 h 44"/>
                <a:gd name="T4" fmla="*/ 42 w 52"/>
                <a:gd name="T5" fmla="*/ 42 h 44"/>
                <a:gd name="T6" fmla="*/ 38 w 52"/>
                <a:gd name="T7" fmla="*/ 16 h 44"/>
                <a:gd name="T8" fmla="*/ 26 w 52"/>
                <a:gd name="T9" fmla="*/ 2 h 44"/>
                <a:gd name="T10" fmla="*/ 12 w 52"/>
                <a:gd name="T11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2" h="44">
                  <a:moveTo>
                    <a:pt x="12" y="0"/>
                  </a:moveTo>
                  <a:cubicBezTo>
                    <a:pt x="16" y="14"/>
                    <a:pt x="18" y="32"/>
                    <a:pt x="26" y="44"/>
                  </a:cubicBezTo>
                  <a:cubicBezTo>
                    <a:pt x="31" y="43"/>
                    <a:pt x="37" y="44"/>
                    <a:pt x="42" y="42"/>
                  </a:cubicBezTo>
                  <a:cubicBezTo>
                    <a:pt x="52" y="38"/>
                    <a:pt x="48" y="19"/>
                    <a:pt x="38" y="16"/>
                  </a:cubicBezTo>
                  <a:cubicBezTo>
                    <a:pt x="33" y="9"/>
                    <a:pt x="34" y="5"/>
                    <a:pt x="26" y="2"/>
                  </a:cubicBezTo>
                  <a:cubicBezTo>
                    <a:pt x="4" y="4"/>
                    <a:pt x="0" y="8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15" name="Freeform 19"/>
            <p:cNvSpPr>
              <a:spLocks/>
            </p:cNvSpPr>
            <p:nvPr/>
          </p:nvSpPr>
          <p:spPr bwMode="invGray">
            <a:xfrm>
              <a:off x="1792" y="2409"/>
              <a:ext cx="98" cy="74"/>
            </a:xfrm>
            <a:custGeom>
              <a:avLst/>
              <a:gdLst>
                <a:gd name="T0" fmla="*/ 97 w 131"/>
                <a:gd name="T1" fmla="*/ 0 h 98"/>
                <a:gd name="T2" fmla="*/ 79 w 131"/>
                <a:gd name="T3" fmla="*/ 8 h 98"/>
                <a:gd name="T4" fmla="*/ 53 w 131"/>
                <a:gd name="T5" fmla="*/ 24 h 98"/>
                <a:gd name="T6" fmla="*/ 39 w 131"/>
                <a:gd name="T7" fmla="*/ 40 h 98"/>
                <a:gd name="T8" fmla="*/ 21 w 131"/>
                <a:gd name="T9" fmla="*/ 52 h 98"/>
                <a:gd name="T10" fmla="*/ 63 w 131"/>
                <a:gd name="T11" fmla="*/ 82 h 98"/>
                <a:gd name="T12" fmla="*/ 79 w 131"/>
                <a:gd name="T13" fmla="*/ 94 h 98"/>
                <a:gd name="T14" fmla="*/ 85 w 131"/>
                <a:gd name="T15" fmla="*/ 92 h 98"/>
                <a:gd name="T16" fmla="*/ 89 w 131"/>
                <a:gd name="T17" fmla="*/ 86 h 98"/>
                <a:gd name="T18" fmla="*/ 97 w 131"/>
                <a:gd name="T19" fmla="*/ 98 h 98"/>
                <a:gd name="T20" fmla="*/ 123 w 131"/>
                <a:gd name="T21" fmla="*/ 86 h 98"/>
                <a:gd name="T22" fmla="*/ 129 w 131"/>
                <a:gd name="T23" fmla="*/ 74 h 98"/>
                <a:gd name="T24" fmla="*/ 101 w 131"/>
                <a:gd name="T25" fmla="*/ 40 h 98"/>
                <a:gd name="T26" fmla="*/ 115 w 131"/>
                <a:gd name="T27" fmla="*/ 24 h 98"/>
                <a:gd name="T28" fmla="*/ 111 w 131"/>
                <a:gd name="T29" fmla="*/ 4 h 98"/>
                <a:gd name="T30" fmla="*/ 97 w 131"/>
                <a:gd name="T31" fmla="*/ 0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31" h="98">
                  <a:moveTo>
                    <a:pt x="97" y="0"/>
                  </a:moveTo>
                  <a:cubicBezTo>
                    <a:pt x="83" y="5"/>
                    <a:pt x="89" y="2"/>
                    <a:pt x="79" y="8"/>
                  </a:cubicBezTo>
                  <a:cubicBezTo>
                    <a:pt x="76" y="18"/>
                    <a:pt x="62" y="18"/>
                    <a:pt x="53" y="24"/>
                  </a:cubicBezTo>
                  <a:cubicBezTo>
                    <a:pt x="49" y="29"/>
                    <a:pt x="44" y="36"/>
                    <a:pt x="39" y="40"/>
                  </a:cubicBezTo>
                  <a:cubicBezTo>
                    <a:pt x="34" y="45"/>
                    <a:pt x="21" y="52"/>
                    <a:pt x="21" y="52"/>
                  </a:cubicBezTo>
                  <a:cubicBezTo>
                    <a:pt x="0" y="84"/>
                    <a:pt x="41" y="75"/>
                    <a:pt x="63" y="82"/>
                  </a:cubicBezTo>
                  <a:cubicBezTo>
                    <a:pt x="68" y="89"/>
                    <a:pt x="71" y="91"/>
                    <a:pt x="79" y="94"/>
                  </a:cubicBezTo>
                  <a:cubicBezTo>
                    <a:pt x="81" y="93"/>
                    <a:pt x="83" y="93"/>
                    <a:pt x="85" y="92"/>
                  </a:cubicBezTo>
                  <a:cubicBezTo>
                    <a:pt x="87" y="90"/>
                    <a:pt x="87" y="85"/>
                    <a:pt x="89" y="86"/>
                  </a:cubicBezTo>
                  <a:cubicBezTo>
                    <a:pt x="93" y="88"/>
                    <a:pt x="97" y="98"/>
                    <a:pt x="97" y="98"/>
                  </a:cubicBezTo>
                  <a:cubicBezTo>
                    <a:pt x="112" y="95"/>
                    <a:pt x="111" y="90"/>
                    <a:pt x="123" y="86"/>
                  </a:cubicBezTo>
                  <a:cubicBezTo>
                    <a:pt x="124" y="82"/>
                    <a:pt x="128" y="78"/>
                    <a:pt x="129" y="74"/>
                  </a:cubicBezTo>
                  <a:cubicBezTo>
                    <a:pt x="131" y="61"/>
                    <a:pt x="108" y="47"/>
                    <a:pt x="101" y="40"/>
                  </a:cubicBezTo>
                  <a:cubicBezTo>
                    <a:pt x="103" y="33"/>
                    <a:pt x="115" y="24"/>
                    <a:pt x="115" y="24"/>
                  </a:cubicBezTo>
                  <a:cubicBezTo>
                    <a:pt x="121" y="15"/>
                    <a:pt x="124" y="8"/>
                    <a:pt x="111" y="4"/>
                  </a:cubicBezTo>
                  <a:cubicBezTo>
                    <a:pt x="101" y="7"/>
                    <a:pt x="97" y="13"/>
                    <a:pt x="97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16" name="Freeform 20"/>
            <p:cNvSpPr>
              <a:spLocks/>
            </p:cNvSpPr>
            <p:nvPr/>
          </p:nvSpPr>
          <p:spPr bwMode="invGray">
            <a:xfrm>
              <a:off x="1318" y="2793"/>
              <a:ext cx="158" cy="84"/>
            </a:xfrm>
            <a:custGeom>
              <a:avLst/>
              <a:gdLst>
                <a:gd name="T0" fmla="*/ 47 w 212"/>
                <a:gd name="T1" fmla="*/ 12 h 112"/>
                <a:gd name="T2" fmla="*/ 17 w 212"/>
                <a:gd name="T3" fmla="*/ 12 h 112"/>
                <a:gd name="T4" fmla="*/ 5 w 212"/>
                <a:gd name="T5" fmla="*/ 16 h 112"/>
                <a:gd name="T6" fmla="*/ 25 w 212"/>
                <a:gd name="T7" fmla="*/ 52 h 112"/>
                <a:gd name="T8" fmla="*/ 51 w 212"/>
                <a:gd name="T9" fmla="*/ 44 h 112"/>
                <a:gd name="T10" fmla="*/ 93 w 212"/>
                <a:gd name="T11" fmla="*/ 54 h 112"/>
                <a:gd name="T12" fmla="*/ 111 w 212"/>
                <a:gd name="T13" fmla="*/ 60 h 112"/>
                <a:gd name="T14" fmla="*/ 133 w 212"/>
                <a:gd name="T15" fmla="*/ 88 h 112"/>
                <a:gd name="T16" fmla="*/ 141 w 212"/>
                <a:gd name="T17" fmla="*/ 112 h 112"/>
                <a:gd name="T18" fmla="*/ 157 w 212"/>
                <a:gd name="T19" fmla="*/ 100 h 112"/>
                <a:gd name="T20" fmla="*/ 169 w 212"/>
                <a:gd name="T21" fmla="*/ 96 h 112"/>
                <a:gd name="T22" fmla="*/ 187 w 212"/>
                <a:gd name="T23" fmla="*/ 102 h 112"/>
                <a:gd name="T24" fmla="*/ 195 w 212"/>
                <a:gd name="T25" fmla="*/ 80 h 112"/>
                <a:gd name="T26" fmla="*/ 153 w 212"/>
                <a:gd name="T27" fmla="*/ 54 h 112"/>
                <a:gd name="T28" fmla="*/ 105 w 212"/>
                <a:gd name="T29" fmla="*/ 20 h 112"/>
                <a:gd name="T30" fmla="*/ 53 w 212"/>
                <a:gd name="T31" fmla="*/ 26 h 112"/>
                <a:gd name="T32" fmla="*/ 47 w 212"/>
                <a:gd name="T33" fmla="*/ 12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12" h="112">
                  <a:moveTo>
                    <a:pt x="47" y="12"/>
                  </a:moveTo>
                  <a:cubicBezTo>
                    <a:pt x="39" y="0"/>
                    <a:pt x="28" y="7"/>
                    <a:pt x="17" y="12"/>
                  </a:cubicBezTo>
                  <a:cubicBezTo>
                    <a:pt x="13" y="14"/>
                    <a:pt x="5" y="16"/>
                    <a:pt x="5" y="16"/>
                  </a:cubicBezTo>
                  <a:cubicBezTo>
                    <a:pt x="0" y="31"/>
                    <a:pt x="10" y="48"/>
                    <a:pt x="25" y="52"/>
                  </a:cubicBezTo>
                  <a:cubicBezTo>
                    <a:pt x="37" y="50"/>
                    <a:pt x="41" y="47"/>
                    <a:pt x="51" y="44"/>
                  </a:cubicBezTo>
                  <a:cubicBezTo>
                    <a:pt x="65" y="53"/>
                    <a:pt x="76" y="53"/>
                    <a:pt x="93" y="54"/>
                  </a:cubicBezTo>
                  <a:cubicBezTo>
                    <a:pt x="99" y="56"/>
                    <a:pt x="111" y="60"/>
                    <a:pt x="111" y="60"/>
                  </a:cubicBezTo>
                  <a:cubicBezTo>
                    <a:pt x="120" y="69"/>
                    <a:pt x="129" y="75"/>
                    <a:pt x="133" y="88"/>
                  </a:cubicBezTo>
                  <a:cubicBezTo>
                    <a:pt x="125" y="100"/>
                    <a:pt x="126" y="107"/>
                    <a:pt x="141" y="112"/>
                  </a:cubicBezTo>
                  <a:cubicBezTo>
                    <a:pt x="145" y="106"/>
                    <a:pt x="150" y="103"/>
                    <a:pt x="157" y="100"/>
                  </a:cubicBezTo>
                  <a:cubicBezTo>
                    <a:pt x="161" y="98"/>
                    <a:pt x="169" y="96"/>
                    <a:pt x="169" y="96"/>
                  </a:cubicBezTo>
                  <a:cubicBezTo>
                    <a:pt x="175" y="98"/>
                    <a:pt x="187" y="102"/>
                    <a:pt x="187" y="102"/>
                  </a:cubicBezTo>
                  <a:cubicBezTo>
                    <a:pt x="203" y="100"/>
                    <a:pt x="212" y="94"/>
                    <a:pt x="195" y="80"/>
                  </a:cubicBezTo>
                  <a:cubicBezTo>
                    <a:pt x="183" y="70"/>
                    <a:pt x="165" y="66"/>
                    <a:pt x="153" y="54"/>
                  </a:cubicBezTo>
                  <a:cubicBezTo>
                    <a:pt x="141" y="42"/>
                    <a:pt x="122" y="26"/>
                    <a:pt x="105" y="20"/>
                  </a:cubicBezTo>
                  <a:cubicBezTo>
                    <a:pt x="85" y="21"/>
                    <a:pt x="71" y="20"/>
                    <a:pt x="53" y="26"/>
                  </a:cubicBezTo>
                  <a:cubicBezTo>
                    <a:pt x="47" y="24"/>
                    <a:pt x="33" y="12"/>
                    <a:pt x="47" y="1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17" name="Freeform 21"/>
            <p:cNvSpPr>
              <a:spLocks/>
            </p:cNvSpPr>
            <p:nvPr/>
          </p:nvSpPr>
          <p:spPr bwMode="invGray">
            <a:xfrm>
              <a:off x="1448" y="2857"/>
              <a:ext cx="99" cy="41"/>
            </a:xfrm>
            <a:custGeom>
              <a:avLst/>
              <a:gdLst>
                <a:gd name="T0" fmla="*/ 57 w 133"/>
                <a:gd name="T1" fmla="*/ 0 h 54"/>
                <a:gd name="T2" fmla="*/ 43 w 133"/>
                <a:gd name="T3" fmla="*/ 6 h 54"/>
                <a:gd name="T4" fmla="*/ 31 w 133"/>
                <a:gd name="T5" fmla="*/ 30 h 54"/>
                <a:gd name="T6" fmla="*/ 15 w 133"/>
                <a:gd name="T7" fmla="*/ 34 h 54"/>
                <a:gd name="T8" fmla="*/ 3 w 133"/>
                <a:gd name="T9" fmla="*/ 42 h 54"/>
                <a:gd name="T10" fmla="*/ 13 w 133"/>
                <a:gd name="T11" fmla="*/ 54 h 54"/>
                <a:gd name="T12" fmla="*/ 133 w 133"/>
                <a:gd name="T13" fmla="*/ 34 h 54"/>
                <a:gd name="T14" fmla="*/ 123 w 133"/>
                <a:gd name="T15" fmla="*/ 16 h 54"/>
                <a:gd name="T16" fmla="*/ 105 w 133"/>
                <a:gd name="T17" fmla="*/ 8 h 54"/>
                <a:gd name="T18" fmla="*/ 101 w 133"/>
                <a:gd name="T19" fmla="*/ 24 h 54"/>
                <a:gd name="T20" fmla="*/ 89 w 133"/>
                <a:gd name="T21" fmla="*/ 18 h 54"/>
                <a:gd name="T22" fmla="*/ 67 w 133"/>
                <a:gd name="T23" fmla="*/ 14 h 54"/>
                <a:gd name="T24" fmla="*/ 57 w 133"/>
                <a:gd name="T25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3" h="54">
                  <a:moveTo>
                    <a:pt x="57" y="0"/>
                  </a:moveTo>
                  <a:cubicBezTo>
                    <a:pt x="53" y="3"/>
                    <a:pt x="46" y="2"/>
                    <a:pt x="43" y="6"/>
                  </a:cubicBezTo>
                  <a:cubicBezTo>
                    <a:pt x="36" y="14"/>
                    <a:pt x="43" y="26"/>
                    <a:pt x="31" y="30"/>
                  </a:cubicBezTo>
                  <a:cubicBezTo>
                    <a:pt x="26" y="32"/>
                    <a:pt x="20" y="31"/>
                    <a:pt x="15" y="34"/>
                  </a:cubicBezTo>
                  <a:cubicBezTo>
                    <a:pt x="11" y="36"/>
                    <a:pt x="3" y="42"/>
                    <a:pt x="3" y="42"/>
                  </a:cubicBezTo>
                  <a:cubicBezTo>
                    <a:pt x="0" y="51"/>
                    <a:pt x="5" y="51"/>
                    <a:pt x="13" y="54"/>
                  </a:cubicBezTo>
                  <a:cubicBezTo>
                    <a:pt x="51" y="51"/>
                    <a:pt x="97" y="46"/>
                    <a:pt x="133" y="34"/>
                  </a:cubicBezTo>
                  <a:cubicBezTo>
                    <a:pt x="129" y="28"/>
                    <a:pt x="128" y="21"/>
                    <a:pt x="123" y="16"/>
                  </a:cubicBezTo>
                  <a:cubicBezTo>
                    <a:pt x="118" y="11"/>
                    <a:pt x="105" y="8"/>
                    <a:pt x="105" y="8"/>
                  </a:cubicBezTo>
                  <a:cubicBezTo>
                    <a:pt x="84" y="13"/>
                    <a:pt x="106" y="19"/>
                    <a:pt x="101" y="24"/>
                  </a:cubicBezTo>
                  <a:cubicBezTo>
                    <a:pt x="99" y="26"/>
                    <a:pt x="89" y="18"/>
                    <a:pt x="89" y="18"/>
                  </a:cubicBezTo>
                  <a:cubicBezTo>
                    <a:pt x="83" y="15"/>
                    <a:pt x="73" y="15"/>
                    <a:pt x="67" y="14"/>
                  </a:cubicBezTo>
                  <a:cubicBezTo>
                    <a:pt x="58" y="8"/>
                    <a:pt x="62" y="12"/>
                    <a:pt x="57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18" name="Freeform 22"/>
            <p:cNvSpPr>
              <a:spLocks/>
            </p:cNvSpPr>
            <p:nvPr/>
          </p:nvSpPr>
          <p:spPr bwMode="invGray">
            <a:xfrm>
              <a:off x="1553" y="2883"/>
              <a:ext cx="38" cy="18"/>
            </a:xfrm>
            <a:custGeom>
              <a:avLst/>
              <a:gdLst>
                <a:gd name="T0" fmla="*/ 13 w 51"/>
                <a:gd name="T1" fmla="*/ 0 h 24"/>
                <a:gd name="T2" fmla="*/ 7 w 51"/>
                <a:gd name="T3" fmla="*/ 18 h 24"/>
                <a:gd name="T4" fmla="*/ 27 w 51"/>
                <a:gd name="T5" fmla="*/ 24 h 24"/>
                <a:gd name="T6" fmla="*/ 33 w 51"/>
                <a:gd name="T7" fmla="*/ 4 h 24"/>
                <a:gd name="T8" fmla="*/ 13 w 51"/>
                <a:gd name="T9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19" name="Freeform 23"/>
            <p:cNvSpPr>
              <a:spLocks/>
            </p:cNvSpPr>
            <p:nvPr/>
          </p:nvSpPr>
          <p:spPr bwMode="invGray">
            <a:xfrm>
              <a:off x="1609" y="2886"/>
              <a:ext cx="12" cy="25"/>
            </a:xfrm>
            <a:custGeom>
              <a:avLst/>
              <a:gdLst>
                <a:gd name="T0" fmla="*/ 14 w 16"/>
                <a:gd name="T1" fmla="*/ 0 h 34"/>
                <a:gd name="T2" fmla="*/ 0 w 16"/>
                <a:gd name="T3" fmla="*/ 14 h 34"/>
                <a:gd name="T4" fmla="*/ 16 w 16"/>
                <a:gd name="T5" fmla="*/ 34 h 34"/>
                <a:gd name="T6" fmla="*/ 12 w 16"/>
                <a:gd name="T7" fmla="*/ 18 h 34"/>
                <a:gd name="T8" fmla="*/ 16 w 16"/>
                <a:gd name="T9" fmla="*/ 6 h 34"/>
                <a:gd name="T10" fmla="*/ 14 w 16"/>
                <a:gd name="T11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" h="34">
                  <a:moveTo>
                    <a:pt x="14" y="0"/>
                  </a:moveTo>
                  <a:cubicBezTo>
                    <a:pt x="5" y="3"/>
                    <a:pt x="2" y="4"/>
                    <a:pt x="0" y="14"/>
                  </a:cubicBezTo>
                  <a:cubicBezTo>
                    <a:pt x="3" y="26"/>
                    <a:pt x="4" y="30"/>
                    <a:pt x="16" y="34"/>
                  </a:cubicBezTo>
                  <a:cubicBezTo>
                    <a:pt x="15" y="29"/>
                    <a:pt x="11" y="23"/>
                    <a:pt x="12" y="18"/>
                  </a:cubicBezTo>
                  <a:cubicBezTo>
                    <a:pt x="12" y="14"/>
                    <a:pt x="16" y="6"/>
                    <a:pt x="16" y="6"/>
                  </a:cubicBezTo>
                  <a:cubicBezTo>
                    <a:pt x="9" y="1"/>
                    <a:pt x="8" y="3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0" name="Freeform 24"/>
            <p:cNvSpPr>
              <a:spLocks/>
            </p:cNvSpPr>
            <p:nvPr/>
          </p:nvSpPr>
          <p:spPr bwMode="invGray">
            <a:xfrm>
              <a:off x="1426" y="2040"/>
              <a:ext cx="180" cy="88"/>
            </a:xfrm>
            <a:custGeom>
              <a:avLst/>
              <a:gdLst>
                <a:gd name="T0" fmla="*/ 64 w 240"/>
                <a:gd name="T1" fmla="*/ 1 h 117"/>
                <a:gd name="T2" fmla="*/ 24 w 240"/>
                <a:gd name="T3" fmla="*/ 31 h 117"/>
                <a:gd name="T4" fmla="*/ 6 w 240"/>
                <a:gd name="T5" fmla="*/ 37 h 117"/>
                <a:gd name="T6" fmla="*/ 0 w 240"/>
                <a:gd name="T7" fmla="*/ 39 h 117"/>
                <a:gd name="T8" fmla="*/ 26 w 240"/>
                <a:gd name="T9" fmla="*/ 59 h 117"/>
                <a:gd name="T10" fmla="*/ 38 w 240"/>
                <a:gd name="T11" fmla="*/ 63 h 117"/>
                <a:gd name="T12" fmla="*/ 68 w 240"/>
                <a:gd name="T13" fmla="*/ 47 h 117"/>
                <a:gd name="T14" fmla="*/ 80 w 240"/>
                <a:gd name="T15" fmla="*/ 43 h 117"/>
                <a:gd name="T16" fmla="*/ 82 w 240"/>
                <a:gd name="T17" fmla="*/ 55 h 117"/>
                <a:gd name="T18" fmla="*/ 64 w 240"/>
                <a:gd name="T19" fmla="*/ 61 h 117"/>
                <a:gd name="T20" fmla="*/ 72 w 240"/>
                <a:gd name="T21" fmla="*/ 73 h 117"/>
                <a:gd name="T22" fmla="*/ 40 w 240"/>
                <a:gd name="T23" fmla="*/ 87 h 117"/>
                <a:gd name="T24" fmla="*/ 70 w 240"/>
                <a:gd name="T25" fmla="*/ 109 h 117"/>
                <a:gd name="T26" fmla="*/ 82 w 240"/>
                <a:gd name="T27" fmla="*/ 113 h 117"/>
                <a:gd name="T28" fmla="*/ 118 w 240"/>
                <a:gd name="T29" fmla="*/ 103 h 117"/>
                <a:gd name="T30" fmla="*/ 150 w 240"/>
                <a:gd name="T31" fmla="*/ 105 h 117"/>
                <a:gd name="T32" fmla="*/ 168 w 240"/>
                <a:gd name="T33" fmla="*/ 117 h 117"/>
                <a:gd name="T34" fmla="*/ 204 w 240"/>
                <a:gd name="T35" fmla="*/ 109 h 117"/>
                <a:gd name="T36" fmla="*/ 224 w 240"/>
                <a:gd name="T37" fmla="*/ 103 h 117"/>
                <a:gd name="T38" fmla="*/ 222 w 240"/>
                <a:gd name="T39" fmla="*/ 77 h 117"/>
                <a:gd name="T40" fmla="*/ 234 w 240"/>
                <a:gd name="T41" fmla="*/ 69 h 117"/>
                <a:gd name="T42" fmla="*/ 238 w 240"/>
                <a:gd name="T43" fmla="*/ 47 h 117"/>
                <a:gd name="T44" fmla="*/ 210 w 240"/>
                <a:gd name="T45" fmla="*/ 57 h 117"/>
                <a:gd name="T46" fmla="*/ 200 w 240"/>
                <a:gd name="T47" fmla="*/ 43 h 117"/>
                <a:gd name="T48" fmla="*/ 172 w 240"/>
                <a:gd name="T49" fmla="*/ 45 h 117"/>
                <a:gd name="T50" fmla="*/ 134 w 240"/>
                <a:gd name="T51" fmla="*/ 9 h 117"/>
                <a:gd name="T52" fmla="*/ 94 w 240"/>
                <a:gd name="T53" fmla="*/ 11 h 117"/>
                <a:gd name="T54" fmla="*/ 82 w 240"/>
                <a:gd name="T55" fmla="*/ 1 h 117"/>
                <a:gd name="T56" fmla="*/ 64 w 240"/>
                <a:gd name="T57" fmla="*/ 1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40" h="117">
                  <a:moveTo>
                    <a:pt x="64" y="1"/>
                  </a:moveTo>
                  <a:cubicBezTo>
                    <a:pt x="57" y="21"/>
                    <a:pt x="44" y="24"/>
                    <a:pt x="24" y="31"/>
                  </a:cubicBezTo>
                  <a:cubicBezTo>
                    <a:pt x="18" y="33"/>
                    <a:pt x="12" y="35"/>
                    <a:pt x="6" y="37"/>
                  </a:cubicBezTo>
                  <a:cubicBezTo>
                    <a:pt x="4" y="38"/>
                    <a:pt x="0" y="39"/>
                    <a:pt x="0" y="39"/>
                  </a:cubicBezTo>
                  <a:cubicBezTo>
                    <a:pt x="3" y="55"/>
                    <a:pt x="12" y="54"/>
                    <a:pt x="26" y="59"/>
                  </a:cubicBezTo>
                  <a:cubicBezTo>
                    <a:pt x="30" y="60"/>
                    <a:pt x="38" y="63"/>
                    <a:pt x="38" y="63"/>
                  </a:cubicBezTo>
                  <a:cubicBezTo>
                    <a:pt x="50" y="59"/>
                    <a:pt x="57" y="54"/>
                    <a:pt x="68" y="47"/>
                  </a:cubicBezTo>
                  <a:cubicBezTo>
                    <a:pt x="72" y="45"/>
                    <a:pt x="80" y="43"/>
                    <a:pt x="80" y="43"/>
                  </a:cubicBezTo>
                  <a:cubicBezTo>
                    <a:pt x="82" y="46"/>
                    <a:pt x="88" y="51"/>
                    <a:pt x="82" y="55"/>
                  </a:cubicBezTo>
                  <a:cubicBezTo>
                    <a:pt x="77" y="59"/>
                    <a:pt x="64" y="61"/>
                    <a:pt x="64" y="61"/>
                  </a:cubicBezTo>
                  <a:cubicBezTo>
                    <a:pt x="58" y="70"/>
                    <a:pt x="63" y="70"/>
                    <a:pt x="72" y="73"/>
                  </a:cubicBezTo>
                  <a:cubicBezTo>
                    <a:pt x="77" y="88"/>
                    <a:pt x="50" y="86"/>
                    <a:pt x="40" y="87"/>
                  </a:cubicBezTo>
                  <a:cubicBezTo>
                    <a:pt x="47" y="94"/>
                    <a:pt x="60" y="106"/>
                    <a:pt x="70" y="109"/>
                  </a:cubicBezTo>
                  <a:cubicBezTo>
                    <a:pt x="74" y="110"/>
                    <a:pt x="82" y="113"/>
                    <a:pt x="82" y="113"/>
                  </a:cubicBezTo>
                  <a:cubicBezTo>
                    <a:pt x="99" y="111"/>
                    <a:pt x="104" y="108"/>
                    <a:pt x="118" y="103"/>
                  </a:cubicBezTo>
                  <a:cubicBezTo>
                    <a:pt x="129" y="104"/>
                    <a:pt x="140" y="103"/>
                    <a:pt x="150" y="105"/>
                  </a:cubicBezTo>
                  <a:cubicBezTo>
                    <a:pt x="157" y="107"/>
                    <a:pt x="168" y="117"/>
                    <a:pt x="168" y="117"/>
                  </a:cubicBezTo>
                  <a:cubicBezTo>
                    <a:pt x="193" y="115"/>
                    <a:pt x="188" y="116"/>
                    <a:pt x="204" y="109"/>
                  </a:cubicBezTo>
                  <a:cubicBezTo>
                    <a:pt x="210" y="106"/>
                    <a:pt x="224" y="103"/>
                    <a:pt x="224" y="103"/>
                  </a:cubicBezTo>
                  <a:cubicBezTo>
                    <a:pt x="223" y="98"/>
                    <a:pt x="217" y="82"/>
                    <a:pt x="222" y="77"/>
                  </a:cubicBezTo>
                  <a:cubicBezTo>
                    <a:pt x="225" y="73"/>
                    <a:pt x="234" y="69"/>
                    <a:pt x="234" y="69"/>
                  </a:cubicBezTo>
                  <a:cubicBezTo>
                    <a:pt x="237" y="59"/>
                    <a:pt x="240" y="59"/>
                    <a:pt x="238" y="47"/>
                  </a:cubicBezTo>
                  <a:cubicBezTo>
                    <a:pt x="228" y="49"/>
                    <a:pt x="219" y="51"/>
                    <a:pt x="210" y="57"/>
                  </a:cubicBezTo>
                  <a:cubicBezTo>
                    <a:pt x="201" y="71"/>
                    <a:pt x="201" y="50"/>
                    <a:pt x="200" y="43"/>
                  </a:cubicBezTo>
                  <a:cubicBezTo>
                    <a:pt x="189" y="45"/>
                    <a:pt x="182" y="48"/>
                    <a:pt x="172" y="45"/>
                  </a:cubicBezTo>
                  <a:cubicBezTo>
                    <a:pt x="161" y="34"/>
                    <a:pt x="148" y="14"/>
                    <a:pt x="134" y="9"/>
                  </a:cubicBezTo>
                  <a:cubicBezTo>
                    <a:pt x="119" y="11"/>
                    <a:pt x="108" y="13"/>
                    <a:pt x="94" y="11"/>
                  </a:cubicBezTo>
                  <a:cubicBezTo>
                    <a:pt x="92" y="9"/>
                    <a:pt x="85" y="2"/>
                    <a:pt x="82" y="1"/>
                  </a:cubicBezTo>
                  <a:cubicBezTo>
                    <a:pt x="74" y="0"/>
                    <a:pt x="72" y="9"/>
                    <a:pt x="64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1" name="Freeform 25"/>
            <p:cNvSpPr>
              <a:spLocks/>
            </p:cNvSpPr>
            <p:nvPr/>
          </p:nvSpPr>
          <p:spPr bwMode="invGray">
            <a:xfrm>
              <a:off x="1506" y="1999"/>
              <a:ext cx="146" cy="60"/>
            </a:xfrm>
            <a:custGeom>
              <a:avLst/>
              <a:gdLst>
                <a:gd name="T0" fmla="*/ 97 w 194"/>
                <a:gd name="T1" fmla="*/ 10 h 80"/>
                <a:gd name="T2" fmla="*/ 13 w 194"/>
                <a:gd name="T3" fmla="*/ 24 h 80"/>
                <a:gd name="T4" fmla="*/ 9 w 194"/>
                <a:gd name="T5" fmla="*/ 34 h 80"/>
                <a:gd name="T6" fmla="*/ 57 w 194"/>
                <a:gd name="T7" fmla="*/ 52 h 80"/>
                <a:gd name="T8" fmla="*/ 135 w 194"/>
                <a:gd name="T9" fmla="*/ 74 h 80"/>
                <a:gd name="T10" fmla="*/ 175 w 194"/>
                <a:gd name="T11" fmla="*/ 68 h 80"/>
                <a:gd name="T12" fmla="*/ 187 w 194"/>
                <a:gd name="T13" fmla="*/ 64 h 80"/>
                <a:gd name="T14" fmla="*/ 175 w 194"/>
                <a:gd name="T15" fmla="*/ 44 h 80"/>
                <a:gd name="T16" fmla="*/ 163 w 194"/>
                <a:gd name="T17" fmla="*/ 36 h 80"/>
                <a:gd name="T18" fmla="*/ 129 w 194"/>
                <a:gd name="T19" fmla="*/ 26 h 80"/>
                <a:gd name="T20" fmla="*/ 97 w 194"/>
                <a:gd name="T21" fmla="*/ 1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4" h="80">
                  <a:moveTo>
                    <a:pt x="97" y="10"/>
                  </a:moveTo>
                  <a:cubicBezTo>
                    <a:pt x="70" y="19"/>
                    <a:pt x="42" y="22"/>
                    <a:pt x="13" y="24"/>
                  </a:cubicBezTo>
                  <a:cubicBezTo>
                    <a:pt x="9" y="25"/>
                    <a:pt x="0" y="26"/>
                    <a:pt x="9" y="34"/>
                  </a:cubicBezTo>
                  <a:cubicBezTo>
                    <a:pt x="21" y="44"/>
                    <a:pt x="43" y="43"/>
                    <a:pt x="57" y="52"/>
                  </a:cubicBezTo>
                  <a:cubicBezTo>
                    <a:pt x="75" y="80"/>
                    <a:pt x="104" y="73"/>
                    <a:pt x="135" y="74"/>
                  </a:cubicBezTo>
                  <a:cubicBezTo>
                    <a:pt x="153" y="73"/>
                    <a:pt x="159" y="73"/>
                    <a:pt x="175" y="68"/>
                  </a:cubicBezTo>
                  <a:cubicBezTo>
                    <a:pt x="179" y="67"/>
                    <a:pt x="187" y="64"/>
                    <a:pt x="187" y="64"/>
                  </a:cubicBezTo>
                  <a:cubicBezTo>
                    <a:pt x="194" y="53"/>
                    <a:pt x="184" y="49"/>
                    <a:pt x="175" y="44"/>
                  </a:cubicBezTo>
                  <a:cubicBezTo>
                    <a:pt x="171" y="42"/>
                    <a:pt x="163" y="36"/>
                    <a:pt x="163" y="36"/>
                  </a:cubicBezTo>
                  <a:cubicBezTo>
                    <a:pt x="140" y="41"/>
                    <a:pt x="147" y="38"/>
                    <a:pt x="129" y="26"/>
                  </a:cubicBezTo>
                  <a:cubicBezTo>
                    <a:pt x="123" y="17"/>
                    <a:pt x="107" y="0"/>
                    <a:pt x="97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2" name="Freeform 26"/>
            <p:cNvSpPr>
              <a:spLocks/>
            </p:cNvSpPr>
            <p:nvPr/>
          </p:nvSpPr>
          <p:spPr bwMode="invGray">
            <a:xfrm>
              <a:off x="1711" y="2069"/>
              <a:ext cx="233" cy="190"/>
            </a:xfrm>
            <a:custGeom>
              <a:avLst/>
              <a:gdLst>
                <a:gd name="T0" fmla="*/ 67 w 310"/>
                <a:gd name="T1" fmla="*/ 9 h 254"/>
                <a:gd name="T2" fmla="*/ 51 w 310"/>
                <a:gd name="T3" fmla="*/ 23 h 254"/>
                <a:gd name="T4" fmla="*/ 21 w 310"/>
                <a:gd name="T5" fmla="*/ 39 h 254"/>
                <a:gd name="T6" fmla="*/ 53 w 310"/>
                <a:gd name="T7" fmla="*/ 77 h 254"/>
                <a:gd name="T8" fmla="*/ 79 w 310"/>
                <a:gd name="T9" fmla="*/ 85 h 254"/>
                <a:gd name="T10" fmla="*/ 103 w 310"/>
                <a:gd name="T11" fmla="*/ 99 h 254"/>
                <a:gd name="T12" fmla="*/ 127 w 310"/>
                <a:gd name="T13" fmla="*/ 85 h 254"/>
                <a:gd name="T14" fmla="*/ 143 w 310"/>
                <a:gd name="T15" fmla="*/ 101 h 254"/>
                <a:gd name="T16" fmla="*/ 149 w 310"/>
                <a:gd name="T17" fmla="*/ 127 h 254"/>
                <a:gd name="T18" fmla="*/ 115 w 310"/>
                <a:gd name="T19" fmla="*/ 151 h 254"/>
                <a:gd name="T20" fmla="*/ 89 w 310"/>
                <a:gd name="T21" fmla="*/ 173 h 254"/>
                <a:gd name="T22" fmla="*/ 69 w 310"/>
                <a:gd name="T23" fmla="*/ 169 h 254"/>
                <a:gd name="T24" fmla="*/ 57 w 310"/>
                <a:gd name="T25" fmla="*/ 165 h 254"/>
                <a:gd name="T26" fmla="*/ 43 w 310"/>
                <a:gd name="T27" fmla="*/ 187 h 254"/>
                <a:gd name="T28" fmla="*/ 39 w 310"/>
                <a:gd name="T29" fmla="*/ 199 h 254"/>
                <a:gd name="T30" fmla="*/ 73 w 310"/>
                <a:gd name="T31" fmla="*/ 205 h 254"/>
                <a:gd name="T32" fmla="*/ 95 w 310"/>
                <a:gd name="T33" fmla="*/ 203 h 254"/>
                <a:gd name="T34" fmla="*/ 115 w 310"/>
                <a:gd name="T35" fmla="*/ 231 h 254"/>
                <a:gd name="T36" fmla="*/ 127 w 310"/>
                <a:gd name="T37" fmla="*/ 235 h 254"/>
                <a:gd name="T38" fmla="*/ 139 w 310"/>
                <a:gd name="T39" fmla="*/ 239 h 254"/>
                <a:gd name="T40" fmla="*/ 155 w 310"/>
                <a:gd name="T41" fmla="*/ 251 h 254"/>
                <a:gd name="T42" fmla="*/ 181 w 310"/>
                <a:gd name="T43" fmla="*/ 237 h 254"/>
                <a:gd name="T44" fmla="*/ 203 w 310"/>
                <a:gd name="T45" fmla="*/ 235 h 254"/>
                <a:gd name="T46" fmla="*/ 229 w 310"/>
                <a:gd name="T47" fmla="*/ 213 h 254"/>
                <a:gd name="T48" fmla="*/ 225 w 310"/>
                <a:gd name="T49" fmla="*/ 185 h 254"/>
                <a:gd name="T50" fmla="*/ 217 w 310"/>
                <a:gd name="T51" fmla="*/ 173 h 254"/>
                <a:gd name="T52" fmla="*/ 233 w 310"/>
                <a:gd name="T53" fmla="*/ 167 h 254"/>
                <a:gd name="T54" fmla="*/ 245 w 310"/>
                <a:gd name="T55" fmla="*/ 183 h 254"/>
                <a:gd name="T56" fmla="*/ 247 w 310"/>
                <a:gd name="T57" fmla="*/ 197 h 254"/>
                <a:gd name="T58" fmla="*/ 261 w 310"/>
                <a:gd name="T59" fmla="*/ 193 h 254"/>
                <a:gd name="T60" fmla="*/ 303 w 310"/>
                <a:gd name="T61" fmla="*/ 169 h 254"/>
                <a:gd name="T62" fmla="*/ 293 w 310"/>
                <a:gd name="T63" fmla="*/ 147 h 254"/>
                <a:gd name="T64" fmla="*/ 259 w 310"/>
                <a:gd name="T65" fmla="*/ 123 h 254"/>
                <a:gd name="T66" fmla="*/ 265 w 310"/>
                <a:gd name="T67" fmla="*/ 107 h 254"/>
                <a:gd name="T68" fmla="*/ 277 w 310"/>
                <a:gd name="T69" fmla="*/ 103 h 254"/>
                <a:gd name="T70" fmla="*/ 253 w 310"/>
                <a:gd name="T71" fmla="*/ 63 h 254"/>
                <a:gd name="T72" fmla="*/ 233 w 310"/>
                <a:gd name="T73" fmla="*/ 59 h 254"/>
                <a:gd name="T74" fmla="*/ 221 w 310"/>
                <a:gd name="T75" fmla="*/ 55 h 254"/>
                <a:gd name="T76" fmla="*/ 201 w 310"/>
                <a:gd name="T77" fmla="*/ 33 h 254"/>
                <a:gd name="T78" fmla="*/ 155 w 310"/>
                <a:gd name="T79" fmla="*/ 45 h 254"/>
                <a:gd name="T80" fmla="*/ 167 w 310"/>
                <a:gd name="T81" fmla="*/ 25 h 254"/>
                <a:gd name="T82" fmla="*/ 139 w 310"/>
                <a:gd name="T83" fmla="*/ 17 h 254"/>
                <a:gd name="T84" fmla="*/ 119 w 310"/>
                <a:gd name="T85" fmla="*/ 19 h 254"/>
                <a:gd name="T86" fmla="*/ 67 w 310"/>
                <a:gd name="T87" fmla="*/ 9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10" h="254">
                  <a:moveTo>
                    <a:pt x="67" y="9"/>
                  </a:moveTo>
                  <a:cubicBezTo>
                    <a:pt x="63" y="15"/>
                    <a:pt x="51" y="23"/>
                    <a:pt x="51" y="23"/>
                  </a:cubicBezTo>
                  <a:cubicBezTo>
                    <a:pt x="43" y="34"/>
                    <a:pt x="33" y="35"/>
                    <a:pt x="21" y="39"/>
                  </a:cubicBezTo>
                  <a:cubicBezTo>
                    <a:pt x="0" y="71"/>
                    <a:pt x="30" y="74"/>
                    <a:pt x="53" y="77"/>
                  </a:cubicBezTo>
                  <a:cubicBezTo>
                    <a:pt x="61" y="89"/>
                    <a:pt x="63" y="87"/>
                    <a:pt x="79" y="85"/>
                  </a:cubicBezTo>
                  <a:cubicBezTo>
                    <a:pt x="88" y="88"/>
                    <a:pt x="93" y="96"/>
                    <a:pt x="103" y="99"/>
                  </a:cubicBezTo>
                  <a:cubicBezTo>
                    <a:pt x="117" y="96"/>
                    <a:pt x="116" y="89"/>
                    <a:pt x="127" y="85"/>
                  </a:cubicBezTo>
                  <a:cubicBezTo>
                    <a:pt x="134" y="90"/>
                    <a:pt x="138" y="94"/>
                    <a:pt x="143" y="101"/>
                  </a:cubicBezTo>
                  <a:cubicBezTo>
                    <a:pt x="140" y="116"/>
                    <a:pt x="134" y="117"/>
                    <a:pt x="149" y="127"/>
                  </a:cubicBezTo>
                  <a:cubicBezTo>
                    <a:pt x="161" y="144"/>
                    <a:pt x="126" y="147"/>
                    <a:pt x="115" y="151"/>
                  </a:cubicBezTo>
                  <a:cubicBezTo>
                    <a:pt x="109" y="160"/>
                    <a:pt x="100" y="169"/>
                    <a:pt x="89" y="173"/>
                  </a:cubicBezTo>
                  <a:cubicBezTo>
                    <a:pt x="81" y="172"/>
                    <a:pt x="76" y="171"/>
                    <a:pt x="69" y="169"/>
                  </a:cubicBezTo>
                  <a:cubicBezTo>
                    <a:pt x="65" y="168"/>
                    <a:pt x="57" y="165"/>
                    <a:pt x="57" y="165"/>
                  </a:cubicBezTo>
                  <a:cubicBezTo>
                    <a:pt x="46" y="169"/>
                    <a:pt x="46" y="177"/>
                    <a:pt x="43" y="187"/>
                  </a:cubicBezTo>
                  <a:cubicBezTo>
                    <a:pt x="42" y="191"/>
                    <a:pt x="39" y="199"/>
                    <a:pt x="39" y="199"/>
                  </a:cubicBezTo>
                  <a:cubicBezTo>
                    <a:pt x="50" y="203"/>
                    <a:pt x="61" y="204"/>
                    <a:pt x="73" y="205"/>
                  </a:cubicBezTo>
                  <a:cubicBezTo>
                    <a:pt x="82" y="203"/>
                    <a:pt x="86" y="201"/>
                    <a:pt x="95" y="203"/>
                  </a:cubicBezTo>
                  <a:cubicBezTo>
                    <a:pt x="107" y="211"/>
                    <a:pt x="111" y="218"/>
                    <a:pt x="115" y="231"/>
                  </a:cubicBezTo>
                  <a:cubicBezTo>
                    <a:pt x="116" y="235"/>
                    <a:pt x="123" y="234"/>
                    <a:pt x="127" y="235"/>
                  </a:cubicBezTo>
                  <a:cubicBezTo>
                    <a:pt x="131" y="236"/>
                    <a:pt x="139" y="239"/>
                    <a:pt x="139" y="239"/>
                  </a:cubicBezTo>
                  <a:cubicBezTo>
                    <a:pt x="144" y="246"/>
                    <a:pt x="147" y="248"/>
                    <a:pt x="155" y="251"/>
                  </a:cubicBezTo>
                  <a:cubicBezTo>
                    <a:pt x="169" y="250"/>
                    <a:pt x="187" y="254"/>
                    <a:pt x="181" y="237"/>
                  </a:cubicBezTo>
                  <a:cubicBezTo>
                    <a:pt x="184" y="220"/>
                    <a:pt x="192" y="228"/>
                    <a:pt x="203" y="235"/>
                  </a:cubicBezTo>
                  <a:cubicBezTo>
                    <a:pt x="224" y="233"/>
                    <a:pt x="224" y="232"/>
                    <a:pt x="229" y="213"/>
                  </a:cubicBezTo>
                  <a:cubicBezTo>
                    <a:pt x="229" y="211"/>
                    <a:pt x="229" y="192"/>
                    <a:pt x="225" y="185"/>
                  </a:cubicBezTo>
                  <a:cubicBezTo>
                    <a:pt x="223" y="181"/>
                    <a:pt x="217" y="173"/>
                    <a:pt x="217" y="173"/>
                  </a:cubicBezTo>
                  <a:cubicBezTo>
                    <a:pt x="220" y="163"/>
                    <a:pt x="224" y="165"/>
                    <a:pt x="233" y="167"/>
                  </a:cubicBezTo>
                  <a:cubicBezTo>
                    <a:pt x="240" y="172"/>
                    <a:pt x="242" y="175"/>
                    <a:pt x="245" y="183"/>
                  </a:cubicBezTo>
                  <a:cubicBezTo>
                    <a:pt x="246" y="188"/>
                    <a:pt x="244" y="193"/>
                    <a:pt x="247" y="197"/>
                  </a:cubicBezTo>
                  <a:cubicBezTo>
                    <a:pt x="250" y="201"/>
                    <a:pt x="256" y="194"/>
                    <a:pt x="261" y="193"/>
                  </a:cubicBezTo>
                  <a:cubicBezTo>
                    <a:pt x="276" y="188"/>
                    <a:pt x="290" y="178"/>
                    <a:pt x="303" y="169"/>
                  </a:cubicBezTo>
                  <a:cubicBezTo>
                    <a:pt x="310" y="158"/>
                    <a:pt x="302" y="153"/>
                    <a:pt x="293" y="147"/>
                  </a:cubicBezTo>
                  <a:cubicBezTo>
                    <a:pt x="281" y="129"/>
                    <a:pt x="283" y="126"/>
                    <a:pt x="259" y="123"/>
                  </a:cubicBezTo>
                  <a:cubicBezTo>
                    <a:pt x="256" y="115"/>
                    <a:pt x="257" y="111"/>
                    <a:pt x="265" y="107"/>
                  </a:cubicBezTo>
                  <a:cubicBezTo>
                    <a:pt x="269" y="105"/>
                    <a:pt x="277" y="103"/>
                    <a:pt x="277" y="103"/>
                  </a:cubicBezTo>
                  <a:cubicBezTo>
                    <a:pt x="287" y="88"/>
                    <a:pt x="269" y="66"/>
                    <a:pt x="253" y="63"/>
                  </a:cubicBezTo>
                  <a:cubicBezTo>
                    <a:pt x="239" y="60"/>
                    <a:pt x="244" y="62"/>
                    <a:pt x="233" y="59"/>
                  </a:cubicBezTo>
                  <a:cubicBezTo>
                    <a:pt x="229" y="58"/>
                    <a:pt x="221" y="55"/>
                    <a:pt x="221" y="55"/>
                  </a:cubicBezTo>
                  <a:cubicBezTo>
                    <a:pt x="200" y="60"/>
                    <a:pt x="217" y="38"/>
                    <a:pt x="201" y="33"/>
                  </a:cubicBezTo>
                  <a:cubicBezTo>
                    <a:pt x="185" y="35"/>
                    <a:pt x="169" y="36"/>
                    <a:pt x="155" y="45"/>
                  </a:cubicBezTo>
                  <a:cubicBezTo>
                    <a:pt x="145" y="30"/>
                    <a:pt x="152" y="30"/>
                    <a:pt x="167" y="25"/>
                  </a:cubicBezTo>
                  <a:cubicBezTo>
                    <a:pt x="163" y="10"/>
                    <a:pt x="155" y="15"/>
                    <a:pt x="139" y="17"/>
                  </a:cubicBezTo>
                  <a:cubicBezTo>
                    <a:pt x="131" y="20"/>
                    <a:pt x="127" y="22"/>
                    <a:pt x="119" y="19"/>
                  </a:cubicBezTo>
                  <a:cubicBezTo>
                    <a:pt x="106" y="0"/>
                    <a:pt x="74" y="29"/>
                    <a:pt x="67" y="9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3" name="Freeform 27"/>
            <p:cNvSpPr>
              <a:spLocks/>
            </p:cNvSpPr>
            <p:nvPr/>
          </p:nvSpPr>
          <p:spPr bwMode="invGray">
            <a:xfrm>
              <a:off x="1709" y="1987"/>
              <a:ext cx="44" cy="37"/>
            </a:xfrm>
            <a:custGeom>
              <a:avLst/>
              <a:gdLst>
                <a:gd name="T0" fmla="*/ 26 w 59"/>
                <a:gd name="T1" fmla="*/ 0 h 50"/>
                <a:gd name="T2" fmla="*/ 0 w 59"/>
                <a:gd name="T3" fmla="*/ 10 h 50"/>
                <a:gd name="T4" fmla="*/ 30 w 59"/>
                <a:gd name="T5" fmla="*/ 40 h 50"/>
                <a:gd name="T6" fmla="*/ 48 w 59"/>
                <a:gd name="T7" fmla="*/ 50 h 50"/>
                <a:gd name="T8" fmla="*/ 58 w 59"/>
                <a:gd name="T9" fmla="*/ 28 h 50"/>
                <a:gd name="T10" fmla="*/ 44 w 59"/>
                <a:gd name="T11" fmla="*/ 8 h 50"/>
                <a:gd name="T12" fmla="*/ 26 w 59"/>
                <a:gd name="T13" fmla="*/ 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9" h="50">
                  <a:moveTo>
                    <a:pt x="26" y="0"/>
                  </a:moveTo>
                  <a:cubicBezTo>
                    <a:pt x="13" y="2"/>
                    <a:pt x="7" y="0"/>
                    <a:pt x="0" y="10"/>
                  </a:cubicBezTo>
                  <a:cubicBezTo>
                    <a:pt x="4" y="22"/>
                    <a:pt x="18" y="36"/>
                    <a:pt x="30" y="40"/>
                  </a:cubicBezTo>
                  <a:cubicBezTo>
                    <a:pt x="37" y="42"/>
                    <a:pt x="48" y="50"/>
                    <a:pt x="48" y="50"/>
                  </a:cubicBezTo>
                  <a:cubicBezTo>
                    <a:pt x="57" y="44"/>
                    <a:pt x="55" y="37"/>
                    <a:pt x="58" y="28"/>
                  </a:cubicBezTo>
                  <a:cubicBezTo>
                    <a:pt x="55" y="11"/>
                    <a:pt x="59" y="18"/>
                    <a:pt x="44" y="8"/>
                  </a:cubicBezTo>
                  <a:cubicBezTo>
                    <a:pt x="42" y="6"/>
                    <a:pt x="26" y="5"/>
                    <a:pt x="2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4" name="Freeform 28"/>
            <p:cNvSpPr>
              <a:spLocks/>
            </p:cNvSpPr>
            <p:nvPr/>
          </p:nvSpPr>
          <p:spPr bwMode="invGray">
            <a:xfrm>
              <a:off x="1625" y="2057"/>
              <a:ext cx="65" cy="42"/>
            </a:xfrm>
            <a:custGeom>
              <a:avLst/>
              <a:gdLst>
                <a:gd name="T0" fmla="*/ 44 w 86"/>
                <a:gd name="T1" fmla="*/ 7 h 57"/>
                <a:gd name="T2" fmla="*/ 24 w 86"/>
                <a:gd name="T3" fmla="*/ 25 h 57"/>
                <a:gd name="T4" fmla="*/ 4 w 86"/>
                <a:gd name="T5" fmla="*/ 27 h 57"/>
                <a:gd name="T6" fmla="*/ 16 w 86"/>
                <a:gd name="T7" fmla="*/ 57 h 57"/>
                <a:gd name="T8" fmla="*/ 74 w 86"/>
                <a:gd name="T9" fmla="*/ 35 h 57"/>
                <a:gd name="T10" fmla="*/ 86 w 86"/>
                <a:gd name="T11" fmla="*/ 17 h 57"/>
                <a:gd name="T12" fmla="*/ 56 w 86"/>
                <a:gd name="T13" fmla="*/ 7 h 57"/>
                <a:gd name="T14" fmla="*/ 44 w 86"/>
                <a:gd name="T15" fmla="*/ 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6" h="57">
                  <a:moveTo>
                    <a:pt x="44" y="7"/>
                  </a:moveTo>
                  <a:cubicBezTo>
                    <a:pt x="39" y="14"/>
                    <a:pt x="31" y="20"/>
                    <a:pt x="24" y="25"/>
                  </a:cubicBezTo>
                  <a:cubicBezTo>
                    <a:pt x="16" y="19"/>
                    <a:pt x="12" y="22"/>
                    <a:pt x="4" y="27"/>
                  </a:cubicBezTo>
                  <a:cubicBezTo>
                    <a:pt x="0" y="38"/>
                    <a:pt x="4" y="53"/>
                    <a:pt x="16" y="57"/>
                  </a:cubicBezTo>
                  <a:cubicBezTo>
                    <a:pt x="33" y="51"/>
                    <a:pt x="60" y="45"/>
                    <a:pt x="74" y="35"/>
                  </a:cubicBezTo>
                  <a:cubicBezTo>
                    <a:pt x="78" y="29"/>
                    <a:pt x="86" y="17"/>
                    <a:pt x="86" y="17"/>
                  </a:cubicBezTo>
                  <a:cubicBezTo>
                    <a:pt x="80" y="0"/>
                    <a:pt x="74" y="5"/>
                    <a:pt x="56" y="7"/>
                  </a:cubicBezTo>
                  <a:cubicBezTo>
                    <a:pt x="43" y="11"/>
                    <a:pt x="44" y="15"/>
                    <a:pt x="44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5" name="Freeform 29"/>
            <p:cNvSpPr>
              <a:spLocks/>
            </p:cNvSpPr>
            <p:nvPr/>
          </p:nvSpPr>
          <p:spPr bwMode="invGray">
            <a:xfrm>
              <a:off x="1693" y="2065"/>
              <a:ext cx="54" cy="25"/>
            </a:xfrm>
            <a:custGeom>
              <a:avLst/>
              <a:gdLst>
                <a:gd name="T0" fmla="*/ 40 w 73"/>
                <a:gd name="T1" fmla="*/ 0 h 34"/>
                <a:gd name="T2" fmla="*/ 10 w 73"/>
                <a:gd name="T3" fmla="*/ 16 h 34"/>
                <a:gd name="T4" fmla="*/ 24 w 73"/>
                <a:gd name="T5" fmla="*/ 34 h 34"/>
                <a:gd name="T6" fmla="*/ 52 w 73"/>
                <a:gd name="T7" fmla="*/ 28 h 34"/>
                <a:gd name="T8" fmla="*/ 64 w 73"/>
                <a:gd name="T9" fmla="*/ 20 h 34"/>
                <a:gd name="T10" fmla="*/ 40 w 73"/>
                <a:gd name="T11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3" h="34">
                  <a:moveTo>
                    <a:pt x="40" y="0"/>
                  </a:moveTo>
                  <a:cubicBezTo>
                    <a:pt x="30" y="6"/>
                    <a:pt x="20" y="10"/>
                    <a:pt x="10" y="16"/>
                  </a:cubicBezTo>
                  <a:cubicBezTo>
                    <a:pt x="0" y="31"/>
                    <a:pt x="13" y="30"/>
                    <a:pt x="24" y="34"/>
                  </a:cubicBezTo>
                  <a:cubicBezTo>
                    <a:pt x="44" y="31"/>
                    <a:pt x="35" y="34"/>
                    <a:pt x="52" y="28"/>
                  </a:cubicBezTo>
                  <a:cubicBezTo>
                    <a:pt x="57" y="26"/>
                    <a:pt x="64" y="20"/>
                    <a:pt x="64" y="20"/>
                  </a:cubicBezTo>
                  <a:cubicBezTo>
                    <a:pt x="73" y="7"/>
                    <a:pt x="48" y="8"/>
                    <a:pt x="4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6" name="Freeform 30"/>
            <p:cNvSpPr>
              <a:spLocks/>
            </p:cNvSpPr>
            <p:nvPr/>
          </p:nvSpPr>
          <p:spPr bwMode="invGray">
            <a:xfrm>
              <a:off x="1664" y="2029"/>
              <a:ext cx="64" cy="34"/>
            </a:xfrm>
            <a:custGeom>
              <a:avLst/>
              <a:gdLst>
                <a:gd name="T0" fmla="*/ 58 w 85"/>
                <a:gd name="T1" fmla="*/ 10 h 45"/>
                <a:gd name="T2" fmla="*/ 28 w 85"/>
                <a:gd name="T3" fmla="*/ 4 h 45"/>
                <a:gd name="T4" fmla="*/ 0 w 85"/>
                <a:gd name="T5" fmla="*/ 18 h 45"/>
                <a:gd name="T6" fmla="*/ 40 w 85"/>
                <a:gd name="T7" fmla="*/ 32 h 45"/>
                <a:gd name="T8" fmla="*/ 64 w 85"/>
                <a:gd name="T9" fmla="*/ 40 h 45"/>
                <a:gd name="T10" fmla="*/ 84 w 85"/>
                <a:gd name="T11" fmla="*/ 18 h 45"/>
                <a:gd name="T12" fmla="*/ 82 w 85"/>
                <a:gd name="T13" fmla="*/ 6 h 45"/>
                <a:gd name="T14" fmla="*/ 64 w 85"/>
                <a:gd name="T15" fmla="*/ 0 h 45"/>
                <a:gd name="T16" fmla="*/ 58 w 85"/>
                <a:gd name="T17" fmla="*/ 10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5" h="45">
                  <a:moveTo>
                    <a:pt x="58" y="10"/>
                  </a:moveTo>
                  <a:cubicBezTo>
                    <a:pt x="39" y="16"/>
                    <a:pt x="45" y="10"/>
                    <a:pt x="28" y="4"/>
                  </a:cubicBezTo>
                  <a:cubicBezTo>
                    <a:pt x="7" y="6"/>
                    <a:pt x="5" y="2"/>
                    <a:pt x="0" y="18"/>
                  </a:cubicBezTo>
                  <a:cubicBezTo>
                    <a:pt x="5" y="34"/>
                    <a:pt x="26" y="31"/>
                    <a:pt x="40" y="32"/>
                  </a:cubicBezTo>
                  <a:cubicBezTo>
                    <a:pt x="50" y="42"/>
                    <a:pt x="49" y="45"/>
                    <a:pt x="64" y="40"/>
                  </a:cubicBezTo>
                  <a:cubicBezTo>
                    <a:pt x="69" y="32"/>
                    <a:pt x="77" y="25"/>
                    <a:pt x="84" y="18"/>
                  </a:cubicBezTo>
                  <a:cubicBezTo>
                    <a:pt x="83" y="14"/>
                    <a:pt x="85" y="9"/>
                    <a:pt x="82" y="6"/>
                  </a:cubicBezTo>
                  <a:cubicBezTo>
                    <a:pt x="78" y="1"/>
                    <a:pt x="64" y="0"/>
                    <a:pt x="64" y="0"/>
                  </a:cubicBezTo>
                  <a:cubicBezTo>
                    <a:pt x="56" y="3"/>
                    <a:pt x="47" y="21"/>
                    <a:pt x="58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7" name="Freeform 31"/>
            <p:cNvSpPr>
              <a:spLocks/>
            </p:cNvSpPr>
            <p:nvPr/>
          </p:nvSpPr>
          <p:spPr bwMode="invGray">
            <a:xfrm>
              <a:off x="1637" y="1997"/>
              <a:ext cx="44" cy="24"/>
            </a:xfrm>
            <a:custGeom>
              <a:avLst/>
              <a:gdLst>
                <a:gd name="T0" fmla="*/ 16 w 58"/>
                <a:gd name="T1" fmla="*/ 4 h 31"/>
                <a:gd name="T2" fmla="*/ 0 w 58"/>
                <a:gd name="T3" fmla="*/ 18 h 31"/>
                <a:gd name="T4" fmla="*/ 20 w 58"/>
                <a:gd name="T5" fmla="*/ 28 h 31"/>
                <a:gd name="T6" fmla="*/ 28 w 58"/>
                <a:gd name="T7" fmla="*/ 20 h 31"/>
                <a:gd name="T8" fmla="*/ 52 w 58"/>
                <a:gd name="T9" fmla="*/ 12 h 31"/>
                <a:gd name="T10" fmla="*/ 44 w 58"/>
                <a:gd name="T11" fmla="*/ 0 h 31"/>
                <a:gd name="T12" fmla="*/ 16 w 58"/>
                <a:gd name="T13" fmla="*/ 4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" h="31">
                  <a:moveTo>
                    <a:pt x="16" y="4"/>
                  </a:moveTo>
                  <a:cubicBezTo>
                    <a:pt x="2" y="13"/>
                    <a:pt x="7" y="8"/>
                    <a:pt x="0" y="18"/>
                  </a:cubicBezTo>
                  <a:cubicBezTo>
                    <a:pt x="5" y="26"/>
                    <a:pt x="11" y="25"/>
                    <a:pt x="20" y="28"/>
                  </a:cubicBezTo>
                  <a:cubicBezTo>
                    <a:pt x="36" y="23"/>
                    <a:pt x="17" y="31"/>
                    <a:pt x="28" y="20"/>
                  </a:cubicBezTo>
                  <a:cubicBezTo>
                    <a:pt x="33" y="15"/>
                    <a:pt x="46" y="13"/>
                    <a:pt x="52" y="12"/>
                  </a:cubicBezTo>
                  <a:cubicBezTo>
                    <a:pt x="58" y="3"/>
                    <a:pt x="53" y="3"/>
                    <a:pt x="44" y="0"/>
                  </a:cubicBezTo>
                  <a:cubicBezTo>
                    <a:pt x="38" y="1"/>
                    <a:pt x="20" y="8"/>
                    <a:pt x="16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8" name="Freeform 32"/>
            <p:cNvSpPr>
              <a:spLocks/>
            </p:cNvSpPr>
            <p:nvPr/>
          </p:nvSpPr>
          <p:spPr bwMode="invGray">
            <a:xfrm>
              <a:off x="1751" y="2000"/>
              <a:ext cx="114" cy="77"/>
            </a:xfrm>
            <a:custGeom>
              <a:avLst/>
              <a:gdLst>
                <a:gd name="T0" fmla="*/ 38 w 152"/>
                <a:gd name="T1" fmla="*/ 0 h 102"/>
                <a:gd name="T2" fmla="*/ 14 w 152"/>
                <a:gd name="T3" fmla="*/ 6 h 102"/>
                <a:gd name="T4" fmla="*/ 4 w 152"/>
                <a:gd name="T5" fmla="*/ 38 h 102"/>
                <a:gd name="T6" fmla="*/ 12 w 152"/>
                <a:gd name="T7" fmla="*/ 56 h 102"/>
                <a:gd name="T8" fmla="*/ 0 w 152"/>
                <a:gd name="T9" fmla="*/ 72 h 102"/>
                <a:gd name="T10" fmla="*/ 56 w 152"/>
                <a:gd name="T11" fmla="*/ 86 h 102"/>
                <a:gd name="T12" fmla="*/ 82 w 152"/>
                <a:gd name="T13" fmla="*/ 92 h 102"/>
                <a:gd name="T14" fmla="*/ 152 w 152"/>
                <a:gd name="T15" fmla="*/ 86 h 102"/>
                <a:gd name="T16" fmla="*/ 76 w 152"/>
                <a:gd name="T17" fmla="*/ 70 h 102"/>
                <a:gd name="T18" fmla="*/ 54 w 152"/>
                <a:gd name="T19" fmla="*/ 62 h 102"/>
                <a:gd name="T20" fmla="*/ 44 w 152"/>
                <a:gd name="T21" fmla="*/ 52 h 102"/>
                <a:gd name="T22" fmla="*/ 50 w 152"/>
                <a:gd name="T23" fmla="*/ 34 h 102"/>
                <a:gd name="T24" fmla="*/ 38 w 152"/>
                <a:gd name="T25" fmla="*/ 0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2" h="102">
                  <a:moveTo>
                    <a:pt x="38" y="0"/>
                  </a:moveTo>
                  <a:cubicBezTo>
                    <a:pt x="22" y="5"/>
                    <a:pt x="30" y="3"/>
                    <a:pt x="14" y="6"/>
                  </a:cubicBezTo>
                  <a:cubicBezTo>
                    <a:pt x="18" y="22"/>
                    <a:pt x="22" y="32"/>
                    <a:pt x="4" y="38"/>
                  </a:cubicBezTo>
                  <a:cubicBezTo>
                    <a:pt x="1" y="47"/>
                    <a:pt x="7" y="49"/>
                    <a:pt x="12" y="56"/>
                  </a:cubicBezTo>
                  <a:cubicBezTo>
                    <a:pt x="10" y="65"/>
                    <a:pt x="9" y="69"/>
                    <a:pt x="0" y="72"/>
                  </a:cubicBezTo>
                  <a:cubicBezTo>
                    <a:pt x="5" y="88"/>
                    <a:pt x="45" y="85"/>
                    <a:pt x="56" y="86"/>
                  </a:cubicBezTo>
                  <a:cubicBezTo>
                    <a:pt x="72" y="97"/>
                    <a:pt x="63" y="95"/>
                    <a:pt x="82" y="92"/>
                  </a:cubicBezTo>
                  <a:cubicBezTo>
                    <a:pt x="86" y="92"/>
                    <a:pt x="147" y="102"/>
                    <a:pt x="152" y="86"/>
                  </a:cubicBezTo>
                  <a:cubicBezTo>
                    <a:pt x="123" y="66"/>
                    <a:pt x="128" y="72"/>
                    <a:pt x="76" y="70"/>
                  </a:cubicBezTo>
                  <a:cubicBezTo>
                    <a:pt x="62" y="56"/>
                    <a:pt x="81" y="73"/>
                    <a:pt x="54" y="62"/>
                  </a:cubicBezTo>
                  <a:cubicBezTo>
                    <a:pt x="50" y="60"/>
                    <a:pt x="48" y="55"/>
                    <a:pt x="44" y="52"/>
                  </a:cubicBezTo>
                  <a:cubicBezTo>
                    <a:pt x="41" y="43"/>
                    <a:pt x="42" y="39"/>
                    <a:pt x="50" y="34"/>
                  </a:cubicBezTo>
                  <a:cubicBezTo>
                    <a:pt x="52" y="27"/>
                    <a:pt x="42" y="9"/>
                    <a:pt x="3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9" name="Freeform 33"/>
            <p:cNvSpPr>
              <a:spLocks/>
            </p:cNvSpPr>
            <p:nvPr/>
          </p:nvSpPr>
          <p:spPr bwMode="invGray">
            <a:xfrm>
              <a:off x="664" y="2245"/>
              <a:ext cx="25" cy="15"/>
            </a:xfrm>
            <a:custGeom>
              <a:avLst/>
              <a:gdLst>
                <a:gd name="T0" fmla="*/ 34 w 34"/>
                <a:gd name="T1" fmla="*/ 0 h 20"/>
                <a:gd name="T2" fmla="*/ 24 w 34"/>
                <a:gd name="T3" fmla="*/ 20 h 20"/>
                <a:gd name="T4" fmla="*/ 4 w 34"/>
                <a:gd name="T5" fmla="*/ 18 h 20"/>
                <a:gd name="T6" fmla="*/ 4 w 34"/>
                <a:gd name="T7" fmla="*/ 6 h 20"/>
                <a:gd name="T8" fmla="*/ 34 w 34"/>
                <a:gd name="T9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20">
                  <a:moveTo>
                    <a:pt x="34" y="0"/>
                  </a:moveTo>
                  <a:cubicBezTo>
                    <a:pt x="32" y="10"/>
                    <a:pt x="34" y="17"/>
                    <a:pt x="24" y="20"/>
                  </a:cubicBezTo>
                  <a:cubicBezTo>
                    <a:pt x="17" y="19"/>
                    <a:pt x="10" y="20"/>
                    <a:pt x="4" y="18"/>
                  </a:cubicBezTo>
                  <a:cubicBezTo>
                    <a:pt x="0" y="17"/>
                    <a:pt x="2" y="7"/>
                    <a:pt x="4" y="6"/>
                  </a:cubicBezTo>
                  <a:cubicBezTo>
                    <a:pt x="12" y="0"/>
                    <a:pt x="24" y="0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0" name="Freeform 34"/>
            <p:cNvSpPr>
              <a:spLocks/>
            </p:cNvSpPr>
            <p:nvPr/>
          </p:nvSpPr>
          <p:spPr bwMode="invGray">
            <a:xfrm>
              <a:off x="1421" y="2756"/>
              <a:ext cx="16" cy="12"/>
            </a:xfrm>
            <a:custGeom>
              <a:avLst/>
              <a:gdLst>
                <a:gd name="T0" fmla="*/ 3 w 21"/>
                <a:gd name="T1" fmla="*/ 0 h 16"/>
                <a:gd name="T2" fmla="*/ 13 w 21"/>
                <a:gd name="T3" fmla="*/ 16 h 16"/>
                <a:gd name="T4" fmla="*/ 3 w 21"/>
                <a:gd name="T5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1" name="Freeform 35"/>
            <p:cNvSpPr>
              <a:spLocks/>
            </p:cNvSpPr>
            <p:nvPr/>
          </p:nvSpPr>
          <p:spPr bwMode="invGray">
            <a:xfrm>
              <a:off x="1424" y="2781"/>
              <a:ext cx="16" cy="12"/>
            </a:xfrm>
            <a:custGeom>
              <a:avLst/>
              <a:gdLst>
                <a:gd name="T0" fmla="*/ 3 w 21"/>
                <a:gd name="T1" fmla="*/ 0 h 16"/>
                <a:gd name="T2" fmla="*/ 13 w 21"/>
                <a:gd name="T3" fmla="*/ 16 h 16"/>
                <a:gd name="T4" fmla="*/ 3 w 21"/>
                <a:gd name="T5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2" name="Freeform 36"/>
            <p:cNvSpPr>
              <a:spLocks/>
            </p:cNvSpPr>
            <p:nvPr/>
          </p:nvSpPr>
          <p:spPr bwMode="invGray">
            <a:xfrm>
              <a:off x="1628" y="2913"/>
              <a:ext cx="15" cy="12"/>
            </a:xfrm>
            <a:custGeom>
              <a:avLst/>
              <a:gdLst>
                <a:gd name="T0" fmla="*/ 3 w 21"/>
                <a:gd name="T1" fmla="*/ 0 h 16"/>
                <a:gd name="T2" fmla="*/ 13 w 21"/>
                <a:gd name="T3" fmla="*/ 16 h 16"/>
                <a:gd name="T4" fmla="*/ 3 w 21"/>
                <a:gd name="T5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3" name="Freeform 37"/>
            <p:cNvSpPr>
              <a:spLocks/>
            </p:cNvSpPr>
            <p:nvPr/>
          </p:nvSpPr>
          <p:spPr bwMode="invGray">
            <a:xfrm>
              <a:off x="1752" y="2429"/>
              <a:ext cx="38" cy="18"/>
            </a:xfrm>
            <a:custGeom>
              <a:avLst/>
              <a:gdLst>
                <a:gd name="T0" fmla="*/ 13 w 51"/>
                <a:gd name="T1" fmla="*/ 0 h 24"/>
                <a:gd name="T2" fmla="*/ 7 w 51"/>
                <a:gd name="T3" fmla="*/ 18 h 24"/>
                <a:gd name="T4" fmla="*/ 27 w 51"/>
                <a:gd name="T5" fmla="*/ 24 h 24"/>
                <a:gd name="T6" fmla="*/ 33 w 51"/>
                <a:gd name="T7" fmla="*/ 4 h 24"/>
                <a:gd name="T8" fmla="*/ 13 w 51"/>
                <a:gd name="T9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4" name="Freeform 38"/>
            <p:cNvSpPr>
              <a:spLocks/>
            </p:cNvSpPr>
            <p:nvPr/>
          </p:nvSpPr>
          <p:spPr bwMode="invGray">
            <a:xfrm>
              <a:off x="1652" y="2224"/>
              <a:ext cx="38" cy="18"/>
            </a:xfrm>
            <a:custGeom>
              <a:avLst/>
              <a:gdLst>
                <a:gd name="T0" fmla="*/ 13 w 51"/>
                <a:gd name="T1" fmla="*/ 0 h 24"/>
                <a:gd name="T2" fmla="*/ 7 w 51"/>
                <a:gd name="T3" fmla="*/ 18 h 24"/>
                <a:gd name="T4" fmla="*/ 27 w 51"/>
                <a:gd name="T5" fmla="*/ 24 h 24"/>
                <a:gd name="T6" fmla="*/ 33 w 51"/>
                <a:gd name="T7" fmla="*/ 4 h 24"/>
                <a:gd name="T8" fmla="*/ 13 w 51"/>
                <a:gd name="T9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5" name="Freeform 39"/>
            <p:cNvSpPr>
              <a:spLocks/>
            </p:cNvSpPr>
            <p:nvPr/>
          </p:nvSpPr>
          <p:spPr bwMode="invGray">
            <a:xfrm>
              <a:off x="1717" y="2045"/>
              <a:ext cx="39" cy="18"/>
            </a:xfrm>
            <a:custGeom>
              <a:avLst/>
              <a:gdLst>
                <a:gd name="T0" fmla="*/ 13 w 51"/>
                <a:gd name="T1" fmla="*/ 0 h 24"/>
                <a:gd name="T2" fmla="*/ 7 w 51"/>
                <a:gd name="T3" fmla="*/ 18 h 24"/>
                <a:gd name="T4" fmla="*/ 27 w 51"/>
                <a:gd name="T5" fmla="*/ 24 h 24"/>
                <a:gd name="T6" fmla="*/ 33 w 51"/>
                <a:gd name="T7" fmla="*/ 4 h 24"/>
                <a:gd name="T8" fmla="*/ 13 w 51"/>
                <a:gd name="T9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6" name="Freeform 40"/>
            <p:cNvSpPr>
              <a:spLocks/>
            </p:cNvSpPr>
            <p:nvPr/>
          </p:nvSpPr>
          <p:spPr bwMode="invGray">
            <a:xfrm>
              <a:off x="1780" y="2153"/>
              <a:ext cx="38" cy="18"/>
            </a:xfrm>
            <a:custGeom>
              <a:avLst/>
              <a:gdLst>
                <a:gd name="T0" fmla="*/ 13 w 51"/>
                <a:gd name="T1" fmla="*/ 0 h 24"/>
                <a:gd name="T2" fmla="*/ 7 w 51"/>
                <a:gd name="T3" fmla="*/ 18 h 24"/>
                <a:gd name="T4" fmla="*/ 27 w 51"/>
                <a:gd name="T5" fmla="*/ 24 h 24"/>
                <a:gd name="T6" fmla="*/ 33 w 51"/>
                <a:gd name="T7" fmla="*/ 4 h 24"/>
                <a:gd name="T8" fmla="*/ 13 w 51"/>
                <a:gd name="T9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7" name="Freeform 41"/>
            <p:cNvSpPr>
              <a:spLocks/>
            </p:cNvSpPr>
            <p:nvPr/>
          </p:nvSpPr>
          <p:spPr bwMode="invGray">
            <a:xfrm>
              <a:off x="1796" y="1951"/>
              <a:ext cx="696" cy="346"/>
            </a:xfrm>
            <a:custGeom>
              <a:avLst/>
              <a:gdLst>
                <a:gd name="T0" fmla="*/ 28 w 929"/>
                <a:gd name="T1" fmla="*/ 56 h 462"/>
                <a:gd name="T2" fmla="*/ 6 w 929"/>
                <a:gd name="T3" fmla="*/ 92 h 462"/>
                <a:gd name="T4" fmla="*/ 36 w 929"/>
                <a:gd name="T5" fmla="*/ 100 h 462"/>
                <a:gd name="T6" fmla="*/ 16 w 929"/>
                <a:gd name="T7" fmla="*/ 116 h 462"/>
                <a:gd name="T8" fmla="*/ 104 w 929"/>
                <a:gd name="T9" fmla="*/ 136 h 462"/>
                <a:gd name="T10" fmla="*/ 142 w 929"/>
                <a:gd name="T11" fmla="*/ 130 h 462"/>
                <a:gd name="T12" fmla="*/ 250 w 929"/>
                <a:gd name="T13" fmla="*/ 78 h 462"/>
                <a:gd name="T14" fmla="*/ 300 w 929"/>
                <a:gd name="T15" fmla="*/ 66 h 462"/>
                <a:gd name="T16" fmla="*/ 324 w 929"/>
                <a:gd name="T17" fmla="*/ 80 h 462"/>
                <a:gd name="T18" fmla="*/ 272 w 929"/>
                <a:gd name="T19" fmla="*/ 88 h 462"/>
                <a:gd name="T20" fmla="*/ 242 w 929"/>
                <a:gd name="T21" fmla="*/ 112 h 462"/>
                <a:gd name="T22" fmla="*/ 254 w 929"/>
                <a:gd name="T23" fmla="*/ 120 h 462"/>
                <a:gd name="T24" fmla="*/ 260 w 929"/>
                <a:gd name="T25" fmla="*/ 158 h 462"/>
                <a:gd name="T26" fmla="*/ 350 w 929"/>
                <a:gd name="T27" fmla="*/ 192 h 462"/>
                <a:gd name="T28" fmla="*/ 336 w 929"/>
                <a:gd name="T29" fmla="*/ 210 h 462"/>
                <a:gd name="T30" fmla="*/ 368 w 929"/>
                <a:gd name="T31" fmla="*/ 246 h 462"/>
                <a:gd name="T32" fmla="*/ 348 w 929"/>
                <a:gd name="T33" fmla="*/ 266 h 462"/>
                <a:gd name="T34" fmla="*/ 324 w 929"/>
                <a:gd name="T35" fmla="*/ 294 h 462"/>
                <a:gd name="T36" fmla="*/ 294 w 929"/>
                <a:gd name="T37" fmla="*/ 324 h 462"/>
                <a:gd name="T38" fmla="*/ 292 w 929"/>
                <a:gd name="T39" fmla="*/ 420 h 462"/>
                <a:gd name="T40" fmla="*/ 332 w 929"/>
                <a:gd name="T41" fmla="*/ 446 h 462"/>
                <a:gd name="T42" fmla="*/ 388 w 929"/>
                <a:gd name="T43" fmla="*/ 448 h 462"/>
                <a:gd name="T44" fmla="*/ 412 w 929"/>
                <a:gd name="T45" fmla="*/ 422 h 462"/>
                <a:gd name="T46" fmla="*/ 506 w 929"/>
                <a:gd name="T47" fmla="*/ 356 h 462"/>
                <a:gd name="T48" fmla="*/ 572 w 929"/>
                <a:gd name="T49" fmla="*/ 334 h 462"/>
                <a:gd name="T50" fmla="*/ 646 w 929"/>
                <a:gd name="T51" fmla="*/ 308 h 462"/>
                <a:gd name="T52" fmla="*/ 720 w 929"/>
                <a:gd name="T53" fmla="*/ 290 h 462"/>
                <a:gd name="T54" fmla="*/ 762 w 929"/>
                <a:gd name="T55" fmla="*/ 260 h 462"/>
                <a:gd name="T56" fmla="*/ 800 w 929"/>
                <a:gd name="T57" fmla="*/ 200 h 462"/>
                <a:gd name="T58" fmla="*/ 802 w 929"/>
                <a:gd name="T59" fmla="*/ 154 h 462"/>
                <a:gd name="T60" fmla="*/ 802 w 929"/>
                <a:gd name="T61" fmla="*/ 124 h 462"/>
                <a:gd name="T62" fmla="*/ 832 w 929"/>
                <a:gd name="T63" fmla="*/ 90 h 462"/>
                <a:gd name="T64" fmla="*/ 876 w 929"/>
                <a:gd name="T65" fmla="*/ 94 h 462"/>
                <a:gd name="T66" fmla="*/ 922 w 929"/>
                <a:gd name="T67" fmla="*/ 52 h 462"/>
                <a:gd name="T68" fmla="*/ 888 w 929"/>
                <a:gd name="T69" fmla="*/ 56 h 462"/>
                <a:gd name="T70" fmla="*/ 848 w 929"/>
                <a:gd name="T71" fmla="*/ 46 h 462"/>
                <a:gd name="T72" fmla="*/ 794 w 929"/>
                <a:gd name="T73" fmla="*/ 22 h 462"/>
                <a:gd name="T74" fmla="*/ 642 w 929"/>
                <a:gd name="T75" fmla="*/ 26 h 462"/>
                <a:gd name="T76" fmla="*/ 584 w 929"/>
                <a:gd name="T77" fmla="*/ 38 h 462"/>
                <a:gd name="T78" fmla="*/ 556 w 929"/>
                <a:gd name="T79" fmla="*/ 38 h 462"/>
                <a:gd name="T80" fmla="*/ 516 w 929"/>
                <a:gd name="T81" fmla="*/ 54 h 462"/>
                <a:gd name="T82" fmla="*/ 478 w 929"/>
                <a:gd name="T83" fmla="*/ 30 h 462"/>
                <a:gd name="T84" fmla="*/ 432 w 929"/>
                <a:gd name="T85" fmla="*/ 40 h 462"/>
                <a:gd name="T86" fmla="*/ 366 w 929"/>
                <a:gd name="T87" fmla="*/ 52 h 462"/>
                <a:gd name="T88" fmla="*/ 410 w 929"/>
                <a:gd name="T89" fmla="*/ 38 h 462"/>
                <a:gd name="T90" fmla="*/ 352 w 929"/>
                <a:gd name="T91" fmla="*/ 8 h 462"/>
                <a:gd name="T92" fmla="*/ 334 w 929"/>
                <a:gd name="T93" fmla="*/ 2 h 462"/>
                <a:gd name="T94" fmla="*/ 314 w 929"/>
                <a:gd name="T95" fmla="*/ 8 h 462"/>
                <a:gd name="T96" fmla="*/ 240 w 929"/>
                <a:gd name="T97" fmla="*/ 16 h 462"/>
                <a:gd name="T98" fmla="*/ 160 w 929"/>
                <a:gd name="T99" fmla="*/ 28 h 462"/>
                <a:gd name="T100" fmla="*/ 108 w 929"/>
                <a:gd name="T101" fmla="*/ 26 h 462"/>
                <a:gd name="T102" fmla="*/ 114 w 929"/>
                <a:gd name="T103" fmla="*/ 68 h 462"/>
                <a:gd name="T104" fmla="*/ 104 w 929"/>
                <a:gd name="T105" fmla="*/ 52 h 462"/>
                <a:gd name="T106" fmla="*/ 60 w 929"/>
                <a:gd name="T107" fmla="*/ 42 h 4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929" h="462">
                  <a:moveTo>
                    <a:pt x="60" y="42"/>
                  </a:moveTo>
                  <a:cubicBezTo>
                    <a:pt x="40" y="45"/>
                    <a:pt x="42" y="46"/>
                    <a:pt x="28" y="56"/>
                  </a:cubicBezTo>
                  <a:cubicBezTo>
                    <a:pt x="26" y="74"/>
                    <a:pt x="27" y="75"/>
                    <a:pt x="10" y="78"/>
                  </a:cubicBezTo>
                  <a:cubicBezTo>
                    <a:pt x="4" y="82"/>
                    <a:pt x="0" y="82"/>
                    <a:pt x="6" y="92"/>
                  </a:cubicBezTo>
                  <a:cubicBezTo>
                    <a:pt x="10" y="98"/>
                    <a:pt x="21" y="96"/>
                    <a:pt x="28" y="98"/>
                  </a:cubicBezTo>
                  <a:cubicBezTo>
                    <a:pt x="31" y="99"/>
                    <a:pt x="36" y="100"/>
                    <a:pt x="36" y="100"/>
                  </a:cubicBezTo>
                  <a:cubicBezTo>
                    <a:pt x="47" y="99"/>
                    <a:pt x="69" y="97"/>
                    <a:pt x="50" y="110"/>
                  </a:cubicBezTo>
                  <a:cubicBezTo>
                    <a:pt x="37" y="108"/>
                    <a:pt x="24" y="104"/>
                    <a:pt x="16" y="116"/>
                  </a:cubicBezTo>
                  <a:cubicBezTo>
                    <a:pt x="24" y="141"/>
                    <a:pt x="68" y="125"/>
                    <a:pt x="94" y="126"/>
                  </a:cubicBezTo>
                  <a:cubicBezTo>
                    <a:pt x="98" y="129"/>
                    <a:pt x="100" y="134"/>
                    <a:pt x="104" y="136"/>
                  </a:cubicBezTo>
                  <a:cubicBezTo>
                    <a:pt x="108" y="138"/>
                    <a:pt x="116" y="140"/>
                    <a:pt x="116" y="140"/>
                  </a:cubicBezTo>
                  <a:cubicBezTo>
                    <a:pt x="129" y="138"/>
                    <a:pt x="133" y="139"/>
                    <a:pt x="142" y="130"/>
                  </a:cubicBezTo>
                  <a:cubicBezTo>
                    <a:pt x="151" y="104"/>
                    <a:pt x="179" y="110"/>
                    <a:pt x="202" y="102"/>
                  </a:cubicBezTo>
                  <a:cubicBezTo>
                    <a:pt x="219" y="96"/>
                    <a:pt x="233" y="84"/>
                    <a:pt x="250" y="78"/>
                  </a:cubicBezTo>
                  <a:cubicBezTo>
                    <a:pt x="260" y="75"/>
                    <a:pt x="269" y="74"/>
                    <a:pt x="280" y="72"/>
                  </a:cubicBezTo>
                  <a:cubicBezTo>
                    <a:pt x="287" y="71"/>
                    <a:pt x="300" y="66"/>
                    <a:pt x="300" y="66"/>
                  </a:cubicBezTo>
                  <a:cubicBezTo>
                    <a:pt x="311" y="49"/>
                    <a:pt x="336" y="54"/>
                    <a:pt x="354" y="60"/>
                  </a:cubicBezTo>
                  <a:cubicBezTo>
                    <a:pt x="367" y="79"/>
                    <a:pt x="335" y="79"/>
                    <a:pt x="324" y="80"/>
                  </a:cubicBezTo>
                  <a:cubicBezTo>
                    <a:pt x="312" y="83"/>
                    <a:pt x="306" y="93"/>
                    <a:pt x="292" y="96"/>
                  </a:cubicBezTo>
                  <a:cubicBezTo>
                    <a:pt x="284" y="94"/>
                    <a:pt x="279" y="90"/>
                    <a:pt x="272" y="88"/>
                  </a:cubicBezTo>
                  <a:cubicBezTo>
                    <a:pt x="253" y="91"/>
                    <a:pt x="232" y="96"/>
                    <a:pt x="214" y="102"/>
                  </a:cubicBezTo>
                  <a:cubicBezTo>
                    <a:pt x="223" y="108"/>
                    <a:pt x="231" y="109"/>
                    <a:pt x="242" y="112"/>
                  </a:cubicBezTo>
                  <a:cubicBezTo>
                    <a:pt x="245" y="113"/>
                    <a:pt x="250" y="114"/>
                    <a:pt x="250" y="114"/>
                  </a:cubicBezTo>
                  <a:cubicBezTo>
                    <a:pt x="251" y="116"/>
                    <a:pt x="255" y="118"/>
                    <a:pt x="254" y="120"/>
                  </a:cubicBezTo>
                  <a:cubicBezTo>
                    <a:pt x="252" y="124"/>
                    <a:pt x="242" y="128"/>
                    <a:pt x="242" y="128"/>
                  </a:cubicBezTo>
                  <a:cubicBezTo>
                    <a:pt x="233" y="141"/>
                    <a:pt x="247" y="154"/>
                    <a:pt x="260" y="158"/>
                  </a:cubicBezTo>
                  <a:cubicBezTo>
                    <a:pt x="282" y="155"/>
                    <a:pt x="295" y="151"/>
                    <a:pt x="318" y="150"/>
                  </a:cubicBezTo>
                  <a:cubicBezTo>
                    <a:pt x="334" y="155"/>
                    <a:pt x="345" y="176"/>
                    <a:pt x="350" y="192"/>
                  </a:cubicBezTo>
                  <a:cubicBezTo>
                    <a:pt x="349" y="195"/>
                    <a:pt x="350" y="199"/>
                    <a:pt x="348" y="202"/>
                  </a:cubicBezTo>
                  <a:cubicBezTo>
                    <a:pt x="345" y="206"/>
                    <a:pt x="336" y="210"/>
                    <a:pt x="336" y="210"/>
                  </a:cubicBezTo>
                  <a:cubicBezTo>
                    <a:pt x="327" y="224"/>
                    <a:pt x="332" y="235"/>
                    <a:pt x="348" y="240"/>
                  </a:cubicBezTo>
                  <a:cubicBezTo>
                    <a:pt x="358" y="237"/>
                    <a:pt x="362" y="237"/>
                    <a:pt x="368" y="246"/>
                  </a:cubicBezTo>
                  <a:cubicBezTo>
                    <a:pt x="360" y="252"/>
                    <a:pt x="346" y="246"/>
                    <a:pt x="338" y="252"/>
                  </a:cubicBezTo>
                  <a:cubicBezTo>
                    <a:pt x="326" y="260"/>
                    <a:pt x="346" y="265"/>
                    <a:pt x="348" y="266"/>
                  </a:cubicBezTo>
                  <a:cubicBezTo>
                    <a:pt x="352" y="278"/>
                    <a:pt x="347" y="279"/>
                    <a:pt x="336" y="286"/>
                  </a:cubicBezTo>
                  <a:cubicBezTo>
                    <a:pt x="332" y="289"/>
                    <a:pt x="324" y="294"/>
                    <a:pt x="324" y="294"/>
                  </a:cubicBezTo>
                  <a:cubicBezTo>
                    <a:pt x="315" y="308"/>
                    <a:pt x="320" y="303"/>
                    <a:pt x="310" y="310"/>
                  </a:cubicBezTo>
                  <a:cubicBezTo>
                    <a:pt x="306" y="316"/>
                    <a:pt x="294" y="324"/>
                    <a:pt x="294" y="324"/>
                  </a:cubicBezTo>
                  <a:cubicBezTo>
                    <a:pt x="285" y="338"/>
                    <a:pt x="288" y="331"/>
                    <a:pt x="284" y="342"/>
                  </a:cubicBezTo>
                  <a:cubicBezTo>
                    <a:pt x="285" y="374"/>
                    <a:pt x="283" y="393"/>
                    <a:pt x="292" y="420"/>
                  </a:cubicBezTo>
                  <a:cubicBezTo>
                    <a:pt x="295" y="429"/>
                    <a:pt x="307" y="435"/>
                    <a:pt x="314" y="440"/>
                  </a:cubicBezTo>
                  <a:cubicBezTo>
                    <a:pt x="319" y="444"/>
                    <a:pt x="332" y="446"/>
                    <a:pt x="332" y="446"/>
                  </a:cubicBezTo>
                  <a:cubicBezTo>
                    <a:pt x="340" y="457"/>
                    <a:pt x="345" y="459"/>
                    <a:pt x="358" y="462"/>
                  </a:cubicBezTo>
                  <a:cubicBezTo>
                    <a:pt x="376" y="459"/>
                    <a:pt x="375" y="457"/>
                    <a:pt x="388" y="448"/>
                  </a:cubicBezTo>
                  <a:cubicBezTo>
                    <a:pt x="390" y="441"/>
                    <a:pt x="394" y="435"/>
                    <a:pt x="400" y="430"/>
                  </a:cubicBezTo>
                  <a:cubicBezTo>
                    <a:pt x="404" y="427"/>
                    <a:pt x="412" y="422"/>
                    <a:pt x="412" y="422"/>
                  </a:cubicBezTo>
                  <a:cubicBezTo>
                    <a:pt x="417" y="415"/>
                    <a:pt x="451" y="367"/>
                    <a:pt x="458" y="364"/>
                  </a:cubicBezTo>
                  <a:cubicBezTo>
                    <a:pt x="475" y="356"/>
                    <a:pt x="486" y="357"/>
                    <a:pt x="506" y="356"/>
                  </a:cubicBezTo>
                  <a:cubicBezTo>
                    <a:pt x="525" y="350"/>
                    <a:pt x="533" y="342"/>
                    <a:pt x="554" y="340"/>
                  </a:cubicBezTo>
                  <a:cubicBezTo>
                    <a:pt x="560" y="338"/>
                    <a:pt x="566" y="336"/>
                    <a:pt x="572" y="334"/>
                  </a:cubicBezTo>
                  <a:cubicBezTo>
                    <a:pt x="576" y="333"/>
                    <a:pt x="584" y="330"/>
                    <a:pt x="584" y="330"/>
                  </a:cubicBezTo>
                  <a:cubicBezTo>
                    <a:pt x="603" y="311"/>
                    <a:pt x="618" y="310"/>
                    <a:pt x="646" y="308"/>
                  </a:cubicBezTo>
                  <a:cubicBezTo>
                    <a:pt x="665" y="304"/>
                    <a:pt x="684" y="303"/>
                    <a:pt x="704" y="302"/>
                  </a:cubicBezTo>
                  <a:cubicBezTo>
                    <a:pt x="712" y="299"/>
                    <a:pt x="712" y="293"/>
                    <a:pt x="720" y="290"/>
                  </a:cubicBezTo>
                  <a:cubicBezTo>
                    <a:pt x="732" y="285"/>
                    <a:pt x="743" y="285"/>
                    <a:pt x="754" y="278"/>
                  </a:cubicBezTo>
                  <a:cubicBezTo>
                    <a:pt x="756" y="271"/>
                    <a:pt x="760" y="267"/>
                    <a:pt x="762" y="260"/>
                  </a:cubicBezTo>
                  <a:cubicBezTo>
                    <a:pt x="763" y="247"/>
                    <a:pt x="762" y="233"/>
                    <a:pt x="764" y="220"/>
                  </a:cubicBezTo>
                  <a:cubicBezTo>
                    <a:pt x="764" y="219"/>
                    <a:pt x="794" y="204"/>
                    <a:pt x="800" y="200"/>
                  </a:cubicBezTo>
                  <a:cubicBezTo>
                    <a:pt x="807" y="189"/>
                    <a:pt x="808" y="186"/>
                    <a:pt x="820" y="182"/>
                  </a:cubicBezTo>
                  <a:cubicBezTo>
                    <a:pt x="825" y="166"/>
                    <a:pt x="814" y="162"/>
                    <a:pt x="802" y="154"/>
                  </a:cubicBezTo>
                  <a:cubicBezTo>
                    <a:pt x="797" y="151"/>
                    <a:pt x="790" y="142"/>
                    <a:pt x="790" y="142"/>
                  </a:cubicBezTo>
                  <a:cubicBezTo>
                    <a:pt x="786" y="131"/>
                    <a:pt x="792" y="127"/>
                    <a:pt x="802" y="124"/>
                  </a:cubicBezTo>
                  <a:cubicBezTo>
                    <a:pt x="810" y="116"/>
                    <a:pt x="813" y="98"/>
                    <a:pt x="820" y="94"/>
                  </a:cubicBezTo>
                  <a:cubicBezTo>
                    <a:pt x="824" y="92"/>
                    <a:pt x="832" y="90"/>
                    <a:pt x="832" y="90"/>
                  </a:cubicBezTo>
                  <a:cubicBezTo>
                    <a:pt x="844" y="92"/>
                    <a:pt x="848" y="92"/>
                    <a:pt x="856" y="100"/>
                  </a:cubicBezTo>
                  <a:cubicBezTo>
                    <a:pt x="863" y="98"/>
                    <a:pt x="876" y="94"/>
                    <a:pt x="876" y="94"/>
                  </a:cubicBezTo>
                  <a:cubicBezTo>
                    <a:pt x="889" y="81"/>
                    <a:pt x="906" y="77"/>
                    <a:pt x="924" y="74"/>
                  </a:cubicBezTo>
                  <a:cubicBezTo>
                    <a:pt x="929" y="67"/>
                    <a:pt x="929" y="58"/>
                    <a:pt x="922" y="52"/>
                  </a:cubicBezTo>
                  <a:cubicBezTo>
                    <a:pt x="918" y="49"/>
                    <a:pt x="910" y="44"/>
                    <a:pt x="910" y="44"/>
                  </a:cubicBezTo>
                  <a:cubicBezTo>
                    <a:pt x="894" y="47"/>
                    <a:pt x="899" y="49"/>
                    <a:pt x="888" y="56"/>
                  </a:cubicBezTo>
                  <a:cubicBezTo>
                    <a:pt x="884" y="58"/>
                    <a:pt x="876" y="60"/>
                    <a:pt x="876" y="60"/>
                  </a:cubicBezTo>
                  <a:cubicBezTo>
                    <a:pt x="853" y="59"/>
                    <a:pt x="810" y="59"/>
                    <a:pt x="848" y="46"/>
                  </a:cubicBezTo>
                  <a:cubicBezTo>
                    <a:pt x="844" y="33"/>
                    <a:pt x="831" y="37"/>
                    <a:pt x="818" y="36"/>
                  </a:cubicBezTo>
                  <a:cubicBezTo>
                    <a:pt x="809" y="33"/>
                    <a:pt x="802" y="27"/>
                    <a:pt x="794" y="22"/>
                  </a:cubicBezTo>
                  <a:cubicBezTo>
                    <a:pt x="790" y="20"/>
                    <a:pt x="782" y="18"/>
                    <a:pt x="782" y="18"/>
                  </a:cubicBezTo>
                  <a:cubicBezTo>
                    <a:pt x="727" y="19"/>
                    <a:pt x="688" y="11"/>
                    <a:pt x="642" y="26"/>
                  </a:cubicBezTo>
                  <a:cubicBezTo>
                    <a:pt x="635" y="16"/>
                    <a:pt x="632" y="18"/>
                    <a:pt x="620" y="20"/>
                  </a:cubicBezTo>
                  <a:cubicBezTo>
                    <a:pt x="611" y="34"/>
                    <a:pt x="600" y="36"/>
                    <a:pt x="584" y="38"/>
                  </a:cubicBezTo>
                  <a:cubicBezTo>
                    <a:pt x="575" y="44"/>
                    <a:pt x="581" y="46"/>
                    <a:pt x="578" y="56"/>
                  </a:cubicBezTo>
                  <a:cubicBezTo>
                    <a:pt x="572" y="47"/>
                    <a:pt x="566" y="41"/>
                    <a:pt x="556" y="38"/>
                  </a:cubicBezTo>
                  <a:cubicBezTo>
                    <a:pt x="553" y="38"/>
                    <a:pt x="539" y="39"/>
                    <a:pt x="534" y="42"/>
                  </a:cubicBezTo>
                  <a:cubicBezTo>
                    <a:pt x="528" y="46"/>
                    <a:pt x="516" y="54"/>
                    <a:pt x="516" y="54"/>
                  </a:cubicBezTo>
                  <a:cubicBezTo>
                    <a:pt x="507" y="52"/>
                    <a:pt x="503" y="51"/>
                    <a:pt x="500" y="42"/>
                  </a:cubicBezTo>
                  <a:cubicBezTo>
                    <a:pt x="505" y="28"/>
                    <a:pt x="488" y="31"/>
                    <a:pt x="478" y="30"/>
                  </a:cubicBezTo>
                  <a:cubicBezTo>
                    <a:pt x="469" y="33"/>
                    <a:pt x="473" y="37"/>
                    <a:pt x="464" y="40"/>
                  </a:cubicBezTo>
                  <a:cubicBezTo>
                    <a:pt x="447" y="34"/>
                    <a:pt x="451" y="27"/>
                    <a:pt x="432" y="40"/>
                  </a:cubicBezTo>
                  <a:cubicBezTo>
                    <a:pt x="427" y="54"/>
                    <a:pt x="427" y="52"/>
                    <a:pt x="410" y="50"/>
                  </a:cubicBezTo>
                  <a:cubicBezTo>
                    <a:pt x="391" y="52"/>
                    <a:pt x="385" y="54"/>
                    <a:pt x="366" y="52"/>
                  </a:cubicBezTo>
                  <a:cubicBezTo>
                    <a:pt x="357" y="49"/>
                    <a:pt x="356" y="46"/>
                    <a:pt x="364" y="40"/>
                  </a:cubicBezTo>
                  <a:cubicBezTo>
                    <a:pt x="380" y="42"/>
                    <a:pt x="395" y="43"/>
                    <a:pt x="410" y="38"/>
                  </a:cubicBezTo>
                  <a:cubicBezTo>
                    <a:pt x="426" y="15"/>
                    <a:pt x="386" y="21"/>
                    <a:pt x="370" y="20"/>
                  </a:cubicBezTo>
                  <a:cubicBezTo>
                    <a:pt x="364" y="16"/>
                    <a:pt x="358" y="12"/>
                    <a:pt x="352" y="8"/>
                  </a:cubicBezTo>
                  <a:cubicBezTo>
                    <a:pt x="348" y="5"/>
                    <a:pt x="340" y="0"/>
                    <a:pt x="340" y="0"/>
                  </a:cubicBezTo>
                  <a:cubicBezTo>
                    <a:pt x="338" y="1"/>
                    <a:pt x="336" y="1"/>
                    <a:pt x="334" y="2"/>
                  </a:cubicBezTo>
                  <a:cubicBezTo>
                    <a:pt x="331" y="3"/>
                    <a:pt x="329" y="3"/>
                    <a:pt x="326" y="4"/>
                  </a:cubicBezTo>
                  <a:cubicBezTo>
                    <a:pt x="322" y="5"/>
                    <a:pt x="314" y="8"/>
                    <a:pt x="314" y="8"/>
                  </a:cubicBezTo>
                  <a:cubicBezTo>
                    <a:pt x="305" y="22"/>
                    <a:pt x="288" y="6"/>
                    <a:pt x="276" y="2"/>
                  </a:cubicBezTo>
                  <a:cubicBezTo>
                    <a:pt x="270" y="3"/>
                    <a:pt x="241" y="16"/>
                    <a:pt x="240" y="16"/>
                  </a:cubicBezTo>
                  <a:cubicBezTo>
                    <a:pt x="226" y="17"/>
                    <a:pt x="212" y="17"/>
                    <a:pt x="198" y="18"/>
                  </a:cubicBezTo>
                  <a:cubicBezTo>
                    <a:pt x="183" y="19"/>
                    <a:pt x="172" y="20"/>
                    <a:pt x="160" y="28"/>
                  </a:cubicBezTo>
                  <a:cubicBezTo>
                    <a:pt x="146" y="26"/>
                    <a:pt x="141" y="27"/>
                    <a:pt x="130" y="20"/>
                  </a:cubicBezTo>
                  <a:cubicBezTo>
                    <a:pt x="123" y="22"/>
                    <a:pt x="115" y="24"/>
                    <a:pt x="108" y="26"/>
                  </a:cubicBezTo>
                  <a:cubicBezTo>
                    <a:pt x="102" y="35"/>
                    <a:pt x="113" y="41"/>
                    <a:pt x="122" y="44"/>
                  </a:cubicBezTo>
                  <a:cubicBezTo>
                    <a:pt x="125" y="52"/>
                    <a:pt x="114" y="68"/>
                    <a:pt x="114" y="68"/>
                  </a:cubicBezTo>
                  <a:cubicBezTo>
                    <a:pt x="112" y="79"/>
                    <a:pt x="111" y="82"/>
                    <a:pt x="100" y="78"/>
                  </a:cubicBezTo>
                  <a:cubicBezTo>
                    <a:pt x="93" y="67"/>
                    <a:pt x="100" y="63"/>
                    <a:pt x="104" y="52"/>
                  </a:cubicBezTo>
                  <a:cubicBezTo>
                    <a:pt x="96" y="44"/>
                    <a:pt x="91" y="36"/>
                    <a:pt x="80" y="32"/>
                  </a:cubicBezTo>
                  <a:cubicBezTo>
                    <a:pt x="73" y="34"/>
                    <a:pt x="67" y="39"/>
                    <a:pt x="60" y="4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8" name="Freeform 42"/>
            <p:cNvSpPr>
              <a:spLocks/>
            </p:cNvSpPr>
            <p:nvPr/>
          </p:nvSpPr>
          <p:spPr bwMode="invGray">
            <a:xfrm>
              <a:off x="2009" y="2135"/>
              <a:ext cx="39" cy="24"/>
            </a:xfrm>
            <a:custGeom>
              <a:avLst/>
              <a:gdLst>
                <a:gd name="T0" fmla="*/ 34 w 52"/>
                <a:gd name="T1" fmla="*/ 0 h 32"/>
                <a:gd name="T2" fmla="*/ 8 w 52"/>
                <a:gd name="T3" fmla="*/ 20 h 32"/>
                <a:gd name="T4" fmla="*/ 24 w 52"/>
                <a:gd name="T5" fmla="*/ 32 h 32"/>
                <a:gd name="T6" fmla="*/ 42 w 52"/>
                <a:gd name="T7" fmla="*/ 30 h 32"/>
                <a:gd name="T8" fmla="*/ 34 w 52"/>
                <a:gd name="T9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9" name="Freeform 43"/>
            <p:cNvSpPr>
              <a:spLocks/>
            </p:cNvSpPr>
            <p:nvPr/>
          </p:nvSpPr>
          <p:spPr bwMode="invGray">
            <a:xfrm>
              <a:off x="2292" y="2201"/>
              <a:ext cx="128" cy="54"/>
            </a:xfrm>
            <a:custGeom>
              <a:avLst/>
              <a:gdLst>
                <a:gd name="T0" fmla="*/ 102 w 172"/>
                <a:gd name="T1" fmla="*/ 8 h 72"/>
                <a:gd name="T2" fmla="*/ 66 w 172"/>
                <a:gd name="T3" fmla="*/ 4 h 72"/>
                <a:gd name="T4" fmla="*/ 54 w 172"/>
                <a:gd name="T5" fmla="*/ 0 h 72"/>
                <a:gd name="T6" fmla="*/ 0 w 172"/>
                <a:gd name="T7" fmla="*/ 28 h 72"/>
                <a:gd name="T8" fmla="*/ 28 w 172"/>
                <a:gd name="T9" fmla="*/ 40 h 72"/>
                <a:gd name="T10" fmla="*/ 42 w 172"/>
                <a:gd name="T11" fmla="*/ 60 h 72"/>
                <a:gd name="T12" fmla="*/ 66 w 172"/>
                <a:gd name="T13" fmla="*/ 68 h 72"/>
                <a:gd name="T14" fmla="*/ 78 w 172"/>
                <a:gd name="T15" fmla="*/ 72 h 72"/>
                <a:gd name="T16" fmla="*/ 130 w 172"/>
                <a:gd name="T17" fmla="*/ 60 h 72"/>
                <a:gd name="T18" fmla="*/ 172 w 172"/>
                <a:gd name="T19" fmla="*/ 44 h 72"/>
                <a:gd name="T20" fmla="*/ 148 w 172"/>
                <a:gd name="T21" fmla="*/ 18 h 72"/>
                <a:gd name="T22" fmla="*/ 136 w 172"/>
                <a:gd name="T23" fmla="*/ 4 h 72"/>
                <a:gd name="T24" fmla="*/ 102 w 172"/>
                <a:gd name="T25" fmla="*/ 8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2" h="72">
                  <a:moveTo>
                    <a:pt x="102" y="8"/>
                  </a:moveTo>
                  <a:cubicBezTo>
                    <a:pt x="89" y="12"/>
                    <a:pt x="78" y="8"/>
                    <a:pt x="66" y="4"/>
                  </a:cubicBezTo>
                  <a:cubicBezTo>
                    <a:pt x="62" y="3"/>
                    <a:pt x="54" y="0"/>
                    <a:pt x="54" y="0"/>
                  </a:cubicBezTo>
                  <a:cubicBezTo>
                    <a:pt x="38" y="5"/>
                    <a:pt x="12" y="16"/>
                    <a:pt x="0" y="28"/>
                  </a:cubicBezTo>
                  <a:cubicBezTo>
                    <a:pt x="4" y="39"/>
                    <a:pt x="18" y="39"/>
                    <a:pt x="28" y="40"/>
                  </a:cubicBezTo>
                  <a:cubicBezTo>
                    <a:pt x="39" y="44"/>
                    <a:pt x="41" y="60"/>
                    <a:pt x="42" y="60"/>
                  </a:cubicBezTo>
                  <a:cubicBezTo>
                    <a:pt x="50" y="63"/>
                    <a:pt x="58" y="65"/>
                    <a:pt x="66" y="68"/>
                  </a:cubicBezTo>
                  <a:cubicBezTo>
                    <a:pt x="70" y="69"/>
                    <a:pt x="78" y="72"/>
                    <a:pt x="78" y="72"/>
                  </a:cubicBezTo>
                  <a:cubicBezTo>
                    <a:pt x="92" y="71"/>
                    <a:pt x="117" y="69"/>
                    <a:pt x="130" y="60"/>
                  </a:cubicBezTo>
                  <a:cubicBezTo>
                    <a:pt x="148" y="48"/>
                    <a:pt x="150" y="46"/>
                    <a:pt x="172" y="44"/>
                  </a:cubicBezTo>
                  <a:cubicBezTo>
                    <a:pt x="169" y="29"/>
                    <a:pt x="162" y="23"/>
                    <a:pt x="148" y="18"/>
                  </a:cubicBezTo>
                  <a:cubicBezTo>
                    <a:pt x="145" y="10"/>
                    <a:pt x="144" y="7"/>
                    <a:pt x="136" y="4"/>
                  </a:cubicBezTo>
                  <a:cubicBezTo>
                    <a:pt x="134" y="4"/>
                    <a:pt x="105" y="11"/>
                    <a:pt x="102" y="8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0" name="Freeform 44"/>
            <p:cNvSpPr>
              <a:spLocks/>
            </p:cNvSpPr>
            <p:nvPr/>
          </p:nvSpPr>
          <p:spPr bwMode="invGray">
            <a:xfrm>
              <a:off x="2393" y="2038"/>
              <a:ext cx="39" cy="24"/>
            </a:xfrm>
            <a:custGeom>
              <a:avLst/>
              <a:gdLst>
                <a:gd name="T0" fmla="*/ 34 w 52"/>
                <a:gd name="T1" fmla="*/ 0 h 32"/>
                <a:gd name="T2" fmla="*/ 8 w 52"/>
                <a:gd name="T3" fmla="*/ 20 h 32"/>
                <a:gd name="T4" fmla="*/ 24 w 52"/>
                <a:gd name="T5" fmla="*/ 32 h 32"/>
                <a:gd name="T6" fmla="*/ 42 w 52"/>
                <a:gd name="T7" fmla="*/ 30 h 32"/>
                <a:gd name="T8" fmla="*/ 34 w 52"/>
                <a:gd name="T9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1" name="Freeform 45"/>
            <p:cNvSpPr>
              <a:spLocks/>
            </p:cNvSpPr>
            <p:nvPr/>
          </p:nvSpPr>
          <p:spPr bwMode="invGray">
            <a:xfrm>
              <a:off x="2662" y="2006"/>
              <a:ext cx="155" cy="63"/>
            </a:xfrm>
            <a:custGeom>
              <a:avLst/>
              <a:gdLst>
                <a:gd name="T0" fmla="*/ 191 w 206"/>
                <a:gd name="T1" fmla="*/ 7 h 85"/>
                <a:gd name="T2" fmla="*/ 103 w 206"/>
                <a:gd name="T3" fmla="*/ 9 h 85"/>
                <a:gd name="T4" fmla="*/ 109 w 206"/>
                <a:gd name="T5" fmla="*/ 25 h 85"/>
                <a:gd name="T6" fmla="*/ 107 w 206"/>
                <a:gd name="T7" fmla="*/ 33 h 85"/>
                <a:gd name="T8" fmla="*/ 89 w 206"/>
                <a:gd name="T9" fmla="*/ 27 h 85"/>
                <a:gd name="T10" fmla="*/ 77 w 206"/>
                <a:gd name="T11" fmla="*/ 19 h 85"/>
                <a:gd name="T12" fmla="*/ 23 w 206"/>
                <a:gd name="T13" fmla="*/ 27 h 85"/>
                <a:gd name="T14" fmla="*/ 31 w 206"/>
                <a:gd name="T15" fmla="*/ 49 h 85"/>
                <a:gd name="T16" fmla="*/ 55 w 206"/>
                <a:gd name="T17" fmla="*/ 53 h 85"/>
                <a:gd name="T18" fmla="*/ 75 w 206"/>
                <a:gd name="T19" fmla="*/ 73 h 85"/>
                <a:gd name="T20" fmla="*/ 89 w 206"/>
                <a:gd name="T21" fmla="*/ 85 h 85"/>
                <a:gd name="T22" fmla="*/ 109 w 206"/>
                <a:gd name="T23" fmla="*/ 67 h 85"/>
                <a:gd name="T24" fmla="*/ 121 w 206"/>
                <a:gd name="T25" fmla="*/ 59 h 85"/>
                <a:gd name="T26" fmla="*/ 127 w 206"/>
                <a:gd name="T27" fmla="*/ 47 h 85"/>
                <a:gd name="T28" fmla="*/ 167 w 206"/>
                <a:gd name="T29" fmla="*/ 35 h 85"/>
                <a:gd name="T30" fmla="*/ 187 w 206"/>
                <a:gd name="T31" fmla="*/ 31 h 85"/>
                <a:gd name="T32" fmla="*/ 199 w 206"/>
                <a:gd name="T33" fmla="*/ 27 h 85"/>
                <a:gd name="T34" fmla="*/ 191 w 206"/>
                <a:gd name="T35" fmla="*/ 7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06" h="85">
                  <a:moveTo>
                    <a:pt x="191" y="7"/>
                  </a:moveTo>
                  <a:cubicBezTo>
                    <a:pt x="165" y="6"/>
                    <a:pt x="130" y="0"/>
                    <a:pt x="103" y="9"/>
                  </a:cubicBezTo>
                  <a:cubicBezTo>
                    <a:pt x="100" y="18"/>
                    <a:pt x="101" y="20"/>
                    <a:pt x="109" y="25"/>
                  </a:cubicBezTo>
                  <a:cubicBezTo>
                    <a:pt x="111" y="28"/>
                    <a:pt x="118" y="34"/>
                    <a:pt x="107" y="33"/>
                  </a:cubicBezTo>
                  <a:cubicBezTo>
                    <a:pt x="101" y="32"/>
                    <a:pt x="89" y="27"/>
                    <a:pt x="89" y="27"/>
                  </a:cubicBezTo>
                  <a:cubicBezTo>
                    <a:pt x="86" y="24"/>
                    <a:pt x="82" y="18"/>
                    <a:pt x="77" y="19"/>
                  </a:cubicBezTo>
                  <a:cubicBezTo>
                    <a:pt x="52" y="22"/>
                    <a:pt x="57" y="25"/>
                    <a:pt x="23" y="27"/>
                  </a:cubicBezTo>
                  <a:cubicBezTo>
                    <a:pt x="0" y="31"/>
                    <a:pt x="18" y="45"/>
                    <a:pt x="31" y="49"/>
                  </a:cubicBezTo>
                  <a:cubicBezTo>
                    <a:pt x="43" y="53"/>
                    <a:pt x="35" y="51"/>
                    <a:pt x="55" y="53"/>
                  </a:cubicBezTo>
                  <a:cubicBezTo>
                    <a:pt x="63" y="59"/>
                    <a:pt x="66" y="67"/>
                    <a:pt x="75" y="73"/>
                  </a:cubicBezTo>
                  <a:cubicBezTo>
                    <a:pt x="78" y="81"/>
                    <a:pt x="81" y="82"/>
                    <a:pt x="89" y="85"/>
                  </a:cubicBezTo>
                  <a:cubicBezTo>
                    <a:pt x="104" y="81"/>
                    <a:pt x="99" y="75"/>
                    <a:pt x="109" y="67"/>
                  </a:cubicBezTo>
                  <a:cubicBezTo>
                    <a:pt x="113" y="64"/>
                    <a:pt x="121" y="59"/>
                    <a:pt x="121" y="59"/>
                  </a:cubicBezTo>
                  <a:cubicBezTo>
                    <a:pt x="123" y="55"/>
                    <a:pt x="124" y="50"/>
                    <a:pt x="127" y="47"/>
                  </a:cubicBezTo>
                  <a:cubicBezTo>
                    <a:pt x="132" y="41"/>
                    <a:pt x="158" y="37"/>
                    <a:pt x="167" y="35"/>
                  </a:cubicBezTo>
                  <a:cubicBezTo>
                    <a:pt x="174" y="34"/>
                    <a:pt x="181" y="33"/>
                    <a:pt x="187" y="31"/>
                  </a:cubicBezTo>
                  <a:cubicBezTo>
                    <a:pt x="191" y="30"/>
                    <a:pt x="199" y="27"/>
                    <a:pt x="199" y="27"/>
                  </a:cubicBezTo>
                  <a:cubicBezTo>
                    <a:pt x="206" y="16"/>
                    <a:pt x="199" y="15"/>
                    <a:pt x="191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2" name="Freeform 46"/>
            <p:cNvSpPr>
              <a:spLocks/>
            </p:cNvSpPr>
            <p:nvPr/>
          </p:nvSpPr>
          <p:spPr bwMode="invGray">
            <a:xfrm>
              <a:off x="2759" y="2039"/>
              <a:ext cx="48" cy="21"/>
            </a:xfrm>
            <a:custGeom>
              <a:avLst/>
              <a:gdLst>
                <a:gd name="T0" fmla="*/ 36 w 64"/>
                <a:gd name="T1" fmla="*/ 6 h 28"/>
                <a:gd name="T2" fmla="*/ 8 w 64"/>
                <a:gd name="T3" fmla="*/ 4 h 28"/>
                <a:gd name="T4" fmla="*/ 24 w 64"/>
                <a:gd name="T5" fmla="*/ 28 h 28"/>
                <a:gd name="T6" fmla="*/ 54 w 64"/>
                <a:gd name="T7" fmla="*/ 14 h 28"/>
                <a:gd name="T8" fmla="*/ 36 w 64"/>
                <a:gd name="T9" fmla="*/ 6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4" h="28">
                  <a:moveTo>
                    <a:pt x="36" y="6"/>
                  </a:moveTo>
                  <a:cubicBezTo>
                    <a:pt x="32" y="18"/>
                    <a:pt x="19" y="0"/>
                    <a:pt x="8" y="4"/>
                  </a:cubicBezTo>
                  <a:cubicBezTo>
                    <a:pt x="0" y="16"/>
                    <a:pt x="14" y="27"/>
                    <a:pt x="24" y="28"/>
                  </a:cubicBezTo>
                  <a:cubicBezTo>
                    <a:pt x="30" y="27"/>
                    <a:pt x="48" y="16"/>
                    <a:pt x="54" y="14"/>
                  </a:cubicBezTo>
                  <a:cubicBezTo>
                    <a:pt x="64" y="10"/>
                    <a:pt x="36" y="9"/>
                    <a:pt x="36" y="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3" name="Freeform 47"/>
            <p:cNvSpPr>
              <a:spLocks/>
            </p:cNvSpPr>
            <p:nvPr/>
          </p:nvSpPr>
          <p:spPr bwMode="invGray">
            <a:xfrm>
              <a:off x="2467" y="2311"/>
              <a:ext cx="109" cy="132"/>
            </a:xfrm>
            <a:custGeom>
              <a:avLst/>
              <a:gdLst>
                <a:gd name="T0" fmla="*/ 24 w 146"/>
                <a:gd name="T1" fmla="*/ 19 h 176"/>
                <a:gd name="T2" fmla="*/ 0 w 146"/>
                <a:gd name="T3" fmla="*/ 25 h 176"/>
                <a:gd name="T4" fmla="*/ 14 w 146"/>
                <a:gd name="T5" fmla="*/ 43 h 176"/>
                <a:gd name="T6" fmla="*/ 34 w 146"/>
                <a:gd name="T7" fmla="*/ 87 h 176"/>
                <a:gd name="T8" fmla="*/ 52 w 146"/>
                <a:gd name="T9" fmla="*/ 91 h 176"/>
                <a:gd name="T10" fmla="*/ 50 w 146"/>
                <a:gd name="T11" fmla="*/ 107 h 176"/>
                <a:gd name="T12" fmla="*/ 28 w 146"/>
                <a:gd name="T13" fmla="*/ 113 h 176"/>
                <a:gd name="T14" fmla="*/ 16 w 146"/>
                <a:gd name="T15" fmla="*/ 131 h 176"/>
                <a:gd name="T16" fmla="*/ 18 w 146"/>
                <a:gd name="T17" fmla="*/ 137 h 176"/>
                <a:gd name="T18" fmla="*/ 30 w 146"/>
                <a:gd name="T19" fmla="*/ 141 h 176"/>
                <a:gd name="T20" fmla="*/ 18 w 146"/>
                <a:gd name="T21" fmla="*/ 169 h 176"/>
                <a:gd name="T22" fmla="*/ 20 w 146"/>
                <a:gd name="T23" fmla="*/ 175 h 176"/>
                <a:gd name="T24" fmla="*/ 34 w 146"/>
                <a:gd name="T25" fmla="*/ 171 h 176"/>
                <a:gd name="T26" fmla="*/ 58 w 146"/>
                <a:gd name="T27" fmla="*/ 169 h 176"/>
                <a:gd name="T28" fmla="*/ 92 w 146"/>
                <a:gd name="T29" fmla="*/ 171 h 176"/>
                <a:gd name="T30" fmla="*/ 110 w 146"/>
                <a:gd name="T31" fmla="*/ 169 h 176"/>
                <a:gd name="T32" fmla="*/ 122 w 146"/>
                <a:gd name="T33" fmla="*/ 165 h 176"/>
                <a:gd name="T34" fmla="*/ 128 w 146"/>
                <a:gd name="T35" fmla="*/ 141 h 176"/>
                <a:gd name="T36" fmla="*/ 146 w 146"/>
                <a:gd name="T37" fmla="*/ 133 h 176"/>
                <a:gd name="T38" fmla="*/ 110 w 146"/>
                <a:gd name="T39" fmla="*/ 109 h 176"/>
                <a:gd name="T40" fmla="*/ 88 w 146"/>
                <a:gd name="T41" fmla="*/ 83 h 176"/>
                <a:gd name="T42" fmla="*/ 82 w 146"/>
                <a:gd name="T43" fmla="*/ 69 h 176"/>
                <a:gd name="T44" fmla="*/ 64 w 146"/>
                <a:gd name="T45" fmla="*/ 61 h 176"/>
                <a:gd name="T46" fmla="*/ 86 w 146"/>
                <a:gd name="T47" fmla="*/ 45 h 176"/>
                <a:gd name="T48" fmla="*/ 64 w 146"/>
                <a:gd name="T49" fmla="*/ 31 h 176"/>
                <a:gd name="T50" fmla="*/ 70 w 146"/>
                <a:gd name="T51" fmla="*/ 13 h 176"/>
                <a:gd name="T52" fmla="*/ 46 w 146"/>
                <a:gd name="T53" fmla="*/ 1 h 176"/>
                <a:gd name="T54" fmla="*/ 30 w 146"/>
                <a:gd name="T55" fmla="*/ 9 h 176"/>
                <a:gd name="T56" fmla="*/ 24 w 146"/>
                <a:gd name="T57" fmla="*/ 19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46" h="176">
                  <a:moveTo>
                    <a:pt x="24" y="19"/>
                  </a:moveTo>
                  <a:cubicBezTo>
                    <a:pt x="13" y="23"/>
                    <a:pt x="7" y="15"/>
                    <a:pt x="0" y="25"/>
                  </a:cubicBezTo>
                  <a:cubicBezTo>
                    <a:pt x="2" y="32"/>
                    <a:pt x="14" y="43"/>
                    <a:pt x="14" y="43"/>
                  </a:cubicBezTo>
                  <a:cubicBezTo>
                    <a:pt x="19" y="58"/>
                    <a:pt x="20" y="78"/>
                    <a:pt x="34" y="87"/>
                  </a:cubicBezTo>
                  <a:cubicBezTo>
                    <a:pt x="42" y="84"/>
                    <a:pt x="45" y="86"/>
                    <a:pt x="52" y="91"/>
                  </a:cubicBezTo>
                  <a:cubicBezTo>
                    <a:pt x="57" y="105"/>
                    <a:pt x="60" y="101"/>
                    <a:pt x="50" y="107"/>
                  </a:cubicBezTo>
                  <a:cubicBezTo>
                    <a:pt x="38" y="105"/>
                    <a:pt x="32" y="101"/>
                    <a:pt x="28" y="113"/>
                  </a:cubicBezTo>
                  <a:cubicBezTo>
                    <a:pt x="32" y="129"/>
                    <a:pt x="33" y="128"/>
                    <a:pt x="16" y="131"/>
                  </a:cubicBezTo>
                  <a:cubicBezTo>
                    <a:pt x="17" y="133"/>
                    <a:pt x="16" y="136"/>
                    <a:pt x="18" y="137"/>
                  </a:cubicBezTo>
                  <a:cubicBezTo>
                    <a:pt x="21" y="139"/>
                    <a:pt x="30" y="141"/>
                    <a:pt x="30" y="141"/>
                  </a:cubicBezTo>
                  <a:cubicBezTo>
                    <a:pt x="28" y="152"/>
                    <a:pt x="21" y="159"/>
                    <a:pt x="18" y="169"/>
                  </a:cubicBezTo>
                  <a:cubicBezTo>
                    <a:pt x="19" y="171"/>
                    <a:pt x="18" y="174"/>
                    <a:pt x="20" y="175"/>
                  </a:cubicBezTo>
                  <a:cubicBezTo>
                    <a:pt x="22" y="176"/>
                    <a:pt x="32" y="171"/>
                    <a:pt x="34" y="171"/>
                  </a:cubicBezTo>
                  <a:cubicBezTo>
                    <a:pt x="42" y="170"/>
                    <a:pt x="50" y="170"/>
                    <a:pt x="58" y="169"/>
                  </a:cubicBezTo>
                  <a:cubicBezTo>
                    <a:pt x="70" y="167"/>
                    <a:pt x="80" y="167"/>
                    <a:pt x="92" y="171"/>
                  </a:cubicBezTo>
                  <a:cubicBezTo>
                    <a:pt x="98" y="170"/>
                    <a:pt x="104" y="170"/>
                    <a:pt x="110" y="169"/>
                  </a:cubicBezTo>
                  <a:cubicBezTo>
                    <a:pt x="114" y="168"/>
                    <a:pt x="122" y="165"/>
                    <a:pt x="122" y="165"/>
                  </a:cubicBezTo>
                  <a:cubicBezTo>
                    <a:pt x="124" y="158"/>
                    <a:pt x="123" y="147"/>
                    <a:pt x="128" y="141"/>
                  </a:cubicBezTo>
                  <a:cubicBezTo>
                    <a:pt x="132" y="136"/>
                    <a:pt x="146" y="133"/>
                    <a:pt x="146" y="133"/>
                  </a:cubicBezTo>
                  <a:cubicBezTo>
                    <a:pt x="142" y="105"/>
                    <a:pt x="143" y="111"/>
                    <a:pt x="110" y="109"/>
                  </a:cubicBezTo>
                  <a:cubicBezTo>
                    <a:pt x="102" y="97"/>
                    <a:pt x="103" y="88"/>
                    <a:pt x="88" y="83"/>
                  </a:cubicBezTo>
                  <a:cubicBezTo>
                    <a:pt x="85" y="79"/>
                    <a:pt x="86" y="72"/>
                    <a:pt x="82" y="69"/>
                  </a:cubicBezTo>
                  <a:cubicBezTo>
                    <a:pt x="77" y="65"/>
                    <a:pt x="69" y="65"/>
                    <a:pt x="64" y="61"/>
                  </a:cubicBezTo>
                  <a:cubicBezTo>
                    <a:pt x="52" y="43"/>
                    <a:pt x="67" y="47"/>
                    <a:pt x="86" y="45"/>
                  </a:cubicBezTo>
                  <a:cubicBezTo>
                    <a:pt x="93" y="25"/>
                    <a:pt x="83" y="29"/>
                    <a:pt x="64" y="31"/>
                  </a:cubicBezTo>
                  <a:cubicBezTo>
                    <a:pt x="62" y="25"/>
                    <a:pt x="70" y="13"/>
                    <a:pt x="70" y="13"/>
                  </a:cubicBezTo>
                  <a:cubicBezTo>
                    <a:pt x="64" y="4"/>
                    <a:pt x="56" y="3"/>
                    <a:pt x="46" y="1"/>
                  </a:cubicBezTo>
                  <a:cubicBezTo>
                    <a:pt x="35" y="3"/>
                    <a:pt x="34" y="0"/>
                    <a:pt x="30" y="9"/>
                  </a:cubicBezTo>
                  <a:cubicBezTo>
                    <a:pt x="25" y="21"/>
                    <a:pt x="29" y="24"/>
                    <a:pt x="24" y="19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4" name="Freeform 48"/>
            <p:cNvSpPr>
              <a:spLocks/>
            </p:cNvSpPr>
            <p:nvPr/>
          </p:nvSpPr>
          <p:spPr bwMode="invGray">
            <a:xfrm>
              <a:off x="2413" y="2359"/>
              <a:ext cx="69" cy="68"/>
            </a:xfrm>
            <a:custGeom>
              <a:avLst/>
              <a:gdLst>
                <a:gd name="T0" fmla="*/ 58 w 92"/>
                <a:gd name="T1" fmla="*/ 6 h 92"/>
                <a:gd name="T2" fmla="*/ 82 w 92"/>
                <a:gd name="T3" fmla="*/ 8 h 92"/>
                <a:gd name="T4" fmla="*/ 92 w 92"/>
                <a:gd name="T5" fmla="*/ 26 h 92"/>
                <a:gd name="T6" fmla="*/ 78 w 92"/>
                <a:gd name="T7" fmla="*/ 48 h 92"/>
                <a:gd name="T8" fmla="*/ 46 w 92"/>
                <a:gd name="T9" fmla="*/ 76 h 92"/>
                <a:gd name="T10" fmla="*/ 18 w 92"/>
                <a:gd name="T11" fmla="*/ 92 h 92"/>
                <a:gd name="T12" fmla="*/ 8 w 92"/>
                <a:gd name="T13" fmla="*/ 72 h 92"/>
                <a:gd name="T14" fmla="*/ 20 w 92"/>
                <a:gd name="T15" fmla="*/ 64 h 92"/>
                <a:gd name="T16" fmla="*/ 14 w 92"/>
                <a:gd name="T17" fmla="*/ 46 h 92"/>
                <a:gd name="T18" fmla="*/ 40 w 92"/>
                <a:gd name="T19" fmla="*/ 28 h 92"/>
                <a:gd name="T20" fmla="*/ 58 w 92"/>
                <a:gd name="T21" fmla="*/ 6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2" h="92">
                  <a:moveTo>
                    <a:pt x="58" y="6"/>
                  </a:moveTo>
                  <a:cubicBezTo>
                    <a:pt x="67" y="0"/>
                    <a:pt x="73" y="2"/>
                    <a:pt x="82" y="8"/>
                  </a:cubicBezTo>
                  <a:cubicBezTo>
                    <a:pt x="91" y="22"/>
                    <a:pt x="88" y="15"/>
                    <a:pt x="92" y="26"/>
                  </a:cubicBezTo>
                  <a:cubicBezTo>
                    <a:pt x="89" y="36"/>
                    <a:pt x="82" y="37"/>
                    <a:pt x="78" y="48"/>
                  </a:cubicBezTo>
                  <a:cubicBezTo>
                    <a:pt x="85" y="69"/>
                    <a:pt x="60" y="71"/>
                    <a:pt x="46" y="76"/>
                  </a:cubicBezTo>
                  <a:cubicBezTo>
                    <a:pt x="40" y="86"/>
                    <a:pt x="28" y="86"/>
                    <a:pt x="18" y="92"/>
                  </a:cubicBezTo>
                  <a:cubicBezTo>
                    <a:pt x="9" y="90"/>
                    <a:pt x="0" y="84"/>
                    <a:pt x="8" y="72"/>
                  </a:cubicBezTo>
                  <a:cubicBezTo>
                    <a:pt x="11" y="68"/>
                    <a:pt x="20" y="64"/>
                    <a:pt x="20" y="64"/>
                  </a:cubicBezTo>
                  <a:cubicBezTo>
                    <a:pt x="23" y="55"/>
                    <a:pt x="21" y="53"/>
                    <a:pt x="14" y="46"/>
                  </a:cubicBezTo>
                  <a:cubicBezTo>
                    <a:pt x="18" y="30"/>
                    <a:pt x="28" y="36"/>
                    <a:pt x="40" y="28"/>
                  </a:cubicBezTo>
                  <a:cubicBezTo>
                    <a:pt x="56" y="17"/>
                    <a:pt x="50" y="24"/>
                    <a:pt x="58" y="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5" name="Freeform 49"/>
            <p:cNvSpPr>
              <a:spLocks/>
            </p:cNvSpPr>
            <p:nvPr/>
          </p:nvSpPr>
          <p:spPr bwMode="invGray">
            <a:xfrm>
              <a:off x="4099" y="3502"/>
              <a:ext cx="474" cy="495"/>
            </a:xfrm>
            <a:custGeom>
              <a:avLst/>
              <a:gdLst>
                <a:gd name="T0" fmla="*/ 212 w 633"/>
                <a:gd name="T1" fmla="*/ 11 h 660"/>
                <a:gd name="T2" fmla="*/ 176 w 633"/>
                <a:gd name="T3" fmla="*/ 19 h 660"/>
                <a:gd name="T4" fmla="*/ 144 w 633"/>
                <a:gd name="T5" fmla="*/ 51 h 660"/>
                <a:gd name="T6" fmla="*/ 104 w 633"/>
                <a:gd name="T7" fmla="*/ 59 h 660"/>
                <a:gd name="T8" fmla="*/ 84 w 633"/>
                <a:gd name="T9" fmla="*/ 75 h 660"/>
                <a:gd name="T10" fmla="*/ 68 w 633"/>
                <a:gd name="T11" fmla="*/ 115 h 660"/>
                <a:gd name="T12" fmla="*/ 36 w 633"/>
                <a:gd name="T13" fmla="*/ 167 h 660"/>
                <a:gd name="T14" fmla="*/ 0 w 633"/>
                <a:gd name="T15" fmla="*/ 179 h 660"/>
                <a:gd name="T16" fmla="*/ 72 w 633"/>
                <a:gd name="T17" fmla="*/ 323 h 660"/>
                <a:gd name="T18" fmla="*/ 120 w 633"/>
                <a:gd name="T19" fmla="*/ 427 h 660"/>
                <a:gd name="T20" fmla="*/ 144 w 633"/>
                <a:gd name="T21" fmla="*/ 443 h 660"/>
                <a:gd name="T22" fmla="*/ 168 w 633"/>
                <a:gd name="T23" fmla="*/ 451 h 660"/>
                <a:gd name="T24" fmla="*/ 228 w 633"/>
                <a:gd name="T25" fmla="*/ 431 h 660"/>
                <a:gd name="T26" fmla="*/ 252 w 633"/>
                <a:gd name="T27" fmla="*/ 423 h 660"/>
                <a:gd name="T28" fmla="*/ 300 w 633"/>
                <a:gd name="T29" fmla="*/ 451 h 660"/>
                <a:gd name="T30" fmla="*/ 324 w 633"/>
                <a:gd name="T31" fmla="*/ 527 h 660"/>
                <a:gd name="T32" fmla="*/ 336 w 633"/>
                <a:gd name="T33" fmla="*/ 523 h 660"/>
                <a:gd name="T34" fmla="*/ 344 w 633"/>
                <a:gd name="T35" fmla="*/ 511 h 660"/>
                <a:gd name="T36" fmla="*/ 368 w 633"/>
                <a:gd name="T37" fmla="*/ 547 h 660"/>
                <a:gd name="T38" fmla="*/ 404 w 633"/>
                <a:gd name="T39" fmla="*/ 571 h 660"/>
                <a:gd name="T40" fmla="*/ 436 w 633"/>
                <a:gd name="T41" fmla="*/ 603 h 660"/>
                <a:gd name="T42" fmla="*/ 444 w 633"/>
                <a:gd name="T43" fmla="*/ 615 h 660"/>
                <a:gd name="T44" fmla="*/ 456 w 633"/>
                <a:gd name="T45" fmla="*/ 623 h 660"/>
                <a:gd name="T46" fmla="*/ 484 w 633"/>
                <a:gd name="T47" fmla="*/ 655 h 660"/>
                <a:gd name="T48" fmla="*/ 492 w 633"/>
                <a:gd name="T49" fmla="*/ 631 h 660"/>
                <a:gd name="T50" fmla="*/ 540 w 633"/>
                <a:gd name="T51" fmla="*/ 659 h 660"/>
                <a:gd name="T52" fmla="*/ 588 w 633"/>
                <a:gd name="T53" fmla="*/ 655 h 660"/>
                <a:gd name="T54" fmla="*/ 616 w 633"/>
                <a:gd name="T55" fmla="*/ 531 h 660"/>
                <a:gd name="T56" fmla="*/ 632 w 633"/>
                <a:gd name="T57" fmla="*/ 463 h 660"/>
                <a:gd name="T58" fmla="*/ 620 w 633"/>
                <a:gd name="T59" fmla="*/ 367 h 660"/>
                <a:gd name="T60" fmla="*/ 536 w 633"/>
                <a:gd name="T61" fmla="*/ 271 h 660"/>
                <a:gd name="T62" fmla="*/ 528 w 633"/>
                <a:gd name="T63" fmla="*/ 235 h 660"/>
                <a:gd name="T64" fmla="*/ 460 w 633"/>
                <a:gd name="T65" fmla="*/ 179 h 660"/>
                <a:gd name="T66" fmla="*/ 472 w 633"/>
                <a:gd name="T67" fmla="*/ 155 h 660"/>
                <a:gd name="T68" fmla="*/ 456 w 633"/>
                <a:gd name="T69" fmla="*/ 131 h 660"/>
                <a:gd name="T70" fmla="*/ 416 w 633"/>
                <a:gd name="T71" fmla="*/ 79 h 660"/>
                <a:gd name="T72" fmla="*/ 392 w 633"/>
                <a:gd name="T73" fmla="*/ 31 h 660"/>
                <a:gd name="T74" fmla="*/ 388 w 633"/>
                <a:gd name="T75" fmla="*/ 19 h 660"/>
                <a:gd name="T76" fmla="*/ 364 w 633"/>
                <a:gd name="T77" fmla="*/ 151 h 660"/>
                <a:gd name="T78" fmla="*/ 324 w 633"/>
                <a:gd name="T79" fmla="*/ 115 h 660"/>
                <a:gd name="T80" fmla="*/ 292 w 633"/>
                <a:gd name="T81" fmla="*/ 111 h 660"/>
                <a:gd name="T82" fmla="*/ 272 w 633"/>
                <a:gd name="T83" fmla="*/ 87 h 660"/>
                <a:gd name="T84" fmla="*/ 264 w 633"/>
                <a:gd name="T85" fmla="*/ 63 h 660"/>
                <a:gd name="T86" fmla="*/ 276 w 633"/>
                <a:gd name="T87" fmla="*/ 55 h 660"/>
                <a:gd name="T88" fmla="*/ 240 w 633"/>
                <a:gd name="T89" fmla="*/ 19 h 660"/>
                <a:gd name="T90" fmla="*/ 216 w 633"/>
                <a:gd name="T91" fmla="*/ 11 h 660"/>
                <a:gd name="T92" fmla="*/ 204 w 633"/>
                <a:gd name="T93" fmla="*/ 7 h 660"/>
                <a:gd name="T94" fmla="*/ 212 w 633"/>
                <a:gd name="T95" fmla="*/ 11 h 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633" h="660">
                  <a:moveTo>
                    <a:pt x="212" y="11"/>
                  </a:moveTo>
                  <a:cubicBezTo>
                    <a:pt x="195" y="0"/>
                    <a:pt x="187" y="2"/>
                    <a:pt x="176" y="19"/>
                  </a:cubicBezTo>
                  <a:cubicBezTo>
                    <a:pt x="171" y="61"/>
                    <a:pt x="181" y="88"/>
                    <a:pt x="144" y="51"/>
                  </a:cubicBezTo>
                  <a:cubicBezTo>
                    <a:pt x="131" y="53"/>
                    <a:pt x="115" y="51"/>
                    <a:pt x="104" y="59"/>
                  </a:cubicBezTo>
                  <a:cubicBezTo>
                    <a:pt x="78" y="80"/>
                    <a:pt x="114" y="65"/>
                    <a:pt x="84" y="75"/>
                  </a:cubicBezTo>
                  <a:cubicBezTo>
                    <a:pt x="78" y="94"/>
                    <a:pt x="92" y="107"/>
                    <a:pt x="68" y="115"/>
                  </a:cubicBezTo>
                  <a:cubicBezTo>
                    <a:pt x="55" y="135"/>
                    <a:pt x="59" y="159"/>
                    <a:pt x="36" y="167"/>
                  </a:cubicBezTo>
                  <a:cubicBezTo>
                    <a:pt x="16" y="163"/>
                    <a:pt x="7" y="158"/>
                    <a:pt x="0" y="179"/>
                  </a:cubicBezTo>
                  <a:cubicBezTo>
                    <a:pt x="9" y="232"/>
                    <a:pt x="43" y="279"/>
                    <a:pt x="72" y="323"/>
                  </a:cubicBezTo>
                  <a:cubicBezTo>
                    <a:pt x="82" y="371"/>
                    <a:pt x="85" y="392"/>
                    <a:pt x="120" y="427"/>
                  </a:cubicBezTo>
                  <a:cubicBezTo>
                    <a:pt x="127" y="434"/>
                    <a:pt x="136" y="438"/>
                    <a:pt x="144" y="443"/>
                  </a:cubicBezTo>
                  <a:cubicBezTo>
                    <a:pt x="151" y="448"/>
                    <a:pt x="168" y="451"/>
                    <a:pt x="168" y="451"/>
                  </a:cubicBezTo>
                  <a:cubicBezTo>
                    <a:pt x="188" y="444"/>
                    <a:pt x="208" y="438"/>
                    <a:pt x="228" y="431"/>
                  </a:cubicBezTo>
                  <a:cubicBezTo>
                    <a:pt x="236" y="428"/>
                    <a:pt x="252" y="423"/>
                    <a:pt x="252" y="423"/>
                  </a:cubicBezTo>
                  <a:cubicBezTo>
                    <a:pt x="271" y="429"/>
                    <a:pt x="281" y="445"/>
                    <a:pt x="300" y="451"/>
                  </a:cubicBezTo>
                  <a:cubicBezTo>
                    <a:pt x="320" y="471"/>
                    <a:pt x="315" y="500"/>
                    <a:pt x="324" y="527"/>
                  </a:cubicBezTo>
                  <a:cubicBezTo>
                    <a:pt x="328" y="526"/>
                    <a:pt x="333" y="526"/>
                    <a:pt x="336" y="523"/>
                  </a:cubicBezTo>
                  <a:cubicBezTo>
                    <a:pt x="340" y="520"/>
                    <a:pt x="339" y="511"/>
                    <a:pt x="344" y="511"/>
                  </a:cubicBezTo>
                  <a:cubicBezTo>
                    <a:pt x="358" y="511"/>
                    <a:pt x="362" y="541"/>
                    <a:pt x="368" y="547"/>
                  </a:cubicBezTo>
                  <a:cubicBezTo>
                    <a:pt x="378" y="557"/>
                    <a:pt x="392" y="563"/>
                    <a:pt x="404" y="571"/>
                  </a:cubicBezTo>
                  <a:cubicBezTo>
                    <a:pt x="418" y="580"/>
                    <a:pt x="422" y="594"/>
                    <a:pt x="436" y="603"/>
                  </a:cubicBezTo>
                  <a:cubicBezTo>
                    <a:pt x="439" y="607"/>
                    <a:pt x="441" y="612"/>
                    <a:pt x="444" y="615"/>
                  </a:cubicBezTo>
                  <a:cubicBezTo>
                    <a:pt x="447" y="618"/>
                    <a:pt x="453" y="619"/>
                    <a:pt x="456" y="623"/>
                  </a:cubicBezTo>
                  <a:cubicBezTo>
                    <a:pt x="489" y="660"/>
                    <a:pt x="457" y="637"/>
                    <a:pt x="484" y="655"/>
                  </a:cubicBezTo>
                  <a:cubicBezTo>
                    <a:pt x="487" y="647"/>
                    <a:pt x="485" y="626"/>
                    <a:pt x="492" y="631"/>
                  </a:cubicBezTo>
                  <a:cubicBezTo>
                    <a:pt x="509" y="642"/>
                    <a:pt x="522" y="653"/>
                    <a:pt x="540" y="659"/>
                  </a:cubicBezTo>
                  <a:cubicBezTo>
                    <a:pt x="557" y="642"/>
                    <a:pt x="567" y="648"/>
                    <a:pt x="588" y="655"/>
                  </a:cubicBezTo>
                  <a:cubicBezTo>
                    <a:pt x="611" y="621"/>
                    <a:pt x="573" y="560"/>
                    <a:pt x="616" y="531"/>
                  </a:cubicBezTo>
                  <a:cubicBezTo>
                    <a:pt x="632" y="507"/>
                    <a:pt x="629" y="496"/>
                    <a:pt x="632" y="463"/>
                  </a:cubicBezTo>
                  <a:cubicBezTo>
                    <a:pt x="630" y="440"/>
                    <a:pt x="633" y="390"/>
                    <a:pt x="620" y="367"/>
                  </a:cubicBezTo>
                  <a:cubicBezTo>
                    <a:pt x="600" y="332"/>
                    <a:pt x="565" y="300"/>
                    <a:pt x="536" y="271"/>
                  </a:cubicBezTo>
                  <a:cubicBezTo>
                    <a:pt x="532" y="259"/>
                    <a:pt x="532" y="247"/>
                    <a:pt x="528" y="235"/>
                  </a:cubicBezTo>
                  <a:cubicBezTo>
                    <a:pt x="525" y="225"/>
                    <a:pt x="474" y="188"/>
                    <a:pt x="460" y="179"/>
                  </a:cubicBezTo>
                  <a:cubicBezTo>
                    <a:pt x="463" y="171"/>
                    <a:pt x="471" y="164"/>
                    <a:pt x="472" y="155"/>
                  </a:cubicBezTo>
                  <a:cubicBezTo>
                    <a:pt x="474" y="144"/>
                    <a:pt x="461" y="137"/>
                    <a:pt x="456" y="131"/>
                  </a:cubicBezTo>
                  <a:cubicBezTo>
                    <a:pt x="435" y="106"/>
                    <a:pt x="451" y="88"/>
                    <a:pt x="416" y="79"/>
                  </a:cubicBezTo>
                  <a:cubicBezTo>
                    <a:pt x="395" y="48"/>
                    <a:pt x="403" y="64"/>
                    <a:pt x="392" y="31"/>
                  </a:cubicBezTo>
                  <a:cubicBezTo>
                    <a:pt x="391" y="27"/>
                    <a:pt x="388" y="19"/>
                    <a:pt x="388" y="19"/>
                  </a:cubicBezTo>
                  <a:cubicBezTo>
                    <a:pt x="362" y="58"/>
                    <a:pt x="379" y="107"/>
                    <a:pt x="364" y="151"/>
                  </a:cubicBezTo>
                  <a:cubicBezTo>
                    <a:pt x="344" y="144"/>
                    <a:pt x="344" y="120"/>
                    <a:pt x="324" y="115"/>
                  </a:cubicBezTo>
                  <a:cubicBezTo>
                    <a:pt x="314" y="112"/>
                    <a:pt x="303" y="112"/>
                    <a:pt x="292" y="111"/>
                  </a:cubicBezTo>
                  <a:cubicBezTo>
                    <a:pt x="284" y="103"/>
                    <a:pt x="276" y="97"/>
                    <a:pt x="272" y="87"/>
                  </a:cubicBezTo>
                  <a:cubicBezTo>
                    <a:pt x="269" y="79"/>
                    <a:pt x="264" y="63"/>
                    <a:pt x="264" y="63"/>
                  </a:cubicBezTo>
                  <a:cubicBezTo>
                    <a:pt x="268" y="60"/>
                    <a:pt x="273" y="58"/>
                    <a:pt x="276" y="55"/>
                  </a:cubicBezTo>
                  <a:cubicBezTo>
                    <a:pt x="300" y="31"/>
                    <a:pt x="256" y="24"/>
                    <a:pt x="240" y="19"/>
                  </a:cubicBezTo>
                  <a:cubicBezTo>
                    <a:pt x="232" y="16"/>
                    <a:pt x="224" y="14"/>
                    <a:pt x="216" y="11"/>
                  </a:cubicBezTo>
                  <a:cubicBezTo>
                    <a:pt x="212" y="10"/>
                    <a:pt x="200" y="5"/>
                    <a:pt x="204" y="7"/>
                  </a:cubicBezTo>
                  <a:cubicBezTo>
                    <a:pt x="207" y="8"/>
                    <a:pt x="209" y="10"/>
                    <a:pt x="212" y="1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6" name="Freeform 50"/>
            <p:cNvSpPr>
              <a:spLocks/>
            </p:cNvSpPr>
            <p:nvPr/>
          </p:nvSpPr>
          <p:spPr bwMode="invGray">
            <a:xfrm>
              <a:off x="4246" y="3241"/>
              <a:ext cx="319" cy="210"/>
            </a:xfrm>
            <a:custGeom>
              <a:avLst/>
              <a:gdLst>
                <a:gd name="T0" fmla="*/ 84 w 426"/>
                <a:gd name="T1" fmla="*/ 60 h 280"/>
                <a:gd name="T2" fmla="*/ 68 w 426"/>
                <a:gd name="T3" fmla="*/ 36 h 280"/>
                <a:gd name="T4" fmla="*/ 64 w 426"/>
                <a:gd name="T5" fmla="*/ 16 h 280"/>
                <a:gd name="T6" fmla="*/ 52 w 426"/>
                <a:gd name="T7" fmla="*/ 12 h 280"/>
                <a:gd name="T8" fmla="*/ 16 w 426"/>
                <a:gd name="T9" fmla="*/ 16 h 280"/>
                <a:gd name="T10" fmla="*/ 44 w 426"/>
                <a:gd name="T11" fmla="*/ 40 h 280"/>
                <a:gd name="T12" fmla="*/ 48 w 426"/>
                <a:gd name="T13" fmla="*/ 52 h 280"/>
                <a:gd name="T14" fmla="*/ 24 w 426"/>
                <a:gd name="T15" fmla="*/ 68 h 280"/>
                <a:gd name="T16" fmla="*/ 88 w 426"/>
                <a:gd name="T17" fmla="*/ 92 h 280"/>
                <a:gd name="T18" fmla="*/ 124 w 426"/>
                <a:gd name="T19" fmla="*/ 112 h 280"/>
                <a:gd name="T20" fmla="*/ 128 w 426"/>
                <a:gd name="T21" fmla="*/ 124 h 280"/>
                <a:gd name="T22" fmla="*/ 140 w 426"/>
                <a:gd name="T23" fmla="*/ 132 h 280"/>
                <a:gd name="T24" fmla="*/ 148 w 426"/>
                <a:gd name="T25" fmla="*/ 156 h 280"/>
                <a:gd name="T26" fmla="*/ 132 w 426"/>
                <a:gd name="T27" fmla="*/ 196 h 280"/>
                <a:gd name="T28" fmla="*/ 180 w 426"/>
                <a:gd name="T29" fmla="*/ 188 h 280"/>
                <a:gd name="T30" fmla="*/ 192 w 426"/>
                <a:gd name="T31" fmla="*/ 216 h 280"/>
                <a:gd name="T32" fmla="*/ 216 w 426"/>
                <a:gd name="T33" fmla="*/ 224 h 280"/>
                <a:gd name="T34" fmla="*/ 228 w 426"/>
                <a:gd name="T35" fmla="*/ 228 h 280"/>
                <a:gd name="T36" fmla="*/ 252 w 426"/>
                <a:gd name="T37" fmla="*/ 224 h 280"/>
                <a:gd name="T38" fmla="*/ 276 w 426"/>
                <a:gd name="T39" fmla="*/ 196 h 280"/>
                <a:gd name="T40" fmla="*/ 336 w 426"/>
                <a:gd name="T41" fmla="*/ 252 h 280"/>
                <a:gd name="T42" fmla="*/ 364 w 426"/>
                <a:gd name="T43" fmla="*/ 280 h 280"/>
                <a:gd name="T44" fmla="*/ 360 w 426"/>
                <a:gd name="T45" fmla="*/ 224 h 280"/>
                <a:gd name="T46" fmla="*/ 336 w 426"/>
                <a:gd name="T47" fmla="*/ 200 h 280"/>
                <a:gd name="T48" fmla="*/ 372 w 426"/>
                <a:gd name="T49" fmla="*/ 168 h 280"/>
                <a:gd name="T50" fmla="*/ 408 w 426"/>
                <a:gd name="T51" fmla="*/ 156 h 280"/>
                <a:gd name="T52" fmla="*/ 420 w 426"/>
                <a:gd name="T53" fmla="*/ 152 h 280"/>
                <a:gd name="T54" fmla="*/ 424 w 426"/>
                <a:gd name="T55" fmla="*/ 140 h 280"/>
                <a:gd name="T56" fmla="*/ 356 w 426"/>
                <a:gd name="T57" fmla="*/ 148 h 280"/>
                <a:gd name="T58" fmla="*/ 304 w 426"/>
                <a:gd name="T59" fmla="*/ 140 h 280"/>
                <a:gd name="T60" fmla="*/ 300 w 426"/>
                <a:gd name="T61" fmla="*/ 128 h 280"/>
                <a:gd name="T62" fmla="*/ 292 w 426"/>
                <a:gd name="T63" fmla="*/ 116 h 280"/>
                <a:gd name="T64" fmla="*/ 220 w 426"/>
                <a:gd name="T65" fmla="*/ 80 h 280"/>
                <a:gd name="T66" fmla="*/ 160 w 426"/>
                <a:gd name="T67" fmla="*/ 60 h 280"/>
                <a:gd name="T68" fmla="*/ 136 w 426"/>
                <a:gd name="T69" fmla="*/ 52 h 280"/>
                <a:gd name="T70" fmla="*/ 80 w 426"/>
                <a:gd name="T71" fmla="*/ 52 h 280"/>
                <a:gd name="T72" fmla="*/ 68 w 426"/>
                <a:gd name="T73" fmla="*/ 32 h 280"/>
                <a:gd name="T74" fmla="*/ 68 w 426"/>
                <a:gd name="T75" fmla="*/ 0 h 2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426" h="280">
                  <a:moveTo>
                    <a:pt x="84" y="60"/>
                  </a:moveTo>
                  <a:cubicBezTo>
                    <a:pt x="79" y="52"/>
                    <a:pt x="70" y="45"/>
                    <a:pt x="68" y="36"/>
                  </a:cubicBezTo>
                  <a:cubicBezTo>
                    <a:pt x="67" y="29"/>
                    <a:pt x="68" y="22"/>
                    <a:pt x="64" y="16"/>
                  </a:cubicBezTo>
                  <a:cubicBezTo>
                    <a:pt x="62" y="12"/>
                    <a:pt x="56" y="13"/>
                    <a:pt x="52" y="12"/>
                  </a:cubicBezTo>
                  <a:cubicBezTo>
                    <a:pt x="40" y="13"/>
                    <a:pt x="27" y="11"/>
                    <a:pt x="16" y="16"/>
                  </a:cubicBezTo>
                  <a:cubicBezTo>
                    <a:pt x="0" y="24"/>
                    <a:pt x="43" y="40"/>
                    <a:pt x="44" y="40"/>
                  </a:cubicBezTo>
                  <a:cubicBezTo>
                    <a:pt x="45" y="44"/>
                    <a:pt x="50" y="49"/>
                    <a:pt x="48" y="52"/>
                  </a:cubicBezTo>
                  <a:cubicBezTo>
                    <a:pt x="42" y="60"/>
                    <a:pt x="24" y="68"/>
                    <a:pt x="24" y="68"/>
                  </a:cubicBezTo>
                  <a:cubicBezTo>
                    <a:pt x="38" y="88"/>
                    <a:pt x="65" y="89"/>
                    <a:pt x="88" y="92"/>
                  </a:cubicBezTo>
                  <a:cubicBezTo>
                    <a:pt x="101" y="96"/>
                    <a:pt x="124" y="112"/>
                    <a:pt x="124" y="112"/>
                  </a:cubicBezTo>
                  <a:cubicBezTo>
                    <a:pt x="125" y="116"/>
                    <a:pt x="125" y="121"/>
                    <a:pt x="128" y="124"/>
                  </a:cubicBezTo>
                  <a:cubicBezTo>
                    <a:pt x="131" y="128"/>
                    <a:pt x="137" y="128"/>
                    <a:pt x="140" y="132"/>
                  </a:cubicBezTo>
                  <a:cubicBezTo>
                    <a:pt x="144" y="139"/>
                    <a:pt x="148" y="156"/>
                    <a:pt x="148" y="156"/>
                  </a:cubicBezTo>
                  <a:cubicBezTo>
                    <a:pt x="144" y="171"/>
                    <a:pt x="137" y="181"/>
                    <a:pt x="132" y="196"/>
                  </a:cubicBezTo>
                  <a:cubicBezTo>
                    <a:pt x="151" y="209"/>
                    <a:pt x="167" y="207"/>
                    <a:pt x="180" y="188"/>
                  </a:cubicBezTo>
                  <a:cubicBezTo>
                    <a:pt x="182" y="196"/>
                    <a:pt x="184" y="211"/>
                    <a:pt x="192" y="216"/>
                  </a:cubicBezTo>
                  <a:cubicBezTo>
                    <a:pt x="199" y="220"/>
                    <a:pt x="208" y="221"/>
                    <a:pt x="216" y="224"/>
                  </a:cubicBezTo>
                  <a:cubicBezTo>
                    <a:pt x="220" y="225"/>
                    <a:pt x="228" y="228"/>
                    <a:pt x="228" y="228"/>
                  </a:cubicBezTo>
                  <a:cubicBezTo>
                    <a:pt x="236" y="227"/>
                    <a:pt x="245" y="228"/>
                    <a:pt x="252" y="224"/>
                  </a:cubicBezTo>
                  <a:cubicBezTo>
                    <a:pt x="269" y="216"/>
                    <a:pt x="252" y="204"/>
                    <a:pt x="276" y="196"/>
                  </a:cubicBezTo>
                  <a:cubicBezTo>
                    <a:pt x="296" y="209"/>
                    <a:pt x="322" y="231"/>
                    <a:pt x="336" y="252"/>
                  </a:cubicBezTo>
                  <a:cubicBezTo>
                    <a:pt x="354" y="280"/>
                    <a:pt x="343" y="273"/>
                    <a:pt x="364" y="280"/>
                  </a:cubicBezTo>
                  <a:cubicBezTo>
                    <a:pt x="376" y="262"/>
                    <a:pt x="375" y="241"/>
                    <a:pt x="360" y="224"/>
                  </a:cubicBezTo>
                  <a:cubicBezTo>
                    <a:pt x="352" y="216"/>
                    <a:pt x="336" y="200"/>
                    <a:pt x="336" y="200"/>
                  </a:cubicBezTo>
                  <a:cubicBezTo>
                    <a:pt x="323" y="162"/>
                    <a:pt x="322" y="174"/>
                    <a:pt x="372" y="168"/>
                  </a:cubicBezTo>
                  <a:cubicBezTo>
                    <a:pt x="384" y="164"/>
                    <a:pt x="396" y="160"/>
                    <a:pt x="408" y="156"/>
                  </a:cubicBezTo>
                  <a:cubicBezTo>
                    <a:pt x="412" y="155"/>
                    <a:pt x="420" y="152"/>
                    <a:pt x="420" y="152"/>
                  </a:cubicBezTo>
                  <a:cubicBezTo>
                    <a:pt x="421" y="148"/>
                    <a:pt x="426" y="144"/>
                    <a:pt x="424" y="140"/>
                  </a:cubicBezTo>
                  <a:cubicBezTo>
                    <a:pt x="420" y="131"/>
                    <a:pt x="365" y="146"/>
                    <a:pt x="356" y="148"/>
                  </a:cubicBezTo>
                  <a:cubicBezTo>
                    <a:pt x="339" y="146"/>
                    <a:pt x="316" y="152"/>
                    <a:pt x="304" y="140"/>
                  </a:cubicBezTo>
                  <a:cubicBezTo>
                    <a:pt x="301" y="137"/>
                    <a:pt x="302" y="132"/>
                    <a:pt x="300" y="128"/>
                  </a:cubicBezTo>
                  <a:cubicBezTo>
                    <a:pt x="298" y="124"/>
                    <a:pt x="296" y="119"/>
                    <a:pt x="292" y="116"/>
                  </a:cubicBezTo>
                  <a:cubicBezTo>
                    <a:pt x="272" y="98"/>
                    <a:pt x="244" y="91"/>
                    <a:pt x="220" y="80"/>
                  </a:cubicBezTo>
                  <a:cubicBezTo>
                    <a:pt x="201" y="72"/>
                    <a:pt x="180" y="67"/>
                    <a:pt x="160" y="60"/>
                  </a:cubicBezTo>
                  <a:cubicBezTo>
                    <a:pt x="152" y="57"/>
                    <a:pt x="136" y="52"/>
                    <a:pt x="136" y="52"/>
                  </a:cubicBezTo>
                  <a:cubicBezTo>
                    <a:pt x="113" y="55"/>
                    <a:pt x="98" y="64"/>
                    <a:pt x="80" y="52"/>
                  </a:cubicBezTo>
                  <a:cubicBezTo>
                    <a:pt x="70" y="38"/>
                    <a:pt x="74" y="44"/>
                    <a:pt x="68" y="32"/>
                  </a:cubicBezTo>
                  <a:lnTo>
                    <a:pt x="68" y="0"/>
                  </a:lnTo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algn="ctr" rotWithShape="0">
                      <a:srgbClr val="FEFEFE">
                        <a:gamma/>
                        <a:shade val="60000"/>
                        <a:invGamma/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7" name="Freeform 51"/>
            <p:cNvSpPr>
              <a:spLocks/>
            </p:cNvSpPr>
            <p:nvPr/>
          </p:nvSpPr>
          <p:spPr bwMode="invGray">
            <a:xfrm>
              <a:off x="4255" y="3243"/>
              <a:ext cx="311" cy="211"/>
            </a:xfrm>
            <a:custGeom>
              <a:avLst/>
              <a:gdLst>
                <a:gd name="T0" fmla="*/ 0 w 416"/>
                <a:gd name="T1" fmla="*/ 1 h 282"/>
                <a:gd name="T2" fmla="*/ 20 w 416"/>
                <a:gd name="T3" fmla="*/ 37 h 282"/>
                <a:gd name="T4" fmla="*/ 28 w 416"/>
                <a:gd name="T5" fmla="*/ 49 h 282"/>
                <a:gd name="T6" fmla="*/ 84 w 416"/>
                <a:gd name="T7" fmla="*/ 89 h 282"/>
                <a:gd name="T8" fmla="*/ 120 w 416"/>
                <a:gd name="T9" fmla="*/ 113 h 282"/>
                <a:gd name="T10" fmla="*/ 132 w 416"/>
                <a:gd name="T11" fmla="*/ 121 h 282"/>
                <a:gd name="T12" fmla="*/ 136 w 416"/>
                <a:gd name="T13" fmla="*/ 169 h 282"/>
                <a:gd name="T14" fmla="*/ 116 w 416"/>
                <a:gd name="T15" fmla="*/ 201 h 282"/>
                <a:gd name="T16" fmla="*/ 136 w 416"/>
                <a:gd name="T17" fmla="*/ 197 h 282"/>
                <a:gd name="T18" fmla="*/ 148 w 416"/>
                <a:gd name="T19" fmla="*/ 189 h 282"/>
                <a:gd name="T20" fmla="*/ 160 w 416"/>
                <a:gd name="T21" fmla="*/ 201 h 282"/>
                <a:gd name="T22" fmla="*/ 184 w 416"/>
                <a:gd name="T23" fmla="*/ 217 h 282"/>
                <a:gd name="T24" fmla="*/ 208 w 416"/>
                <a:gd name="T25" fmla="*/ 233 h 282"/>
                <a:gd name="T26" fmla="*/ 240 w 416"/>
                <a:gd name="T27" fmla="*/ 221 h 282"/>
                <a:gd name="T28" fmla="*/ 248 w 416"/>
                <a:gd name="T29" fmla="*/ 197 h 282"/>
                <a:gd name="T30" fmla="*/ 268 w 416"/>
                <a:gd name="T31" fmla="*/ 201 h 282"/>
                <a:gd name="T32" fmla="*/ 292 w 416"/>
                <a:gd name="T33" fmla="*/ 209 h 282"/>
                <a:gd name="T34" fmla="*/ 340 w 416"/>
                <a:gd name="T35" fmla="*/ 281 h 282"/>
                <a:gd name="T36" fmla="*/ 356 w 416"/>
                <a:gd name="T37" fmla="*/ 277 h 282"/>
                <a:gd name="T38" fmla="*/ 352 w 416"/>
                <a:gd name="T39" fmla="*/ 253 h 282"/>
                <a:gd name="T40" fmla="*/ 316 w 416"/>
                <a:gd name="T41" fmla="*/ 197 h 282"/>
                <a:gd name="T42" fmla="*/ 360 w 416"/>
                <a:gd name="T43" fmla="*/ 173 h 282"/>
                <a:gd name="T44" fmla="*/ 408 w 416"/>
                <a:gd name="T45" fmla="*/ 145 h 282"/>
                <a:gd name="T46" fmla="*/ 409 w 416"/>
                <a:gd name="T47" fmla="*/ 120 h 282"/>
                <a:gd name="T48" fmla="*/ 367 w 416"/>
                <a:gd name="T49" fmla="*/ 138 h 282"/>
                <a:gd name="T50" fmla="*/ 308 w 416"/>
                <a:gd name="T51" fmla="*/ 137 h 282"/>
                <a:gd name="T52" fmla="*/ 264 w 416"/>
                <a:gd name="T53" fmla="*/ 97 h 282"/>
                <a:gd name="T54" fmla="*/ 180 w 416"/>
                <a:gd name="T55" fmla="*/ 61 h 282"/>
                <a:gd name="T56" fmla="*/ 132 w 416"/>
                <a:gd name="T57" fmla="*/ 33 h 282"/>
                <a:gd name="T58" fmla="*/ 92 w 416"/>
                <a:gd name="T59" fmla="*/ 41 h 282"/>
                <a:gd name="T60" fmla="*/ 76 w 416"/>
                <a:gd name="T61" fmla="*/ 57 h 282"/>
                <a:gd name="T62" fmla="*/ 56 w 416"/>
                <a:gd name="T63" fmla="*/ 17 h 282"/>
                <a:gd name="T64" fmla="*/ 0 w 416"/>
                <a:gd name="T65" fmla="*/ 1 h 2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416" h="282">
                  <a:moveTo>
                    <a:pt x="0" y="1"/>
                  </a:moveTo>
                  <a:cubicBezTo>
                    <a:pt x="7" y="22"/>
                    <a:pt x="2" y="9"/>
                    <a:pt x="20" y="37"/>
                  </a:cubicBezTo>
                  <a:cubicBezTo>
                    <a:pt x="23" y="41"/>
                    <a:pt x="28" y="49"/>
                    <a:pt x="28" y="49"/>
                  </a:cubicBezTo>
                  <a:cubicBezTo>
                    <a:pt x="5" y="84"/>
                    <a:pt x="65" y="78"/>
                    <a:pt x="84" y="89"/>
                  </a:cubicBezTo>
                  <a:cubicBezTo>
                    <a:pt x="97" y="96"/>
                    <a:pt x="108" y="105"/>
                    <a:pt x="120" y="113"/>
                  </a:cubicBezTo>
                  <a:cubicBezTo>
                    <a:pt x="124" y="116"/>
                    <a:pt x="132" y="121"/>
                    <a:pt x="132" y="121"/>
                  </a:cubicBezTo>
                  <a:cubicBezTo>
                    <a:pt x="138" y="138"/>
                    <a:pt x="132" y="151"/>
                    <a:pt x="136" y="169"/>
                  </a:cubicBezTo>
                  <a:cubicBezTo>
                    <a:pt x="107" y="188"/>
                    <a:pt x="110" y="176"/>
                    <a:pt x="116" y="201"/>
                  </a:cubicBezTo>
                  <a:cubicBezTo>
                    <a:pt x="123" y="200"/>
                    <a:pt x="130" y="199"/>
                    <a:pt x="136" y="197"/>
                  </a:cubicBezTo>
                  <a:cubicBezTo>
                    <a:pt x="141" y="195"/>
                    <a:pt x="143" y="188"/>
                    <a:pt x="148" y="189"/>
                  </a:cubicBezTo>
                  <a:cubicBezTo>
                    <a:pt x="154" y="190"/>
                    <a:pt x="156" y="198"/>
                    <a:pt x="160" y="201"/>
                  </a:cubicBezTo>
                  <a:cubicBezTo>
                    <a:pt x="168" y="207"/>
                    <a:pt x="176" y="212"/>
                    <a:pt x="184" y="217"/>
                  </a:cubicBezTo>
                  <a:cubicBezTo>
                    <a:pt x="192" y="222"/>
                    <a:pt x="208" y="233"/>
                    <a:pt x="208" y="233"/>
                  </a:cubicBezTo>
                  <a:cubicBezTo>
                    <a:pt x="216" y="231"/>
                    <a:pt x="234" y="230"/>
                    <a:pt x="240" y="221"/>
                  </a:cubicBezTo>
                  <a:cubicBezTo>
                    <a:pt x="244" y="214"/>
                    <a:pt x="248" y="197"/>
                    <a:pt x="248" y="197"/>
                  </a:cubicBezTo>
                  <a:cubicBezTo>
                    <a:pt x="255" y="198"/>
                    <a:pt x="261" y="199"/>
                    <a:pt x="268" y="201"/>
                  </a:cubicBezTo>
                  <a:cubicBezTo>
                    <a:pt x="276" y="203"/>
                    <a:pt x="292" y="209"/>
                    <a:pt x="292" y="209"/>
                  </a:cubicBezTo>
                  <a:cubicBezTo>
                    <a:pt x="298" y="242"/>
                    <a:pt x="306" y="270"/>
                    <a:pt x="340" y="281"/>
                  </a:cubicBezTo>
                  <a:cubicBezTo>
                    <a:pt x="345" y="280"/>
                    <a:pt x="354" y="282"/>
                    <a:pt x="356" y="277"/>
                  </a:cubicBezTo>
                  <a:cubicBezTo>
                    <a:pt x="359" y="270"/>
                    <a:pt x="355" y="260"/>
                    <a:pt x="352" y="253"/>
                  </a:cubicBezTo>
                  <a:cubicBezTo>
                    <a:pt x="346" y="238"/>
                    <a:pt x="329" y="206"/>
                    <a:pt x="316" y="197"/>
                  </a:cubicBezTo>
                  <a:cubicBezTo>
                    <a:pt x="307" y="170"/>
                    <a:pt x="339" y="175"/>
                    <a:pt x="360" y="173"/>
                  </a:cubicBezTo>
                  <a:cubicBezTo>
                    <a:pt x="383" y="165"/>
                    <a:pt x="391" y="162"/>
                    <a:pt x="408" y="145"/>
                  </a:cubicBezTo>
                  <a:cubicBezTo>
                    <a:pt x="412" y="140"/>
                    <a:pt x="416" y="121"/>
                    <a:pt x="409" y="120"/>
                  </a:cubicBezTo>
                  <a:cubicBezTo>
                    <a:pt x="402" y="119"/>
                    <a:pt x="384" y="135"/>
                    <a:pt x="367" y="138"/>
                  </a:cubicBezTo>
                  <a:cubicBezTo>
                    <a:pt x="350" y="141"/>
                    <a:pt x="325" y="144"/>
                    <a:pt x="308" y="137"/>
                  </a:cubicBezTo>
                  <a:cubicBezTo>
                    <a:pt x="286" y="130"/>
                    <a:pt x="284" y="111"/>
                    <a:pt x="264" y="97"/>
                  </a:cubicBezTo>
                  <a:cubicBezTo>
                    <a:pt x="238" y="80"/>
                    <a:pt x="203" y="76"/>
                    <a:pt x="180" y="61"/>
                  </a:cubicBezTo>
                  <a:cubicBezTo>
                    <a:pt x="163" y="50"/>
                    <a:pt x="150" y="39"/>
                    <a:pt x="132" y="33"/>
                  </a:cubicBezTo>
                  <a:cubicBezTo>
                    <a:pt x="119" y="35"/>
                    <a:pt x="102" y="31"/>
                    <a:pt x="92" y="41"/>
                  </a:cubicBezTo>
                  <a:cubicBezTo>
                    <a:pt x="71" y="62"/>
                    <a:pt x="108" y="46"/>
                    <a:pt x="76" y="57"/>
                  </a:cubicBezTo>
                  <a:cubicBezTo>
                    <a:pt x="52" y="49"/>
                    <a:pt x="67" y="38"/>
                    <a:pt x="56" y="17"/>
                  </a:cubicBezTo>
                  <a:cubicBezTo>
                    <a:pt x="48" y="0"/>
                    <a:pt x="16" y="1"/>
                    <a:pt x="0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8" name="Freeform 52"/>
            <p:cNvSpPr>
              <a:spLocks/>
            </p:cNvSpPr>
            <p:nvPr/>
          </p:nvSpPr>
          <p:spPr bwMode="invGray">
            <a:xfrm>
              <a:off x="4485" y="4013"/>
              <a:ext cx="45" cy="58"/>
            </a:xfrm>
            <a:custGeom>
              <a:avLst/>
              <a:gdLst>
                <a:gd name="T0" fmla="*/ 32 w 60"/>
                <a:gd name="T1" fmla="*/ 18 h 78"/>
                <a:gd name="T2" fmla="*/ 0 w 60"/>
                <a:gd name="T3" fmla="*/ 18 h 78"/>
                <a:gd name="T4" fmla="*/ 20 w 60"/>
                <a:gd name="T5" fmla="*/ 42 h 78"/>
                <a:gd name="T6" fmla="*/ 28 w 60"/>
                <a:gd name="T7" fmla="*/ 66 h 78"/>
                <a:gd name="T8" fmla="*/ 32 w 60"/>
                <a:gd name="T9" fmla="*/ 78 h 78"/>
                <a:gd name="T10" fmla="*/ 60 w 60"/>
                <a:gd name="T11" fmla="*/ 50 h 78"/>
                <a:gd name="T12" fmla="*/ 32 w 60"/>
                <a:gd name="T13" fmla="*/ 18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0" h="78">
                  <a:moveTo>
                    <a:pt x="32" y="18"/>
                  </a:moveTo>
                  <a:cubicBezTo>
                    <a:pt x="16" y="7"/>
                    <a:pt x="12" y="0"/>
                    <a:pt x="0" y="18"/>
                  </a:cubicBezTo>
                  <a:cubicBezTo>
                    <a:pt x="6" y="27"/>
                    <a:pt x="15" y="33"/>
                    <a:pt x="20" y="42"/>
                  </a:cubicBezTo>
                  <a:cubicBezTo>
                    <a:pt x="24" y="49"/>
                    <a:pt x="25" y="58"/>
                    <a:pt x="28" y="66"/>
                  </a:cubicBezTo>
                  <a:cubicBezTo>
                    <a:pt x="29" y="70"/>
                    <a:pt x="32" y="78"/>
                    <a:pt x="32" y="78"/>
                  </a:cubicBezTo>
                  <a:cubicBezTo>
                    <a:pt x="52" y="73"/>
                    <a:pt x="54" y="69"/>
                    <a:pt x="60" y="50"/>
                  </a:cubicBezTo>
                  <a:cubicBezTo>
                    <a:pt x="54" y="32"/>
                    <a:pt x="50" y="27"/>
                    <a:pt x="32" y="18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9" name="Freeform 53"/>
            <p:cNvSpPr>
              <a:spLocks/>
            </p:cNvSpPr>
            <p:nvPr/>
          </p:nvSpPr>
          <p:spPr bwMode="invGray">
            <a:xfrm>
              <a:off x="4621" y="3923"/>
              <a:ext cx="164" cy="85"/>
            </a:xfrm>
            <a:custGeom>
              <a:avLst/>
              <a:gdLst>
                <a:gd name="T0" fmla="*/ 47 w 219"/>
                <a:gd name="T1" fmla="*/ 73 h 113"/>
                <a:gd name="T2" fmla="*/ 39 w 219"/>
                <a:gd name="T3" fmla="*/ 61 h 113"/>
                <a:gd name="T4" fmla="*/ 15 w 219"/>
                <a:gd name="T5" fmla="*/ 69 h 113"/>
                <a:gd name="T6" fmla="*/ 39 w 219"/>
                <a:gd name="T7" fmla="*/ 113 h 113"/>
                <a:gd name="T8" fmla="*/ 123 w 219"/>
                <a:gd name="T9" fmla="*/ 89 h 113"/>
                <a:gd name="T10" fmla="*/ 147 w 219"/>
                <a:gd name="T11" fmla="*/ 73 h 113"/>
                <a:gd name="T12" fmla="*/ 171 w 219"/>
                <a:gd name="T13" fmla="*/ 65 h 113"/>
                <a:gd name="T14" fmla="*/ 219 w 219"/>
                <a:gd name="T15" fmla="*/ 19 h 113"/>
                <a:gd name="T16" fmla="*/ 210 w 219"/>
                <a:gd name="T17" fmla="*/ 0 h 113"/>
                <a:gd name="T18" fmla="*/ 179 w 219"/>
                <a:gd name="T19" fmla="*/ 17 h 113"/>
                <a:gd name="T20" fmla="*/ 107 w 219"/>
                <a:gd name="T21" fmla="*/ 41 h 113"/>
                <a:gd name="T22" fmla="*/ 83 w 219"/>
                <a:gd name="T23" fmla="*/ 45 h 113"/>
                <a:gd name="T24" fmla="*/ 59 w 219"/>
                <a:gd name="T25" fmla="*/ 53 h 113"/>
                <a:gd name="T26" fmla="*/ 47 w 219"/>
                <a:gd name="T27" fmla="*/ 73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19" h="113">
                  <a:moveTo>
                    <a:pt x="47" y="73"/>
                  </a:moveTo>
                  <a:cubicBezTo>
                    <a:pt x="44" y="69"/>
                    <a:pt x="44" y="62"/>
                    <a:pt x="39" y="61"/>
                  </a:cubicBezTo>
                  <a:cubicBezTo>
                    <a:pt x="31" y="60"/>
                    <a:pt x="15" y="69"/>
                    <a:pt x="15" y="69"/>
                  </a:cubicBezTo>
                  <a:cubicBezTo>
                    <a:pt x="0" y="91"/>
                    <a:pt x="20" y="101"/>
                    <a:pt x="39" y="113"/>
                  </a:cubicBezTo>
                  <a:cubicBezTo>
                    <a:pt x="67" y="107"/>
                    <a:pt x="96" y="98"/>
                    <a:pt x="123" y="89"/>
                  </a:cubicBezTo>
                  <a:cubicBezTo>
                    <a:pt x="132" y="86"/>
                    <a:pt x="139" y="78"/>
                    <a:pt x="147" y="73"/>
                  </a:cubicBezTo>
                  <a:cubicBezTo>
                    <a:pt x="154" y="68"/>
                    <a:pt x="171" y="65"/>
                    <a:pt x="171" y="65"/>
                  </a:cubicBezTo>
                  <a:cubicBezTo>
                    <a:pt x="186" y="50"/>
                    <a:pt x="207" y="36"/>
                    <a:pt x="219" y="19"/>
                  </a:cubicBezTo>
                  <a:cubicBezTo>
                    <a:pt x="215" y="16"/>
                    <a:pt x="215" y="0"/>
                    <a:pt x="210" y="0"/>
                  </a:cubicBezTo>
                  <a:cubicBezTo>
                    <a:pt x="205" y="0"/>
                    <a:pt x="183" y="15"/>
                    <a:pt x="179" y="17"/>
                  </a:cubicBezTo>
                  <a:cubicBezTo>
                    <a:pt x="159" y="26"/>
                    <a:pt x="129" y="37"/>
                    <a:pt x="107" y="41"/>
                  </a:cubicBezTo>
                  <a:cubicBezTo>
                    <a:pt x="99" y="42"/>
                    <a:pt x="91" y="43"/>
                    <a:pt x="83" y="45"/>
                  </a:cubicBezTo>
                  <a:cubicBezTo>
                    <a:pt x="75" y="47"/>
                    <a:pt x="59" y="53"/>
                    <a:pt x="59" y="53"/>
                  </a:cubicBezTo>
                  <a:cubicBezTo>
                    <a:pt x="49" y="67"/>
                    <a:pt x="53" y="61"/>
                    <a:pt x="47" y="7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0" name="Freeform 54"/>
            <p:cNvSpPr>
              <a:spLocks/>
            </p:cNvSpPr>
            <p:nvPr/>
          </p:nvSpPr>
          <p:spPr bwMode="invGray">
            <a:xfrm>
              <a:off x="4791" y="3873"/>
              <a:ext cx="104" cy="92"/>
            </a:xfrm>
            <a:custGeom>
              <a:avLst/>
              <a:gdLst>
                <a:gd name="T0" fmla="*/ 12 w 139"/>
                <a:gd name="T1" fmla="*/ 60 h 122"/>
                <a:gd name="T2" fmla="*/ 8 w 139"/>
                <a:gd name="T3" fmla="*/ 84 h 122"/>
                <a:gd name="T4" fmla="*/ 0 w 139"/>
                <a:gd name="T5" fmla="*/ 108 h 122"/>
                <a:gd name="T6" fmla="*/ 36 w 139"/>
                <a:gd name="T7" fmla="*/ 116 h 122"/>
                <a:gd name="T8" fmla="*/ 52 w 139"/>
                <a:gd name="T9" fmla="*/ 96 h 122"/>
                <a:gd name="T10" fmla="*/ 124 w 139"/>
                <a:gd name="T11" fmla="*/ 68 h 122"/>
                <a:gd name="T12" fmla="*/ 136 w 139"/>
                <a:gd name="T13" fmla="*/ 44 h 122"/>
                <a:gd name="T14" fmla="*/ 112 w 139"/>
                <a:gd name="T15" fmla="*/ 28 h 122"/>
                <a:gd name="T16" fmla="*/ 100 w 139"/>
                <a:gd name="T17" fmla="*/ 20 h 122"/>
                <a:gd name="T18" fmla="*/ 64 w 139"/>
                <a:gd name="T19" fmla="*/ 12 h 122"/>
                <a:gd name="T20" fmla="*/ 52 w 139"/>
                <a:gd name="T21" fmla="*/ 36 h 122"/>
                <a:gd name="T22" fmla="*/ 12 w 139"/>
                <a:gd name="T23" fmla="*/ 6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9" h="122">
                  <a:moveTo>
                    <a:pt x="12" y="60"/>
                  </a:moveTo>
                  <a:cubicBezTo>
                    <a:pt x="11" y="68"/>
                    <a:pt x="10" y="76"/>
                    <a:pt x="8" y="84"/>
                  </a:cubicBezTo>
                  <a:cubicBezTo>
                    <a:pt x="6" y="92"/>
                    <a:pt x="0" y="108"/>
                    <a:pt x="0" y="108"/>
                  </a:cubicBezTo>
                  <a:cubicBezTo>
                    <a:pt x="14" y="118"/>
                    <a:pt x="19" y="122"/>
                    <a:pt x="36" y="116"/>
                  </a:cubicBezTo>
                  <a:cubicBezTo>
                    <a:pt x="46" y="86"/>
                    <a:pt x="31" y="122"/>
                    <a:pt x="52" y="96"/>
                  </a:cubicBezTo>
                  <a:cubicBezTo>
                    <a:pt x="83" y="57"/>
                    <a:pt x="30" y="74"/>
                    <a:pt x="124" y="68"/>
                  </a:cubicBezTo>
                  <a:cubicBezTo>
                    <a:pt x="125" y="67"/>
                    <a:pt x="139" y="48"/>
                    <a:pt x="136" y="44"/>
                  </a:cubicBezTo>
                  <a:cubicBezTo>
                    <a:pt x="130" y="36"/>
                    <a:pt x="120" y="33"/>
                    <a:pt x="112" y="28"/>
                  </a:cubicBezTo>
                  <a:cubicBezTo>
                    <a:pt x="108" y="25"/>
                    <a:pt x="100" y="20"/>
                    <a:pt x="100" y="20"/>
                  </a:cubicBezTo>
                  <a:cubicBezTo>
                    <a:pt x="89" y="4"/>
                    <a:pt x="92" y="0"/>
                    <a:pt x="64" y="12"/>
                  </a:cubicBezTo>
                  <a:cubicBezTo>
                    <a:pt x="57" y="15"/>
                    <a:pt x="55" y="30"/>
                    <a:pt x="52" y="36"/>
                  </a:cubicBezTo>
                  <a:cubicBezTo>
                    <a:pt x="46" y="49"/>
                    <a:pt x="26" y="60"/>
                    <a:pt x="12" y="6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1" name="Freeform 55"/>
            <p:cNvSpPr>
              <a:spLocks/>
            </p:cNvSpPr>
            <p:nvPr/>
          </p:nvSpPr>
          <p:spPr bwMode="invGray">
            <a:xfrm>
              <a:off x="4846" y="3832"/>
              <a:ext cx="37" cy="26"/>
            </a:xfrm>
            <a:custGeom>
              <a:avLst/>
              <a:gdLst>
                <a:gd name="T0" fmla="*/ 29 w 49"/>
                <a:gd name="T1" fmla="*/ 0 h 35"/>
                <a:gd name="T2" fmla="*/ 8 w 49"/>
                <a:gd name="T3" fmla="*/ 11 h 35"/>
                <a:gd name="T4" fmla="*/ 24 w 49"/>
                <a:gd name="T5" fmla="*/ 35 h 35"/>
                <a:gd name="T6" fmla="*/ 39 w 49"/>
                <a:gd name="T7" fmla="*/ 26 h 35"/>
                <a:gd name="T8" fmla="*/ 29 w 49"/>
                <a:gd name="T9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9" h="35">
                  <a:moveTo>
                    <a:pt x="29" y="0"/>
                  </a:moveTo>
                  <a:cubicBezTo>
                    <a:pt x="25" y="12"/>
                    <a:pt x="19" y="7"/>
                    <a:pt x="8" y="11"/>
                  </a:cubicBezTo>
                  <a:cubicBezTo>
                    <a:pt x="0" y="23"/>
                    <a:pt x="14" y="34"/>
                    <a:pt x="24" y="35"/>
                  </a:cubicBezTo>
                  <a:cubicBezTo>
                    <a:pt x="30" y="34"/>
                    <a:pt x="33" y="28"/>
                    <a:pt x="39" y="26"/>
                  </a:cubicBezTo>
                  <a:cubicBezTo>
                    <a:pt x="49" y="22"/>
                    <a:pt x="29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2" name="Freeform 56"/>
            <p:cNvSpPr>
              <a:spLocks/>
            </p:cNvSpPr>
            <p:nvPr/>
          </p:nvSpPr>
          <p:spPr bwMode="invGray">
            <a:xfrm>
              <a:off x="3123" y="3346"/>
              <a:ext cx="123" cy="201"/>
            </a:xfrm>
            <a:custGeom>
              <a:avLst/>
              <a:gdLst>
                <a:gd name="T0" fmla="*/ 128 w 164"/>
                <a:gd name="T1" fmla="*/ 0 h 268"/>
                <a:gd name="T2" fmla="*/ 104 w 164"/>
                <a:gd name="T3" fmla="*/ 28 h 268"/>
                <a:gd name="T4" fmla="*/ 88 w 164"/>
                <a:gd name="T5" fmla="*/ 64 h 268"/>
                <a:gd name="T6" fmla="*/ 36 w 164"/>
                <a:gd name="T7" fmla="*/ 84 h 268"/>
                <a:gd name="T8" fmla="*/ 28 w 164"/>
                <a:gd name="T9" fmla="*/ 96 h 268"/>
                <a:gd name="T10" fmla="*/ 16 w 164"/>
                <a:gd name="T11" fmla="*/ 100 h 268"/>
                <a:gd name="T12" fmla="*/ 20 w 164"/>
                <a:gd name="T13" fmla="*/ 132 h 268"/>
                <a:gd name="T14" fmla="*/ 28 w 164"/>
                <a:gd name="T15" fmla="*/ 156 h 268"/>
                <a:gd name="T16" fmla="*/ 0 w 164"/>
                <a:gd name="T17" fmla="*/ 200 h 268"/>
                <a:gd name="T18" fmla="*/ 28 w 164"/>
                <a:gd name="T19" fmla="*/ 260 h 268"/>
                <a:gd name="T20" fmla="*/ 52 w 164"/>
                <a:gd name="T21" fmla="*/ 268 h 268"/>
                <a:gd name="T22" fmla="*/ 88 w 164"/>
                <a:gd name="T23" fmla="*/ 216 h 268"/>
                <a:gd name="T24" fmla="*/ 104 w 164"/>
                <a:gd name="T25" fmla="*/ 192 h 268"/>
                <a:gd name="T26" fmla="*/ 128 w 164"/>
                <a:gd name="T27" fmla="*/ 116 h 268"/>
                <a:gd name="T28" fmla="*/ 140 w 164"/>
                <a:gd name="T29" fmla="*/ 76 h 268"/>
                <a:gd name="T30" fmla="*/ 164 w 164"/>
                <a:gd name="T31" fmla="*/ 72 h 268"/>
                <a:gd name="T32" fmla="*/ 128 w 164"/>
                <a:gd name="T33" fmla="*/ 0 h 2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64" h="268">
                  <a:moveTo>
                    <a:pt x="128" y="0"/>
                  </a:moveTo>
                  <a:cubicBezTo>
                    <a:pt x="123" y="16"/>
                    <a:pt x="120" y="23"/>
                    <a:pt x="104" y="28"/>
                  </a:cubicBezTo>
                  <a:cubicBezTo>
                    <a:pt x="102" y="35"/>
                    <a:pt x="97" y="57"/>
                    <a:pt x="88" y="64"/>
                  </a:cubicBezTo>
                  <a:cubicBezTo>
                    <a:pt x="75" y="75"/>
                    <a:pt x="51" y="74"/>
                    <a:pt x="36" y="84"/>
                  </a:cubicBezTo>
                  <a:cubicBezTo>
                    <a:pt x="33" y="88"/>
                    <a:pt x="32" y="93"/>
                    <a:pt x="28" y="96"/>
                  </a:cubicBezTo>
                  <a:cubicBezTo>
                    <a:pt x="25" y="99"/>
                    <a:pt x="17" y="96"/>
                    <a:pt x="16" y="100"/>
                  </a:cubicBezTo>
                  <a:cubicBezTo>
                    <a:pt x="14" y="110"/>
                    <a:pt x="18" y="121"/>
                    <a:pt x="20" y="132"/>
                  </a:cubicBezTo>
                  <a:cubicBezTo>
                    <a:pt x="22" y="140"/>
                    <a:pt x="28" y="156"/>
                    <a:pt x="28" y="156"/>
                  </a:cubicBezTo>
                  <a:cubicBezTo>
                    <a:pt x="13" y="166"/>
                    <a:pt x="6" y="183"/>
                    <a:pt x="0" y="200"/>
                  </a:cubicBezTo>
                  <a:cubicBezTo>
                    <a:pt x="3" y="210"/>
                    <a:pt x="19" y="254"/>
                    <a:pt x="28" y="260"/>
                  </a:cubicBezTo>
                  <a:cubicBezTo>
                    <a:pt x="35" y="264"/>
                    <a:pt x="52" y="268"/>
                    <a:pt x="52" y="268"/>
                  </a:cubicBezTo>
                  <a:cubicBezTo>
                    <a:pt x="85" y="261"/>
                    <a:pt x="79" y="244"/>
                    <a:pt x="88" y="216"/>
                  </a:cubicBezTo>
                  <a:cubicBezTo>
                    <a:pt x="91" y="207"/>
                    <a:pt x="99" y="200"/>
                    <a:pt x="104" y="192"/>
                  </a:cubicBezTo>
                  <a:cubicBezTo>
                    <a:pt x="116" y="174"/>
                    <a:pt x="121" y="136"/>
                    <a:pt x="128" y="116"/>
                  </a:cubicBezTo>
                  <a:cubicBezTo>
                    <a:pt x="131" y="108"/>
                    <a:pt x="134" y="79"/>
                    <a:pt x="140" y="76"/>
                  </a:cubicBezTo>
                  <a:cubicBezTo>
                    <a:pt x="147" y="72"/>
                    <a:pt x="156" y="73"/>
                    <a:pt x="164" y="72"/>
                  </a:cubicBezTo>
                  <a:cubicBezTo>
                    <a:pt x="158" y="19"/>
                    <a:pt x="161" y="33"/>
                    <a:pt x="12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3" name="Freeform 57"/>
            <p:cNvSpPr>
              <a:spLocks/>
            </p:cNvSpPr>
            <p:nvPr/>
          </p:nvSpPr>
          <p:spPr bwMode="invGray">
            <a:xfrm>
              <a:off x="3655" y="3034"/>
              <a:ext cx="49" cy="61"/>
            </a:xfrm>
            <a:custGeom>
              <a:avLst/>
              <a:gdLst>
                <a:gd name="T0" fmla="*/ 29 w 66"/>
                <a:gd name="T1" fmla="*/ 0 h 81"/>
                <a:gd name="T2" fmla="*/ 25 w 66"/>
                <a:gd name="T3" fmla="*/ 60 h 81"/>
                <a:gd name="T4" fmla="*/ 29 w 66"/>
                <a:gd name="T5" fmla="*/ 76 h 81"/>
                <a:gd name="T6" fmla="*/ 41 w 66"/>
                <a:gd name="T7" fmla="*/ 80 h 81"/>
                <a:gd name="T8" fmla="*/ 57 w 66"/>
                <a:gd name="T9" fmla="*/ 76 h 81"/>
                <a:gd name="T10" fmla="*/ 29 w 66"/>
                <a:gd name="T11" fmla="*/ 0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6" h="81">
                  <a:moveTo>
                    <a:pt x="29" y="0"/>
                  </a:moveTo>
                  <a:cubicBezTo>
                    <a:pt x="0" y="10"/>
                    <a:pt x="20" y="38"/>
                    <a:pt x="25" y="60"/>
                  </a:cubicBezTo>
                  <a:cubicBezTo>
                    <a:pt x="26" y="65"/>
                    <a:pt x="26" y="72"/>
                    <a:pt x="29" y="76"/>
                  </a:cubicBezTo>
                  <a:cubicBezTo>
                    <a:pt x="32" y="79"/>
                    <a:pt x="37" y="79"/>
                    <a:pt x="41" y="80"/>
                  </a:cubicBezTo>
                  <a:cubicBezTo>
                    <a:pt x="46" y="79"/>
                    <a:pt x="55" y="81"/>
                    <a:pt x="57" y="76"/>
                  </a:cubicBezTo>
                  <a:cubicBezTo>
                    <a:pt x="66" y="53"/>
                    <a:pt x="45" y="16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4" name="Freeform 58"/>
            <p:cNvSpPr>
              <a:spLocks/>
            </p:cNvSpPr>
            <p:nvPr/>
          </p:nvSpPr>
          <p:spPr bwMode="invGray">
            <a:xfrm>
              <a:off x="3988" y="3100"/>
              <a:ext cx="111" cy="183"/>
            </a:xfrm>
            <a:custGeom>
              <a:avLst/>
              <a:gdLst>
                <a:gd name="T0" fmla="*/ 96 w 148"/>
                <a:gd name="T1" fmla="*/ 0 h 244"/>
                <a:gd name="T2" fmla="*/ 60 w 148"/>
                <a:gd name="T3" fmla="*/ 84 h 244"/>
                <a:gd name="T4" fmla="*/ 36 w 148"/>
                <a:gd name="T5" fmla="*/ 92 h 244"/>
                <a:gd name="T6" fmla="*/ 12 w 148"/>
                <a:gd name="T7" fmla="*/ 108 h 244"/>
                <a:gd name="T8" fmla="*/ 40 w 148"/>
                <a:gd name="T9" fmla="*/ 188 h 244"/>
                <a:gd name="T10" fmla="*/ 52 w 148"/>
                <a:gd name="T11" fmla="*/ 224 h 244"/>
                <a:gd name="T12" fmla="*/ 60 w 148"/>
                <a:gd name="T13" fmla="*/ 236 h 244"/>
                <a:gd name="T14" fmla="*/ 84 w 148"/>
                <a:gd name="T15" fmla="*/ 244 h 244"/>
                <a:gd name="T16" fmla="*/ 96 w 148"/>
                <a:gd name="T17" fmla="*/ 196 h 244"/>
                <a:gd name="T18" fmla="*/ 124 w 148"/>
                <a:gd name="T19" fmla="*/ 168 h 244"/>
                <a:gd name="T20" fmla="*/ 112 w 148"/>
                <a:gd name="T21" fmla="*/ 68 h 244"/>
                <a:gd name="T22" fmla="*/ 140 w 148"/>
                <a:gd name="T23" fmla="*/ 48 h 244"/>
                <a:gd name="T24" fmla="*/ 112 w 148"/>
                <a:gd name="T25" fmla="*/ 20 h 244"/>
                <a:gd name="T26" fmla="*/ 96 w 148"/>
                <a:gd name="T27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48" h="244">
                  <a:moveTo>
                    <a:pt x="96" y="0"/>
                  </a:moveTo>
                  <a:cubicBezTo>
                    <a:pt x="86" y="29"/>
                    <a:pt x="70" y="55"/>
                    <a:pt x="60" y="84"/>
                  </a:cubicBezTo>
                  <a:cubicBezTo>
                    <a:pt x="57" y="92"/>
                    <a:pt x="43" y="87"/>
                    <a:pt x="36" y="92"/>
                  </a:cubicBezTo>
                  <a:cubicBezTo>
                    <a:pt x="28" y="97"/>
                    <a:pt x="12" y="108"/>
                    <a:pt x="12" y="108"/>
                  </a:cubicBezTo>
                  <a:cubicBezTo>
                    <a:pt x="0" y="144"/>
                    <a:pt x="30" y="158"/>
                    <a:pt x="40" y="188"/>
                  </a:cubicBezTo>
                  <a:cubicBezTo>
                    <a:pt x="44" y="200"/>
                    <a:pt x="45" y="213"/>
                    <a:pt x="52" y="224"/>
                  </a:cubicBezTo>
                  <a:cubicBezTo>
                    <a:pt x="55" y="228"/>
                    <a:pt x="56" y="233"/>
                    <a:pt x="60" y="236"/>
                  </a:cubicBezTo>
                  <a:cubicBezTo>
                    <a:pt x="67" y="240"/>
                    <a:pt x="84" y="244"/>
                    <a:pt x="84" y="244"/>
                  </a:cubicBezTo>
                  <a:cubicBezTo>
                    <a:pt x="111" y="235"/>
                    <a:pt x="103" y="218"/>
                    <a:pt x="96" y="196"/>
                  </a:cubicBezTo>
                  <a:cubicBezTo>
                    <a:pt x="100" y="183"/>
                    <a:pt x="124" y="168"/>
                    <a:pt x="124" y="168"/>
                  </a:cubicBezTo>
                  <a:cubicBezTo>
                    <a:pt x="148" y="132"/>
                    <a:pt x="123" y="101"/>
                    <a:pt x="112" y="68"/>
                  </a:cubicBezTo>
                  <a:cubicBezTo>
                    <a:pt x="140" y="59"/>
                    <a:pt x="133" y="68"/>
                    <a:pt x="140" y="48"/>
                  </a:cubicBezTo>
                  <a:cubicBezTo>
                    <a:pt x="136" y="35"/>
                    <a:pt x="112" y="20"/>
                    <a:pt x="112" y="20"/>
                  </a:cubicBezTo>
                  <a:cubicBezTo>
                    <a:pt x="102" y="5"/>
                    <a:pt x="107" y="11"/>
                    <a:pt x="9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5" name="Freeform 59"/>
            <p:cNvSpPr>
              <a:spLocks/>
            </p:cNvSpPr>
            <p:nvPr/>
          </p:nvSpPr>
          <p:spPr bwMode="invGray">
            <a:xfrm>
              <a:off x="3894" y="3043"/>
              <a:ext cx="72" cy="137"/>
            </a:xfrm>
            <a:custGeom>
              <a:avLst/>
              <a:gdLst>
                <a:gd name="T0" fmla="*/ 48 w 96"/>
                <a:gd name="T1" fmla="*/ 2 h 183"/>
                <a:gd name="T2" fmla="*/ 51 w 96"/>
                <a:gd name="T3" fmla="*/ 35 h 183"/>
                <a:gd name="T4" fmla="*/ 60 w 96"/>
                <a:gd name="T5" fmla="*/ 62 h 183"/>
                <a:gd name="T6" fmla="*/ 62 w 96"/>
                <a:gd name="T7" fmla="*/ 92 h 183"/>
                <a:gd name="T8" fmla="*/ 68 w 96"/>
                <a:gd name="T9" fmla="*/ 105 h 183"/>
                <a:gd name="T10" fmla="*/ 71 w 96"/>
                <a:gd name="T11" fmla="*/ 126 h 183"/>
                <a:gd name="T12" fmla="*/ 57 w 96"/>
                <a:gd name="T13" fmla="*/ 93 h 183"/>
                <a:gd name="T14" fmla="*/ 35 w 96"/>
                <a:gd name="T15" fmla="*/ 78 h 183"/>
                <a:gd name="T16" fmla="*/ 5 w 96"/>
                <a:gd name="T17" fmla="*/ 83 h 183"/>
                <a:gd name="T18" fmla="*/ 8 w 96"/>
                <a:gd name="T19" fmla="*/ 102 h 183"/>
                <a:gd name="T20" fmla="*/ 41 w 96"/>
                <a:gd name="T21" fmla="*/ 114 h 183"/>
                <a:gd name="T22" fmla="*/ 57 w 96"/>
                <a:gd name="T23" fmla="*/ 135 h 183"/>
                <a:gd name="T24" fmla="*/ 71 w 96"/>
                <a:gd name="T25" fmla="*/ 135 h 183"/>
                <a:gd name="T26" fmla="*/ 78 w 96"/>
                <a:gd name="T27" fmla="*/ 150 h 183"/>
                <a:gd name="T28" fmla="*/ 96 w 96"/>
                <a:gd name="T29" fmla="*/ 179 h 183"/>
                <a:gd name="T30" fmla="*/ 81 w 96"/>
                <a:gd name="T31" fmla="*/ 126 h 183"/>
                <a:gd name="T32" fmla="*/ 80 w 96"/>
                <a:gd name="T33" fmla="*/ 93 h 183"/>
                <a:gd name="T34" fmla="*/ 71 w 96"/>
                <a:gd name="T35" fmla="*/ 63 h 183"/>
                <a:gd name="T36" fmla="*/ 63 w 96"/>
                <a:gd name="T37" fmla="*/ 41 h 183"/>
                <a:gd name="T38" fmla="*/ 57 w 96"/>
                <a:gd name="T39" fmla="*/ 20 h 183"/>
                <a:gd name="T40" fmla="*/ 48 w 96"/>
                <a:gd name="T41" fmla="*/ 2 h 1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96" h="183">
                  <a:moveTo>
                    <a:pt x="48" y="2"/>
                  </a:moveTo>
                  <a:cubicBezTo>
                    <a:pt x="47" y="4"/>
                    <a:pt x="49" y="25"/>
                    <a:pt x="51" y="35"/>
                  </a:cubicBezTo>
                  <a:cubicBezTo>
                    <a:pt x="53" y="45"/>
                    <a:pt x="58" y="53"/>
                    <a:pt x="60" y="62"/>
                  </a:cubicBezTo>
                  <a:cubicBezTo>
                    <a:pt x="62" y="71"/>
                    <a:pt x="61" y="85"/>
                    <a:pt x="62" y="92"/>
                  </a:cubicBezTo>
                  <a:cubicBezTo>
                    <a:pt x="63" y="99"/>
                    <a:pt x="67" y="99"/>
                    <a:pt x="68" y="105"/>
                  </a:cubicBezTo>
                  <a:cubicBezTo>
                    <a:pt x="69" y="111"/>
                    <a:pt x="73" y="128"/>
                    <a:pt x="71" y="126"/>
                  </a:cubicBezTo>
                  <a:cubicBezTo>
                    <a:pt x="69" y="124"/>
                    <a:pt x="63" y="101"/>
                    <a:pt x="57" y="93"/>
                  </a:cubicBezTo>
                  <a:cubicBezTo>
                    <a:pt x="51" y="85"/>
                    <a:pt x="44" y="80"/>
                    <a:pt x="35" y="78"/>
                  </a:cubicBezTo>
                  <a:cubicBezTo>
                    <a:pt x="26" y="76"/>
                    <a:pt x="10" y="79"/>
                    <a:pt x="5" y="83"/>
                  </a:cubicBezTo>
                  <a:cubicBezTo>
                    <a:pt x="0" y="87"/>
                    <a:pt x="2" y="97"/>
                    <a:pt x="8" y="102"/>
                  </a:cubicBezTo>
                  <a:cubicBezTo>
                    <a:pt x="14" y="107"/>
                    <a:pt x="33" y="109"/>
                    <a:pt x="41" y="114"/>
                  </a:cubicBezTo>
                  <a:cubicBezTo>
                    <a:pt x="49" y="119"/>
                    <a:pt x="52" y="132"/>
                    <a:pt x="57" y="135"/>
                  </a:cubicBezTo>
                  <a:cubicBezTo>
                    <a:pt x="62" y="138"/>
                    <a:pt x="68" y="133"/>
                    <a:pt x="71" y="135"/>
                  </a:cubicBezTo>
                  <a:cubicBezTo>
                    <a:pt x="74" y="137"/>
                    <a:pt x="74" y="143"/>
                    <a:pt x="78" y="150"/>
                  </a:cubicBezTo>
                  <a:cubicBezTo>
                    <a:pt x="82" y="157"/>
                    <a:pt x="96" y="183"/>
                    <a:pt x="96" y="179"/>
                  </a:cubicBezTo>
                  <a:cubicBezTo>
                    <a:pt x="96" y="175"/>
                    <a:pt x="84" y="140"/>
                    <a:pt x="81" y="126"/>
                  </a:cubicBezTo>
                  <a:cubicBezTo>
                    <a:pt x="78" y="112"/>
                    <a:pt x="82" y="104"/>
                    <a:pt x="80" y="93"/>
                  </a:cubicBezTo>
                  <a:cubicBezTo>
                    <a:pt x="78" y="82"/>
                    <a:pt x="74" y="72"/>
                    <a:pt x="71" y="63"/>
                  </a:cubicBezTo>
                  <a:cubicBezTo>
                    <a:pt x="68" y="54"/>
                    <a:pt x="65" y="48"/>
                    <a:pt x="63" y="41"/>
                  </a:cubicBezTo>
                  <a:cubicBezTo>
                    <a:pt x="61" y="34"/>
                    <a:pt x="59" y="26"/>
                    <a:pt x="57" y="20"/>
                  </a:cubicBezTo>
                  <a:cubicBezTo>
                    <a:pt x="55" y="14"/>
                    <a:pt x="49" y="0"/>
                    <a:pt x="48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6" name="Freeform 60"/>
            <p:cNvSpPr>
              <a:spLocks/>
            </p:cNvSpPr>
            <p:nvPr/>
          </p:nvSpPr>
          <p:spPr bwMode="invGray">
            <a:xfrm>
              <a:off x="3943" y="3153"/>
              <a:ext cx="40" cy="131"/>
            </a:xfrm>
            <a:custGeom>
              <a:avLst/>
              <a:gdLst>
                <a:gd name="T0" fmla="*/ 6 w 54"/>
                <a:gd name="T1" fmla="*/ 0 h 175"/>
                <a:gd name="T2" fmla="*/ 0 w 54"/>
                <a:gd name="T3" fmla="*/ 25 h 175"/>
                <a:gd name="T4" fmla="*/ 9 w 54"/>
                <a:gd name="T5" fmla="*/ 54 h 175"/>
                <a:gd name="T6" fmla="*/ 18 w 54"/>
                <a:gd name="T7" fmla="*/ 94 h 175"/>
                <a:gd name="T8" fmla="*/ 34 w 54"/>
                <a:gd name="T9" fmla="*/ 129 h 175"/>
                <a:gd name="T10" fmla="*/ 54 w 54"/>
                <a:gd name="T11" fmla="*/ 175 h 175"/>
                <a:gd name="T12" fmla="*/ 40 w 54"/>
                <a:gd name="T13" fmla="*/ 115 h 175"/>
                <a:gd name="T14" fmla="*/ 34 w 54"/>
                <a:gd name="T15" fmla="*/ 93 h 175"/>
                <a:gd name="T16" fmla="*/ 28 w 54"/>
                <a:gd name="T17" fmla="*/ 61 h 175"/>
                <a:gd name="T18" fmla="*/ 25 w 54"/>
                <a:gd name="T19" fmla="*/ 46 h 175"/>
                <a:gd name="T20" fmla="*/ 16 w 54"/>
                <a:gd name="T21" fmla="*/ 37 h 175"/>
                <a:gd name="T22" fmla="*/ 6 w 54"/>
                <a:gd name="T23" fmla="*/ 0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4" h="175">
                  <a:moveTo>
                    <a:pt x="6" y="0"/>
                  </a:moveTo>
                  <a:lnTo>
                    <a:pt x="0" y="25"/>
                  </a:lnTo>
                  <a:cubicBezTo>
                    <a:pt x="3" y="48"/>
                    <a:pt x="3" y="40"/>
                    <a:pt x="9" y="54"/>
                  </a:cubicBezTo>
                  <a:cubicBezTo>
                    <a:pt x="10" y="66"/>
                    <a:pt x="12" y="83"/>
                    <a:pt x="18" y="94"/>
                  </a:cubicBezTo>
                  <a:cubicBezTo>
                    <a:pt x="21" y="109"/>
                    <a:pt x="25" y="117"/>
                    <a:pt x="34" y="129"/>
                  </a:cubicBezTo>
                  <a:cubicBezTo>
                    <a:pt x="35" y="143"/>
                    <a:pt x="35" y="171"/>
                    <a:pt x="54" y="175"/>
                  </a:cubicBezTo>
                  <a:cubicBezTo>
                    <a:pt x="52" y="133"/>
                    <a:pt x="53" y="141"/>
                    <a:pt x="40" y="115"/>
                  </a:cubicBezTo>
                  <a:cubicBezTo>
                    <a:pt x="39" y="108"/>
                    <a:pt x="37" y="100"/>
                    <a:pt x="34" y="93"/>
                  </a:cubicBezTo>
                  <a:cubicBezTo>
                    <a:pt x="33" y="82"/>
                    <a:pt x="30" y="72"/>
                    <a:pt x="28" y="61"/>
                  </a:cubicBezTo>
                  <a:cubicBezTo>
                    <a:pt x="28" y="58"/>
                    <a:pt x="28" y="50"/>
                    <a:pt x="25" y="46"/>
                  </a:cubicBezTo>
                  <a:cubicBezTo>
                    <a:pt x="22" y="43"/>
                    <a:pt x="16" y="37"/>
                    <a:pt x="16" y="37"/>
                  </a:cubicBezTo>
                  <a:cubicBezTo>
                    <a:pt x="14" y="25"/>
                    <a:pt x="13" y="9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7" name="Freeform 61"/>
            <p:cNvSpPr>
              <a:spLocks/>
            </p:cNvSpPr>
            <p:nvPr/>
          </p:nvSpPr>
          <p:spPr bwMode="invGray">
            <a:xfrm>
              <a:off x="3988" y="3290"/>
              <a:ext cx="65" cy="54"/>
            </a:xfrm>
            <a:custGeom>
              <a:avLst/>
              <a:gdLst>
                <a:gd name="T0" fmla="*/ 2 w 86"/>
                <a:gd name="T1" fmla="*/ 0 h 73"/>
                <a:gd name="T2" fmla="*/ 8 w 86"/>
                <a:gd name="T3" fmla="*/ 34 h 73"/>
                <a:gd name="T4" fmla="*/ 23 w 86"/>
                <a:gd name="T5" fmla="*/ 43 h 73"/>
                <a:gd name="T6" fmla="*/ 48 w 86"/>
                <a:gd name="T7" fmla="*/ 49 h 73"/>
                <a:gd name="T8" fmla="*/ 62 w 86"/>
                <a:gd name="T9" fmla="*/ 57 h 73"/>
                <a:gd name="T10" fmla="*/ 74 w 86"/>
                <a:gd name="T11" fmla="*/ 66 h 73"/>
                <a:gd name="T12" fmla="*/ 86 w 86"/>
                <a:gd name="T13" fmla="*/ 69 h 73"/>
                <a:gd name="T14" fmla="*/ 72 w 86"/>
                <a:gd name="T15" fmla="*/ 39 h 73"/>
                <a:gd name="T16" fmla="*/ 63 w 86"/>
                <a:gd name="T17" fmla="*/ 22 h 73"/>
                <a:gd name="T18" fmla="*/ 36 w 86"/>
                <a:gd name="T19" fmla="*/ 24 h 73"/>
                <a:gd name="T20" fmla="*/ 24 w 86"/>
                <a:gd name="T21" fmla="*/ 19 h 73"/>
                <a:gd name="T22" fmla="*/ 6 w 86"/>
                <a:gd name="T23" fmla="*/ 0 h 73"/>
                <a:gd name="T24" fmla="*/ 2 w 86"/>
                <a:gd name="T25" fmla="*/ 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6" h="73">
                  <a:moveTo>
                    <a:pt x="2" y="0"/>
                  </a:moveTo>
                  <a:cubicBezTo>
                    <a:pt x="3" y="17"/>
                    <a:pt x="0" y="23"/>
                    <a:pt x="8" y="34"/>
                  </a:cubicBezTo>
                  <a:cubicBezTo>
                    <a:pt x="10" y="43"/>
                    <a:pt x="14" y="42"/>
                    <a:pt x="23" y="43"/>
                  </a:cubicBezTo>
                  <a:cubicBezTo>
                    <a:pt x="30" y="47"/>
                    <a:pt x="40" y="48"/>
                    <a:pt x="48" y="49"/>
                  </a:cubicBezTo>
                  <a:cubicBezTo>
                    <a:pt x="53" y="51"/>
                    <a:pt x="57" y="54"/>
                    <a:pt x="62" y="57"/>
                  </a:cubicBezTo>
                  <a:cubicBezTo>
                    <a:pt x="66" y="62"/>
                    <a:pt x="68" y="64"/>
                    <a:pt x="74" y="66"/>
                  </a:cubicBezTo>
                  <a:cubicBezTo>
                    <a:pt x="78" y="72"/>
                    <a:pt x="79" y="73"/>
                    <a:pt x="86" y="69"/>
                  </a:cubicBezTo>
                  <a:cubicBezTo>
                    <a:pt x="83" y="53"/>
                    <a:pt x="80" y="52"/>
                    <a:pt x="72" y="39"/>
                  </a:cubicBezTo>
                  <a:cubicBezTo>
                    <a:pt x="68" y="34"/>
                    <a:pt x="63" y="22"/>
                    <a:pt x="63" y="22"/>
                  </a:cubicBezTo>
                  <a:cubicBezTo>
                    <a:pt x="52" y="26"/>
                    <a:pt x="48" y="26"/>
                    <a:pt x="36" y="24"/>
                  </a:cubicBezTo>
                  <a:cubicBezTo>
                    <a:pt x="24" y="15"/>
                    <a:pt x="43" y="29"/>
                    <a:pt x="24" y="19"/>
                  </a:cubicBezTo>
                  <a:cubicBezTo>
                    <a:pt x="15" y="15"/>
                    <a:pt x="16" y="2"/>
                    <a:pt x="6" y="0"/>
                  </a:cubicBezTo>
                  <a:cubicBezTo>
                    <a:pt x="1" y="4"/>
                    <a:pt x="2" y="5"/>
                    <a:pt x="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8" name="Freeform 62"/>
            <p:cNvSpPr>
              <a:spLocks/>
            </p:cNvSpPr>
            <p:nvPr/>
          </p:nvSpPr>
          <p:spPr bwMode="invGray">
            <a:xfrm>
              <a:off x="4092" y="3195"/>
              <a:ext cx="83" cy="117"/>
            </a:xfrm>
            <a:custGeom>
              <a:avLst/>
              <a:gdLst>
                <a:gd name="T0" fmla="*/ 98 w 111"/>
                <a:gd name="T1" fmla="*/ 0 h 156"/>
                <a:gd name="T2" fmla="*/ 75 w 111"/>
                <a:gd name="T3" fmla="*/ 10 h 156"/>
                <a:gd name="T4" fmla="*/ 23 w 111"/>
                <a:gd name="T5" fmla="*/ 15 h 156"/>
                <a:gd name="T6" fmla="*/ 14 w 111"/>
                <a:gd name="T7" fmla="*/ 33 h 156"/>
                <a:gd name="T8" fmla="*/ 11 w 111"/>
                <a:gd name="T9" fmla="*/ 61 h 156"/>
                <a:gd name="T10" fmla="*/ 14 w 111"/>
                <a:gd name="T11" fmla="*/ 75 h 156"/>
                <a:gd name="T12" fmla="*/ 3 w 111"/>
                <a:gd name="T13" fmla="*/ 88 h 156"/>
                <a:gd name="T14" fmla="*/ 14 w 111"/>
                <a:gd name="T15" fmla="*/ 109 h 156"/>
                <a:gd name="T16" fmla="*/ 23 w 111"/>
                <a:gd name="T17" fmla="*/ 124 h 156"/>
                <a:gd name="T18" fmla="*/ 15 w 111"/>
                <a:gd name="T19" fmla="*/ 144 h 156"/>
                <a:gd name="T20" fmla="*/ 24 w 111"/>
                <a:gd name="T21" fmla="*/ 156 h 156"/>
                <a:gd name="T22" fmla="*/ 42 w 111"/>
                <a:gd name="T23" fmla="*/ 144 h 156"/>
                <a:gd name="T24" fmla="*/ 50 w 111"/>
                <a:gd name="T25" fmla="*/ 93 h 156"/>
                <a:gd name="T26" fmla="*/ 56 w 111"/>
                <a:gd name="T27" fmla="*/ 126 h 156"/>
                <a:gd name="T28" fmla="*/ 65 w 111"/>
                <a:gd name="T29" fmla="*/ 145 h 156"/>
                <a:gd name="T30" fmla="*/ 62 w 111"/>
                <a:gd name="T31" fmla="*/ 112 h 156"/>
                <a:gd name="T32" fmla="*/ 72 w 111"/>
                <a:gd name="T33" fmla="*/ 73 h 156"/>
                <a:gd name="T34" fmla="*/ 69 w 111"/>
                <a:gd name="T35" fmla="*/ 51 h 156"/>
                <a:gd name="T36" fmla="*/ 54 w 111"/>
                <a:gd name="T37" fmla="*/ 60 h 156"/>
                <a:gd name="T38" fmla="*/ 35 w 111"/>
                <a:gd name="T39" fmla="*/ 54 h 156"/>
                <a:gd name="T40" fmla="*/ 41 w 111"/>
                <a:gd name="T41" fmla="*/ 36 h 156"/>
                <a:gd name="T42" fmla="*/ 62 w 111"/>
                <a:gd name="T43" fmla="*/ 34 h 156"/>
                <a:gd name="T44" fmla="*/ 78 w 111"/>
                <a:gd name="T45" fmla="*/ 39 h 156"/>
                <a:gd name="T46" fmla="*/ 98 w 111"/>
                <a:gd name="T47" fmla="*/ 30 h 156"/>
                <a:gd name="T48" fmla="*/ 111 w 111"/>
                <a:gd name="T49" fmla="*/ 13 h 156"/>
                <a:gd name="T50" fmla="*/ 98 w 111"/>
                <a:gd name="T51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11" h="156">
                  <a:moveTo>
                    <a:pt x="98" y="0"/>
                  </a:moveTo>
                  <a:cubicBezTo>
                    <a:pt x="75" y="2"/>
                    <a:pt x="87" y="8"/>
                    <a:pt x="75" y="10"/>
                  </a:cubicBezTo>
                  <a:cubicBezTo>
                    <a:pt x="72" y="10"/>
                    <a:pt x="25" y="3"/>
                    <a:pt x="23" y="15"/>
                  </a:cubicBezTo>
                  <a:cubicBezTo>
                    <a:pt x="25" y="26"/>
                    <a:pt x="23" y="27"/>
                    <a:pt x="14" y="33"/>
                  </a:cubicBezTo>
                  <a:cubicBezTo>
                    <a:pt x="15" y="43"/>
                    <a:pt x="20" y="54"/>
                    <a:pt x="11" y="61"/>
                  </a:cubicBezTo>
                  <a:cubicBezTo>
                    <a:pt x="8" y="68"/>
                    <a:pt x="10" y="69"/>
                    <a:pt x="14" y="75"/>
                  </a:cubicBezTo>
                  <a:cubicBezTo>
                    <a:pt x="16" y="84"/>
                    <a:pt x="12" y="86"/>
                    <a:pt x="3" y="88"/>
                  </a:cubicBezTo>
                  <a:cubicBezTo>
                    <a:pt x="1" y="99"/>
                    <a:pt x="0" y="106"/>
                    <a:pt x="14" y="109"/>
                  </a:cubicBezTo>
                  <a:cubicBezTo>
                    <a:pt x="21" y="112"/>
                    <a:pt x="20" y="118"/>
                    <a:pt x="23" y="124"/>
                  </a:cubicBezTo>
                  <a:cubicBezTo>
                    <a:pt x="25" y="133"/>
                    <a:pt x="23" y="139"/>
                    <a:pt x="15" y="144"/>
                  </a:cubicBezTo>
                  <a:cubicBezTo>
                    <a:pt x="17" y="150"/>
                    <a:pt x="18" y="153"/>
                    <a:pt x="24" y="156"/>
                  </a:cubicBezTo>
                  <a:cubicBezTo>
                    <a:pt x="31" y="154"/>
                    <a:pt x="36" y="148"/>
                    <a:pt x="42" y="144"/>
                  </a:cubicBezTo>
                  <a:cubicBezTo>
                    <a:pt x="41" y="128"/>
                    <a:pt x="33" y="103"/>
                    <a:pt x="50" y="93"/>
                  </a:cubicBezTo>
                  <a:cubicBezTo>
                    <a:pt x="52" y="105"/>
                    <a:pt x="46" y="116"/>
                    <a:pt x="56" y="126"/>
                  </a:cubicBezTo>
                  <a:cubicBezTo>
                    <a:pt x="57" y="134"/>
                    <a:pt x="58" y="141"/>
                    <a:pt x="65" y="145"/>
                  </a:cubicBezTo>
                  <a:cubicBezTo>
                    <a:pt x="70" y="134"/>
                    <a:pt x="64" y="123"/>
                    <a:pt x="62" y="112"/>
                  </a:cubicBezTo>
                  <a:cubicBezTo>
                    <a:pt x="65" y="97"/>
                    <a:pt x="55" y="81"/>
                    <a:pt x="72" y="73"/>
                  </a:cubicBezTo>
                  <a:cubicBezTo>
                    <a:pt x="79" y="64"/>
                    <a:pt x="75" y="59"/>
                    <a:pt x="69" y="51"/>
                  </a:cubicBezTo>
                  <a:cubicBezTo>
                    <a:pt x="61" y="52"/>
                    <a:pt x="61" y="56"/>
                    <a:pt x="54" y="60"/>
                  </a:cubicBezTo>
                  <a:cubicBezTo>
                    <a:pt x="37" y="57"/>
                    <a:pt x="43" y="60"/>
                    <a:pt x="35" y="54"/>
                  </a:cubicBezTo>
                  <a:cubicBezTo>
                    <a:pt x="31" y="45"/>
                    <a:pt x="28" y="39"/>
                    <a:pt x="41" y="36"/>
                  </a:cubicBezTo>
                  <a:cubicBezTo>
                    <a:pt x="49" y="32"/>
                    <a:pt x="53" y="33"/>
                    <a:pt x="62" y="34"/>
                  </a:cubicBezTo>
                  <a:cubicBezTo>
                    <a:pt x="67" y="36"/>
                    <a:pt x="73" y="36"/>
                    <a:pt x="78" y="39"/>
                  </a:cubicBezTo>
                  <a:cubicBezTo>
                    <a:pt x="85" y="36"/>
                    <a:pt x="90" y="31"/>
                    <a:pt x="98" y="30"/>
                  </a:cubicBezTo>
                  <a:cubicBezTo>
                    <a:pt x="104" y="26"/>
                    <a:pt x="107" y="19"/>
                    <a:pt x="111" y="13"/>
                  </a:cubicBezTo>
                  <a:cubicBezTo>
                    <a:pt x="107" y="8"/>
                    <a:pt x="102" y="4"/>
                    <a:pt x="9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9" name="Freeform 63"/>
            <p:cNvSpPr>
              <a:spLocks/>
            </p:cNvSpPr>
            <p:nvPr/>
          </p:nvSpPr>
          <p:spPr bwMode="invGray">
            <a:xfrm>
              <a:off x="4064" y="2777"/>
              <a:ext cx="22" cy="71"/>
            </a:xfrm>
            <a:custGeom>
              <a:avLst/>
              <a:gdLst>
                <a:gd name="T0" fmla="*/ 12 w 30"/>
                <a:gd name="T1" fmla="*/ 0 h 94"/>
                <a:gd name="T2" fmla="*/ 0 w 30"/>
                <a:gd name="T3" fmla="*/ 16 h 94"/>
                <a:gd name="T4" fmla="*/ 6 w 30"/>
                <a:gd name="T5" fmla="*/ 37 h 94"/>
                <a:gd name="T6" fmla="*/ 1 w 30"/>
                <a:gd name="T7" fmla="*/ 61 h 94"/>
                <a:gd name="T8" fmla="*/ 16 w 30"/>
                <a:gd name="T9" fmla="*/ 94 h 94"/>
                <a:gd name="T10" fmla="*/ 30 w 30"/>
                <a:gd name="T11" fmla="*/ 82 h 94"/>
                <a:gd name="T12" fmla="*/ 22 w 30"/>
                <a:gd name="T13" fmla="*/ 61 h 94"/>
                <a:gd name="T14" fmla="*/ 12 w 30"/>
                <a:gd name="T15" fmla="*/ 0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0" h="94">
                  <a:moveTo>
                    <a:pt x="12" y="0"/>
                  </a:moveTo>
                  <a:cubicBezTo>
                    <a:pt x="9" y="6"/>
                    <a:pt x="4" y="11"/>
                    <a:pt x="0" y="16"/>
                  </a:cubicBezTo>
                  <a:cubicBezTo>
                    <a:pt x="1" y="23"/>
                    <a:pt x="3" y="30"/>
                    <a:pt x="6" y="37"/>
                  </a:cubicBezTo>
                  <a:cubicBezTo>
                    <a:pt x="3" y="45"/>
                    <a:pt x="4" y="53"/>
                    <a:pt x="1" y="61"/>
                  </a:cubicBezTo>
                  <a:cubicBezTo>
                    <a:pt x="3" y="81"/>
                    <a:pt x="2" y="83"/>
                    <a:pt x="16" y="94"/>
                  </a:cubicBezTo>
                  <a:cubicBezTo>
                    <a:pt x="24" y="92"/>
                    <a:pt x="27" y="90"/>
                    <a:pt x="30" y="82"/>
                  </a:cubicBezTo>
                  <a:cubicBezTo>
                    <a:pt x="28" y="73"/>
                    <a:pt x="26" y="69"/>
                    <a:pt x="22" y="61"/>
                  </a:cubicBezTo>
                  <a:cubicBezTo>
                    <a:pt x="19" y="40"/>
                    <a:pt x="18" y="20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0" name="Freeform 64"/>
            <p:cNvSpPr>
              <a:spLocks/>
            </p:cNvSpPr>
            <p:nvPr/>
          </p:nvSpPr>
          <p:spPr bwMode="invGray">
            <a:xfrm>
              <a:off x="4078" y="2896"/>
              <a:ext cx="61" cy="118"/>
            </a:xfrm>
            <a:custGeom>
              <a:avLst/>
              <a:gdLst>
                <a:gd name="T0" fmla="*/ 12 w 81"/>
                <a:gd name="T1" fmla="*/ 2 h 158"/>
                <a:gd name="T2" fmla="*/ 0 w 81"/>
                <a:gd name="T3" fmla="*/ 20 h 158"/>
                <a:gd name="T4" fmla="*/ 8 w 81"/>
                <a:gd name="T5" fmla="*/ 49 h 158"/>
                <a:gd name="T6" fmla="*/ 6 w 81"/>
                <a:gd name="T7" fmla="*/ 107 h 158"/>
                <a:gd name="T8" fmla="*/ 17 w 81"/>
                <a:gd name="T9" fmla="*/ 103 h 158"/>
                <a:gd name="T10" fmla="*/ 20 w 81"/>
                <a:gd name="T11" fmla="*/ 115 h 158"/>
                <a:gd name="T12" fmla="*/ 29 w 81"/>
                <a:gd name="T13" fmla="*/ 122 h 158"/>
                <a:gd name="T14" fmla="*/ 38 w 81"/>
                <a:gd name="T15" fmla="*/ 140 h 158"/>
                <a:gd name="T16" fmla="*/ 48 w 81"/>
                <a:gd name="T17" fmla="*/ 128 h 158"/>
                <a:gd name="T18" fmla="*/ 65 w 81"/>
                <a:gd name="T19" fmla="*/ 134 h 158"/>
                <a:gd name="T20" fmla="*/ 63 w 81"/>
                <a:gd name="T21" fmla="*/ 109 h 158"/>
                <a:gd name="T22" fmla="*/ 48 w 81"/>
                <a:gd name="T23" fmla="*/ 104 h 158"/>
                <a:gd name="T24" fmla="*/ 39 w 81"/>
                <a:gd name="T25" fmla="*/ 91 h 158"/>
                <a:gd name="T26" fmla="*/ 33 w 81"/>
                <a:gd name="T27" fmla="*/ 73 h 158"/>
                <a:gd name="T28" fmla="*/ 41 w 81"/>
                <a:gd name="T29" fmla="*/ 53 h 158"/>
                <a:gd name="T30" fmla="*/ 35 w 81"/>
                <a:gd name="T31" fmla="*/ 35 h 158"/>
                <a:gd name="T32" fmla="*/ 42 w 81"/>
                <a:gd name="T33" fmla="*/ 20 h 158"/>
                <a:gd name="T34" fmla="*/ 29 w 81"/>
                <a:gd name="T35" fmla="*/ 4 h 158"/>
                <a:gd name="T36" fmla="*/ 18 w 81"/>
                <a:gd name="T37" fmla="*/ 7 h 158"/>
                <a:gd name="T38" fmla="*/ 12 w 81"/>
                <a:gd name="T39" fmla="*/ 2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81" h="158">
                  <a:moveTo>
                    <a:pt x="12" y="2"/>
                  </a:moveTo>
                  <a:cubicBezTo>
                    <a:pt x="8" y="8"/>
                    <a:pt x="3" y="13"/>
                    <a:pt x="0" y="20"/>
                  </a:cubicBezTo>
                  <a:cubicBezTo>
                    <a:pt x="5" y="31"/>
                    <a:pt x="6" y="35"/>
                    <a:pt x="8" y="49"/>
                  </a:cubicBezTo>
                  <a:cubicBezTo>
                    <a:pt x="7" y="69"/>
                    <a:pt x="4" y="87"/>
                    <a:pt x="6" y="107"/>
                  </a:cubicBezTo>
                  <a:cubicBezTo>
                    <a:pt x="8" y="106"/>
                    <a:pt x="14" y="101"/>
                    <a:pt x="17" y="103"/>
                  </a:cubicBezTo>
                  <a:cubicBezTo>
                    <a:pt x="20" y="105"/>
                    <a:pt x="17" y="112"/>
                    <a:pt x="20" y="115"/>
                  </a:cubicBezTo>
                  <a:cubicBezTo>
                    <a:pt x="22" y="118"/>
                    <a:pt x="29" y="122"/>
                    <a:pt x="29" y="122"/>
                  </a:cubicBezTo>
                  <a:cubicBezTo>
                    <a:pt x="29" y="133"/>
                    <a:pt x="27" y="158"/>
                    <a:pt x="38" y="140"/>
                  </a:cubicBezTo>
                  <a:cubicBezTo>
                    <a:pt x="39" y="133"/>
                    <a:pt x="41" y="131"/>
                    <a:pt x="48" y="128"/>
                  </a:cubicBezTo>
                  <a:cubicBezTo>
                    <a:pt x="55" y="130"/>
                    <a:pt x="59" y="133"/>
                    <a:pt x="65" y="134"/>
                  </a:cubicBezTo>
                  <a:cubicBezTo>
                    <a:pt x="81" y="131"/>
                    <a:pt x="76" y="112"/>
                    <a:pt x="63" y="109"/>
                  </a:cubicBezTo>
                  <a:cubicBezTo>
                    <a:pt x="58" y="107"/>
                    <a:pt x="53" y="106"/>
                    <a:pt x="48" y="104"/>
                  </a:cubicBezTo>
                  <a:cubicBezTo>
                    <a:pt x="45" y="100"/>
                    <a:pt x="42" y="95"/>
                    <a:pt x="39" y="91"/>
                  </a:cubicBezTo>
                  <a:cubicBezTo>
                    <a:pt x="38" y="85"/>
                    <a:pt x="36" y="79"/>
                    <a:pt x="33" y="73"/>
                  </a:cubicBezTo>
                  <a:cubicBezTo>
                    <a:pt x="31" y="64"/>
                    <a:pt x="33" y="58"/>
                    <a:pt x="41" y="53"/>
                  </a:cubicBezTo>
                  <a:cubicBezTo>
                    <a:pt x="48" y="44"/>
                    <a:pt x="47" y="38"/>
                    <a:pt x="35" y="35"/>
                  </a:cubicBezTo>
                  <a:cubicBezTo>
                    <a:pt x="36" y="28"/>
                    <a:pt x="39" y="26"/>
                    <a:pt x="42" y="20"/>
                  </a:cubicBezTo>
                  <a:cubicBezTo>
                    <a:pt x="41" y="13"/>
                    <a:pt x="35" y="8"/>
                    <a:pt x="29" y="4"/>
                  </a:cubicBezTo>
                  <a:cubicBezTo>
                    <a:pt x="25" y="9"/>
                    <a:pt x="23" y="13"/>
                    <a:pt x="18" y="7"/>
                  </a:cubicBezTo>
                  <a:cubicBezTo>
                    <a:pt x="17" y="0"/>
                    <a:pt x="19" y="2"/>
                    <a:pt x="12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1" name="Freeform 65"/>
            <p:cNvSpPr>
              <a:spLocks/>
            </p:cNvSpPr>
            <p:nvPr/>
          </p:nvSpPr>
          <p:spPr bwMode="invGray">
            <a:xfrm>
              <a:off x="4121" y="3052"/>
              <a:ext cx="64" cy="79"/>
            </a:xfrm>
            <a:custGeom>
              <a:avLst/>
              <a:gdLst>
                <a:gd name="T0" fmla="*/ 52 w 85"/>
                <a:gd name="T1" fmla="*/ 0 h 105"/>
                <a:gd name="T2" fmla="*/ 44 w 85"/>
                <a:gd name="T3" fmla="*/ 18 h 105"/>
                <a:gd name="T4" fmla="*/ 32 w 85"/>
                <a:gd name="T5" fmla="*/ 30 h 105"/>
                <a:gd name="T6" fmla="*/ 16 w 85"/>
                <a:gd name="T7" fmla="*/ 35 h 105"/>
                <a:gd name="T8" fmla="*/ 8 w 85"/>
                <a:gd name="T9" fmla="*/ 48 h 105"/>
                <a:gd name="T10" fmla="*/ 4 w 85"/>
                <a:gd name="T11" fmla="*/ 74 h 105"/>
                <a:gd name="T12" fmla="*/ 13 w 85"/>
                <a:gd name="T13" fmla="*/ 71 h 105"/>
                <a:gd name="T14" fmla="*/ 25 w 85"/>
                <a:gd name="T15" fmla="*/ 62 h 105"/>
                <a:gd name="T16" fmla="*/ 34 w 85"/>
                <a:gd name="T17" fmla="*/ 69 h 105"/>
                <a:gd name="T18" fmla="*/ 58 w 85"/>
                <a:gd name="T19" fmla="*/ 99 h 105"/>
                <a:gd name="T20" fmla="*/ 71 w 85"/>
                <a:gd name="T21" fmla="*/ 72 h 105"/>
                <a:gd name="T22" fmla="*/ 85 w 85"/>
                <a:gd name="T23" fmla="*/ 68 h 105"/>
                <a:gd name="T24" fmla="*/ 74 w 85"/>
                <a:gd name="T25" fmla="*/ 39 h 105"/>
                <a:gd name="T26" fmla="*/ 52 w 85"/>
                <a:gd name="T27" fmla="*/ 0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5" h="105">
                  <a:moveTo>
                    <a:pt x="52" y="0"/>
                  </a:moveTo>
                  <a:cubicBezTo>
                    <a:pt x="50" y="6"/>
                    <a:pt x="47" y="12"/>
                    <a:pt x="44" y="18"/>
                  </a:cubicBezTo>
                  <a:cubicBezTo>
                    <a:pt x="43" y="28"/>
                    <a:pt x="42" y="28"/>
                    <a:pt x="32" y="30"/>
                  </a:cubicBezTo>
                  <a:cubicBezTo>
                    <a:pt x="27" y="33"/>
                    <a:pt x="21" y="33"/>
                    <a:pt x="16" y="35"/>
                  </a:cubicBezTo>
                  <a:cubicBezTo>
                    <a:pt x="13" y="39"/>
                    <a:pt x="11" y="44"/>
                    <a:pt x="8" y="48"/>
                  </a:cubicBezTo>
                  <a:cubicBezTo>
                    <a:pt x="4" y="66"/>
                    <a:pt x="0" y="42"/>
                    <a:pt x="4" y="74"/>
                  </a:cubicBezTo>
                  <a:cubicBezTo>
                    <a:pt x="7" y="73"/>
                    <a:pt x="10" y="73"/>
                    <a:pt x="13" y="71"/>
                  </a:cubicBezTo>
                  <a:cubicBezTo>
                    <a:pt x="19" y="67"/>
                    <a:pt x="17" y="64"/>
                    <a:pt x="25" y="62"/>
                  </a:cubicBezTo>
                  <a:cubicBezTo>
                    <a:pt x="32" y="59"/>
                    <a:pt x="31" y="64"/>
                    <a:pt x="34" y="69"/>
                  </a:cubicBezTo>
                  <a:cubicBezTo>
                    <a:pt x="37" y="82"/>
                    <a:pt x="44" y="96"/>
                    <a:pt x="58" y="99"/>
                  </a:cubicBezTo>
                  <a:cubicBezTo>
                    <a:pt x="70" y="105"/>
                    <a:pt x="60" y="78"/>
                    <a:pt x="71" y="72"/>
                  </a:cubicBezTo>
                  <a:cubicBezTo>
                    <a:pt x="78" y="74"/>
                    <a:pt x="80" y="74"/>
                    <a:pt x="85" y="68"/>
                  </a:cubicBezTo>
                  <a:cubicBezTo>
                    <a:pt x="82" y="56"/>
                    <a:pt x="80" y="49"/>
                    <a:pt x="74" y="39"/>
                  </a:cubicBezTo>
                  <a:cubicBezTo>
                    <a:pt x="73" y="6"/>
                    <a:pt x="80" y="6"/>
                    <a:pt x="5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2" name="Freeform 66"/>
            <p:cNvSpPr>
              <a:spLocks/>
            </p:cNvSpPr>
            <p:nvPr/>
          </p:nvSpPr>
          <p:spPr bwMode="invGray">
            <a:xfrm>
              <a:off x="4197" y="3193"/>
              <a:ext cx="29" cy="49"/>
            </a:xfrm>
            <a:custGeom>
              <a:avLst/>
              <a:gdLst>
                <a:gd name="T0" fmla="*/ 6 w 38"/>
                <a:gd name="T1" fmla="*/ 27 h 66"/>
                <a:gd name="T2" fmla="*/ 26 w 38"/>
                <a:gd name="T3" fmla="*/ 66 h 66"/>
                <a:gd name="T4" fmla="*/ 30 w 38"/>
                <a:gd name="T5" fmla="*/ 52 h 66"/>
                <a:gd name="T6" fmla="*/ 38 w 38"/>
                <a:gd name="T7" fmla="*/ 40 h 66"/>
                <a:gd name="T8" fmla="*/ 30 w 38"/>
                <a:gd name="T9" fmla="*/ 25 h 66"/>
                <a:gd name="T10" fmla="*/ 20 w 38"/>
                <a:gd name="T11" fmla="*/ 13 h 66"/>
                <a:gd name="T12" fmla="*/ 11 w 38"/>
                <a:gd name="T13" fmla="*/ 1 h 66"/>
                <a:gd name="T14" fmla="*/ 2 w 38"/>
                <a:gd name="T15" fmla="*/ 12 h 66"/>
                <a:gd name="T16" fmla="*/ 6 w 38"/>
                <a:gd name="T17" fmla="*/ 27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8" h="66">
                  <a:moveTo>
                    <a:pt x="6" y="27"/>
                  </a:moveTo>
                  <a:cubicBezTo>
                    <a:pt x="8" y="52"/>
                    <a:pt x="5" y="58"/>
                    <a:pt x="26" y="66"/>
                  </a:cubicBezTo>
                  <a:cubicBezTo>
                    <a:pt x="36" y="63"/>
                    <a:pt x="33" y="61"/>
                    <a:pt x="30" y="52"/>
                  </a:cubicBezTo>
                  <a:cubicBezTo>
                    <a:pt x="28" y="41"/>
                    <a:pt x="34" y="49"/>
                    <a:pt x="38" y="40"/>
                  </a:cubicBezTo>
                  <a:cubicBezTo>
                    <a:pt x="34" y="35"/>
                    <a:pt x="33" y="30"/>
                    <a:pt x="30" y="25"/>
                  </a:cubicBezTo>
                  <a:cubicBezTo>
                    <a:pt x="29" y="14"/>
                    <a:pt x="30" y="0"/>
                    <a:pt x="20" y="13"/>
                  </a:cubicBezTo>
                  <a:cubicBezTo>
                    <a:pt x="14" y="9"/>
                    <a:pt x="12" y="8"/>
                    <a:pt x="11" y="1"/>
                  </a:cubicBezTo>
                  <a:cubicBezTo>
                    <a:pt x="5" y="4"/>
                    <a:pt x="3" y="5"/>
                    <a:pt x="2" y="12"/>
                  </a:cubicBezTo>
                  <a:cubicBezTo>
                    <a:pt x="3" y="25"/>
                    <a:pt x="0" y="21"/>
                    <a:pt x="6" y="2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3" name="Freeform 67"/>
            <p:cNvSpPr>
              <a:spLocks/>
            </p:cNvSpPr>
            <p:nvPr/>
          </p:nvSpPr>
          <p:spPr bwMode="invGray">
            <a:xfrm>
              <a:off x="4181" y="3275"/>
              <a:ext cx="18" cy="17"/>
            </a:xfrm>
            <a:custGeom>
              <a:avLst/>
              <a:gdLst>
                <a:gd name="T0" fmla="*/ 0 w 24"/>
                <a:gd name="T1" fmla="*/ 0 h 23"/>
                <a:gd name="T2" fmla="*/ 6 w 24"/>
                <a:gd name="T3" fmla="*/ 23 h 23"/>
                <a:gd name="T4" fmla="*/ 24 w 24"/>
                <a:gd name="T5" fmla="*/ 11 h 23"/>
                <a:gd name="T6" fmla="*/ 0 w 24"/>
                <a:gd name="T7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" h="23">
                  <a:moveTo>
                    <a:pt x="0" y="0"/>
                  </a:moveTo>
                  <a:cubicBezTo>
                    <a:pt x="1" y="8"/>
                    <a:pt x="3" y="16"/>
                    <a:pt x="6" y="23"/>
                  </a:cubicBezTo>
                  <a:cubicBezTo>
                    <a:pt x="19" y="20"/>
                    <a:pt x="19" y="22"/>
                    <a:pt x="24" y="11"/>
                  </a:cubicBezTo>
                  <a:cubicBezTo>
                    <a:pt x="20" y="0"/>
                    <a:pt x="4" y="8"/>
                    <a:pt x="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4" name="Freeform 68"/>
            <p:cNvSpPr>
              <a:spLocks/>
            </p:cNvSpPr>
            <p:nvPr/>
          </p:nvSpPr>
          <p:spPr bwMode="invGray">
            <a:xfrm>
              <a:off x="4208" y="3265"/>
              <a:ext cx="45" cy="37"/>
            </a:xfrm>
            <a:custGeom>
              <a:avLst/>
              <a:gdLst>
                <a:gd name="T0" fmla="*/ 9 w 60"/>
                <a:gd name="T1" fmla="*/ 0 h 49"/>
                <a:gd name="T2" fmla="*/ 0 w 60"/>
                <a:gd name="T3" fmla="*/ 18 h 49"/>
                <a:gd name="T4" fmla="*/ 28 w 60"/>
                <a:gd name="T5" fmla="*/ 33 h 49"/>
                <a:gd name="T6" fmla="*/ 42 w 60"/>
                <a:gd name="T7" fmla="*/ 46 h 49"/>
                <a:gd name="T8" fmla="*/ 60 w 60"/>
                <a:gd name="T9" fmla="*/ 42 h 49"/>
                <a:gd name="T10" fmla="*/ 49 w 60"/>
                <a:gd name="T11" fmla="*/ 24 h 49"/>
                <a:gd name="T12" fmla="*/ 28 w 60"/>
                <a:gd name="T13" fmla="*/ 3 h 49"/>
                <a:gd name="T14" fmla="*/ 19 w 60"/>
                <a:gd name="T15" fmla="*/ 16 h 49"/>
                <a:gd name="T16" fmla="*/ 9 w 60"/>
                <a:gd name="T17" fmla="*/ 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0" h="49">
                  <a:moveTo>
                    <a:pt x="9" y="0"/>
                  </a:moveTo>
                  <a:cubicBezTo>
                    <a:pt x="8" y="7"/>
                    <a:pt x="0" y="18"/>
                    <a:pt x="0" y="18"/>
                  </a:cubicBezTo>
                  <a:cubicBezTo>
                    <a:pt x="2" y="36"/>
                    <a:pt x="9" y="31"/>
                    <a:pt x="28" y="33"/>
                  </a:cubicBezTo>
                  <a:cubicBezTo>
                    <a:pt x="33" y="40"/>
                    <a:pt x="33" y="44"/>
                    <a:pt x="42" y="46"/>
                  </a:cubicBezTo>
                  <a:cubicBezTo>
                    <a:pt x="49" y="49"/>
                    <a:pt x="56" y="49"/>
                    <a:pt x="60" y="42"/>
                  </a:cubicBezTo>
                  <a:cubicBezTo>
                    <a:pt x="58" y="32"/>
                    <a:pt x="59" y="26"/>
                    <a:pt x="49" y="24"/>
                  </a:cubicBezTo>
                  <a:cubicBezTo>
                    <a:pt x="47" y="12"/>
                    <a:pt x="41" y="5"/>
                    <a:pt x="28" y="3"/>
                  </a:cubicBezTo>
                  <a:cubicBezTo>
                    <a:pt x="23" y="10"/>
                    <a:pt x="30" y="23"/>
                    <a:pt x="19" y="16"/>
                  </a:cubicBezTo>
                  <a:cubicBezTo>
                    <a:pt x="17" y="6"/>
                    <a:pt x="20" y="0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5" name="Freeform 69"/>
            <p:cNvSpPr>
              <a:spLocks/>
            </p:cNvSpPr>
            <p:nvPr/>
          </p:nvSpPr>
          <p:spPr bwMode="invGray">
            <a:xfrm>
              <a:off x="4277" y="3335"/>
              <a:ext cx="24" cy="33"/>
            </a:xfrm>
            <a:custGeom>
              <a:avLst/>
              <a:gdLst>
                <a:gd name="T0" fmla="*/ 28 w 32"/>
                <a:gd name="T1" fmla="*/ 0 h 44"/>
                <a:gd name="T2" fmla="*/ 10 w 32"/>
                <a:gd name="T3" fmla="*/ 11 h 44"/>
                <a:gd name="T4" fmla="*/ 12 w 32"/>
                <a:gd name="T5" fmla="*/ 32 h 44"/>
                <a:gd name="T6" fmla="*/ 24 w 32"/>
                <a:gd name="T7" fmla="*/ 36 h 44"/>
                <a:gd name="T8" fmla="*/ 28 w 32"/>
                <a:gd name="T9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6" name="Freeform 70"/>
            <p:cNvSpPr>
              <a:spLocks/>
            </p:cNvSpPr>
            <p:nvPr/>
          </p:nvSpPr>
          <p:spPr bwMode="invGray">
            <a:xfrm>
              <a:off x="4544" y="3293"/>
              <a:ext cx="46" cy="47"/>
            </a:xfrm>
            <a:custGeom>
              <a:avLst/>
              <a:gdLst>
                <a:gd name="T0" fmla="*/ 7 w 61"/>
                <a:gd name="T1" fmla="*/ 0 h 63"/>
                <a:gd name="T2" fmla="*/ 0 w 61"/>
                <a:gd name="T3" fmla="*/ 14 h 63"/>
                <a:gd name="T4" fmla="*/ 24 w 61"/>
                <a:gd name="T5" fmla="*/ 35 h 63"/>
                <a:gd name="T6" fmla="*/ 36 w 61"/>
                <a:gd name="T7" fmla="*/ 54 h 63"/>
                <a:gd name="T8" fmla="*/ 46 w 61"/>
                <a:gd name="T9" fmla="*/ 63 h 63"/>
                <a:gd name="T10" fmla="*/ 61 w 61"/>
                <a:gd name="T11" fmla="*/ 56 h 63"/>
                <a:gd name="T12" fmla="*/ 33 w 61"/>
                <a:gd name="T13" fmla="*/ 17 h 63"/>
                <a:gd name="T14" fmla="*/ 7 w 61"/>
                <a:gd name="T15" fmla="*/ 0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1" h="63">
                  <a:moveTo>
                    <a:pt x="7" y="0"/>
                  </a:moveTo>
                  <a:cubicBezTo>
                    <a:pt x="6" y="6"/>
                    <a:pt x="3" y="9"/>
                    <a:pt x="0" y="14"/>
                  </a:cubicBezTo>
                  <a:cubicBezTo>
                    <a:pt x="7" y="23"/>
                    <a:pt x="13" y="31"/>
                    <a:pt x="24" y="35"/>
                  </a:cubicBezTo>
                  <a:cubicBezTo>
                    <a:pt x="27" y="42"/>
                    <a:pt x="31" y="48"/>
                    <a:pt x="36" y="54"/>
                  </a:cubicBezTo>
                  <a:cubicBezTo>
                    <a:pt x="37" y="61"/>
                    <a:pt x="40" y="59"/>
                    <a:pt x="46" y="63"/>
                  </a:cubicBezTo>
                  <a:cubicBezTo>
                    <a:pt x="54" y="62"/>
                    <a:pt x="56" y="62"/>
                    <a:pt x="61" y="56"/>
                  </a:cubicBezTo>
                  <a:cubicBezTo>
                    <a:pt x="59" y="46"/>
                    <a:pt x="42" y="23"/>
                    <a:pt x="33" y="17"/>
                  </a:cubicBezTo>
                  <a:cubicBezTo>
                    <a:pt x="23" y="10"/>
                    <a:pt x="14" y="9"/>
                    <a:pt x="7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7" name="Freeform 71"/>
            <p:cNvSpPr>
              <a:spLocks/>
            </p:cNvSpPr>
            <p:nvPr/>
          </p:nvSpPr>
          <p:spPr bwMode="invGray">
            <a:xfrm>
              <a:off x="4147" y="3352"/>
              <a:ext cx="46" cy="50"/>
            </a:xfrm>
            <a:custGeom>
              <a:avLst/>
              <a:gdLst>
                <a:gd name="T0" fmla="*/ 28 w 61"/>
                <a:gd name="T1" fmla="*/ 7 h 67"/>
                <a:gd name="T2" fmla="*/ 30 w 61"/>
                <a:gd name="T3" fmla="*/ 34 h 67"/>
                <a:gd name="T4" fmla="*/ 16 w 61"/>
                <a:gd name="T5" fmla="*/ 43 h 67"/>
                <a:gd name="T6" fmla="*/ 22 w 61"/>
                <a:gd name="T7" fmla="*/ 67 h 67"/>
                <a:gd name="T8" fmla="*/ 48 w 61"/>
                <a:gd name="T9" fmla="*/ 58 h 67"/>
                <a:gd name="T10" fmla="*/ 60 w 61"/>
                <a:gd name="T11" fmla="*/ 47 h 67"/>
                <a:gd name="T12" fmla="*/ 51 w 61"/>
                <a:gd name="T13" fmla="*/ 28 h 67"/>
                <a:gd name="T14" fmla="*/ 57 w 61"/>
                <a:gd name="T15" fmla="*/ 14 h 67"/>
                <a:gd name="T16" fmla="*/ 55 w 61"/>
                <a:gd name="T17" fmla="*/ 2 h 67"/>
                <a:gd name="T18" fmla="*/ 46 w 61"/>
                <a:gd name="T19" fmla="*/ 4 h 67"/>
                <a:gd name="T20" fmla="*/ 51 w 61"/>
                <a:gd name="T21" fmla="*/ 5 h 67"/>
                <a:gd name="T22" fmla="*/ 49 w 61"/>
                <a:gd name="T23" fmla="*/ 16 h 67"/>
                <a:gd name="T24" fmla="*/ 43 w 61"/>
                <a:gd name="T25" fmla="*/ 23 h 67"/>
                <a:gd name="T26" fmla="*/ 28 w 61"/>
                <a:gd name="T27" fmla="*/ 7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1" h="67">
                  <a:moveTo>
                    <a:pt x="28" y="7"/>
                  </a:moveTo>
                  <a:cubicBezTo>
                    <a:pt x="17" y="15"/>
                    <a:pt x="24" y="25"/>
                    <a:pt x="30" y="34"/>
                  </a:cubicBezTo>
                  <a:cubicBezTo>
                    <a:pt x="27" y="44"/>
                    <a:pt x="26" y="44"/>
                    <a:pt x="16" y="43"/>
                  </a:cubicBezTo>
                  <a:cubicBezTo>
                    <a:pt x="0" y="46"/>
                    <a:pt x="13" y="63"/>
                    <a:pt x="22" y="67"/>
                  </a:cubicBezTo>
                  <a:cubicBezTo>
                    <a:pt x="31" y="65"/>
                    <a:pt x="39" y="60"/>
                    <a:pt x="48" y="58"/>
                  </a:cubicBezTo>
                  <a:cubicBezTo>
                    <a:pt x="51" y="52"/>
                    <a:pt x="54" y="50"/>
                    <a:pt x="60" y="47"/>
                  </a:cubicBezTo>
                  <a:cubicBezTo>
                    <a:pt x="61" y="40"/>
                    <a:pt x="51" y="28"/>
                    <a:pt x="51" y="28"/>
                  </a:cubicBezTo>
                  <a:cubicBezTo>
                    <a:pt x="52" y="22"/>
                    <a:pt x="55" y="19"/>
                    <a:pt x="57" y="14"/>
                  </a:cubicBezTo>
                  <a:cubicBezTo>
                    <a:pt x="56" y="10"/>
                    <a:pt x="58" y="5"/>
                    <a:pt x="55" y="2"/>
                  </a:cubicBezTo>
                  <a:cubicBezTo>
                    <a:pt x="53" y="0"/>
                    <a:pt x="48" y="2"/>
                    <a:pt x="46" y="4"/>
                  </a:cubicBezTo>
                  <a:cubicBezTo>
                    <a:pt x="45" y="5"/>
                    <a:pt x="49" y="5"/>
                    <a:pt x="51" y="5"/>
                  </a:cubicBezTo>
                  <a:cubicBezTo>
                    <a:pt x="57" y="10"/>
                    <a:pt x="52" y="9"/>
                    <a:pt x="49" y="16"/>
                  </a:cubicBezTo>
                  <a:cubicBezTo>
                    <a:pt x="58" y="23"/>
                    <a:pt x="50" y="22"/>
                    <a:pt x="43" y="23"/>
                  </a:cubicBezTo>
                  <a:cubicBezTo>
                    <a:pt x="34" y="22"/>
                    <a:pt x="31" y="16"/>
                    <a:pt x="28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8" name="Freeform 72"/>
            <p:cNvSpPr>
              <a:spLocks/>
            </p:cNvSpPr>
            <p:nvPr/>
          </p:nvSpPr>
          <p:spPr bwMode="invGray">
            <a:xfrm>
              <a:off x="4098" y="3371"/>
              <a:ext cx="32" cy="27"/>
            </a:xfrm>
            <a:custGeom>
              <a:avLst/>
              <a:gdLst>
                <a:gd name="T0" fmla="*/ 21 w 43"/>
                <a:gd name="T1" fmla="*/ 3 h 36"/>
                <a:gd name="T2" fmla="*/ 6 w 43"/>
                <a:gd name="T3" fmla="*/ 6 h 36"/>
                <a:gd name="T4" fmla="*/ 33 w 43"/>
                <a:gd name="T5" fmla="*/ 36 h 36"/>
                <a:gd name="T6" fmla="*/ 42 w 43"/>
                <a:gd name="T7" fmla="*/ 30 h 36"/>
                <a:gd name="T8" fmla="*/ 21 w 43"/>
                <a:gd name="T9" fmla="*/ 3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3" h="36">
                  <a:moveTo>
                    <a:pt x="21" y="3"/>
                  </a:moveTo>
                  <a:cubicBezTo>
                    <a:pt x="14" y="0"/>
                    <a:pt x="12" y="2"/>
                    <a:pt x="6" y="6"/>
                  </a:cubicBezTo>
                  <a:cubicBezTo>
                    <a:pt x="0" y="17"/>
                    <a:pt x="23" y="32"/>
                    <a:pt x="33" y="36"/>
                  </a:cubicBezTo>
                  <a:cubicBezTo>
                    <a:pt x="36" y="35"/>
                    <a:pt x="42" y="34"/>
                    <a:pt x="42" y="30"/>
                  </a:cubicBezTo>
                  <a:cubicBezTo>
                    <a:pt x="43" y="24"/>
                    <a:pt x="27" y="3"/>
                    <a:pt x="21" y="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9" name="Freeform 73"/>
            <p:cNvSpPr>
              <a:spLocks/>
            </p:cNvSpPr>
            <p:nvPr/>
          </p:nvSpPr>
          <p:spPr bwMode="invGray">
            <a:xfrm>
              <a:off x="4077" y="3342"/>
              <a:ext cx="24" cy="31"/>
            </a:xfrm>
            <a:custGeom>
              <a:avLst/>
              <a:gdLst>
                <a:gd name="T0" fmla="*/ 21 w 32"/>
                <a:gd name="T1" fmla="*/ 0 h 41"/>
                <a:gd name="T2" fmla="*/ 0 w 32"/>
                <a:gd name="T3" fmla="*/ 26 h 41"/>
                <a:gd name="T4" fmla="*/ 16 w 32"/>
                <a:gd name="T5" fmla="*/ 24 h 41"/>
                <a:gd name="T6" fmla="*/ 19 w 32"/>
                <a:gd name="T7" fmla="*/ 29 h 41"/>
                <a:gd name="T8" fmla="*/ 16 w 32"/>
                <a:gd name="T9" fmla="*/ 35 h 41"/>
                <a:gd name="T10" fmla="*/ 30 w 32"/>
                <a:gd name="T11" fmla="*/ 21 h 41"/>
                <a:gd name="T12" fmla="*/ 24 w 32"/>
                <a:gd name="T13" fmla="*/ 9 h 41"/>
                <a:gd name="T14" fmla="*/ 21 w 32"/>
                <a:gd name="T15" fmla="*/ 0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2" h="41">
                  <a:moveTo>
                    <a:pt x="21" y="0"/>
                  </a:moveTo>
                  <a:cubicBezTo>
                    <a:pt x="15" y="10"/>
                    <a:pt x="6" y="16"/>
                    <a:pt x="0" y="26"/>
                  </a:cubicBezTo>
                  <a:cubicBezTo>
                    <a:pt x="7" y="27"/>
                    <a:pt x="10" y="27"/>
                    <a:pt x="16" y="24"/>
                  </a:cubicBezTo>
                  <a:cubicBezTo>
                    <a:pt x="17" y="26"/>
                    <a:pt x="19" y="27"/>
                    <a:pt x="19" y="29"/>
                  </a:cubicBezTo>
                  <a:cubicBezTo>
                    <a:pt x="19" y="31"/>
                    <a:pt x="15" y="33"/>
                    <a:pt x="16" y="35"/>
                  </a:cubicBezTo>
                  <a:cubicBezTo>
                    <a:pt x="19" y="41"/>
                    <a:pt x="29" y="23"/>
                    <a:pt x="30" y="21"/>
                  </a:cubicBezTo>
                  <a:cubicBezTo>
                    <a:pt x="32" y="9"/>
                    <a:pt x="26" y="19"/>
                    <a:pt x="24" y="9"/>
                  </a:cubicBezTo>
                  <a:cubicBezTo>
                    <a:pt x="25" y="1"/>
                    <a:pt x="27" y="4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0" name="Freeform 74"/>
            <p:cNvSpPr>
              <a:spLocks/>
            </p:cNvSpPr>
            <p:nvPr/>
          </p:nvSpPr>
          <p:spPr bwMode="invGray">
            <a:xfrm>
              <a:off x="4111" y="3353"/>
              <a:ext cx="34" cy="24"/>
            </a:xfrm>
            <a:custGeom>
              <a:avLst/>
              <a:gdLst>
                <a:gd name="T0" fmla="*/ 21 w 45"/>
                <a:gd name="T1" fmla="*/ 0 h 32"/>
                <a:gd name="T2" fmla="*/ 0 w 45"/>
                <a:gd name="T3" fmla="*/ 7 h 32"/>
                <a:gd name="T4" fmla="*/ 27 w 45"/>
                <a:gd name="T5" fmla="*/ 31 h 32"/>
                <a:gd name="T6" fmla="*/ 45 w 45"/>
                <a:gd name="T7" fmla="*/ 24 h 32"/>
                <a:gd name="T8" fmla="*/ 22 w 45"/>
                <a:gd name="T9" fmla="*/ 10 h 32"/>
                <a:gd name="T10" fmla="*/ 21 w 45"/>
                <a:gd name="T11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5" h="32">
                  <a:moveTo>
                    <a:pt x="21" y="0"/>
                  </a:moveTo>
                  <a:cubicBezTo>
                    <a:pt x="10" y="1"/>
                    <a:pt x="8" y="1"/>
                    <a:pt x="0" y="7"/>
                  </a:cubicBezTo>
                  <a:cubicBezTo>
                    <a:pt x="3" y="20"/>
                    <a:pt x="15" y="29"/>
                    <a:pt x="27" y="31"/>
                  </a:cubicBezTo>
                  <a:cubicBezTo>
                    <a:pt x="36" y="30"/>
                    <a:pt x="41" y="32"/>
                    <a:pt x="45" y="24"/>
                  </a:cubicBezTo>
                  <a:cubicBezTo>
                    <a:pt x="32" y="16"/>
                    <a:pt x="30" y="23"/>
                    <a:pt x="22" y="10"/>
                  </a:cubicBezTo>
                  <a:cubicBezTo>
                    <a:pt x="21" y="2"/>
                    <a:pt x="21" y="5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1" name="Freeform 75"/>
            <p:cNvSpPr>
              <a:spLocks/>
            </p:cNvSpPr>
            <p:nvPr/>
          </p:nvSpPr>
          <p:spPr bwMode="invGray">
            <a:xfrm>
              <a:off x="4062" y="3021"/>
              <a:ext cx="27" cy="55"/>
            </a:xfrm>
            <a:custGeom>
              <a:avLst/>
              <a:gdLst>
                <a:gd name="T0" fmla="*/ 30 w 35"/>
                <a:gd name="T1" fmla="*/ 0 h 74"/>
                <a:gd name="T2" fmla="*/ 21 w 35"/>
                <a:gd name="T3" fmla="*/ 15 h 74"/>
                <a:gd name="T4" fmla="*/ 9 w 35"/>
                <a:gd name="T5" fmla="*/ 36 h 74"/>
                <a:gd name="T6" fmla="*/ 0 w 35"/>
                <a:gd name="T7" fmla="*/ 59 h 74"/>
                <a:gd name="T8" fmla="*/ 8 w 35"/>
                <a:gd name="T9" fmla="*/ 74 h 74"/>
                <a:gd name="T10" fmla="*/ 20 w 35"/>
                <a:gd name="T11" fmla="*/ 59 h 74"/>
                <a:gd name="T12" fmla="*/ 35 w 35"/>
                <a:gd name="T13" fmla="*/ 32 h 74"/>
                <a:gd name="T14" fmla="*/ 30 w 35"/>
                <a:gd name="T15" fmla="*/ 0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5" h="74">
                  <a:moveTo>
                    <a:pt x="30" y="0"/>
                  </a:moveTo>
                  <a:cubicBezTo>
                    <a:pt x="33" y="8"/>
                    <a:pt x="29" y="14"/>
                    <a:pt x="21" y="15"/>
                  </a:cubicBezTo>
                  <a:cubicBezTo>
                    <a:pt x="19" y="27"/>
                    <a:pt x="24" y="33"/>
                    <a:pt x="9" y="36"/>
                  </a:cubicBezTo>
                  <a:cubicBezTo>
                    <a:pt x="13" y="50"/>
                    <a:pt x="12" y="52"/>
                    <a:pt x="0" y="59"/>
                  </a:cubicBezTo>
                  <a:cubicBezTo>
                    <a:pt x="3" y="64"/>
                    <a:pt x="5" y="69"/>
                    <a:pt x="8" y="74"/>
                  </a:cubicBezTo>
                  <a:cubicBezTo>
                    <a:pt x="15" y="71"/>
                    <a:pt x="16" y="65"/>
                    <a:pt x="20" y="59"/>
                  </a:cubicBezTo>
                  <a:cubicBezTo>
                    <a:pt x="22" y="47"/>
                    <a:pt x="28" y="41"/>
                    <a:pt x="35" y="32"/>
                  </a:cubicBezTo>
                  <a:cubicBezTo>
                    <a:pt x="34" y="26"/>
                    <a:pt x="30" y="8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2" name="Freeform 76"/>
            <p:cNvSpPr>
              <a:spLocks/>
            </p:cNvSpPr>
            <p:nvPr/>
          </p:nvSpPr>
          <p:spPr bwMode="invGray">
            <a:xfrm>
              <a:off x="4113" y="3012"/>
              <a:ext cx="19" cy="55"/>
            </a:xfrm>
            <a:custGeom>
              <a:avLst/>
              <a:gdLst>
                <a:gd name="T0" fmla="*/ 13 w 25"/>
                <a:gd name="T1" fmla="*/ 7 h 73"/>
                <a:gd name="T2" fmla="*/ 4 w 25"/>
                <a:gd name="T3" fmla="*/ 8 h 73"/>
                <a:gd name="T4" fmla="*/ 0 w 25"/>
                <a:gd name="T5" fmla="*/ 22 h 73"/>
                <a:gd name="T6" fmla="*/ 15 w 25"/>
                <a:gd name="T7" fmla="*/ 41 h 73"/>
                <a:gd name="T8" fmla="*/ 25 w 25"/>
                <a:gd name="T9" fmla="*/ 56 h 73"/>
                <a:gd name="T10" fmla="*/ 16 w 25"/>
                <a:gd name="T11" fmla="*/ 20 h 73"/>
                <a:gd name="T12" fmla="*/ 13 w 25"/>
                <a:gd name="T13" fmla="*/ 7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5" h="73">
                  <a:moveTo>
                    <a:pt x="13" y="7"/>
                  </a:moveTo>
                  <a:cubicBezTo>
                    <a:pt x="9" y="0"/>
                    <a:pt x="7" y="2"/>
                    <a:pt x="4" y="8"/>
                  </a:cubicBezTo>
                  <a:cubicBezTo>
                    <a:pt x="3" y="13"/>
                    <a:pt x="1" y="17"/>
                    <a:pt x="0" y="22"/>
                  </a:cubicBezTo>
                  <a:cubicBezTo>
                    <a:pt x="1" y="35"/>
                    <a:pt x="6" y="33"/>
                    <a:pt x="15" y="41"/>
                  </a:cubicBezTo>
                  <a:cubicBezTo>
                    <a:pt x="16" y="52"/>
                    <a:pt x="15" y="73"/>
                    <a:pt x="25" y="56"/>
                  </a:cubicBezTo>
                  <a:cubicBezTo>
                    <a:pt x="24" y="33"/>
                    <a:pt x="23" y="36"/>
                    <a:pt x="16" y="20"/>
                  </a:cubicBezTo>
                  <a:cubicBezTo>
                    <a:pt x="15" y="11"/>
                    <a:pt x="16" y="15"/>
                    <a:pt x="13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3" name="Freeform 77"/>
            <p:cNvSpPr>
              <a:spLocks/>
            </p:cNvSpPr>
            <p:nvPr/>
          </p:nvSpPr>
          <p:spPr bwMode="invGray">
            <a:xfrm>
              <a:off x="4135" y="2995"/>
              <a:ext cx="10" cy="25"/>
            </a:xfrm>
            <a:custGeom>
              <a:avLst/>
              <a:gdLst>
                <a:gd name="T0" fmla="*/ 11 w 14"/>
                <a:gd name="T1" fmla="*/ 0 h 33"/>
                <a:gd name="T2" fmla="*/ 1 w 14"/>
                <a:gd name="T3" fmla="*/ 10 h 33"/>
                <a:gd name="T4" fmla="*/ 11 w 14"/>
                <a:gd name="T5" fmla="*/ 25 h 33"/>
                <a:gd name="T6" fmla="*/ 11 w 14"/>
                <a:gd name="T7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33">
                  <a:moveTo>
                    <a:pt x="11" y="0"/>
                  </a:moveTo>
                  <a:cubicBezTo>
                    <a:pt x="7" y="3"/>
                    <a:pt x="5" y="7"/>
                    <a:pt x="1" y="10"/>
                  </a:cubicBezTo>
                  <a:cubicBezTo>
                    <a:pt x="2" y="18"/>
                    <a:pt x="0" y="33"/>
                    <a:pt x="11" y="25"/>
                  </a:cubicBezTo>
                  <a:cubicBezTo>
                    <a:pt x="14" y="15"/>
                    <a:pt x="5" y="4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4" name="Freeform 78"/>
            <p:cNvSpPr>
              <a:spLocks/>
            </p:cNvSpPr>
            <p:nvPr/>
          </p:nvSpPr>
          <p:spPr bwMode="invGray">
            <a:xfrm>
              <a:off x="4145" y="3007"/>
              <a:ext cx="21" cy="48"/>
            </a:xfrm>
            <a:custGeom>
              <a:avLst/>
              <a:gdLst>
                <a:gd name="T0" fmla="*/ 5 w 28"/>
                <a:gd name="T1" fmla="*/ 0 h 64"/>
                <a:gd name="T2" fmla="*/ 11 w 28"/>
                <a:gd name="T3" fmla="*/ 14 h 64"/>
                <a:gd name="T4" fmla="*/ 20 w 28"/>
                <a:gd name="T5" fmla="*/ 21 h 64"/>
                <a:gd name="T6" fmla="*/ 8 w 28"/>
                <a:gd name="T7" fmla="*/ 39 h 64"/>
                <a:gd name="T8" fmla="*/ 0 w 28"/>
                <a:gd name="T9" fmla="*/ 56 h 64"/>
                <a:gd name="T10" fmla="*/ 11 w 28"/>
                <a:gd name="T11" fmla="*/ 57 h 64"/>
                <a:gd name="T12" fmla="*/ 26 w 28"/>
                <a:gd name="T13" fmla="*/ 26 h 64"/>
                <a:gd name="T14" fmla="*/ 5 w 28"/>
                <a:gd name="T15" fmla="*/ 0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8" h="64">
                  <a:moveTo>
                    <a:pt x="5" y="0"/>
                  </a:moveTo>
                  <a:cubicBezTo>
                    <a:pt x="6" y="5"/>
                    <a:pt x="7" y="10"/>
                    <a:pt x="11" y="14"/>
                  </a:cubicBezTo>
                  <a:cubicBezTo>
                    <a:pt x="14" y="17"/>
                    <a:pt x="20" y="21"/>
                    <a:pt x="20" y="21"/>
                  </a:cubicBezTo>
                  <a:cubicBezTo>
                    <a:pt x="9" y="27"/>
                    <a:pt x="0" y="23"/>
                    <a:pt x="8" y="39"/>
                  </a:cubicBezTo>
                  <a:cubicBezTo>
                    <a:pt x="6" y="47"/>
                    <a:pt x="4" y="50"/>
                    <a:pt x="0" y="56"/>
                  </a:cubicBezTo>
                  <a:cubicBezTo>
                    <a:pt x="4" y="62"/>
                    <a:pt x="7" y="64"/>
                    <a:pt x="11" y="57"/>
                  </a:cubicBezTo>
                  <a:cubicBezTo>
                    <a:pt x="13" y="43"/>
                    <a:pt x="10" y="29"/>
                    <a:pt x="26" y="26"/>
                  </a:cubicBezTo>
                  <a:cubicBezTo>
                    <a:pt x="28" y="15"/>
                    <a:pt x="14" y="4"/>
                    <a:pt x="5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5" name="Freeform 79"/>
            <p:cNvSpPr>
              <a:spLocks/>
            </p:cNvSpPr>
            <p:nvPr/>
          </p:nvSpPr>
          <p:spPr bwMode="invGray">
            <a:xfrm>
              <a:off x="3876" y="3076"/>
              <a:ext cx="12" cy="27"/>
            </a:xfrm>
            <a:custGeom>
              <a:avLst/>
              <a:gdLst>
                <a:gd name="T0" fmla="*/ 14 w 16"/>
                <a:gd name="T1" fmla="*/ 3 h 36"/>
                <a:gd name="T2" fmla="*/ 0 w 16"/>
                <a:gd name="T3" fmla="*/ 7 h 36"/>
                <a:gd name="T4" fmla="*/ 8 w 16"/>
                <a:gd name="T5" fmla="*/ 22 h 36"/>
                <a:gd name="T6" fmla="*/ 14 w 16"/>
                <a:gd name="T7" fmla="*/ 3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36">
                  <a:moveTo>
                    <a:pt x="14" y="3"/>
                  </a:moveTo>
                  <a:cubicBezTo>
                    <a:pt x="7" y="0"/>
                    <a:pt x="4" y="1"/>
                    <a:pt x="0" y="7"/>
                  </a:cubicBezTo>
                  <a:cubicBezTo>
                    <a:pt x="3" y="14"/>
                    <a:pt x="2" y="17"/>
                    <a:pt x="8" y="22"/>
                  </a:cubicBezTo>
                  <a:cubicBezTo>
                    <a:pt x="16" y="36"/>
                    <a:pt x="11" y="7"/>
                    <a:pt x="14" y="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6" name="Freeform 80"/>
            <p:cNvSpPr>
              <a:spLocks/>
            </p:cNvSpPr>
            <p:nvPr/>
          </p:nvSpPr>
          <p:spPr bwMode="invGray">
            <a:xfrm>
              <a:off x="3866" y="3053"/>
              <a:ext cx="10" cy="15"/>
            </a:xfrm>
            <a:custGeom>
              <a:avLst/>
              <a:gdLst>
                <a:gd name="T0" fmla="*/ 10 w 13"/>
                <a:gd name="T1" fmla="*/ 5 h 20"/>
                <a:gd name="T2" fmla="*/ 1 w 13"/>
                <a:gd name="T3" fmla="*/ 11 h 20"/>
                <a:gd name="T4" fmla="*/ 9 w 13"/>
                <a:gd name="T5" fmla="*/ 20 h 20"/>
                <a:gd name="T6" fmla="*/ 10 w 13"/>
                <a:gd name="T7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7" name="Freeform 81"/>
            <p:cNvSpPr>
              <a:spLocks/>
            </p:cNvSpPr>
            <p:nvPr/>
          </p:nvSpPr>
          <p:spPr bwMode="invGray">
            <a:xfrm>
              <a:off x="3862" y="3035"/>
              <a:ext cx="12" cy="14"/>
            </a:xfrm>
            <a:custGeom>
              <a:avLst/>
              <a:gdLst>
                <a:gd name="T0" fmla="*/ 10 w 16"/>
                <a:gd name="T1" fmla="*/ 5 h 19"/>
                <a:gd name="T2" fmla="*/ 0 w 16"/>
                <a:gd name="T3" fmla="*/ 10 h 19"/>
                <a:gd name="T4" fmla="*/ 12 w 16"/>
                <a:gd name="T5" fmla="*/ 19 h 19"/>
                <a:gd name="T6" fmla="*/ 10 w 16"/>
                <a:gd name="T7" fmla="*/ 5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9">
                  <a:moveTo>
                    <a:pt x="10" y="5"/>
                  </a:moveTo>
                  <a:cubicBezTo>
                    <a:pt x="4" y="0"/>
                    <a:pt x="1" y="3"/>
                    <a:pt x="0" y="10"/>
                  </a:cubicBezTo>
                  <a:cubicBezTo>
                    <a:pt x="4" y="15"/>
                    <a:pt x="7" y="16"/>
                    <a:pt x="12" y="19"/>
                  </a:cubicBezTo>
                  <a:cubicBezTo>
                    <a:pt x="16" y="12"/>
                    <a:pt x="14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8" name="Freeform 82"/>
            <p:cNvSpPr>
              <a:spLocks/>
            </p:cNvSpPr>
            <p:nvPr/>
          </p:nvSpPr>
          <p:spPr bwMode="invGray">
            <a:xfrm>
              <a:off x="3850" y="2995"/>
              <a:ext cx="11" cy="19"/>
            </a:xfrm>
            <a:custGeom>
              <a:avLst/>
              <a:gdLst>
                <a:gd name="T0" fmla="*/ 6 w 14"/>
                <a:gd name="T1" fmla="*/ 0 h 25"/>
                <a:gd name="T2" fmla="*/ 0 w 14"/>
                <a:gd name="T3" fmla="*/ 13 h 25"/>
                <a:gd name="T4" fmla="*/ 12 w 14"/>
                <a:gd name="T5" fmla="*/ 24 h 25"/>
                <a:gd name="T6" fmla="*/ 6 w 14"/>
                <a:gd name="T7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9" name="Freeform 83"/>
            <p:cNvSpPr>
              <a:spLocks/>
            </p:cNvSpPr>
            <p:nvPr/>
          </p:nvSpPr>
          <p:spPr bwMode="invGray">
            <a:xfrm>
              <a:off x="3852" y="3020"/>
              <a:ext cx="16" cy="13"/>
            </a:xfrm>
            <a:custGeom>
              <a:avLst/>
              <a:gdLst>
                <a:gd name="T0" fmla="*/ 13 w 22"/>
                <a:gd name="T1" fmla="*/ 0 h 18"/>
                <a:gd name="T2" fmla="*/ 19 w 22"/>
                <a:gd name="T3" fmla="*/ 18 h 18"/>
                <a:gd name="T4" fmla="*/ 14 w 22"/>
                <a:gd name="T5" fmla="*/ 6 h 18"/>
                <a:gd name="T6" fmla="*/ 13 w 22"/>
                <a:gd name="T7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2" h="18">
                  <a:moveTo>
                    <a:pt x="13" y="0"/>
                  </a:moveTo>
                  <a:cubicBezTo>
                    <a:pt x="0" y="8"/>
                    <a:pt x="9" y="12"/>
                    <a:pt x="19" y="18"/>
                  </a:cubicBezTo>
                  <a:cubicBezTo>
                    <a:pt x="20" y="11"/>
                    <a:pt x="22" y="8"/>
                    <a:pt x="14" y="6"/>
                  </a:cubicBezTo>
                  <a:cubicBezTo>
                    <a:pt x="9" y="3"/>
                    <a:pt x="9" y="5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0" name="Freeform 84"/>
            <p:cNvSpPr>
              <a:spLocks/>
            </p:cNvSpPr>
            <p:nvPr/>
          </p:nvSpPr>
          <p:spPr bwMode="invGray">
            <a:xfrm>
              <a:off x="4688" y="3643"/>
              <a:ext cx="45" cy="60"/>
            </a:xfrm>
            <a:custGeom>
              <a:avLst/>
              <a:gdLst>
                <a:gd name="T0" fmla="*/ 10 w 60"/>
                <a:gd name="T1" fmla="*/ 7 h 81"/>
                <a:gd name="T2" fmla="*/ 3 w 60"/>
                <a:gd name="T3" fmla="*/ 18 h 81"/>
                <a:gd name="T4" fmla="*/ 15 w 60"/>
                <a:gd name="T5" fmla="*/ 39 h 81"/>
                <a:gd name="T6" fmla="*/ 27 w 60"/>
                <a:gd name="T7" fmla="*/ 54 h 81"/>
                <a:gd name="T8" fmla="*/ 40 w 60"/>
                <a:gd name="T9" fmla="*/ 63 h 81"/>
                <a:gd name="T10" fmla="*/ 51 w 60"/>
                <a:gd name="T11" fmla="*/ 81 h 81"/>
                <a:gd name="T12" fmla="*/ 52 w 60"/>
                <a:gd name="T13" fmla="*/ 57 h 81"/>
                <a:gd name="T14" fmla="*/ 43 w 60"/>
                <a:gd name="T15" fmla="*/ 37 h 81"/>
                <a:gd name="T16" fmla="*/ 25 w 60"/>
                <a:gd name="T17" fmla="*/ 18 h 81"/>
                <a:gd name="T18" fmla="*/ 10 w 60"/>
                <a:gd name="T19" fmla="*/ 7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0" h="81">
                  <a:moveTo>
                    <a:pt x="10" y="7"/>
                  </a:moveTo>
                  <a:cubicBezTo>
                    <a:pt x="0" y="0"/>
                    <a:pt x="0" y="9"/>
                    <a:pt x="3" y="18"/>
                  </a:cubicBezTo>
                  <a:cubicBezTo>
                    <a:pt x="5" y="25"/>
                    <a:pt x="12" y="32"/>
                    <a:pt x="15" y="39"/>
                  </a:cubicBezTo>
                  <a:cubicBezTo>
                    <a:pt x="16" y="51"/>
                    <a:pt x="17" y="51"/>
                    <a:pt x="27" y="54"/>
                  </a:cubicBezTo>
                  <a:cubicBezTo>
                    <a:pt x="31" y="57"/>
                    <a:pt x="36" y="60"/>
                    <a:pt x="40" y="63"/>
                  </a:cubicBezTo>
                  <a:cubicBezTo>
                    <a:pt x="43" y="70"/>
                    <a:pt x="45" y="77"/>
                    <a:pt x="51" y="81"/>
                  </a:cubicBezTo>
                  <a:cubicBezTo>
                    <a:pt x="60" y="75"/>
                    <a:pt x="56" y="66"/>
                    <a:pt x="52" y="57"/>
                  </a:cubicBezTo>
                  <a:cubicBezTo>
                    <a:pt x="51" y="49"/>
                    <a:pt x="50" y="41"/>
                    <a:pt x="43" y="37"/>
                  </a:cubicBezTo>
                  <a:cubicBezTo>
                    <a:pt x="37" y="30"/>
                    <a:pt x="33" y="23"/>
                    <a:pt x="25" y="18"/>
                  </a:cubicBezTo>
                  <a:cubicBezTo>
                    <a:pt x="20" y="12"/>
                    <a:pt x="17" y="9"/>
                    <a:pt x="10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1" name="Freeform 85"/>
            <p:cNvSpPr>
              <a:spLocks/>
            </p:cNvSpPr>
            <p:nvPr/>
          </p:nvSpPr>
          <p:spPr bwMode="invGray">
            <a:xfrm>
              <a:off x="4919" y="3594"/>
              <a:ext cx="53" cy="46"/>
            </a:xfrm>
            <a:custGeom>
              <a:avLst/>
              <a:gdLst>
                <a:gd name="T0" fmla="*/ 28 w 71"/>
                <a:gd name="T1" fmla="*/ 23 h 61"/>
                <a:gd name="T2" fmla="*/ 13 w 71"/>
                <a:gd name="T3" fmla="*/ 32 h 61"/>
                <a:gd name="T4" fmla="*/ 1 w 71"/>
                <a:gd name="T5" fmla="*/ 44 h 61"/>
                <a:gd name="T6" fmla="*/ 13 w 71"/>
                <a:gd name="T7" fmla="*/ 59 h 61"/>
                <a:gd name="T8" fmla="*/ 28 w 71"/>
                <a:gd name="T9" fmla="*/ 44 h 61"/>
                <a:gd name="T10" fmla="*/ 40 w 71"/>
                <a:gd name="T11" fmla="*/ 23 h 61"/>
                <a:gd name="T12" fmla="*/ 55 w 71"/>
                <a:gd name="T13" fmla="*/ 0 h 61"/>
                <a:gd name="T14" fmla="*/ 71 w 71"/>
                <a:gd name="T15" fmla="*/ 11 h 61"/>
                <a:gd name="T16" fmla="*/ 35 w 71"/>
                <a:gd name="T17" fmla="*/ 23 h 61"/>
                <a:gd name="T18" fmla="*/ 28 w 71"/>
                <a:gd name="T19" fmla="*/ 23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1" h="61">
                  <a:moveTo>
                    <a:pt x="28" y="23"/>
                  </a:moveTo>
                  <a:cubicBezTo>
                    <a:pt x="25" y="33"/>
                    <a:pt x="25" y="33"/>
                    <a:pt x="13" y="32"/>
                  </a:cubicBezTo>
                  <a:cubicBezTo>
                    <a:pt x="2" y="33"/>
                    <a:pt x="3" y="34"/>
                    <a:pt x="1" y="44"/>
                  </a:cubicBezTo>
                  <a:cubicBezTo>
                    <a:pt x="2" y="60"/>
                    <a:pt x="0" y="61"/>
                    <a:pt x="13" y="59"/>
                  </a:cubicBezTo>
                  <a:cubicBezTo>
                    <a:pt x="19" y="54"/>
                    <a:pt x="21" y="48"/>
                    <a:pt x="28" y="44"/>
                  </a:cubicBezTo>
                  <a:cubicBezTo>
                    <a:pt x="30" y="33"/>
                    <a:pt x="28" y="25"/>
                    <a:pt x="40" y="23"/>
                  </a:cubicBezTo>
                  <a:cubicBezTo>
                    <a:pt x="42" y="12"/>
                    <a:pt x="44" y="4"/>
                    <a:pt x="55" y="0"/>
                  </a:cubicBezTo>
                  <a:cubicBezTo>
                    <a:pt x="65" y="2"/>
                    <a:pt x="69" y="1"/>
                    <a:pt x="71" y="11"/>
                  </a:cubicBezTo>
                  <a:cubicBezTo>
                    <a:pt x="63" y="22"/>
                    <a:pt x="48" y="21"/>
                    <a:pt x="35" y="23"/>
                  </a:cubicBezTo>
                  <a:cubicBezTo>
                    <a:pt x="30" y="27"/>
                    <a:pt x="32" y="27"/>
                    <a:pt x="28" y="2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2" name="Freeform 86"/>
            <p:cNvSpPr>
              <a:spLocks/>
            </p:cNvSpPr>
            <p:nvPr/>
          </p:nvSpPr>
          <p:spPr bwMode="invGray">
            <a:xfrm>
              <a:off x="4759" y="3569"/>
              <a:ext cx="17" cy="23"/>
            </a:xfrm>
            <a:custGeom>
              <a:avLst/>
              <a:gdLst>
                <a:gd name="T0" fmla="*/ 9 w 23"/>
                <a:gd name="T1" fmla="*/ 0 h 30"/>
                <a:gd name="T2" fmla="*/ 0 w 23"/>
                <a:gd name="T3" fmla="*/ 14 h 30"/>
                <a:gd name="T4" fmla="*/ 12 w 23"/>
                <a:gd name="T5" fmla="*/ 30 h 30"/>
                <a:gd name="T6" fmla="*/ 9 w 23"/>
                <a:gd name="T7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30">
                  <a:moveTo>
                    <a:pt x="9" y="0"/>
                  </a:moveTo>
                  <a:cubicBezTo>
                    <a:pt x="8" y="7"/>
                    <a:pt x="3" y="8"/>
                    <a:pt x="0" y="14"/>
                  </a:cubicBezTo>
                  <a:cubicBezTo>
                    <a:pt x="3" y="21"/>
                    <a:pt x="8" y="24"/>
                    <a:pt x="12" y="30"/>
                  </a:cubicBezTo>
                  <a:cubicBezTo>
                    <a:pt x="23" y="15"/>
                    <a:pt x="4" y="9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3" name="Freeform 87"/>
            <p:cNvSpPr>
              <a:spLocks/>
            </p:cNvSpPr>
            <p:nvPr/>
          </p:nvSpPr>
          <p:spPr bwMode="invGray">
            <a:xfrm>
              <a:off x="4751" y="3547"/>
              <a:ext cx="20" cy="17"/>
            </a:xfrm>
            <a:custGeom>
              <a:avLst/>
              <a:gdLst>
                <a:gd name="T0" fmla="*/ 19 w 26"/>
                <a:gd name="T1" fmla="*/ 0 h 23"/>
                <a:gd name="T2" fmla="*/ 0 w 26"/>
                <a:gd name="T3" fmla="*/ 14 h 23"/>
                <a:gd name="T4" fmla="*/ 21 w 26"/>
                <a:gd name="T5" fmla="*/ 20 h 23"/>
                <a:gd name="T6" fmla="*/ 19 w 26"/>
                <a:gd name="T7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" h="23">
                  <a:moveTo>
                    <a:pt x="19" y="0"/>
                  </a:moveTo>
                  <a:cubicBezTo>
                    <a:pt x="17" y="12"/>
                    <a:pt x="10" y="11"/>
                    <a:pt x="0" y="14"/>
                  </a:cubicBezTo>
                  <a:cubicBezTo>
                    <a:pt x="5" y="23"/>
                    <a:pt x="11" y="22"/>
                    <a:pt x="21" y="20"/>
                  </a:cubicBezTo>
                  <a:cubicBezTo>
                    <a:pt x="26" y="12"/>
                    <a:pt x="23" y="7"/>
                    <a:pt x="1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4" name="Freeform 88"/>
            <p:cNvSpPr>
              <a:spLocks/>
            </p:cNvSpPr>
            <p:nvPr/>
          </p:nvSpPr>
          <p:spPr bwMode="invGray">
            <a:xfrm>
              <a:off x="4598" y="3353"/>
              <a:ext cx="24" cy="33"/>
            </a:xfrm>
            <a:custGeom>
              <a:avLst/>
              <a:gdLst>
                <a:gd name="T0" fmla="*/ 28 w 32"/>
                <a:gd name="T1" fmla="*/ 0 h 44"/>
                <a:gd name="T2" fmla="*/ 10 w 32"/>
                <a:gd name="T3" fmla="*/ 11 h 44"/>
                <a:gd name="T4" fmla="*/ 12 w 32"/>
                <a:gd name="T5" fmla="*/ 32 h 44"/>
                <a:gd name="T6" fmla="*/ 24 w 32"/>
                <a:gd name="T7" fmla="*/ 36 h 44"/>
                <a:gd name="T8" fmla="*/ 28 w 32"/>
                <a:gd name="T9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5" name="Freeform 89"/>
            <p:cNvSpPr>
              <a:spLocks/>
            </p:cNvSpPr>
            <p:nvPr/>
          </p:nvSpPr>
          <p:spPr bwMode="invGray">
            <a:xfrm>
              <a:off x="4632" y="3396"/>
              <a:ext cx="26" cy="33"/>
            </a:xfrm>
            <a:custGeom>
              <a:avLst/>
              <a:gdLst>
                <a:gd name="T0" fmla="*/ 30 w 34"/>
                <a:gd name="T1" fmla="*/ 0 h 44"/>
                <a:gd name="T2" fmla="*/ 10 w 34"/>
                <a:gd name="T3" fmla="*/ 9 h 44"/>
                <a:gd name="T4" fmla="*/ 14 w 34"/>
                <a:gd name="T5" fmla="*/ 32 h 44"/>
                <a:gd name="T6" fmla="*/ 26 w 34"/>
                <a:gd name="T7" fmla="*/ 36 h 44"/>
                <a:gd name="T8" fmla="*/ 30 w 34"/>
                <a:gd name="T9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4">
                  <a:moveTo>
                    <a:pt x="30" y="0"/>
                  </a:moveTo>
                  <a:cubicBezTo>
                    <a:pt x="34" y="10"/>
                    <a:pt x="18" y="7"/>
                    <a:pt x="10" y="9"/>
                  </a:cubicBezTo>
                  <a:cubicBezTo>
                    <a:pt x="0" y="16"/>
                    <a:pt x="9" y="24"/>
                    <a:pt x="14" y="32"/>
                  </a:cubicBezTo>
                  <a:cubicBezTo>
                    <a:pt x="16" y="44"/>
                    <a:pt x="17" y="41"/>
                    <a:pt x="26" y="36"/>
                  </a:cubicBezTo>
                  <a:cubicBezTo>
                    <a:pt x="34" y="25"/>
                    <a:pt x="31" y="14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6" name="Freeform 90"/>
            <p:cNvSpPr>
              <a:spLocks/>
            </p:cNvSpPr>
            <p:nvPr/>
          </p:nvSpPr>
          <p:spPr bwMode="invGray">
            <a:xfrm>
              <a:off x="4659" y="3459"/>
              <a:ext cx="28" cy="28"/>
            </a:xfrm>
            <a:custGeom>
              <a:avLst/>
              <a:gdLst>
                <a:gd name="T0" fmla="*/ 34 w 38"/>
                <a:gd name="T1" fmla="*/ 2 h 37"/>
                <a:gd name="T2" fmla="*/ 10 w 38"/>
                <a:gd name="T3" fmla="*/ 2 h 37"/>
                <a:gd name="T4" fmla="*/ 14 w 38"/>
                <a:gd name="T5" fmla="*/ 25 h 37"/>
                <a:gd name="T6" fmla="*/ 26 w 38"/>
                <a:gd name="T7" fmla="*/ 29 h 37"/>
                <a:gd name="T8" fmla="*/ 34 w 38"/>
                <a:gd name="T9" fmla="*/ 2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37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9" y="17"/>
                    <a:pt x="14" y="25"/>
                  </a:cubicBezTo>
                  <a:cubicBezTo>
                    <a:pt x="16" y="37"/>
                    <a:pt x="17" y="34"/>
                    <a:pt x="26" y="29"/>
                  </a:cubicBezTo>
                  <a:cubicBezTo>
                    <a:pt x="34" y="18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7" name="Freeform 91"/>
            <p:cNvSpPr>
              <a:spLocks/>
            </p:cNvSpPr>
            <p:nvPr/>
          </p:nvSpPr>
          <p:spPr bwMode="invGray">
            <a:xfrm>
              <a:off x="4693" y="3449"/>
              <a:ext cx="28" cy="26"/>
            </a:xfrm>
            <a:custGeom>
              <a:avLst/>
              <a:gdLst>
                <a:gd name="T0" fmla="*/ 34 w 38"/>
                <a:gd name="T1" fmla="*/ 2 h 34"/>
                <a:gd name="T2" fmla="*/ 10 w 38"/>
                <a:gd name="T3" fmla="*/ 2 h 34"/>
                <a:gd name="T4" fmla="*/ 16 w 38"/>
                <a:gd name="T5" fmla="*/ 22 h 34"/>
                <a:gd name="T6" fmla="*/ 27 w 38"/>
                <a:gd name="T7" fmla="*/ 22 h 34"/>
                <a:gd name="T8" fmla="*/ 34 w 38"/>
                <a:gd name="T9" fmla="*/ 2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34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11" y="14"/>
                    <a:pt x="16" y="22"/>
                  </a:cubicBezTo>
                  <a:cubicBezTo>
                    <a:pt x="18" y="34"/>
                    <a:pt x="18" y="27"/>
                    <a:pt x="27" y="22"/>
                  </a:cubicBezTo>
                  <a:cubicBezTo>
                    <a:pt x="35" y="11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8" name="Freeform 92"/>
            <p:cNvSpPr>
              <a:spLocks/>
            </p:cNvSpPr>
            <p:nvPr/>
          </p:nvSpPr>
          <p:spPr bwMode="invGray">
            <a:xfrm>
              <a:off x="4683" y="3413"/>
              <a:ext cx="26" cy="20"/>
            </a:xfrm>
            <a:custGeom>
              <a:avLst/>
              <a:gdLst>
                <a:gd name="T0" fmla="*/ 31 w 35"/>
                <a:gd name="T1" fmla="*/ 1 h 27"/>
                <a:gd name="T2" fmla="*/ 10 w 35"/>
                <a:gd name="T3" fmla="*/ 2 h 27"/>
                <a:gd name="T4" fmla="*/ 13 w 35"/>
                <a:gd name="T5" fmla="*/ 15 h 27"/>
                <a:gd name="T6" fmla="*/ 25 w 35"/>
                <a:gd name="T7" fmla="*/ 19 h 27"/>
                <a:gd name="T8" fmla="*/ 31 w 35"/>
                <a:gd name="T9" fmla="*/ 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27">
                  <a:moveTo>
                    <a:pt x="31" y="1"/>
                  </a:moveTo>
                  <a:cubicBezTo>
                    <a:pt x="35" y="11"/>
                    <a:pt x="18" y="0"/>
                    <a:pt x="10" y="2"/>
                  </a:cubicBezTo>
                  <a:cubicBezTo>
                    <a:pt x="0" y="9"/>
                    <a:pt x="8" y="7"/>
                    <a:pt x="13" y="15"/>
                  </a:cubicBezTo>
                  <a:cubicBezTo>
                    <a:pt x="15" y="27"/>
                    <a:pt x="16" y="24"/>
                    <a:pt x="25" y="19"/>
                  </a:cubicBezTo>
                  <a:cubicBezTo>
                    <a:pt x="33" y="8"/>
                    <a:pt x="32" y="15"/>
                    <a:pt x="31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9" name="Freeform 93"/>
            <p:cNvSpPr>
              <a:spLocks/>
            </p:cNvSpPr>
            <p:nvPr/>
          </p:nvSpPr>
          <p:spPr bwMode="invGray">
            <a:xfrm>
              <a:off x="4657" y="3388"/>
              <a:ext cx="26" cy="35"/>
            </a:xfrm>
            <a:custGeom>
              <a:avLst/>
              <a:gdLst>
                <a:gd name="T0" fmla="*/ 28 w 35"/>
                <a:gd name="T1" fmla="*/ 16 h 47"/>
                <a:gd name="T2" fmla="*/ 19 w 35"/>
                <a:gd name="T3" fmla="*/ 2 h 47"/>
                <a:gd name="T4" fmla="*/ 10 w 35"/>
                <a:gd name="T5" fmla="*/ 25 h 47"/>
                <a:gd name="T6" fmla="*/ 19 w 35"/>
                <a:gd name="T7" fmla="*/ 35 h 47"/>
                <a:gd name="T8" fmla="*/ 27 w 35"/>
                <a:gd name="T9" fmla="*/ 29 h 47"/>
                <a:gd name="T10" fmla="*/ 28 w 35"/>
                <a:gd name="T11" fmla="*/ 16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" h="47">
                  <a:moveTo>
                    <a:pt x="28" y="16"/>
                  </a:moveTo>
                  <a:cubicBezTo>
                    <a:pt x="27" y="13"/>
                    <a:pt x="22" y="0"/>
                    <a:pt x="19" y="2"/>
                  </a:cubicBezTo>
                  <a:cubicBezTo>
                    <a:pt x="16" y="4"/>
                    <a:pt x="10" y="20"/>
                    <a:pt x="10" y="25"/>
                  </a:cubicBezTo>
                  <a:cubicBezTo>
                    <a:pt x="0" y="32"/>
                    <a:pt x="14" y="27"/>
                    <a:pt x="19" y="35"/>
                  </a:cubicBezTo>
                  <a:cubicBezTo>
                    <a:pt x="21" y="47"/>
                    <a:pt x="18" y="34"/>
                    <a:pt x="27" y="29"/>
                  </a:cubicBezTo>
                  <a:cubicBezTo>
                    <a:pt x="35" y="18"/>
                    <a:pt x="29" y="30"/>
                    <a:pt x="28" y="1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0" name="Freeform 94"/>
            <p:cNvSpPr>
              <a:spLocks/>
            </p:cNvSpPr>
            <p:nvPr/>
          </p:nvSpPr>
          <p:spPr bwMode="invGray">
            <a:xfrm>
              <a:off x="4625" y="3372"/>
              <a:ext cx="24" cy="26"/>
            </a:xfrm>
            <a:custGeom>
              <a:avLst/>
              <a:gdLst>
                <a:gd name="T0" fmla="*/ 22 w 32"/>
                <a:gd name="T1" fmla="*/ 10 h 35"/>
                <a:gd name="T2" fmla="*/ 10 w 32"/>
                <a:gd name="T3" fmla="*/ 2 h 35"/>
                <a:gd name="T4" fmla="*/ 12 w 32"/>
                <a:gd name="T5" fmla="*/ 23 h 35"/>
                <a:gd name="T6" fmla="*/ 24 w 32"/>
                <a:gd name="T7" fmla="*/ 27 h 35"/>
                <a:gd name="T8" fmla="*/ 22 w 32"/>
                <a:gd name="T9" fmla="*/ 1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1" name="Freeform 95"/>
            <p:cNvSpPr>
              <a:spLocks/>
            </p:cNvSpPr>
            <p:nvPr/>
          </p:nvSpPr>
          <p:spPr bwMode="invGray">
            <a:xfrm>
              <a:off x="4665" y="3425"/>
              <a:ext cx="24" cy="26"/>
            </a:xfrm>
            <a:custGeom>
              <a:avLst/>
              <a:gdLst>
                <a:gd name="T0" fmla="*/ 22 w 32"/>
                <a:gd name="T1" fmla="*/ 10 h 35"/>
                <a:gd name="T2" fmla="*/ 10 w 32"/>
                <a:gd name="T3" fmla="*/ 2 h 35"/>
                <a:gd name="T4" fmla="*/ 12 w 32"/>
                <a:gd name="T5" fmla="*/ 23 h 35"/>
                <a:gd name="T6" fmla="*/ 24 w 32"/>
                <a:gd name="T7" fmla="*/ 27 h 35"/>
                <a:gd name="T8" fmla="*/ 22 w 32"/>
                <a:gd name="T9" fmla="*/ 1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2" name="Freeform 96"/>
            <p:cNvSpPr>
              <a:spLocks/>
            </p:cNvSpPr>
            <p:nvPr/>
          </p:nvSpPr>
          <p:spPr bwMode="invGray">
            <a:xfrm>
              <a:off x="3055" y="2051"/>
              <a:ext cx="141" cy="108"/>
            </a:xfrm>
            <a:custGeom>
              <a:avLst/>
              <a:gdLst>
                <a:gd name="T0" fmla="*/ 171 w 189"/>
                <a:gd name="T1" fmla="*/ 4 h 144"/>
                <a:gd name="T2" fmla="*/ 185 w 189"/>
                <a:gd name="T3" fmla="*/ 4 h 144"/>
                <a:gd name="T4" fmla="*/ 189 w 189"/>
                <a:gd name="T5" fmla="*/ 16 h 144"/>
                <a:gd name="T6" fmla="*/ 187 w 189"/>
                <a:gd name="T7" fmla="*/ 24 h 144"/>
                <a:gd name="T8" fmla="*/ 131 w 189"/>
                <a:gd name="T9" fmla="*/ 44 h 144"/>
                <a:gd name="T10" fmla="*/ 109 w 189"/>
                <a:gd name="T11" fmla="*/ 58 h 144"/>
                <a:gd name="T12" fmla="*/ 97 w 189"/>
                <a:gd name="T13" fmla="*/ 62 h 144"/>
                <a:gd name="T14" fmla="*/ 71 w 189"/>
                <a:gd name="T15" fmla="*/ 82 h 144"/>
                <a:gd name="T16" fmla="*/ 75 w 189"/>
                <a:gd name="T17" fmla="*/ 92 h 144"/>
                <a:gd name="T18" fmla="*/ 83 w 189"/>
                <a:gd name="T19" fmla="*/ 116 h 144"/>
                <a:gd name="T20" fmla="*/ 107 w 189"/>
                <a:gd name="T21" fmla="*/ 126 h 144"/>
                <a:gd name="T22" fmla="*/ 93 w 189"/>
                <a:gd name="T23" fmla="*/ 140 h 144"/>
                <a:gd name="T24" fmla="*/ 83 w 189"/>
                <a:gd name="T25" fmla="*/ 130 h 144"/>
                <a:gd name="T26" fmla="*/ 71 w 189"/>
                <a:gd name="T27" fmla="*/ 134 h 144"/>
                <a:gd name="T28" fmla="*/ 21 w 189"/>
                <a:gd name="T29" fmla="*/ 122 h 144"/>
                <a:gd name="T30" fmla="*/ 19 w 189"/>
                <a:gd name="T31" fmla="*/ 106 h 144"/>
                <a:gd name="T32" fmla="*/ 47 w 189"/>
                <a:gd name="T33" fmla="*/ 90 h 144"/>
                <a:gd name="T34" fmla="*/ 51 w 189"/>
                <a:gd name="T35" fmla="*/ 76 h 144"/>
                <a:gd name="T36" fmla="*/ 47 w 189"/>
                <a:gd name="T37" fmla="*/ 64 h 144"/>
                <a:gd name="T38" fmla="*/ 73 w 189"/>
                <a:gd name="T39" fmla="*/ 46 h 144"/>
                <a:gd name="T40" fmla="*/ 97 w 189"/>
                <a:gd name="T41" fmla="*/ 36 h 144"/>
                <a:gd name="T42" fmla="*/ 113 w 189"/>
                <a:gd name="T43" fmla="*/ 24 h 144"/>
                <a:gd name="T44" fmla="*/ 171 w 189"/>
                <a:gd name="T45" fmla="*/ 4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89" h="144">
                  <a:moveTo>
                    <a:pt x="171" y="4"/>
                  </a:moveTo>
                  <a:cubicBezTo>
                    <a:pt x="174" y="3"/>
                    <a:pt x="182" y="0"/>
                    <a:pt x="185" y="4"/>
                  </a:cubicBezTo>
                  <a:cubicBezTo>
                    <a:pt x="187" y="7"/>
                    <a:pt x="189" y="16"/>
                    <a:pt x="189" y="16"/>
                  </a:cubicBezTo>
                  <a:cubicBezTo>
                    <a:pt x="188" y="19"/>
                    <a:pt x="189" y="22"/>
                    <a:pt x="187" y="24"/>
                  </a:cubicBezTo>
                  <a:cubicBezTo>
                    <a:pt x="175" y="34"/>
                    <a:pt x="146" y="34"/>
                    <a:pt x="131" y="44"/>
                  </a:cubicBezTo>
                  <a:cubicBezTo>
                    <a:pt x="125" y="53"/>
                    <a:pt x="120" y="54"/>
                    <a:pt x="109" y="58"/>
                  </a:cubicBezTo>
                  <a:cubicBezTo>
                    <a:pt x="105" y="59"/>
                    <a:pt x="97" y="62"/>
                    <a:pt x="97" y="62"/>
                  </a:cubicBezTo>
                  <a:cubicBezTo>
                    <a:pt x="88" y="76"/>
                    <a:pt x="83" y="74"/>
                    <a:pt x="71" y="82"/>
                  </a:cubicBezTo>
                  <a:cubicBezTo>
                    <a:pt x="66" y="98"/>
                    <a:pt x="70" y="78"/>
                    <a:pt x="75" y="92"/>
                  </a:cubicBezTo>
                  <a:cubicBezTo>
                    <a:pt x="81" y="108"/>
                    <a:pt x="71" y="108"/>
                    <a:pt x="83" y="116"/>
                  </a:cubicBezTo>
                  <a:cubicBezTo>
                    <a:pt x="90" y="121"/>
                    <a:pt x="107" y="126"/>
                    <a:pt x="107" y="126"/>
                  </a:cubicBezTo>
                  <a:cubicBezTo>
                    <a:pt x="105" y="139"/>
                    <a:pt x="106" y="144"/>
                    <a:pt x="93" y="140"/>
                  </a:cubicBezTo>
                  <a:cubicBezTo>
                    <a:pt x="91" y="137"/>
                    <a:pt x="87" y="130"/>
                    <a:pt x="83" y="130"/>
                  </a:cubicBezTo>
                  <a:cubicBezTo>
                    <a:pt x="79" y="130"/>
                    <a:pt x="71" y="134"/>
                    <a:pt x="71" y="134"/>
                  </a:cubicBezTo>
                  <a:cubicBezTo>
                    <a:pt x="52" y="129"/>
                    <a:pt x="42" y="124"/>
                    <a:pt x="21" y="122"/>
                  </a:cubicBezTo>
                  <a:cubicBezTo>
                    <a:pt x="14" y="115"/>
                    <a:pt x="0" y="102"/>
                    <a:pt x="19" y="106"/>
                  </a:cubicBezTo>
                  <a:cubicBezTo>
                    <a:pt x="29" y="91"/>
                    <a:pt x="26" y="93"/>
                    <a:pt x="47" y="90"/>
                  </a:cubicBezTo>
                  <a:cubicBezTo>
                    <a:pt x="55" y="84"/>
                    <a:pt x="54" y="88"/>
                    <a:pt x="51" y="76"/>
                  </a:cubicBezTo>
                  <a:cubicBezTo>
                    <a:pt x="50" y="72"/>
                    <a:pt x="47" y="64"/>
                    <a:pt x="47" y="64"/>
                  </a:cubicBezTo>
                  <a:cubicBezTo>
                    <a:pt x="50" y="41"/>
                    <a:pt x="50" y="43"/>
                    <a:pt x="73" y="46"/>
                  </a:cubicBezTo>
                  <a:cubicBezTo>
                    <a:pt x="82" y="45"/>
                    <a:pt x="97" y="36"/>
                    <a:pt x="97" y="36"/>
                  </a:cubicBezTo>
                  <a:cubicBezTo>
                    <a:pt x="102" y="29"/>
                    <a:pt x="105" y="27"/>
                    <a:pt x="113" y="24"/>
                  </a:cubicBezTo>
                  <a:cubicBezTo>
                    <a:pt x="134" y="27"/>
                    <a:pt x="161" y="25"/>
                    <a:pt x="171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3" name="Freeform 97"/>
            <p:cNvSpPr>
              <a:spLocks/>
            </p:cNvSpPr>
            <p:nvPr/>
          </p:nvSpPr>
          <p:spPr bwMode="invGray">
            <a:xfrm>
              <a:off x="3139" y="2155"/>
              <a:ext cx="40" cy="12"/>
            </a:xfrm>
            <a:custGeom>
              <a:avLst/>
              <a:gdLst>
                <a:gd name="T0" fmla="*/ 24 w 53"/>
                <a:gd name="T1" fmla="*/ 0 h 17"/>
                <a:gd name="T2" fmla="*/ 12 w 53"/>
                <a:gd name="T3" fmla="*/ 2 h 17"/>
                <a:gd name="T4" fmla="*/ 32 w 53"/>
                <a:gd name="T5" fmla="*/ 16 h 17"/>
                <a:gd name="T6" fmla="*/ 44 w 53"/>
                <a:gd name="T7" fmla="*/ 14 h 17"/>
                <a:gd name="T8" fmla="*/ 24 w 53"/>
                <a:gd name="T9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" h="17">
                  <a:moveTo>
                    <a:pt x="24" y="0"/>
                  </a:moveTo>
                  <a:cubicBezTo>
                    <a:pt x="20" y="1"/>
                    <a:pt x="16" y="0"/>
                    <a:pt x="12" y="2"/>
                  </a:cubicBezTo>
                  <a:cubicBezTo>
                    <a:pt x="0" y="9"/>
                    <a:pt x="30" y="15"/>
                    <a:pt x="32" y="16"/>
                  </a:cubicBezTo>
                  <a:cubicBezTo>
                    <a:pt x="36" y="15"/>
                    <a:pt x="41" y="17"/>
                    <a:pt x="44" y="14"/>
                  </a:cubicBezTo>
                  <a:cubicBezTo>
                    <a:pt x="53" y="3"/>
                    <a:pt x="30" y="0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4" name="Freeform 98"/>
            <p:cNvSpPr>
              <a:spLocks/>
            </p:cNvSpPr>
            <p:nvPr/>
          </p:nvSpPr>
          <p:spPr bwMode="invGray">
            <a:xfrm>
              <a:off x="3344" y="1999"/>
              <a:ext cx="42" cy="28"/>
            </a:xfrm>
            <a:custGeom>
              <a:avLst/>
              <a:gdLst>
                <a:gd name="T0" fmla="*/ 57 w 57"/>
                <a:gd name="T1" fmla="*/ 4 h 37"/>
                <a:gd name="T2" fmla="*/ 25 w 57"/>
                <a:gd name="T3" fmla="*/ 24 h 37"/>
                <a:gd name="T4" fmla="*/ 11 w 57"/>
                <a:gd name="T5" fmla="*/ 34 h 37"/>
                <a:gd name="T6" fmla="*/ 9 w 57"/>
                <a:gd name="T7" fmla="*/ 4 h 37"/>
                <a:gd name="T8" fmla="*/ 21 w 57"/>
                <a:gd name="T9" fmla="*/ 0 h 37"/>
                <a:gd name="T10" fmla="*/ 57 w 57"/>
                <a:gd name="T11" fmla="*/ 4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" h="37">
                  <a:moveTo>
                    <a:pt x="57" y="4"/>
                  </a:moveTo>
                  <a:cubicBezTo>
                    <a:pt x="53" y="16"/>
                    <a:pt x="35" y="17"/>
                    <a:pt x="25" y="24"/>
                  </a:cubicBezTo>
                  <a:cubicBezTo>
                    <a:pt x="22" y="34"/>
                    <a:pt x="22" y="37"/>
                    <a:pt x="11" y="34"/>
                  </a:cubicBezTo>
                  <a:cubicBezTo>
                    <a:pt x="6" y="27"/>
                    <a:pt x="0" y="10"/>
                    <a:pt x="9" y="4"/>
                  </a:cubicBezTo>
                  <a:cubicBezTo>
                    <a:pt x="12" y="2"/>
                    <a:pt x="21" y="0"/>
                    <a:pt x="21" y="0"/>
                  </a:cubicBezTo>
                  <a:cubicBezTo>
                    <a:pt x="33" y="2"/>
                    <a:pt x="45" y="4"/>
                    <a:pt x="57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5" name="Freeform 99"/>
            <p:cNvSpPr>
              <a:spLocks/>
            </p:cNvSpPr>
            <p:nvPr/>
          </p:nvSpPr>
          <p:spPr bwMode="invGray">
            <a:xfrm>
              <a:off x="3374" y="2012"/>
              <a:ext cx="50" cy="20"/>
            </a:xfrm>
            <a:custGeom>
              <a:avLst/>
              <a:gdLst>
                <a:gd name="T0" fmla="*/ 29 w 68"/>
                <a:gd name="T1" fmla="*/ 0 h 26"/>
                <a:gd name="T2" fmla="*/ 11 w 68"/>
                <a:gd name="T3" fmla="*/ 6 h 26"/>
                <a:gd name="T4" fmla="*/ 57 w 68"/>
                <a:gd name="T5" fmla="*/ 26 h 26"/>
                <a:gd name="T6" fmla="*/ 63 w 68"/>
                <a:gd name="T7" fmla="*/ 24 h 26"/>
                <a:gd name="T8" fmla="*/ 29 w 68"/>
                <a:gd name="T9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8" h="26">
                  <a:moveTo>
                    <a:pt x="29" y="0"/>
                  </a:moveTo>
                  <a:cubicBezTo>
                    <a:pt x="23" y="2"/>
                    <a:pt x="11" y="6"/>
                    <a:pt x="11" y="6"/>
                  </a:cubicBezTo>
                  <a:cubicBezTo>
                    <a:pt x="0" y="23"/>
                    <a:pt x="47" y="24"/>
                    <a:pt x="57" y="26"/>
                  </a:cubicBezTo>
                  <a:cubicBezTo>
                    <a:pt x="59" y="25"/>
                    <a:pt x="62" y="26"/>
                    <a:pt x="63" y="24"/>
                  </a:cubicBezTo>
                  <a:cubicBezTo>
                    <a:pt x="68" y="3"/>
                    <a:pt x="42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6" name="Freeform 100"/>
            <p:cNvSpPr>
              <a:spLocks/>
            </p:cNvSpPr>
            <p:nvPr/>
          </p:nvSpPr>
          <p:spPr bwMode="invGray">
            <a:xfrm>
              <a:off x="3428" y="2015"/>
              <a:ext cx="50" cy="32"/>
            </a:xfrm>
            <a:custGeom>
              <a:avLst/>
              <a:gdLst>
                <a:gd name="T0" fmla="*/ 50 w 66"/>
                <a:gd name="T1" fmla="*/ 9 h 43"/>
                <a:gd name="T2" fmla="*/ 26 w 66"/>
                <a:gd name="T3" fmla="*/ 9 h 43"/>
                <a:gd name="T4" fmla="*/ 10 w 66"/>
                <a:gd name="T5" fmla="*/ 9 h 43"/>
                <a:gd name="T6" fmla="*/ 8 w 66"/>
                <a:gd name="T7" fmla="*/ 35 h 43"/>
                <a:gd name="T8" fmla="*/ 32 w 66"/>
                <a:gd name="T9" fmla="*/ 43 h 43"/>
                <a:gd name="T10" fmla="*/ 62 w 66"/>
                <a:gd name="T11" fmla="*/ 27 h 43"/>
                <a:gd name="T12" fmla="*/ 50 w 66"/>
                <a:gd name="T13" fmla="*/ 9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6" h="43">
                  <a:moveTo>
                    <a:pt x="50" y="9"/>
                  </a:moveTo>
                  <a:cubicBezTo>
                    <a:pt x="40" y="16"/>
                    <a:pt x="36" y="16"/>
                    <a:pt x="26" y="9"/>
                  </a:cubicBezTo>
                  <a:cubicBezTo>
                    <a:pt x="20" y="0"/>
                    <a:pt x="18" y="4"/>
                    <a:pt x="10" y="9"/>
                  </a:cubicBezTo>
                  <a:cubicBezTo>
                    <a:pt x="4" y="17"/>
                    <a:pt x="0" y="21"/>
                    <a:pt x="8" y="35"/>
                  </a:cubicBezTo>
                  <a:cubicBezTo>
                    <a:pt x="12" y="42"/>
                    <a:pt x="32" y="43"/>
                    <a:pt x="32" y="43"/>
                  </a:cubicBezTo>
                  <a:cubicBezTo>
                    <a:pt x="41" y="40"/>
                    <a:pt x="54" y="33"/>
                    <a:pt x="62" y="27"/>
                  </a:cubicBezTo>
                  <a:cubicBezTo>
                    <a:pt x="66" y="15"/>
                    <a:pt x="61" y="15"/>
                    <a:pt x="50" y="9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7" name="Freeform 101"/>
            <p:cNvSpPr>
              <a:spLocks/>
            </p:cNvSpPr>
            <p:nvPr/>
          </p:nvSpPr>
          <p:spPr bwMode="invGray">
            <a:xfrm>
              <a:off x="3777" y="2042"/>
              <a:ext cx="88" cy="31"/>
            </a:xfrm>
            <a:custGeom>
              <a:avLst/>
              <a:gdLst>
                <a:gd name="T0" fmla="*/ 14 w 117"/>
                <a:gd name="T1" fmla="*/ 0 h 41"/>
                <a:gd name="T2" fmla="*/ 8 w 117"/>
                <a:gd name="T3" fmla="*/ 16 h 41"/>
                <a:gd name="T4" fmla="*/ 50 w 117"/>
                <a:gd name="T5" fmla="*/ 30 h 41"/>
                <a:gd name="T6" fmla="*/ 76 w 117"/>
                <a:gd name="T7" fmla="*/ 36 h 41"/>
                <a:gd name="T8" fmla="*/ 112 w 117"/>
                <a:gd name="T9" fmla="*/ 22 h 41"/>
                <a:gd name="T10" fmla="*/ 78 w 117"/>
                <a:gd name="T11" fmla="*/ 4 h 41"/>
                <a:gd name="T12" fmla="*/ 14 w 117"/>
                <a:gd name="T13" fmla="*/ 0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7" h="41">
                  <a:moveTo>
                    <a:pt x="14" y="0"/>
                  </a:moveTo>
                  <a:cubicBezTo>
                    <a:pt x="8" y="4"/>
                    <a:pt x="0" y="9"/>
                    <a:pt x="8" y="16"/>
                  </a:cubicBezTo>
                  <a:cubicBezTo>
                    <a:pt x="21" y="27"/>
                    <a:pt x="34" y="28"/>
                    <a:pt x="50" y="30"/>
                  </a:cubicBezTo>
                  <a:cubicBezTo>
                    <a:pt x="66" y="41"/>
                    <a:pt x="57" y="39"/>
                    <a:pt x="76" y="36"/>
                  </a:cubicBezTo>
                  <a:cubicBezTo>
                    <a:pt x="88" y="32"/>
                    <a:pt x="101" y="29"/>
                    <a:pt x="112" y="22"/>
                  </a:cubicBezTo>
                  <a:cubicBezTo>
                    <a:pt x="117" y="6"/>
                    <a:pt x="87" y="5"/>
                    <a:pt x="78" y="4"/>
                  </a:cubicBezTo>
                  <a:cubicBezTo>
                    <a:pt x="17" y="6"/>
                    <a:pt x="34" y="20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8" name="Freeform 102"/>
            <p:cNvSpPr>
              <a:spLocks/>
            </p:cNvSpPr>
            <p:nvPr/>
          </p:nvSpPr>
          <p:spPr bwMode="invGray">
            <a:xfrm>
              <a:off x="3867" y="2041"/>
              <a:ext cx="46" cy="24"/>
            </a:xfrm>
            <a:custGeom>
              <a:avLst/>
              <a:gdLst>
                <a:gd name="T0" fmla="*/ 32 w 62"/>
                <a:gd name="T1" fmla="*/ 4 h 32"/>
                <a:gd name="T2" fmla="*/ 62 w 62"/>
                <a:gd name="T3" fmla="*/ 10 h 32"/>
                <a:gd name="T4" fmla="*/ 30 w 62"/>
                <a:gd name="T5" fmla="*/ 32 h 32"/>
                <a:gd name="T6" fmla="*/ 6 w 62"/>
                <a:gd name="T7" fmla="*/ 22 h 32"/>
                <a:gd name="T8" fmla="*/ 32 w 62"/>
                <a:gd name="T9" fmla="*/ 4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2" h="32">
                  <a:moveTo>
                    <a:pt x="32" y="4"/>
                  </a:moveTo>
                  <a:cubicBezTo>
                    <a:pt x="44" y="0"/>
                    <a:pt x="53" y="1"/>
                    <a:pt x="62" y="10"/>
                  </a:cubicBezTo>
                  <a:cubicBezTo>
                    <a:pt x="59" y="23"/>
                    <a:pt x="42" y="28"/>
                    <a:pt x="30" y="32"/>
                  </a:cubicBezTo>
                  <a:cubicBezTo>
                    <a:pt x="15" y="22"/>
                    <a:pt x="23" y="25"/>
                    <a:pt x="6" y="22"/>
                  </a:cubicBezTo>
                  <a:cubicBezTo>
                    <a:pt x="0" y="4"/>
                    <a:pt x="14" y="8"/>
                    <a:pt x="32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9" name="Freeform 103"/>
            <p:cNvSpPr>
              <a:spLocks/>
            </p:cNvSpPr>
            <p:nvPr/>
          </p:nvSpPr>
          <p:spPr bwMode="invGray">
            <a:xfrm>
              <a:off x="3846" y="2070"/>
              <a:ext cx="37" cy="17"/>
            </a:xfrm>
            <a:custGeom>
              <a:avLst/>
              <a:gdLst>
                <a:gd name="T0" fmla="*/ 20 w 49"/>
                <a:gd name="T1" fmla="*/ 1 h 23"/>
                <a:gd name="T2" fmla="*/ 6 w 49"/>
                <a:gd name="T3" fmla="*/ 5 h 23"/>
                <a:gd name="T4" fmla="*/ 38 w 49"/>
                <a:gd name="T5" fmla="*/ 23 h 23"/>
                <a:gd name="T6" fmla="*/ 20 w 49"/>
                <a:gd name="T7" fmla="*/ 1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23">
                  <a:moveTo>
                    <a:pt x="20" y="1"/>
                  </a:moveTo>
                  <a:cubicBezTo>
                    <a:pt x="15" y="2"/>
                    <a:pt x="8" y="0"/>
                    <a:pt x="6" y="5"/>
                  </a:cubicBezTo>
                  <a:cubicBezTo>
                    <a:pt x="0" y="19"/>
                    <a:pt x="32" y="21"/>
                    <a:pt x="38" y="23"/>
                  </a:cubicBezTo>
                  <a:cubicBezTo>
                    <a:pt x="49" y="6"/>
                    <a:pt x="35" y="3"/>
                    <a:pt x="20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0" name="Freeform 104"/>
            <p:cNvSpPr>
              <a:spLocks/>
            </p:cNvSpPr>
            <p:nvPr/>
          </p:nvSpPr>
          <p:spPr bwMode="invGray">
            <a:xfrm>
              <a:off x="4098" y="2294"/>
              <a:ext cx="76" cy="114"/>
            </a:xfrm>
            <a:custGeom>
              <a:avLst/>
              <a:gdLst>
                <a:gd name="T0" fmla="*/ 6 w 102"/>
                <a:gd name="T1" fmla="*/ 0 h 152"/>
                <a:gd name="T2" fmla="*/ 0 w 102"/>
                <a:gd name="T3" fmla="*/ 18 h 152"/>
                <a:gd name="T4" fmla="*/ 14 w 102"/>
                <a:gd name="T5" fmla="*/ 42 h 152"/>
                <a:gd name="T6" fmla="*/ 32 w 102"/>
                <a:gd name="T7" fmla="*/ 72 h 152"/>
                <a:gd name="T8" fmla="*/ 36 w 102"/>
                <a:gd name="T9" fmla="*/ 104 h 152"/>
                <a:gd name="T10" fmla="*/ 80 w 102"/>
                <a:gd name="T11" fmla="*/ 152 h 152"/>
                <a:gd name="T12" fmla="*/ 86 w 102"/>
                <a:gd name="T13" fmla="*/ 124 h 152"/>
                <a:gd name="T14" fmla="*/ 74 w 102"/>
                <a:gd name="T15" fmla="*/ 102 h 152"/>
                <a:gd name="T16" fmla="*/ 62 w 102"/>
                <a:gd name="T17" fmla="*/ 92 h 152"/>
                <a:gd name="T18" fmla="*/ 52 w 102"/>
                <a:gd name="T19" fmla="*/ 74 h 152"/>
                <a:gd name="T20" fmla="*/ 42 w 102"/>
                <a:gd name="T21" fmla="*/ 44 h 152"/>
                <a:gd name="T22" fmla="*/ 4 w 102"/>
                <a:gd name="T23" fmla="*/ 12 h 152"/>
                <a:gd name="T24" fmla="*/ 6 w 102"/>
                <a:gd name="T25" fmla="*/ 0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2" h="152">
                  <a:moveTo>
                    <a:pt x="6" y="0"/>
                  </a:moveTo>
                  <a:cubicBezTo>
                    <a:pt x="4" y="6"/>
                    <a:pt x="0" y="18"/>
                    <a:pt x="0" y="18"/>
                  </a:cubicBezTo>
                  <a:cubicBezTo>
                    <a:pt x="3" y="26"/>
                    <a:pt x="9" y="35"/>
                    <a:pt x="14" y="42"/>
                  </a:cubicBezTo>
                  <a:cubicBezTo>
                    <a:pt x="17" y="58"/>
                    <a:pt x="16" y="69"/>
                    <a:pt x="32" y="72"/>
                  </a:cubicBezTo>
                  <a:cubicBezTo>
                    <a:pt x="44" y="80"/>
                    <a:pt x="40" y="91"/>
                    <a:pt x="36" y="104"/>
                  </a:cubicBezTo>
                  <a:cubicBezTo>
                    <a:pt x="57" y="118"/>
                    <a:pt x="60" y="139"/>
                    <a:pt x="80" y="152"/>
                  </a:cubicBezTo>
                  <a:cubicBezTo>
                    <a:pt x="95" y="148"/>
                    <a:pt x="102" y="135"/>
                    <a:pt x="86" y="124"/>
                  </a:cubicBezTo>
                  <a:cubicBezTo>
                    <a:pt x="72" y="129"/>
                    <a:pt x="78" y="110"/>
                    <a:pt x="74" y="102"/>
                  </a:cubicBezTo>
                  <a:cubicBezTo>
                    <a:pt x="72" y="98"/>
                    <a:pt x="65" y="94"/>
                    <a:pt x="62" y="92"/>
                  </a:cubicBezTo>
                  <a:cubicBezTo>
                    <a:pt x="59" y="82"/>
                    <a:pt x="65" y="65"/>
                    <a:pt x="52" y="74"/>
                  </a:cubicBezTo>
                  <a:cubicBezTo>
                    <a:pt x="46" y="65"/>
                    <a:pt x="47" y="54"/>
                    <a:pt x="42" y="44"/>
                  </a:cubicBezTo>
                  <a:cubicBezTo>
                    <a:pt x="36" y="32"/>
                    <a:pt x="16" y="18"/>
                    <a:pt x="4" y="12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1" name="Freeform 105"/>
            <p:cNvSpPr>
              <a:spLocks/>
            </p:cNvSpPr>
            <p:nvPr/>
          </p:nvSpPr>
          <p:spPr bwMode="invGray">
            <a:xfrm>
              <a:off x="4159" y="2412"/>
              <a:ext cx="55" cy="78"/>
            </a:xfrm>
            <a:custGeom>
              <a:avLst/>
              <a:gdLst>
                <a:gd name="T0" fmla="*/ 64 w 74"/>
                <a:gd name="T1" fmla="*/ 22 h 103"/>
                <a:gd name="T2" fmla="*/ 74 w 74"/>
                <a:gd name="T3" fmla="*/ 40 h 103"/>
                <a:gd name="T4" fmla="*/ 30 w 74"/>
                <a:gd name="T5" fmla="*/ 84 h 103"/>
                <a:gd name="T6" fmla="*/ 32 w 74"/>
                <a:gd name="T7" fmla="*/ 100 h 103"/>
                <a:gd name="T8" fmla="*/ 20 w 74"/>
                <a:gd name="T9" fmla="*/ 94 h 103"/>
                <a:gd name="T10" fmla="*/ 6 w 74"/>
                <a:gd name="T11" fmla="*/ 84 h 103"/>
                <a:gd name="T12" fmla="*/ 0 w 74"/>
                <a:gd name="T13" fmla="*/ 82 h 103"/>
                <a:gd name="T14" fmla="*/ 10 w 74"/>
                <a:gd name="T15" fmla="*/ 58 h 103"/>
                <a:gd name="T16" fmla="*/ 12 w 74"/>
                <a:gd name="T17" fmla="*/ 52 h 103"/>
                <a:gd name="T18" fmla="*/ 2 w 74"/>
                <a:gd name="T19" fmla="*/ 24 h 103"/>
                <a:gd name="T20" fmla="*/ 4 w 74"/>
                <a:gd name="T21" fmla="*/ 14 h 103"/>
                <a:gd name="T22" fmla="*/ 26 w 74"/>
                <a:gd name="T23" fmla="*/ 22 h 103"/>
                <a:gd name="T24" fmla="*/ 36 w 74"/>
                <a:gd name="T25" fmla="*/ 36 h 103"/>
                <a:gd name="T26" fmla="*/ 64 w 74"/>
                <a:gd name="T27" fmla="*/ 22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4" h="103">
                  <a:moveTo>
                    <a:pt x="64" y="22"/>
                  </a:moveTo>
                  <a:cubicBezTo>
                    <a:pt x="73" y="36"/>
                    <a:pt x="70" y="29"/>
                    <a:pt x="74" y="40"/>
                  </a:cubicBezTo>
                  <a:cubicBezTo>
                    <a:pt x="70" y="77"/>
                    <a:pt x="68" y="81"/>
                    <a:pt x="30" y="84"/>
                  </a:cubicBezTo>
                  <a:cubicBezTo>
                    <a:pt x="33" y="88"/>
                    <a:pt x="39" y="95"/>
                    <a:pt x="32" y="100"/>
                  </a:cubicBezTo>
                  <a:cubicBezTo>
                    <a:pt x="28" y="103"/>
                    <a:pt x="24" y="95"/>
                    <a:pt x="20" y="94"/>
                  </a:cubicBezTo>
                  <a:cubicBezTo>
                    <a:pt x="17" y="84"/>
                    <a:pt x="20" y="89"/>
                    <a:pt x="6" y="84"/>
                  </a:cubicBezTo>
                  <a:cubicBezTo>
                    <a:pt x="4" y="83"/>
                    <a:pt x="0" y="82"/>
                    <a:pt x="0" y="82"/>
                  </a:cubicBezTo>
                  <a:cubicBezTo>
                    <a:pt x="3" y="73"/>
                    <a:pt x="7" y="67"/>
                    <a:pt x="10" y="58"/>
                  </a:cubicBezTo>
                  <a:cubicBezTo>
                    <a:pt x="11" y="56"/>
                    <a:pt x="12" y="52"/>
                    <a:pt x="12" y="52"/>
                  </a:cubicBezTo>
                  <a:cubicBezTo>
                    <a:pt x="10" y="42"/>
                    <a:pt x="8" y="33"/>
                    <a:pt x="2" y="24"/>
                  </a:cubicBezTo>
                  <a:cubicBezTo>
                    <a:pt x="3" y="21"/>
                    <a:pt x="2" y="17"/>
                    <a:pt x="4" y="14"/>
                  </a:cubicBezTo>
                  <a:cubicBezTo>
                    <a:pt x="11" y="0"/>
                    <a:pt x="18" y="19"/>
                    <a:pt x="26" y="22"/>
                  </a:cubicBezTo>
                  <a:cubicBezTo>
                    <a:pt x="31" y="36"/>
                    <a:pt x="26" y="33"/>
                    <a:pt x="36" y="36"/>
                  </a:cubicBezTo>
                  <a:cubicBezTo>
                    <a:pt x="45" y="30"/>
                    <a:pt x="55" y="28"/>
                    <a:pt x="64" y="2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2" name="Freeform 106"/>
            <p:cNvSpPr>
              <a:spLocks/>
            </p:cNvSpPr>
            <p:nvPr/>
          </p:nvSpPr>
          <p:spPr bwMode="invGray">
            <a:xfrm>
              <a:off x="4123" y="2492"/>
              <a:ext cx="109" cy="189"/>
            </a:xfrm>
            <a:custGeom>
              <a:avLst/>
              <a:gdLst>
                <a:gd name="T0" fmla="*/ 82 w 146"/>
                <a:gd name="T1" fmla="*/ 100 h 252"/>
                <a:gd name="T2" fmla="*/ 66 w 146"/>
                <a:gd name="T3" fmla="*/ 106 h 252"/>
                <a:gd name="T4" fmla="*/ 64 w 146"/>
                <a:gd name="T5" fmla="*/ 132 h 252"/>
                <a:gd name="T6" fmla="*/ 22 w 146"/>
                <a:gd name="T7" fmla="*/ 146 h 252"/>
                <a:gd name="T8" fmla="*/ 8 w 146"/>
                <a:gd name="T9" fmla="*/ 168 h 252"/>
                <a:gd name="T10" fmla="*/ 20 w 146"/>
                <a:gd name="T11" fmla="*/ 182 h 252"/>
                <a:gd name="T12" fmla="*/ 8 w 146"/>
                <a:gd name="T13" fmla="*/ 198 h 252"/>
                <a:gd name="T14" fmla="*/ 24 w 146"/>
                <a:gd name="T15" fmla="*/ 252 h 252"/>
                <a:gd name="T16" fmla="*/ 28 w 146"/>
                <a:gd name="T17" fmla="*/ 214 h 252"/>
                <a:gd name="T18" fmla="*/ 22 w 146"/>
                <a:gd name="T19" fmla="*/ 192 h 252"/>
                <a:gd name="T20" fmla="*/ 42 w 146"/>
                <a:gd name="T21" fmla="*/ 176 h 252"/>
                <a:gd name="T22" fmla="*/ 52 w 146"/>
                <a:gd name="T23" fmla="*/ 158 h 252"/>
                <a:gd name="T24" fmla="*/ 66 w 146"/>
                <a:gd name="T25" fmla="*/ 174 h 252"/>
                <a:gd name="T26" fmla="*/ 44 w 146"/>
                <a:gd name="T27" fmla="*/ 190 h 252"/>
                <a:gd name="T28" fmla="*/ 56 w 146"/>
                <a:gd name="T29" fmla="*/ 200 h 252"/>
                <a:gd name="T30" fmla="*/ 68 w 146"/>
                <a:gd name="T31" fmla="*/ 178 h 252"/>
                <a:gd name="T32" fmla="*/ 84 w 146"/>
                <a:gd name="T33" fmla="*/ 184 h 252"/>
                <a:gd name="T34" fmla="*/ 104 w 146"/>
                <a:gd name="T35" fmla="*/ 148 h 252"/>
                <a:gd name="T36" fmla="*/ 114 w 146"/>
                <a:gd name="T37" fmla="*/ 156 h 252"/>
                <a:gd name="T38" fmla="*/ 136 w 146"/>
                <a:gd name="T39" fmla="*/ 148 h 252"/>
                <a:gd name="T40" fmla="*/ 146 w 146"/>
                <a:gd name="T41" fmla="*/ 130 h 252"/>
                <a:gd name="T42" fmla="*/ 142 w 146"/>
                <a:gd name="T43" fmla="*/ 110 h 252"/>
                <a:gd name="T44" fmla="*/ 134 w 146"/>
                <a:gd name="T45" fmla="*/ 98 h 252"/>
                <a:gd name="T46" fmla="*/ 122 w 146"/>
                <a:gd name="T47" fmla="*/ 40 h 252"/>
                <a:gd name="T48" fmla="*/ 94 w 146"/>
                <a:gd name="T49" fmla="*/ 0 h 252"/>
                <a:gd name="T50" fmla="*/ 78 w 146"/>
                <a:gd name="T51" fmla="*/ 12 h 252"/>
                <a:gd name="T52" fmla="*/ 96 w 146"/>
                <a:gd name="T53" fmla="*/ 34 h 252"/>
                <a:gd name="T54" fmla="*/ 96 w 146"/>
                <a:gd name="T55" fmla="*/ 64 h 252"/>
                <a:gd name="T56" fmla="*/ 82 w 146"/>
                <a:gd name="T57" fmla="*/ 10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46" h="252">
                  <a:moveTo>
                    <a:pt x="82" y="100"/>
                  </a:moveTo>
                  <a:cubicBezTo>
                    <a:pt x="70" y="88"/>
                    <a:pt x="69" y="92"/>
                    <a:pt x="66" y="106"/>
                  </a:cubicBezTo>
                  <a:cubicBezTo>
                    <a:pt x="65" y="115"/>
                    <a:pt x="68" y="124"/>
                    <a:pt x="64" y="132"/>
                  </a:cubicBezTo>
                  <a:cubicBezTo>
                    <a:pt x="63" y="133"/>
                    <a:pt x="28" y="142"/>
                    <a:pt x="22" y="146"/>
                  </a:cubicBezTo>
                  <a:cubicBezTo>
                    <a:pt x="18" y="157"/>
                    <a:pt x="18" y="162"/>
                    <a:pt x="8" y="168"/>
                  </a:cubicBezTo>
                  <a:cubicBezTo>
                    <a:pt x="0" y="180"/>
                    <a:pt x="7" y="180"/>
                    <a:pt x="20" y="182"/>
                  </a:cubicBezTo>
                  <a:cubicBezTo>
                    <a:pt x="17" y="190"/>
                    <a:pt x="15" y="193"/>
                    <a:pt x="8" y="198"/>
                  </a:cubicBezTo>
                  <a:cubicBezTo>
                    <a:pt x="10" y="214"/>
                    <a:pt x="9" y="242"/>
                    <a:pt x="24" y="252"/>
                  </a:cubicBezTo>
                  <a:cubicBezTo>
                    <a:pt x="42" y="246"/>
                    <a:pt x="31" y="227"/>
                    <a:pt x="28" y="214"/>
                  </a:cubicBezTo>
                  <a:cubicBezTo>
                    <a:pt x="26" y="207"/>
                    <a:pt x="22" y="192"/>
                    <a:pt x="22" y="192"/>
                  </a:cubicBezTo>
                  <a:cubicBezTo>
                    <a:pt x="25" y="180"/>
                    <a:pt x="33" y="182"/>
                    <a:pt x="42" y="176"/>
                  </a:cubicBezTo>
                  <a:cubicBezTo>
                    <a:pt x="44" y="169"/>
                    <a:pt x="52" y="158"/>
                    <a:pt x="52" y="158"/>
                  </a:cubicBezTo>
                  <a:cubicBezTo>
                    <a:pt x="58" y="164"/>
                    <a:pt x="63" y="166"/>
                    <a:pt x="66" y="174"/>
                  </a:cubicBezTo>
                  <a:cubicBezTo>
                    <a:pt x="59" y="178"/>
                    <a:pt x="51" y="188"/>
                    <a:pt x="44" y="190"/>
                  </a:cubicBezTo>
                  <a:cubicBezTo>
                    <a:pt x="36" y="202"/>
                    <a:pt x="46" y="202"/>
                    <a:pt x="56" y="200"/>
                  </a:cubicBezTo>
                  <a:cubicBezTo>
                    <a:pt x="60" y="189"/>
                    <a:pt x="59" y="184"/>
                    <a:pt x="68" y="178"/>
                  </a:cubicBezTo>
                  <a:cubicBezTo>
                    <a:pt x="77" y="181"/>
                    <a:pt x="75" y="187"/>
                    <a:pt x="84" y="184"/>
                  </a:cubicBezTo>
                  <a:cubicBezTo>
                    <a:pt x="92" y="171"/>
                    <a:pt x="91" y="157"/>
                    <a:pt x="104" y="148"/>
                  </a:cubicBezTo>
                  <a:cubicBezTo>
                    <a:pt x="108" y="149"/>
                    <a:pt x="110" y="155"/>
                    <a:pt x="114" y="156"/>
                  </a:cubicBezTo>
                  <a:cubicBezTo>
                    <a:pt x="120" y="158"/>
                    <a:pt x="131" y="151"/>
                    <a:pt x="136" y="148"/>
                  </a:cubicBezTo>
                  <a:cubicBezTo>
                    <a:pt x="145" y="134"/>
                    <a:pt x="142" y="141"/>
                    <a:pt x="146" y="130"/>
                  </a:cubicBezTo>
                  <a:cubicBezTo>
                    <a:pt x="146" y="127"/>
                    <a:pt x="145" y="115"/>
                    <a:pt x="142" y="110"/>
                  </a:cubicBezTo>
                  <a:cubicBezTo>
                    <a:pt x="140" y="106"/>
                    <a:pt x="134" y="98"/>
                    <a:pt x="134" y="98"/>
                  </a:cubicBezTo>
                  <a:cubicBezTo>
                    <a:pt x="131" y="78"/>
                    <a:pt x="142" y="53"/>
                    <a:pt x="122" y="40"/>
                  </a:cubicBezTo>
                  <a:cubicBezTo>
                    <a:pt x="112" y="26"/>
                    <a:pt x="109" y="10"/>
                    <a:pt x="94" y="0"/>
                  </a:cubicBezTo>
                  <a:cubicBezTo>
                    <a:pt x="87" y="4"/>
                    <a:pt x="86" y="9"/>
                    <a:pt x="78" y="12"/>
                  </a:cubicBezTo>
                  <a:cubicBezTo>
                    <a:pt x="67" y="29"/>
                    <a:pt x="80" y="31"/>
                    <a:pt x="96" y="34"/>
                  </a:cubicBezTo>
                  <a:cubicBezTo>
                    <a:pt x="103" y="44"/>
                    <a:pt x="100" y="53"/>
                    <a:pt x="96" y="64"/>
                  </a:cubicBezTo>
                  <a:cubicBezTo>
                    <a:pt x="96" y="68"/>
                    <a:pt x="95" y="106"/>
                    <a:pt x="82" y="10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3" name="Freeform 107"/>
            <p:cNvSpPr>
              <a:spLocks/>
            </p:cNvSpPr>
            <p:nvPr/>
          </p:nvSpPr>
          <p:spPr bwMode="invGray">
            <a:xfrm>
              <a:off x="3062" y="1988"/>
              <a:ext cx="52" cy="30"/>
            </a:xfrm>
            <a:custGeom>
              <a:avLst/>
              <a:gdLst>
                <a:gd name="T0" fmla="*/ 59 w 70"/>
                <a:gd name="T1" fmla="*/ 0 h 40"/>
                <a:gd name="T2" fmla="*/ 65 w 70"/>
                <a:gd name="T3" fmla="*/ 20 h 40"/>
                <a:gd name="T4" fmla="*/ 41 w 70"/>
                <a:gd name="T5" fmla="*/ 24 h 40"/>
                <a:gd name="T6" fmla="*/ 31 w 70"/>
                <a:gd name="T7" fmla="*/ 40 h 40"/>
                <a:gd name="T8" fmla="*/ 7 w 70"/>
                <a:gd name="T9" fmla="*/ 38 h 40"/>
                <a:gd name="T10" fmla="*/ 1 w 70"/>
                <a:gd name="T11" fmla="*/ 36 h 40"/>
                <a:gd name="T12" fmla="*/ 33 w 70"/>
                <a:gd name="T13" fmla="*/ 20 h 40"/>
                <a:gd name="T14" fmla="*/ 59 w 70"/>
                <a:gd name="T15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0" h="40">
                  <a:moveTo>
                    <a:pt x="59" y="0"/>
                  </a:moveTo>
                  <a:cubicBezTo>
                    <a:pt x="68" y="3"/>
                    <a:pt x="70" y="10"/>
                    <a:pt x="65" y="20"/>
                  </a:cubicBezTo>
                  <a:cubicBezTo>
                    <a:pt x="61" y="27"/>
                    <a:pt x="49" y="23"/>
                    <a:pt x="41" y="24"/>
                  </a:cubicBezTo>
                  <a:cubicBezTo>
                    <a:pt x="36" y="38"/>
                    <a:pt x="41" y="34"/>
                    <a:pt x="31" y="40"/>
                  </a:cubicBezTo>
                  <a:cubicBezTo>
                    <a:pt x="23" y="39"/>
                    <a:pt x="15" y="39"/>
                    <a:pt x="7" y="38"/>
                  </a:cubicBezTo>
                  <a:cubicBezTo>
                    <a:pt x="5" y="38"/>
                    <a:pt x="0" y="38"/>
                    <a:pt x="1" y="36"/>
                  </a:cubicBezTo>
                  <a:cubicBezTo>
                    <a:pt x="7" y="26"/>
                    <a:pt x="23" y="23"/>
                    <a:pt x="33" y="20"/>
                  </a:cubicBezTo>
                  <a:cubicBezTo>
                    <a:pt x="39" y="11"/>
                    <a:pt x="51" y="8"/>
                    <a:pt x="5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4" name="Freeform 108"/>
            <p:cNvSpPr>
              <a:spLocks/>
            </p:cNvSpPr>
            <p:nvPr/>
          </p:nvSpPr>
          <p:spPr bwMode="invGray">
            <a:xfrm>
              <a:off x="2955" y="1997"/>
              <a:ext cx="19" cy="22"/>
            </a:xfrm>
            <a:custGeom>
              <a:avLst/>
              <a:gdLst>
                <a:gd name="T0" fmla="*/ 18 w 26"/>
                <a:gd name="T1" fmla="*/ 0 h 29"/>
                <a:gd name="T2" fmla="*/ 0 w 26"/>
                <a:gd name="T3" fmla="*/ 18 h 29"/>
                <a:gd name="T4" fmla="*/ 18 w 26"/>
                <a:gd name="T5" fmla="*/ 26 h 29"/>
                <a:gd name="T6" fmla="*/ 18 w 26"/>
                <a:gd name="T7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" h="29">
                  <a:moveTo>
                    <a:pt x="18" y="0"/>
                  </a:moveTo>
                  <a:cubicBezTo>
                    <a:pt x="9" y="6"/>
                    <a:pt x="4" y="7"/>
                    <a:pt x="0" y="18"/>
                  </a:cubicBezTo>
                  <a:cubicBezTo>
                    <a:pt x="7" y="25"/>
                    <a:pt x="9" y="29"/>
                    <a:pt x="18" y="26"/>
                  </a:cubicBezTo>
                  <a:cubicBezTo>
                    <a:pt x="22" y="14"/>
                    <a:pt x="26" y="12"/>
                    <a:pt x="1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5" name="Freeform 109"/>
            <p:cNvSpPr>
              <a:spLocks/>
            </p:cNvSpPr>
            <p:nvPr/>
          </p:nvSpPr>
          <p:spPr bwMode="invGray">
            <a:xfrm>
              <a:off x="2979" y="1996"/>
              <a:ext cx="37" cy="27"/>
            </a:xfrm>
            <a:custGeom>
              <a:avLst/>
              <a:gdLst>
                <a:gd name="T0" fmla="*/ 14 w 49"/>
                <a:gd name="T1" fmla="*/ 6 h 36"/>
                <a:gd name="T2" fmla="*/ 0 w 49"/>
                <a:gd name="T3" fmla="*/ 18 h 36"/>
                <a:gd name="T4" fmla="*/ 6 w 49"/>
                <a:gd name="T5" fmla="*/ 32 h 36"/>
                <a:gd name="T6" fmla="*/ 18 w 49"/>
                <a:gd name="T7" fmla="*/ 36 h 36"/>
                <a:gd name="T8" fmla="*/ 40 w 49"/>
                <a:gd name="T9" fmla="*/ 26 h 36"/>
                <a:gd name="T10" fmla="*/ 14 w 49"/>
                <a:gd name="T11" fmla="*/ 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9" h="36">
                  <a:moveTo>
                    <a:pt x="14" y="6"/>
                  </a:moveTo>
                  <a:cubicBezTo>
                    <a:pt x="11" y="14"/>
                    <a:pt x="7" y="13"/>
                    <a:pt x="0" y="18"/>
                  </a:cubicBezTo>
                  <a:cubicBezTo>
                    <a:pt x="1" y="22"/>
                    <a:pt x="2" y="29"/>
                    <a:pt x="6" y="32"/>
                  </a:cubicBezTo>
                  <a:cubicBezTo>
                    <a:pt x="10" y="34"/>
                    <a:pt x="18" y="36"/>
                    <a:pt x="18" y="36"/>
                  </a:cubicBezTo>
                  <a:cubicBezTo>
                    <a:pt x="24" y="27"/>
                    <a:pt x="30" y="28"/>
                    <a:pt x="40" y="26"/>
                  </a:cubicBezTo>
                  <a:cubicBezTo>
                    <a:pt x="49" y="0"/>
                    <a:pt x="26" y="18"/>
                    <a:pt x="14" y="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6" name="Freeform 110"/>
            <p:cNvSpPr>
              <a:spLocks/>
            </p:cNvSpPr>
            <p:nvPr/>
          </p:nvSpPr>
          <p:spPr bwMode="invGray">
            <a:xfrm>
              <a:off x="3040" y="1987"/>
              <a:ext cx="20" cy="16"/>
            </a:xfrm>
            <a:custGeom>
              <a:avLst/>
              <a:gdLst>
                <a:gd name="T0" fmla="*/ 11 w 27"/>
                <a:gd name="T1" fmla="*/ 0 h 22"/>
                <a:gd name="T2" fmla="*/ 3 w 27"/>
                <a:gd name="T3" fmla="*/ 12 h 22"/>
                <a:gd name="T4" fmla="*/ 19 w 27"/>
                <a:gd name="T5" fmla="*/ 22 h 22"/>
                <a:gd name="T6" fmla="*/ 11 w 27"/>
                <a:gd name="T7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22">
                  <a:moveTo>
                    <a:pt x="11" y="0"/>
                  </a:moveTo>
                  <a:cubicBezTo>
                    <a:pt x="8" y="4"/>
                    <a:pt x="0" y="8"/>
                    <a:pt x="3" y="12"/>
                  </a:cubicBezTo>
                  <a:cubicBezTo>
                    <a:pt x="6" y="17"/>
                    <a:pt x="19" y="22"/>
                    <a:pt x="19" y="22"/>
                  </a:cubicBezTo>
                  <a:cubicBezTo>
                    <a:pt x="27" y="10"/>
                    <a:pt x="15" y="11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7" name="Freeform 111"/>
            <p:cNvSpPr>
              <a:spLocks/>
            </p:cNvSpPr>
            <p:nvPr/>
          </p:nvSpPr>
          <p:spPr bwMode="invGray">
            <a:xfrm>
              <a:off x="3022" y="2005"/>
              <a:ext cx="15" cy="13"/>
            </a:xfrm>
            <a:custGeom>
              <a:avLst/>
              <a:gdLst>
                <a:gd name="T0" fmla="*/ 11 w 20"/>
                <a:gd name="T1" fmla="*/ 0 h 18"/>
                <a:gd name="T2" fmla="*/ 9 w 20"/>
                <a:gd name="T3" fmla="*/ 18 h 18"/>
                <a:gd name="T4" fmla="*/ 11 w 20"/>
                <a:gd name="T5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8">
                  <a:moveTo>
                    <a:pt x="11" y="0"/>
                  </a:moveTo>
                  <a:cubicBezTo>
                    <a:pt x="1" y="14"/>
                    <a:pt x="0" y="9"/>
                    <a:pt x="9" y="18"/>
                  </a:cubicBezTo>
                  <a:cubicBezTo>
                    <a:pt x="20" y="14"/>
                    <a:pt x="16" y="18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8" name="Freeform 112"/>
            <p:cNvSpPr>
              <a:spLocks/>
            </p:cNvSpPr>
            <p:nvPr/>
          </p:nvSpPr>
          <p:spPr bwMode="invGray">
            <a:xfrm>
              <a:off x="4162" y="2021"/>
              <a:ext cx="18" cy="33"/>
            </a:xfrm>
            <a:custGeom>
              <a:avLst/>
              <a:gdLst>
                <a:gd name="T0" fmla="*/ 24 w 24"/>
                <a:gd name="T1" fmla="*/ 0 h 44"/>
                <a:gd name="T2" fmla="*/ 8 w 24"/>
                <a:gd name="T3" fmla="*/ 16 h 44"/>
                <a:gd name="T4" fmla="*/ 0 w 24"/>
                <a:gd name="T5" fmla="*/ 34 h 44"/>
                <a:gd name="T6" fmla="*/ 16 w 24"/>
                <a:gd name="T7" fmla="*/ 40 h 44"/>
                <a:gd name="T8" fmla="*/ 24 w 24"/>
                <a:gd name="T9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4">
                  <a:moveTo>
                    <a:pt x="24" y="0"/>
                  </a:moveTo>
                  <a:cubicBezTo>
                    <a:pt x="19" y="7"/>
                    <a:pt x="15" y="11"/>
                    <a:pt x="8" y="16"/>
                  </a:cubicBezTo>
                  <a:cubicBezTo>
                    <a:pt x="4" y="21"/>
                    <a:pt x="0" y="34"/>
                    <a:pt x="0" y="34"/>
                  </a:cubicBezTo>
                  <a:cubicBezTo>
                    <a:pt x="3" y="44"/>
                    <a:pt x="7" y="42"/>
                    <a:pt x="16" y="40"/>
                  </a:cubicBezTo>
                  <a:cubicBezTo>
                    <a:pt x="20" y="27"/>
                    <a:pt x="24" y="14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9" name="Freeform 113"/>
            <p:cNvSpPr>
              <a:spLocks/>
            </p:cNvSpPr>
            <p:nvPr/>
          </p:nvSpPr>
          <p:spPr bwMode="invGray">
            <a:xfrm>
              <a:off x="3278" y="3473"/>
              <a:ext cx="31" cy="18"/>
            </a:xfrm>
            <a:custGeom>
              <a:avLst/>
              <a:gdLst>
                <a:gd name="T0" fmla="*/ 30 w 41"/>
                <a:gd name="T1" fmla="*/ 0 h 24"/>
                <a:gd name="T2" fmla="*/ 26 w 41"/>
                <a:gd name="T3" fmla="*/ 24 h 24"/>
                <a:gd name="T4" fmla="*/ 30 w 41"/>
                <a:gd name="T5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4">
                  <a:moveTo>
                    <a:pt x="30" y="0"/>
                  </a:moveTo>
                  <a:cubicBezTo>
                    <a:pt x="4" y="4"/>
                    <a:pt x="0" y="17"/>
                    <a:pt x="26" y="24"/>
                  </a:cubicBezTo>
                  <a:cubicBezTo>
                    <a:pt x="41" y="19"/>
                    <a:pt x="38" y="10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0" name="Freeform 114"/>
            <p:cNvSpPr>
              <a:spLocks/>
            </p:cNvSpPr>
            <p:nvPr/>
          </p:nvSpPr>
          <p:spPr bwMode="invGray">
            <a:xfrm>
              <a:off x="3318" y="3466"/>
              <a:ext cx="10" cy="15"/>
            </a:xfrm>
            <a:custGeom>
              <a:avLst/>
              <a:gdLst>
                <a:gd name="T0" fmla="*/ 10 w 13"/>
                <a:gd name="T1" fmla="*/ 5 h 20"/>
                <a:gd name="T2" fmla="*/ 1 w 13"/>
                <a:gd name="T3" fmla="*/ 11 h 20"/>
                <a:gd name="T4" fmla="*/ 9 w 13"/>
                <a:gd name="T5" fmla="*/ 20 h 20"/>
                <a:gd name="T6" fmla="*/ 10 w 13"/>
                <a:gd name="T7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1" name="Freeform 115"/>
            <p:cNvSpPr>
              <a:spLocks/>
            </p:cNvSpPr>
            <p:nvPr/>
          </p:nvSpPr>
          <p:spPr bwMode="invGray">
            <a:xfrm>
              <a:off x="3251" y="3312"/>
              <a:ext cx="9" cy="15"/>
            </a:xfrm>
            <a:custGeom>
              <a:avLst/>
              <a:gdLst>
                <a:gd name="T0" fmla="*/ 10 w 13"/>
                <a:gd name="T1" fmla="*/ 5 h 20"/>
                <a:gd name="T2" fmla="*/ 1 w 13"/>
                <a:gd name="T3" fmla="*/ 11 h 20"/>
                <a:gd name="T4" fmla="*/ 9 w 13"/>
                <a:gd name="T5" fmla="*/ 20 h 20"/>
                <a:gd name="T6" fmla="*/ 10 w 13"/>
                <a:gd name="T7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2" name="Freeform 116"/>
            <p:cNvSpPr>
              <a:spLocks/>
            </p:cNvSpPr>
            <p:nvPr/>
          </p:nvSpPr>
          <p:spPr bwMode="invGray">
            <a:xfrm>
              <a:off x="3311" y="3239"/>
              <a:ext cx="11" cy="19"/>
            </a:xfrm>
            <a:custGeom>
              <a:avLst/>
              <a:gdLst>
                <a:gd name="T0" fmla="*/ 6 w 14"/>
                <a:gd name="T1" fmla="*/ 0 h 25"/>
                <a:gd name="T2" fmla="*/ 0 w 14"/>
                <a:gd name="T3" fmla="*/ 13 h 25"/>
                <a:gd name="T4" fmla="*/ 12 w 14"/>
                <a:gd name="T5" fmla="*/ 24 h 25"/>
                <a:gd name="T6" fmla="*/ 6 w 14"/>
                <a:gd name="T7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3" name="Freeform 117"/>
            <p:cNvSpPr>
              <a:spLocks/>
            </p:cNvSpPr>
            <p:nvPr/>
          </p:nvSpPr>
          <p:spPr bwMode="invGray">
            <a:xfrm>
              <a:off x="3287" y="3238"/>
              <a:ext cx="11" cy="19"/>
            </a:xfrm>
            <a:custGeom>
              <a:avLst/>
              <a:gdLst>
                <a:gd name="T0" fmla="*/ 6 w 14"/>
                <a:gd name="T1" fmla="*/ 0 h 25"/>
                <a:gd name="T2" fmla="*/ 0 w 14"/>
                <a:gd name="T3" fmla="*/ 13 h 25"/>
                <a:gd name="T4" fmla="*/ 12 w 14"/>
                <a:gd name="T5" fmla="*/ 24 h 25"/>
                <a:gd name="T6" fmla="*/ 6 w 14"/>
                <a:gd name="T7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4" name="Freeform 118"/>
            <p:cNvSpPr>
              <a:spLocks/>
            </p:cNvSpPr>
            <p:nvPr/>
          </p:nvSpPr>
          <p:spPr bwMode="invGray">
            <a:xfrm>
              <a:off x="3276" y="3260"/>
              <a:ext cx="10" cy="15"/>
            </a:xfrm>
            <a:custGeom>
              <a:avLst/>
              <a:gdLst>
                <a:gd name="T0" fmla="*/ 10 w 13"/>
                <a:gd name="T1" fmla="*/ 5 h 20"/>
                <a:gd name="T2" fmla="*/ 1 w 13"/>
                <a:gd name="T3" fmla="*/ 11 h 20"/>
                <a:gd name="T4" fmla="*/ 9 w 13"/>
                <a:gd name="T5" fmla="*/ 20 h 20"/>
                <a:gd name="T6" fmla="*/ 10 w 13"/>
                <a:gd name="T7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5" name="Freeform 119"/>
            <p:cNvSpPr>
              <a:spLocks/>
            </p:cNvSpPr>
            <p:nvPr/>
          </p:nvSpPr>
          <p:spPr bwMode="invGray">
            <a:xfrm>
              <a:off x="3251" y="3294"/>
              <a:ext cx="9" cy="15"/>
            </a:xfrm>
            <a:custGeom>
              <a:avLst/>
              <a:gdLst>
                <a:gd name="T0" fmla="*/ 10 w 13"/>
                <a:gd name="T1" fmla="*/ 5 h 20"/>
                <a:gd name="T2" fmla="*/ 1 w 13"/>
                <a:gd name="T3" fmla="*/ 11 h 20"/>
                <a:gd name="T4" fmla="*/ 9 w 13"/>
                <a:gd name="T5" fmla="*/ 20 h 20"/>
                <a:gd name="T6" fmla="*/ 10 w 13"/>
                <a:gd name="T7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6" name="Freeform 120"/>
            <p:cNvSpPr>
              <a:spLocks/>
            </p:cNvSpPr>
            <p:nvPr/>
          </p:nvSpPr>
          <p:spPr bwMode="invGray">
            <a:xfrm>
              <a:off x="3270" y="3281"/>
              <a:ext cx="10" cy="15"/>
            </a:xfrm>
            <a:custGeom>
              <a:avLst/>
              <a:gdLst>
                <a:gd name="T0" fmla="*/ 10 w 13"/>
                <a:gd name="T1" fmla="*/ 5 h 20"/>
                <a:gd name="T2" fmla="*/ 1 w 13"/>
                <a:gd name="T3" fmla="*/ 11 h 20"/>
                <a:gd name="T4" fmla="*/ 9 w 13"/>
                <a:gd name="T5" fmla="*/ 20 h 20"/>
                <a:gd name="T6" fmla="*/ 10 w 13"/>
                <a:gd name="T7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7" name="Freeform 121"/>
            <p:cNvSpPr>
              <a:spLocks/>
            </p:cNvSpPr>
            <p:nvPr/>
          </p:nvSpPr>
          <p:spPr bwMode="invGray">
            <a:xfrm>
              <a:off x="2537" y="2293"/>
              <a:ext cx="10" cy="15"/>
            </a:xfrm>
            <a:custGeom>
              <a:avLst/>
              <a:gdLst>
                <a:gd name="T0" fmla="*/ 10 w 13"/>
                <a:gd name="T1" fmla="*/ 5 h 20"/>
                <a:gd name="T2" fmla="*/ 1 w 13"/>
                <a:gd name="T3" fmla="*/ 11 h 20"/>
                <a:gd name="T4" fmla="*/ 9 w 13"/>
                <a:gd name="T5" fmla="*/ 20 h 20"/>
                <a:gd name="T6" fmla="*/ 10 w 13"/>
                <a:gd name="T7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8" name="Freeform 122"/>
            <p:cNvSpPr>
              <a:spLocks/>
            </p:cNvSpPr>
            <p:nvPr/>
          </p:nvSpPr>
          <p:spPr bwMode="invGray">
            <a:xfrm>
              <a:off x="2476" y="2259"/>
              <a:ext cx="10" cy="15"/>
            </a:xfrm>
            <a:custGeom>
              <a:avLst/>
              <a:gdLst>
                <a:gd name="T0" fmla="*/ 10 w 13"/>
                <a:gd name="T1" fmla="*/ 5 h 20"/>
                <a:gd name="T2" fmla="*/ 1 w 13"/>
                <a:gd name="T3" fmla="*/ 11 h 20"/>
                <a:gd name="T4" fmla="*/ 9 w 13"/>
                <a:gd name="T5" fmla="*/ 20 h 20"/>
                <a:gd name="T6" fmla="*/ 10 w 13"/>
                <a:gd name="T7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9" name="Freeform 123"/>
            <p:cNvSpPr>
              <a:spLocks/>
            </p:cNvSpPr>
            <p:nvPr/>
          </p:nvSpPr>
          <p:spPr bwMode="invGray">
            <a:xfrm>
              <a:off x="2238" y="2042"/>
              <a:ext cx="2060" cy="1644"/>
            </a:xfrm>
            <a:custGeom>
              <a:avLst/>
              <a:gdLst>
                <a:gd name="T0" fmla="*/ 452 w 2060"/>
                <a:gd name="T1" fmla="*/ 653 h 1644"/>
                <a:gd name="T2" fmla="*/ 333 w 2060"/>
                <a:gd name="T3" fmla="*/ 595 h 1644"/>
                <a:gd name="T4" fmla="*/ 158 w 2060"/>
                <a:gd name="T5" fmla="*/ 645 h 1644"/>
                <a:gd name="T6" fmla="*/ 46 w 2060"/>
                <a:gd name="T7" fmla="*/ 759 h 1644"/>
                <a:gd name="T8" fmla="*/ 12 w 2060"/>
                <a:gd name="T9" fmla="*/ 941 h 1644"/>
                <a:gd name="T10" fmla="*/ 146 w 2060"/>
                <a:gd name="T11" fmla="*/ 1059 h 1644"/>
                <a:gd name="T12" fmla="*/ 308 w 2060"/>
                <a:gd name="T13" fmla="*/ 1041 h 1644"/>
                <a:gd name="T14" fmla="*/ 396 w 2060"/>
                <a:gd name="T15" fmla="*/ 1138 h 1644"/>
                <a:gd name="T16" fmla="*/ 452 w 2060"/>
                <a:gd name="T17" fmla="*/ 1447 h 1644"/>
                <a:gd name="T18" fmla="*/ 497 w 2060"/>
                <a:gd name="T19" fmla="*/ 1628 h 1644"/>
                <a:gd name="T20" fmla="*/ 704 w 2060"/>
                <a:gd name="T21" fmla="*/ 1574 h 1644"/>
                <a:gd name="T22" fmla="*/ 817 w 2060"/>
                <a:gd name="T23" fmla="*/ 1380 h 1644"/>
                <a:gd name="T24" fmla="*/ 885 w 2060"/>
                <a:gd name="T25" fmla="*/ 1153 h 1644"/>
                <a:gd name="T26" fmla="*/ 998 w 2060"/>
                <a:gd name="T27" fmla="*/ 999 h 1644"/>
                <a:gd name="T28" fmla="*/ 796 w 2060"/>
                <a:gd name="T29" fmla="*/ 856 h 1644"/>
                <a:gd name="T30" fmla="*/ 817 w 2060"/>
                <a:gd name="T31" fmla="*/ 819 h 1644"/>
                <a:gd name="T32" fmla="*/ 1003 w 2060"/>
                <a:gd name="T33" fmla="*/ 916 h 1644"/>
                <a:gd name="T34" fmla="*/ 1098 w 2060"/>
                <a:gd name="T35" fmla="*/ 792 h 1644"/>
                <a:gd name="T36" fmla="*/ 1046 w 2060"/>
                <a:gd name="T37" fmla="*/ 763 h 1644"/>
                <a:gd name="T38" fmla="*/ 929 w 2060"/>
                <a:gd name="T39" fmla="*/ 716 h 1644"/>
                <a:gd name="T40" fmla="*/ 1141 w 2060"/>
                <a:gd name="T41" fmla="*/ 761 h 1644"/>
                <a:gd name="T42" fmla="*/ 1296 w 2060"/>
                <a:gd name="T43" fmla="*/ 852 h 1644"/>
                <a:gd name="T44" fmla="*/ 1373 w 2060"/>
                <a:gd name="T45" fmla="*/ 1033 h 1644"/>
                <a:gd name="T46" fmla="*/ 1608 w 2060"/>
                <a:gd name="T47" fmla="*/ 847 h 1644"/>
                <a:gd name="T48" fmla="*/ 1704 w 2060"/>
                <a:gd name="T49" fmla="*/ 1030 h 1644"/>
                <a:gd name="T50" fmla="*/ 1707 w 2060"/>
                <a:gd name="T51" fmla="*/ 874 h 1644"/>
                <a:gd name="T52" fmla="*/ 1759 w 2060"/>
                <a:gd name="T53" fmla="*/ 800 h 1644"/>
                <a:gd name="T54" fmla="*/ 1783 w 2060"/>
                <a:gd name="T55" fmla="*/ 544 h 1644"/>
                <a:gd name="T56" fmla="*/ 1824 w 2060"/>
                <a:gd name="T57" fmla="*/ 528 h 1644"/>
                <a:gd name="T58" fmla="*/ 1844 w 2060"/>
                <a:gd name="T59" fmla="*/ 427 h 1644"/>
                <a:gd name="T60" fmla="*/ 1805 w 2060"/>
                <a:gd name="T61" fmla="*/ 226 h 1644"/>
                <a:gd name="T62" fmla="*/ 1899 w 2060"/>
                <a:gd name="T63" fmla="*/ 108 h 1644"/>
                <a:gd name="T64" fmla="*/ 1947 w 2060"/>
                <a:gd name="T65" fmla="*/ 209 h 1644"/>
                <a:gd name="T66" fmla="*/ 1943 w 2060"/>
                <a:gd name="T67" fmla="*/ 123 h 1644"/>
                <a:gd name="T68" fmla="*/ 1975 w 2060"/>
                <a:gd name="T69" fmla="*/ 51 h 1644"/>
                <a:gd name="T70" fmla="*/ 2038 w 2060"/>
                <a:gd name="T71" fmla="*/ 0 h 1644"/>
                <a:gd name="T72" fmla="*/ 1820 w 2060"/>
                <a:gd name="T73" fmla="*/ 63 h 1644"/>
                <a:gd name="T74" fmla="*/ 1583 w 2060"/>
                <a:gd name="T75" fmla="*/ 83 h 1644"/>
                <a:gd name="T76" fmla="*/ 1349 w 2060"/>
                <a:gd name="T77" fmla="*/ 30 h 1644"/>
                <a:gd name="T78" fmla="*/ 1132 w 2060"/>
                <a:gd name="T79" fmla="*/ 65 h 1644"/>
                <a:gd name="T80" fmla="*/ 1040 w 2060"/>
                <a:gd name="T81" fmla="*/ 170 h 1644"/>
                <a:gd name="T82" fmla="*/ 926 w 2060"/>
                <a:gd name="T83" fmla="*/ 137 h 1644"/>
                <a:gd name="T84" fmla="*/ 758 w 2060"/>
                <a:gd name="T85" fmla="*/ 183 h 1644"/>
                <a:gd name="T86" fmla="*/ 667 w 2060"/>
                <a:gd name="T87" fmla="*/ 140 h 1644"/>
                <a:gd name="T88" fmla="*/ 364 w 2060"/>
                <a:gd name="T89" fmla="*/ 248 h 1644"/>
                <a:gd name="T90" fmla="*/ 535 w 2060"/>
                <a:gd name="T91" fmla="*/ 213 h 1644"/>
                <a:gd name="T92" fmla="*/ 638 w 2060"/>
                <a:gd name="T93" fmla="*/ 276 h 1644"/>
                <a:gd name="T94" fmla="*/ 443 w 2060"/>
                <a:gd name="T95" fmla="*/ 357 h 1644"/>
                <a:gd name="T96" fmla="*/ 275 w 2060"/>
                <a:gd name="T97" fmla="*/ 416 h 1644"/>
                <a:gd name="T98" fmla="*/ 167 w 2060"/>
                <a:gd name="T99" fmla="*/ 537 h 1644"/>
                <a:gd name="T100" fmla="*/ 283 w 2060"/>
                <a:gd name="T101" fmla="*/ 552 h 1644"/>
                <a:gd name="T102" fmla="*/ 381 w 2060"/>
                <a:gd name="T103" fmla="*/ 573 h 1644"/>
                <a:gd name="T104" fmla="*/ 493 w 2060"/>
                <a:gd name="T105" fmla="*/ 590 h 1644"/>
                <a:gd name="T106" fmla="*/ 487 w 2060"/>
                <a:gd name="T107" fmla="*/ 512 h 1644"/>
                <a:gd name="T108" fmla="*/ 592 w 2060"/>
                <a:gd name="T109" fmla="*/ 548 h 1644"/>
                <a:gd name="T110" fmla="*/ 686 w 2060"/>
                <a:gd name="T111" fmla="*/ 470 h 1644"/>
                <a:gd name="T112" fmla="*/ 772 w 2060"/>
                <a:gd name="T113" fmla="*/ 480 h 1644"/>
                <a:gd name="T114" fmla="*/ 639 w 2060"/>
                <a:gd name="T115" fmla="*/ 598 h 16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60" h="1644">
                  <a:moveTo>
                    <a:pt x="697" y="677"/>
                  </a:moveTo>
                  <a:cubicBezTo>
                    <a:pt x="659" y="675"/>
                    <a:pt x="652" y="669"/>
                    <a:pt x="618" y="667"/>
                  </a:cubicBezTo>
                  <a:cubicBezTo>
                    <a:pt x="607" y="666"/>
                    <a:pt x="594" y="661"/>
                    <a:pt x="582" y="658"/>
                  </a:cubicBezTo>
                  <a:cubicBezTo>
                    <a:pt x="577" y="655"/>
                    <a:pt x="568" y="650"/>
                    <a:pt x="568" y="650"/>
                  </a:cubicBezTo>
                  <a:cubicBezTo>
                    <a:pt x="551" y="652"/>
                    <a:pt x="557" y="655"/>
                    <a:pt x="546" y="658"/>
                  </a:cubicBezTo>
                  <a:cubicBezTo>
                    <a:pt x="540" y="667"/>
                    <a:pt x="542" y="669"/>
                    <a:pt x="546" y="677"/>
                  </a:cubicBezTo>
                  <a:cubicBezTo>
                    <a:pt x="548" y="680"/>
                    <a:pt x="550" y="686"/>
                    <a:pt x="550" y="686"/>
                  </a:cubicBezTo>
                  <a:cubicBezTo>
                    <a:pt x="526" y="694"/>
                    <a:pt x="506" y="678"/>
                    <a:pt x="488" y="670"/>
                  </a:cubicBezTo>
                  <a:cubicBezTo>
                    <a:pt x="481" y="653"/>
                    <a:pt x="472" y="655"/>
                    <a:pt x="452" y="653"/>
                  </a:cubicBezTo>
                  <a:cubicBezTo>
                    <a:pt x="446" y="648"/>
                    <a:pt x="444" y="648"/>
                    <a:pt x="437" y="650"/>
                  </a:cubicBezTo>
                  <a:cubicBezTo>
                    <a:pt x="427" y="647"/>
                    <a:pt x="433" y="648"/>
                    <a:pt x="423" y="642"/>
                  </a:cubicBezTo>
                  <a:cubicBezTo>
                    <a:pt x="421" y="641"/>
                    <a:pt x="418" y="639"/>
                    <a:pt x="418" y="639"/>
                  </a:cubicBezTo>
                  <a:cubicBezTo>
                    <a:pt x="416" y="638"/>
                    <a:pt x="413" y="633"/>
                    <a:pt x="413" y="630"/>
                  </a:cubicBezTo>
                  <a:cubicBezTo>
                    <a:pt x="415" y="625"/>
                    <a:pt x="418" y="616"/>
                    <a:pt x="418" y="616"/>
                  </a:cubicBezTo>
                  <a:cubicBezTo>
                    <a:pt x="416" y="592"/>
                    <a:pt x="421" y="588"/>
                    <a:pt x="398" y="591"/>
                  </a:cubicBezTo>
                  <a:cubicBezTo>
                    <a:pt x="390" y="598"/>
                    <a:pt x="390" y="595"/>
                    <a:pt x="381" y="592"/>
                  </a:cubicBezTo>
                  <a:cubicBezTo>
                    <a:pt x="370" y="592"/>
                    <a:pt x="361" y="595"/>
                    <a:pt x="348" y="597"/>
                  </a:cubicBezTo>
                  <a:cubicBezTo>
                    <a:pt x="344" y="595"/>
                    <a:pt x="337" y="597"/>
                    <a:pt x="333" y="595"/>
                  </a:cubicBezTo>
                  <a:cubicBezTo>
                    <a:pt x="331" y="594"/>
                    <a:pt x="330" y="592"/>
                    <a:pt x="328" y="592"/>
                  </a:cubicBezTo>
                  <a:cubicBezTo>
                    <a:pt x="314" y="591"/>
                    <a:pt x="296" y="597"/>
                    <a:pt x="283" y="602"/>
                  </a:cubicBezTo>
                  <a:cubicBezTo>
                    <a:pt x="276" y="603"/>
                    <a:pt x="268" y="606"/>
                    <a:pt x="260" y="608"/>
                  </a:cubicBezTo>
                  <a:cubicBezTo>
                    <a:pt x="255" y="609"/>
                    <a:pt x="246" y="613"/>
                    <a:pt x="246" y="613"/>
                  </a:cubicBezTo>
                  <a:cubicBezTo>
                    <a:pt x="228" y="611"/>
                    <a:pt x="209" y="609"/>
                    <a:pt x="189" y="611"/>
                  </a:cubicBezTo>
                  <a:cubicBezTo>
                    <a:pt x="184" y="613"/>
                    <a:pt x="180" y="614"/>
                    <a:pt x="175" y="617"/>
                  </a:cubicBezTo>
                  <a:cubicBezTo>
                    <a:pt x="173" y="619"/>
                    <a:pt x="173" y="620"/>
                    <a:pt x="173" y="622"/>
                  </a:cubicBezTo>
                  <a:cubicBezTo>
                    <a:pt x="172" y="623"/>
                    <a:pt x="169" y="623"/>
                    <a:pt x="169" y="625"/>
                  </a:cubicBezTo>
                  <a:cubicBezTo>
                    <a:pt x="163" y="634"/>
                    <a:pt x="167" y="641"/>
                    <a:pt x="158" y="645"/>
                  </a:cubicBezTo>
                  <a:cubicBezTo>
                    <a:pt x="153" y="648"/>
                    <a:pt x="149" y="652"/>
                    <a:pt x="144" y="655"/>
                  </a:cubicBezTo>
                  <a:cubicBezTo>
                    <a:pt x="141" y="656"/>
                    <a:pt x="135" y="659"/>
                    <a:pt x="135" y="659"/>
                  </a:cubicBezTo>
                  <a:cubicBezTo>
                    <a:pt x="133" y="664"/>
                    <a:pt x="130" y="666"/>
                    <a:pt x="130" y="669"/>
                  </a:cubicBezTo>
                  <a:cubicBezTo>
                    <a:pt x="128" y="677"/>
                    <a:pt x="132" y="691"/>
                    <a:pt x="124" y="698"/>
                  </a:cubicBezTo>
                  <a:cubicBezTo>
                    <a:pt x="118" y="703"/>
                    <a:pt x="108" y="709"/>
                    <a:pt x="101" y="711"/>
                  </a:cubicBezTo>
                  <a:cubicBezTo>
                    <a:pt x="101" y="711"/>
                    <a:pt x="90" y="716"/>
                    <a:pt x="87" y="716"/>
                  </a:cubicBezTo>
                  <a:cubicBezTo>
                    <a:pt x="85" y="717"/>
                    <a:pt x="82" y="717"/>
                    <a:pt x="82" y="717"/>
                  </a:cubicBezTo>
                  <a:cubicBezTo>
                    <a:pt x="76" y="725"/>
                    <a:pt x="68" y="733"/>
                    <a:pt x="60" y="738"/>
                  </a:cubicBezTo>
                  <a:cubicBezTo>
                    <a:pt x="56" y="745"/>
                    <a:pt x="53" y="755"/>
                    <a:pt x="46" y="759"/>
                  </a:cubicBezTo>
                  <a:cubicBezTo>
                    <a:pt x="43" y="764"/>
                    <a:pt x="37" y="767"/>
                    <a:pt x="31" y="773"/>
                  </a:cubicBezTo>
                  <a:cubicBezTo>
                    <a:pt x="26" y="780"/>
                    <a:pt x="25" y="789"/>
                    <a:pt x="23" y="797"/>
                  </a:cubicBezTo>
                  <a:cubicBezTo>
                    <a:pt x="20" y="803"/>
                    <a:pt x="19" y="809"/>
                    <a:pt x="17" y="816"/>
                  </a:cubicBezTo>
                  <a:cubicBezTo>
                    <a:pt x="15" y="817"/>
                    <a:pt x="14" y="824"/>
                    <a:pt x="14" y="824"/>
                  </a:cubicBezTo>
                  <a:cubicBezTo>
                    <a:pt x="15" y="831"/>
                    <a:pt x="26" y="842"/>
                    <a:pt x="26" y="842"/>
                  </a:cubicBezTo>
                  <a:cubicBezTo>
                    <a:pt x="26" y="847"/>
                    <a:pt x="17" y="855"/>
                    <a:pt x="17" y="855"/>
                  </a:cubicBezTo>
                  <a:cubicBezTo>
                    <a:pt x="14" y="863"/>
                    <a:pt x="17" y="867"/>
                    <a:pt x="25" y="870"/>
                  </a:cubicBezTo>
                  <a:cubicBezTo>
                    <a:pt x="28" y="884"/>
                    <a:pt x="17" y="902"/>
                    <a:pt x="6" y="909"/>
                  </a:cubicBezTo>
                  <a:cubicBezTo>
                    <a:pt x="0" y="927"/>
                    <a:pt x="5" y="927"/>
                    <a:pt x="12" y="941"/>
                  </a:cubicBezTo>
                  <a:cubicBezTo>
                    <a:pt x="23" y="963"/>
                    <a:pt x="29" y="969"/>
                    <a:pt x="53" y="977"/>
                  </a:cubicBezTo>
                  <a:cubicBezTo>
                    <a:pt x="60" y="986"/>
                    <a:pt x="56" y="983"/>
                    <a:pt x="63" y="989"/>
                  </a:cubicBezTo>
                  <a:cubicBezTo>
                    <a:pt x="62" y="994"/>
                    <a:pt x="59" y="997"/>
                    <a:pt x="59" y="1002"/>
                  </a:cubicBezTo>
                  <a:cubicBezTo>
                    <a:pt x="57" y="1009"/>
                    <a:pt x="70" y="1020"/>
                    <a:pt x="74" y="1027"/>
                  </a:cubicBezTo>
                  <a:cubicBezTo>
                    <a:pt x="77" y="1031"/>
                    <a:pt x="91" y="1036"/>
                    <a:pt x="91" y="1036"/>
                  </a:cubicBezTo>
                  <a:cubicBezTo>
                    <a:pt x="94" y="1036"/>
                    <a:pt x="96" y="1036"/>
                    <a:pt x="98" y="1034"/>
                  </a:cubicBezTo>
                  <a:cubicBezTo>
                    <a:pt x="99" y="1034"/>
                    <a:pt x="98" y="1031"/>
                    <a:pt x="99" y="1030"/>
                  </a:cubicBezTo>
                  <a:cubicBezTo>
                    <a:pt x="101" y="1030"/>
                    <a:pt x="107" y="1038"/>
                    <a:pt x="108" y="1038"/>
                  </a:cubicBezTo>
                  <a:cubicBezTo>
                    <a:pt x="119" y="1047"/>
                    <a:pt x="133" y="1055"/>
                    <a:pt x="146" y="1059"/>
                  </a:cubicBezTo>
                  <a:cubicBezTo>
                    <a:pt x="149" y="1067"/>
                    <a:pt x="152" y="1066"/>
                    <a:pt x="159" y="1064"/>
                  </a:cubicBezTo>
                  <a:cubicBezTo>
                    <a:pt x="163" y="1061"/>
                    <a:pt x="166" y="1059"/>
                    <a:pt x="169" y="1058"/>
                  </a:cubicBezTo>
                  <a:cubicBezTo>
                    <a:pt x="172" y="1056"/>
                    <a:pt x="178" y="1055"/>
                    <a:pt x="178" y="1055"/>
                  </a:cubicBezTo>
                  <a:cubicBezTo>
                    <a:pt x="192" y="1059"/>
                    <a:pt x="209" y="1061"/>
                    <a:pt x="224" y="1063"/>
                  </a:cubicBezTo>
                  <a:cubicBezTo>
                    <a:pt x="231" y="1067"/>
                    <a:pt x="229" y="1070"/>
                    <a:pt x="238" y="1069"/>
                  </a:cubicBezTo>
                  <a:cubicBezTo>
                    <a:pt x="238" y="1063"/>
                    <a:pt x="238" y="1056"/>
                    <a:pt x="238" y="1050"/>
                  </a:cubicBezTo>
                  <a:cubicBezTo>
                    <a:pt x="241" y="1041"/>
                    <a:pt x="257" y="1059"/>
                    <a:pt x="260" y="1061"/>
                  </a:cubicBezTo>
                  <a:cubicBezTo>
                    <a:pt x="266" y="1050"/>
                    <a:pt x="279" y="1052"/>
                    <a:pt x="291" y="1050"/>
                  </a:cubicBezTo>
                  <a:cubicBezTo>
                    <a:pt x="297" y="1049"/>
                    <a:pt x="302" y="1044"/>
                    <a:pt x="308" y="1041"/>
                  </a:cubicBezTo>
                  <a:cubicBezTo>
                    <a:pt x="319" y="1042"/>
                    <a:pt x="330" y="1045"/>
                    <a:pt x="341" y="1049"/>
                  </a:cubicBezTo>
                  <a:cubicBezTo>
                    <a:pt x="342" y="1050"/>
                    <a:pt x="344" y="1055"/>
                    <a:pt x="344" y="1058"/>
                  </a:cubicBezTo>
                  <a:cubicBezTo>
                    <a:pt x="344" y="1061"/>
                    <a:pt x="342" y="1067"/>
                    <a:pt x="342" y="1067"/>
                  </a:cubicBezTo>
                  <a:cubicBezTo>
                    <a:pt x="347" y="1070"/>
                    <a:pt x="355" y="1072"/>
                    <a:pt x="361" y="1075"/>
                  </a:cubicBezTo>
                  <a:cubicBezTo>
                    <a:pt x="362" y="1075"/>
                    <a:pt x="365" y="1077"/>
                    <a:pt x="365" y="1077"/>
                  </a:cubicBezTo>
                  <a:cubicBezTo>
                    <a:pt x="375" y="1074"/>
                    <a:pt x="384" y="1074"/>
                    <a:pt x="393" y="1080"/>
                  </a:cubicBezTo>
                  <a:cubicBezTo>
                    <a:pt x="396" y="1083"/>
                    <a:pt x="398" y="1088"/>
                    <a:pt x="401" y="1092"/>
                  </a:cubicBezTo>
                  <a:cubicBezTo>
                    <a:pt x="404" y="1095"/>
                    <a:pt x="407" y="1102"/>
                    <a:pt x="407" y="1102"/>
                  </a:cubicBezTo>
                  <a:cubicBezTo>
                    <a:pt x="404" y="1114"/>
                    <a:pt x="399" y="1127"/>
                    <a:pt x="396" y="1138"/>
                  </a:cubicBezTo>
                  <a:cubicBezTo>
                    <a:pt x="393" y="1147"/>
                    <a:pt x="395" y="1141"/>
                    <a:pt x="389" y="1152"/>
                  </a:cubicBezTo>
                  <a:cubicBezTo>
                    <a:pt x="387" y="1153"/>
                    <a:pt x="385" y="1156"/>
                    <a:pt x="385" y="1156"/>
                  </a:cubicBezTo>
                  <a:cubicBezTo>
                    <a:pt x="389" y="1185"/>
                    <a:pt x="396" y="1180"/>
                    <a:pt x="410" y="1197"/>
                  </a:cubicBezTo>
                  <a:cubicBezTo>
                    <a:pt x="427" y="1219"/>
                    <a:pt x="440" y="1239"/>
                    <a:pt x="447" y="1266"/>
                  </a:cubicBezTo>
                  <a:cubicBezTo>
                    <a:pt x="446" y="1280"/>
                    <a:pt x="452" y="1314"/>
                    <a:pt x="435" y="1325"/>
                  </a:cubicBezTo>
                  <a:cubicBezTo>
                    <a:pt x="427" y="1347"/>
                    <a:pt x="433" y="1325"/>
                    <a:pt x="430" y="1367"/>
                  </a:cubicBezTo>
                  <a:cubicBezTo>
                    <a:pt x="429" y="1377"/>
                    <a:pt x="421" y="1381"/>
                    <a:pt x="418" y="1391"/>
                  </a:cubicBezTo>
                  <a:cubicBezTo>
                    <a:pt x="421" y="1413"/>
                    <a:pt x="430" y="1422"/>
                    <a:pt x="446" y="1438"/>
                  </a:cubicBezTo>
                  <a:cubicBezTo>
                    <a:pt x="449" y="1441"/>
                    <a:pt x="450" y="1442"/>
                    <a:pt x="452" y="1447"/>
                  </a:cubicBezTo>
                  <a:cubicBezTo>
                    <a:pt x="454" y="1450"/>
                    <a:pt x="455" y="1456"/>
                    <a:pt x="455" y="1456"/>
                  </a:cubicBezTo>
                  <a:cubicBezTo>
                    <a:pt x="457" y="1475"/>
                    <a:pt x="458" y="1488"/>
                    <a:pt x="460" y="1505"/>
                  </a:cubicBezTo>
                  <a:cubicBezTo>
                    <a:pt x="461" y="1514"/>
                    <a:pt x="461" y="1511"/>
                    <a:pt x="464" y="1522"/>
                  </a:cubicBezTo>
                  <a:cubicBezTo>
                    <a:pt x="466" y="1524"/>
                    <a:pt x="466" y="1527"/>
                    <a:pt x="466" y="1527"/>
                  </a:cubicBezTo>
                  <a:cubicBezTo>
                    <a:pt x="468" y="1542"/>
                    <a:pt x="469" y="1552"/>
                    <a:pt x="481" y="1561"/>
                  </a:cubicBezTo>
                  <a:cubicBezTo>
                    <a:pt x="485" y="1566"/>
                    <a:pt x="488" y="1569"/>
                    <a:pt x="494" y="1572"/>
                  </a:cubicBezTo>
                  <a:cubicBezTo>
                    <a:pt x="497" y="1585"/>
                    <a:pt x="503" y="1597"/>
                    <a:pt x="506" y="1610"/>
                  </a:cubicBezTo>
                  <a:cubicBezTo>
                    <a:pt x="506" y="1614"/>
                    <a:pt x="508" y="1619"/>
                    <a:pt x="505" y="1622"/>
                  </a:cubicBezTo>
                  <a:cubicBezTo>
                    <a:pt x="503" y="1625"/>
                    <a:pt x="497" y="1628"/>
                    <a:pt x="497" y="1628"/>
                  </a:cubicBezTo>
                  <a:cubicBezTo>
                    <a:pt x="488" y="1642"/>
                    <a:pt x="509" y="1644"/>
                    <a:pt x="517" y="1644"/>
                  </a:cubicBezTo>
                  <a:cubicBezTo>
                    <a:pt x="539" y="1639"/>
                    <a:pt x="557" y="1635"/>
                    <a:pt x="579" y="1633"/>
                  </a:cubicBezTo>
                  <a:cubicBezTo>
                    <a:pt x="598" y="1630"/>
                    <a:pt x="613" y="1627"/>
                    <a:pt x="632" y="1624"/>
                  </a:cubicBezTo>
                  <a:cubicBezTo>
                    <a:pt x="635" y="1624"/>
                    <a:pt x="638" y="1622"/>
                    <a:pt x="641" y="1621"/>
                  </a:cubicBezTo>
                  <a:cubicBezTo>
                    <a:pt x="642" y="1621"/>
                    <a:pt x="644" y="1619"/>
                    <a:pt x="646" y="1617"/>
                  </a:cubicBezTo>
                  <a:cubicBezTo>
                    <a:pt x="649" y="1617"/>
                    <a:pt x="655" y="1616"/>
                    <a:pt x="655" y="1616"/>
                  </a:cubicBezTo>
                  <a:cubicBezTo>
                    <a:pt x="659" y="1610"/>
                    <a:pt x="664" y="1603"/>
                    <a:pt x="670" y="1600"/>
                  </a:cubicBezTo>
                  <a:cubicBezTo>
                    <a:pt x="675" y="1594"/>
                    <a:pt x="678" y="1591"/>
                    <a:pt x="683" y="1588"/>
                  </a:cubicBezTo>
                  <a:cubicBezTo>
                    <a:pt x="687" y="1581"/>
                    <a:pt x="697" y="1577"/>
                    <a:pt x="704" y="1574"/>
                  </a:cubicBezTo>
                  <a:cubicBezTo>
                    <a:pt x="715" y="1563"/>
                    <a:pt x="726" y="1550"/>
                    <a:pt x="731" y="1535"/>
                  </a:cubicBezTo>
                  <a:cubicBezTo>
                    <a:pt x="731" y="1531"/>
                    <a:pt x="729" y="1528"/>
                    <a:pt x="729" y="1525"/>
                  </a:cubicBezTo>
                  <a:cubicBezTo>
                    <a:pt x="729" y="1494"/>
                    <a:pt x="737" y="1505"/>
                    <a:pt x="754" y="1494"/>
                  </a:cubicBezTo>
                  <a:cubicBezTo>
                    <a:pt x="759" y="1488"/>
                    <a:pt x="762" y="1483"/>
                    <a:pt x="765" y="1475"/>
                  </a:cubicBezTo>
                  <a:cubicBezTo>
                    <a:pt x="763" y="1458"/>
                    <a:pt x="765" y="1439"/>
                    <a:pt x="755" y="1424"/>
                  </a:cubicBezTo>
                  <a:cubicBezTo>
                    <a:pt x="759" y="1413"/>
                    <a:pt x="771" y="1419"/>
                    <a:pt x="779" y="1422"/>
                  </a:cubicBezTo>
                  <a:cubicBezTo>
                    <a:pt x="782" y="1427"/>
                    <a:pt x="782" y="1435"/>
                    <a:pt x="785" y="1427"/>
                  </a:cubicBezTo>
                  <a:cubicBezTo>
                    <a:pt x="786" y="1416"/>
                    <a:pt x="786" y="1405"/>
                    <a:pt x="786" y="1396"/>
                  </a:cubicBezTo>
                  <a:cubicBezTo>
                    <a:pt x="788" y="1386"/>
                    <a:pt x="810" y="1385"/>
                    <a:pt x="817" y="1380"/>
                  </a:cubicBezTo>
                  <a:cubicBezTo>
                    <a:pt x="820" y="1374"/>
                    <a:pt x="831" y="1367"/>
                    <a:pt x="837" y="1363"/>
                  </a:cubicBezTo>
                  <a:cubicBezTo>
                    <a:pt x="841" y="1361"/>
                    <a:pt x="847" y="1356"/>
                    <a:pt x="847" y="1356"/>
                  </a:cubicBezTo>
                  <a:cubicBezTo>
                    <a:pt x="855" y="1345"/>
                    <a:pt x="845" y="1333"/>
                    <a:pt x="844" y="1320"/>
                  </a:cubicBezTo>
                  <a:cubicBezTo>
                    <a:pt x="845" y="1310"/>
                    <a:pt x="847" y="1308"/>
                    <a:pt x="850" y="1299"/>
                  </a:cubicBezTo>
                  <a:cubicBezTo>
                    <a:pt x="847" y="1288"/>
                    <a:pt x="842" y="1288"/>
                    <a:pt x="834" y="1280"/>
                  </a:cubicBezTo>
                  <a:cubicBezTo>
                    <a:pt x="833" y="1275"/>
                    <a:pt x="830" y="1266"/>
                    <a:pt x="830" y="1266"/>
                  </a:cubicBezTo>
                  <a:cubicBezTo>
                    <a:pt x="831" y="1250"/>
                    <a:pt x="831" y="1236"/>
                    <a:pt x="831" y="1220"/>
                  </a:cubicBezTo>
                  <a:cubicBezTo>
                    <a:pt x="833" y="1192"/>
                    <a:pt x="861" y="1183"/>
                    <a:pt x="876" y="1166"/>
                  </a:cubicBezTo>
                  <a:cubicBezTo>
                    <a:pt x="879" y="1160"/>
                    <a:pt x="884" y="1160"/>
                    <a:pt x="885" y="1153"/>
                  </a:cubicBezTo>
                  <a:cubicBezTo>
                    <a:pt x="890" y="1144"/>
                    <a:pt x="889" y="1142"/>
                    <a:pt x="895" y="1136"/>
                  </a:cubicBezTo>
                  <a:cubicBezTo>
                    <a:pt x="898" y="1127"/>
                    <a:pt x="906" y="1114"/>
                    <a:pt x="915" y="1111"/>
                  </a:cubicBezTo>
                  <a:cubicBezTo>
                    <a:pt x="920" y="1105"/>
                    <a:pt x="924" y="1099"/>
                    <a:pt x="930" y="1094"/>
                  </a:cubicBezTo>
                  <a:cubicBezTo>
                    <a:pt x="935" y="1089"/>
                    <a:pt x="938" y="1089"/>
                    <a:pt x="943" y="1084"/>
                  </a:cubicBezTo>
                  <a:cubicBezTo>
                    <a:pt x="947" y="1080"/>
                    <a:pt x="949" y="1078"/>
                    <a:pt x="955" y="1077"/>
                  </a:cubicBezTo>
                  <a:cubicBezTo>
                    <a:pt x="961" y="1066"/>
                    <a:pt x="958" y="1069"/>
                    <a:pt x="966" y="1064"/>
                  </a:cubicBezTo>
                  <a:cubicBezTo>
                    <a:pt x="972" y="1055"/>
                    <a:pt x="978" y="1045"/>
                    <a:pt x="983" y="1036"/>
                  </a:cubicBezTo>
                  <a:cubicBezTo>
                    <a:pt x="988" y="1030"/>
                    <a:pt x="989" y="1019"/>
                    <a:pt x="991" y="1013"/>
                  </a:cubicBezTo>
                  <a:cubicBezTo>
                    <a:pt x="994" y="1003"/>
                    <a:pt x="992" y="1009"/>
                    <a:pt x="998" y="999"/>
                  </a:cubicBezTo>
                  <a:cubicBezTo>
                    <a:pt x="1003" y="992"/>
                    <a:pt x="1003" y="984"/>
                    <a:pt x="1005" y="977"/>
                  </a:cubicBezTo>
                  <a:cubicBezTo>
                    <a:pt x="1003" y="966"/>
                    <a:pt x="1000" y="970"/>
                    <a:pt x="989" y="974"/>
                  </a:cubicBezTo>
                  <a:cubicBezTo>
                    <a:pt x="971" y="986"/>
                    <a:pt x="941" y="983"/>
                    <a:pt x="921" y="983"/>
                  </a:cubicBezTo>
                  <a:cubicBezTo>
                    <a:pt x="892" y="981"/>
                    <a:pt x="895" y="977"/>
                    <a:pt x="878" y="961"/>
                  </a:cubicBezTo>
                  <a:cubicBezTo>
                    <a:pt x="875" y="949"/>
                    <a:pt x="867" y="944"/>
                    <a:pt x="858" y="936"/>
                  </a:cubicBezTo>
                  <a:cubicBezTo>
                    <a:pt x="853" y="933"/>
                    <a:pt x="844" y="930"/>
                    <a:pt x="844" y="930"/>
                  </a:cubicBezTo>
                  <a:cubicBezTo>
                    <a:pt x="837" y="909"/>
                    <a:pt x="828" y="891"/>
                    <a:pt x="817" y="872"/>
                  </a:cubicBezTo>
                  <a:cubicBezTo>
                    <a:pt x="811" y="866"/>
                    <a:pt x="816" y="869"/>
                    <a:pt x="805" y="863"/>
                  </a:cubicBezTo>
                  <a:cubicBezTo>
                    <a:pt x="802" y="859"/>
                    <a:pt x="796" y="856"/>
                    <a:pt x="796" y="856"/>
                  </a:cubicBezTo>
                  <a:cubicBezTo>
                    <a:pt x="786" y="842"/>
                    <a:pt x="794" y="825"/>
                    <a:pt x="785" y="813"/>
                  </a:cubicBezTo>
                  <a:cubicBezTo>
                    <a:pt x="774" y="794"/>
                    <a:pt x="759" y="772"/>
                    <a:pt x="745" y="758"/>
                  </a:cubicBezTo>
                  <a:cubicBezTo>
                    <a:pt x="742" y="744"/>
                    <a:pt x="737" y="736"/>
                    <a:pt x="729" y="723"/>
                  </a:cubicBezTo>
                  <a:cubicBezTo>
                    <a:pt x="726" y="720"/>
                    <a:pt x="723" y="709"/>
                    <a:pt x="723" y="709"/>
                  </a:cubicBezTo>
                  <a:cubicBezTo>
                    <a:pt x="740" y="705"/>
                    <a:pt x="757" y="733"/>
                    <a:pt x="766" y="744"/>
                  </a:cubicBezTo>
                  <a:cubicBezTo>
                    <a:pt x="771" y="758"/>
                    <a:pt x="771" y="759"/>
                    <a:pt x="786" y="764"/>
                  </a:cubicBezTo>
                  <a:cubicBezTo>
                    <a:pt x="793" y="766"/>
                    <a:pt x="800" y="773"/>
                    <a:pt x="800" y="773"/>
                  </a:cubicBezTo>
                  <a:cubicBezTo>
                    <a:pt x="803" y="780"/>
                    <a:pt x="808" y="784"/>
                    <a:pt x="813" y="791"/>
                  </a:cubicBezTo>
                  <a:cubicBezTo>
                    <a:pt x="813" y="803"/>
                    <a:pt x="814" y="809"/>
                    <a:pt x="817" y="819"/>
                  </a:cubicBezTo>
                  <a:cubicBezTo>
                    <a:pt x="819" y="842"/>
                    <a:pt x="820" y="841"/>
                    <a:pt x="839" y="847"/>
                  </a:cubicBezTo>
                  <a:cubicBezTo>
                    <a:pt x="844" y="852"/>
                    <a:pt x="847" y="856"/>
                    <a:pt x="851" y="861"/>
                  </a:cubicBezTo>
                  <a:cubicBezTo>
                    <a:pt x="851" y="863"/>
                    <a:pt x="853" y="864"/>
                    <a:pt x="853" y="866"/>
                  </a:cubicBezTo>
                  <a:cubicBezTo>
                    <a:pt x="853" y="869"/>
                    <a:pt x="853" y="874"/>
                    <a:pt x="855" y="877"/>
                  </a:cubicBezTo>
                  <a:cubicBezTo>
                    <a:pt x="856" y="884"/>
                    <a:pt x="870" y="889"/>
                    <a:pt x="875" y="894"/>
                  </a:cubicBezTo>
                  <a:cubicBezTo>
                    <a:pt x="887" y="927"/>
                    <a:pt x="870" y="945"/>
                    <a:pt x="910" y="955"/>
                  </a:cubicBezTo>
                  <a:cubicBezTo>
                    <a:pt x="921" y="953"/>
                    <a:pt x="926" y="955"/>
                    <a:pt x="933" y="949"/>
                  </a:cubicBezTo>
                  <a:cubicBezTo>
                    <a:pt x="938" y="942"/>
                    <a:pt x="944" y="941"/>
                    <a:pt x="951" y="936"/>
                  </a:cubicBezTo>
                  <a:cubicBezTo>
                    <a:pt x="972" y="924"/>
                    <a:pt x="978" y="920"/>
                    <a:pt x="1003" y="916"/>
                  </a:cubicBezTo>
                  <a:cubicBezTo>
                    <a:pt x="1009" y="914"/>
                    <a:pt x="1017" y="911"/>
                    <a:pt x="1025" y="909"/>
                  </a:cubicBezTo>
                  <a:cubicBezTo>
                    <a:pt x="1031" y="906"/>
                    <a:pt x="1036" y="899"/>
                    <a:pt x="1042" y="897"/>
                  </a:cubicBezTo>
                  <a:cubicBezTo>
                    <a:pt x="1051" y="894"/>
                    <a:pt x="1060" y="894"/>
                    <a:pt x="1068" y="888"/>
                  </a:cubicBezTo>
                  <a:cubicBezTo>
                    <a:pt x="1073" y="881"/>
                    <a:pt x="1079" y="877"/>
                    <a:pt x="1084" y="869"/>
                  </a:cubicBezTo>
                  <a:cubicBezTo>
                    <a:pt x="1087" y="861"/>
                    <a:pt x="1088" y="850"/>
                    <a:pt x="1098" y="844"/>
                  </a:cubicBezTo>
                  <a:cubicBezTo>
                    <a:pt x="1104" y="836"/>
                    <a:pt x="1105" y="825"/>
                    <a:pt x="1108" y="816"/>
                  </a:cubicBezTo>
                  <a:cubicBezTo>
                    <a:pt x="1110" y="811"/>
                    <a:pt x="1115" y="808"/>
                    <a:pt x="1116" y="803"/>
                  </a:cubicBezTo>
                  <a:cubicBezTo>
                    <a:pt x="1110" y="800"/>
                    <a:pt x="1110" y="805"/>
                    <a:pt x="1102" y="808"/>
                  </a:cubicBezTo>
                  <a:cubicBezTo>
                    <a:pt x="1099" y="802"/>
                    <a:pt x="1104" y="795"/>
                    <a:pt x="1098" y="792"/>
                  </a:cubicBezTo>
                  <a:cubicBezTo>
                    <a:pt x="1094" y="789"/>
                    <a:pt x="1084" y="788"/>
                    <a:pt x="1084" y="788"/>
                  </a:cubicBezTo>
                  <a:cubicBezTo>
                    <a:pt x="1077" y="780"/>
                    <a:pt x="1076" y="783"/>
                    <a:pt x="1067" y="786"/>
                  </a:cubicBezTo>
                  <a:cubicBezTo>
                    <a:pt x="1064" y="788"/>
                    <a:pt x="1057" y="789"/>
                    <a:pt x="1057" y="789"/>
                  </a:cubicBezTo>
                  <a:cubicBezTo>
                    <a:pt x="1054" y="789"/>
                    <a:pt x="1051" y="789"/>
                    <a:pt x="1048" y="788"/>
                  </a:cubicBezTo>
                  <a:cubicBezTo>
                    <a:pt x="1046" y="786"/>
                    <a:pt x="1045" y="778"/>
                    <a:pt x="1045" y="778"/>
                  </a:cubicBezTo>
                  <a:cubicBezTo>
                    <a:pt x="1046" y="778"/>
                    <a:pt x="1048" y="777"/>
                    <a:pt x="1050" y="775"/>
                  </a:cubicBezTo>
                  <a:cubicBezTo>
                    <a:pt x="1060" y="772"/>
                    <a:pt x="1067" y="778"/>
                    <a:pt x="1060" y="763"/>
                  </a:cubicBezTo>
                  <a:cubicBezTo>
                    <a:pt x="1059" y="763"/>
                    <a:pt x="1057" y="761"/>
                    <a:pt x="1056" y="761"/>
                  </a:cubicBezTo>
                  <a:cubicBezTo>
                    <a:pt x="1053" y="761"/>
                    <a:pt x="1048" y="761"/>
                    <a:pt x="1046" y="763"/>
                  </a:cubicBezTo>
                  <a:cubicBezTo>
                    <a:pt x="1046" y="764"/>
                    <a:pt x="1045" y="766"/>
                    <a:pt x="1043" y="767"/>
                  </a:cubicBezTo>
                  <a:cubicBezTo>
                    <a:pt x="1036" y="775"/>
                    <a:pt x="1025" y="777"/>
                    <a:pt x="1016" y="780"/>
                  </a:cubicBezTo>
                  <a:cubicBezTo>
                    <a:pt x="1011" y="780"/>
                    <a:pt x="1006" y="778"/>
                    <a:pt x="1003" y="777"/>
                  </a:cubicBezTo>
                  <a:cubicBezTo>
                    <a:pt x="1002" y="777"/>
                    <a:pt x="997" y="775"/>
                    <a:pt x="997" y="775"/>
                  </a:cubicBezTo>
                  <a:cubicBezTo>
                    <a:pt x="988" y="763"/>
                    <a:pt x="986" y="761"/>
                    <a:pt x="971" y="758"/>
                  </a:cubicBezTo>
                  <a:cubicBezTo>
                    <a:pt x="971" y="753"/>
                    <a:pt x="974" y="747"/>
                    <a:pt x="971" y="742"/>
                  </a:cubicBezTo>
                  <a:cubicBezTo>
                    <a:pt x="969" y="739"/>
                    <a:pt x="960" y="736"/>
                    <a:pt x="957" y="734"/>
                  </a:cubicBezTo>
                  <a:cubicBezTo>
                    <a:pt x="954" y="733"/>
                    <a:pt x="947" y="731"/>
                    <a:pt x="947" y="731"/>
                  </a:cubicBezTo>
                  <a:cubicBezTo>
                    <a:pt x="941" y="725"/>
                    <a:pt x="935" y="722"/>
                    <a:pt x="929" y="716"/>
                  </a:cubicBezTo>
                  <a:cubicBezTo>
                    <a:pt x="930" y="706"/>
                    <a:pt x="932" y="700"/>
                    <a:pt x="941" y="697"/>
                  </a:cubicBezTo>
                  <a:cubicBezTo>
                    <a:pt x="955" y="698"/>
                    <a:pt x="968" y="702"/>
                    <a:pt x="980" y="705"/>
                  </a:cubicBezTo>
                  <a:cubicBezTo>
                    <a:pt x="986" y="711"/>
                    <a:pt x="988" y="716"/>
                    <a:pt x="995" y="720"/>
                  </a:cubicBezTo>
                  <a:cubicBezTo>
                    <a:pt x="1005" y="734"/>
                    <a:pt x="1012" y="736"/>
                    <a:pt x="1025" y="744"/>
                  </a:cubicBezTo>
                  <a:cubicBezTo>
                    <a:pt x="1033" y="742"/>
                    <a:pt x="1045" y="747"/>
                    <a:pt x="1051" y="741"/>
                  </a:cubicBezTo>
                  <a:cubicBezTo>
                    <a:pt x="1060" y="733"/>
                    <a:pt x="1048" y="738"/>
                    <a:pt x="1059" y="734"/>
                  </a:cubicBezTo>
                  <a:cubicBezTo>
                    <a:pt x="1064" y="738"/>
                    <a:pt x="1068" y="739"/>
                    <a:pt x="1073" y="742"/>
                  </a:cubicBezTo>
                  <a:cubicBezTo>
                    <a:pt x="1079" y="752"/>
                    <a:pt x="1093" y="750"/>
                    <a:pt x="1104" y="753"/>
                  </a:cubicBezTo>
                  <a:cubicBezTo>
                    <a:pt x="1121" y="764"/>
                    <a:pt x="1110" y="759"/>
                    <a:pt x="1141" y="761"/>
                  </a:cubicBezTo>
                  <a:cubicBezTo>
                    <a:pt x="1152" y="763"/>
                    <a:pt x="1156" y="766"/>
                    <a:pt x="1163" y="775"/>
                  </a:cubicBezTo>
                  <a:cubicBezTo>
                    <a:pt x="1159" y="788"/>
                    <a:pt x="1167" y="781"/>
                    <a:pt x="1173" y="777"/>
                  </a:cubicBezTo>
                  <a:cubicBezTo>
                    <a:pt x="1175" y="770"/>
                    <a:pt x="1178" y="770"/>
                    <a:pt x="1181" y="764"/>
                  </a:cubicBezTo>
                  <a:cubicBezTo>
                    <a:pt x="1190" y="767"/>
                    <a:pt x="1189" y="772"/>
                    <a:pt x="1187" y="783"/>
                  </a:cubicBezTo>
                  <a:cubicBezTo>
                    <a:pt x="1195" y="789"/>
                    <a:pt x="1206" y="786"/>
                    <a:pt x="1215" y="789"/>
                  </a:cubicBezTo>
                  <a:cubicBezTo>
                    <a:pt x="1221" y="791"/>
                    <a:pt x="1226" y="797"/>
                    <a:pt x="1234" y="800"/>
                  </a:cubicBezTo>
                  <a:cubicBezTo>
                    <a:pt x="1245" y="803"/>
                    <a:pt x="1255" y="808"/>
                    <a:pt x="1265" y="816"/>
                  </a:cubicBezTo>
                  <a:cubicBezTo>
                    <a:pt x="1268" y="827"/>
                    <a:pt x="1272" y="831"/>
                    <a:pt x="1282" y="834"/>
                  </a:cubicBezTo>
                  <a:cubicBezTo>
                    <a:pt x="1286" y="842"/>
                    <a:pt x="1288" y="847"/>
                    <a:pt x="1296" y="852"/>
                  </a:cubicBezTo>
                  <a:cubicBezTo>
                    <a:pt x="1308" y="849"/>
                    <a:pt x="1302" y="850"/>
                    <a:pt x="1314" y="847"/>
                  </a:cubicBezTo>
                  <a:cubicBezTo>
                    <a:pt x="1316" y="845"/>
                    <a:pt x="1319" y="845"/>
                    <a:pt x="1319" y="845"/>
                  </a:cubicBezTo>
                  <a:cubicBezTo>
                    <a:pt x="1328" y="852"/>
                    <a:pt x="1322" y="842"/>
                    <a:pt x="1319" y="839"/>
                  </a:cubicBezTo>
                  <a:cubicBezTo>
                    <a:pt x="1316" y="844"/>
                    <a:pt x="1311" y="847"/>
                    <a:pt x="1310" y="853"/>
                  </a:cubicBezTo>
                  <a:cubicBezTo>
                    <a:pt x="1310" y="856"/>
                    <a:pt x="1307" y="863"/>
                    <a:pt x="1307" y="863"/>
                  </a:cubicBezTo>
                  <a:cubicBezTo>
                    <a:pt x="1308" y="869"/>
                    <a:pt x="1310" y="880"/>
                    <a:pt x="1319" y="880"/>
                  </a:cubicBezTo>
                  <a:lnTo>
                    <a:pt x="1320" y="916"/>
                  </a:lnTo>
                  <a:lnTo>
                    <a:pt x="1348" y="1005"/>
                  </a:lnTo>
                  <a:lnTo>
                    <a:pt x="1373" y="1033"/>
                  </a:lnTo>
                  <a:lnTo>
                    <a:pt x="1416" y="994"/>
                  </a:lnTo>
                  <a:lnTo>
                    <a:pt x="1413" y="967"/>
                  </a:lnTo>
                  <a:lnTo>
                    <a:pt x="1424" y="959"/>
                  </a:lnTo>
                  <a:lnTo>
                    <a:pt x="1423" y="925"/>
                  </a:lnTo>
                  <a:lnTo>
                    <a:pt x="1452" y="916"/>
                  </a:lnTo>
                  <a:lnTo>
                    <a:pt x="1520" y="855"/>
                  </a:lnTo>
                  <a:lnTo>
                    <a:pt x="1533" y="839"/>
                  </a:lnTo>
                  <a:lnTo>
                    <a:pt x="1588" y="824"/>
                  </a:lnTo>
                  <a:lnTo>
                    <a:pt x="1608" y="847"/>
                  </a:lnTo>
                  <a:lnTo>
                    <a:pt x="1602" y="858"/>
                  </a:lnTo>
                  <a:lnTo>
                    <a:pt x="1619" y="875"/>
                  </a:lnTo>
                  <a:lnTo>
                    <a:pt x="1624" y="899"/>
                  </a:lnTo>
                  <a:lnTo>
                    <a:pt x="1641" y="906"/>
                  </a:lnTo>
                  <a:lnTo>
                    <a:pt x="1677" y="892"/>
                  </a:lnTo>
                  <a:lnTo>
                    <a:pt x="1675" y="975"/>
                  </a:lnTo>
                  <a:lnTo>
                    <a:pt x="1684" y="956"/>
                  </a:lnTo>
                  <a:lnTo>
                    <a:pt x="1707" y="1000"/>
                  </a:lnTo>
                  <a:lnTo>
                    <a:pt x="1704" y="1030"/>
                  </a:lnTo>
                  <a:lnTo>
                    <a:pt x="1718" y="1013"/>
                  </a:lnTo>
                  <a:lnTo>
                    <a:pt x="1721" y="997"/>
                  </a:lnTo>
                  <a:lnTo>
                    <a:pt x="1738" y="972"/>
                  </a:lnTo>
                  <a:lnTo>
                    <a:pt x="1728" y="958"/>
                  </a:lnTo>
                  <a:lnTo>
                    <a:pt x="1737" y="942"/>
                  </a:lnTo>
                  <a:lnTo>
                    <a:pt x="1725" y="913"/>
                  </a:lnTo>
                  <a:lnTo>
                    <a:pt x="1732" y="889"/>
                  </a:lnTo>
                  <a:lnTo>
                    <a:pt x="1715" y="895"/>
                  </a:lnTo>
                  <a:lnTo>
                    <a:pt x="1707" y="874"/>
                  </a:lnTo>
                  <a:lnTo>
                    <a:pt x="1701" y="844"/>
                  </a:lnTo>
                  <a:lnTo>
                    <a:pt x="1714" y="816"/>
                  </a:lnTo>
                  <a:lnTo>
                    <a:pt x="1728" y="834"/>
                  </a:lnTo>
                  <a:lnTo>
                    <a:pt x="1721" y="880"/>
                  </a:lnTo>
                  <a:lnTo>
                    <a:pt x="1738" y="849"/>
                  </a:lnTo>
                  <a:lnTo>
                    <a:pt x="1732" y="824"/>
                  </a:lnTo>
                  <a:lnTo>
                    <a:pt x="1752" y="808"/>
                  </a:lnTo>
                  <a:lnTo>
                    <a:pt x="1752" y="797"/>
                  </a:lnTo>
                  <a:lnTo>
                    <a:pt x="1759" y="800"/>
                  </a:lnTo>
                  <a:lnTo>
                    <a:pt x="1796" y="756"/>
                  </a:lnTo>
                  <a:lnTo>
                    <a:pt x="1805" y="684"/>
                  </a:lnTo>
                  <a:lnTo>
                    <a:pt x="1810" y="655"/>
                  </a:lnTo>
                  <a:lnTo>
                    <a:pt x="1794" y="664"/>
                  </a:lnTo>
                  <a:lnTo>
                    <a:pt x="1788" y="655"/>
                  </a:lnTo>
                  <a:lnTo>
                    <a:pt x="1800" y="638"/>
                  </a:lnTo>
                  <a:lnTo>
                    <a:pt x="1776" y="592"/>
                  </a:lnTo>
                  <a:lnTo>
                    <a:pt x="1763" y="580"/>
                  </a:lnTo>
                  <a:lnTo>
                    <a:pt x="1783" y="544"/>
                  </a:lnTo>
                  <a:lnTo>
                    <a:pt x="1762" y="539"/>
                  </a:lnTo>
                  <a:lnTo>
                    <a:pt x="1743" y="531"/>
                  </a:lnTo>
                  <a:lnTo>
                    <a:pt x="1751" y="503"/>
                  </a:lnTo>
                  <a:lnTo>
                    <a:pt x="1763" y="487"/>
                  </a:lnTo>
                  <a:lnTo>
                    <a:pt x="1766" y="519"/>
                  </a:lnTo>
                  <a:lnTo>
                    <a:pt x="1788" y="498"/>
                  </a:lnTo>
                  <a:lnTo>
                    <a:pt x="1805" y="497"/>
                  </a:lnTo>
                  <a:lnTo>
                    <a:pt x="1797" y="519"/>
                  </a:lnTo>
                  <a:lnTo>
                    <a:pt x="1824" y="528"/>
                  </a:lnTo>
                  <a:lnTo>
                    <a:pt x="1816" y="545"/>
                  </a:lnTo>
                  <a:lnTo>
                    <a:pt x="1830" y="559"/>
                  </a:lnTo>
                  <a:lnTo>
                    <a:pt x="1830" y="588"/>
                  </a:lnTo>
                  <a:lnTo>
                    <a:pt x="1861" y="559"/>
                  </a:lnTo>
                  <a:lnTo>
                    <a:pt x="1850" y="531"/>
                  </a:lnTo>
                  <a:lnTo>
                    <a:pt x="1821" y="489"/>
                  </a:lnTo>
                  <a:lnTo>
                    <a:pt x="1830" y="473"/>
                  </a:lnTo>
                  <a:lnTo>
                    <a:pt x="1824" y="448"/>
                  </a:lnTo>
                  <a:lnTo>
                    <a:pt x="1844" y="427"/>
                  </a:lnTo>
                  <a:lnTo>
                    <a:pt x="1868" y="416"/>
                  </a:lnTo>
                  <a:lnTo>
                    <a:pt x="1867" y="367"/>
                  </a:lnTo>
                  <a:lnTo>
                    <a:pt x="1865" y="333"/>
                  </a:lnTo>
                  <a:lnTo>
                    <a:pt x="1858" y="302"/>
                  </a:lnTo>
                  <a:lnTo>
                    <a:pt x="1830" y="248"/>
                  </a:lnTo>
                  <a:lnTo>
                    <a:pt x="1825" y="275"/>
                  </a:lnTo>
                  <a:lnTo>
                    <a:pt x="1807" y="258"/>
                  </a:lnTo>
                  <a:lnTo>
                    <a:pt x="1790" y="266"/>
                  </a:lnTo>
                  <a:lnTo>
                    <a:pt x="1805" y="226"/>
                  </a:lnTo>
                  <a:lnTo>
                    <a:pt x="1821" y="192"/>
                  </a:lnTo>
                  <a:lnTo>
                    <a:pt x="1850" y="176"/>
                  </a:lnTo>
                  <a:lnTo>
                    <a:pt x="1853" y="161"/>
                  </a:lnTo>
                  <a:lnTo>
                    <a:pt x="1873" y="155"/>
                  </a:lnTo>
                  <a:lnTo>
                    <a:pt x="1873" y="170"/>
                  </a:lnTo>
                  <a:lnTo>
                    <a:pt x="1896" y="145"/>
                  </a:lnTo>
                  <a:lnTo>
                    <a:pt x="1882" y="139"/>
                  </a:lnTo>
                  <a:lnTo>
                    <a:pt x="1882" y="120"/>
                  </a:lnTo>
                  <a:lnTo>
                    <a:pt x="1899" y="108"/>
                  </a:lnTo>
                  <a:lnTo>
                    <a:pt x="1906" y="122"/>
                  </a:lnTo>
                  <a:lnTo>
                    <a:pt x="1929" y="100"/>
                  </a:lnTo>
                  <a:lnTo>
                    <a:pt x="1926" y="120"/>
                  </a:lnTo>
                  <a:lnTo>
                    <a:pt x="1927" y="136"/>
                  </a:lnTo>
                  <a:lnTo>
                    <a:pt x="1926" y="158"/>
                  </a:lnTo>
                  <a:lnTo>
                    <a:pt x="1918" y="175"/>
                  </a:lnTo>
                  <a:lnTo>
                    <a:pt x="1932" y="197"/>
                  </a:lnTo>
                  <a:lnTo>
                    <a:pt x="1938" y="212"/>
                  </a:lnTo>
                  <a:lnTo>
                    <a:pt x="1947" y="209"/>
                  </a:lnTo>
                  <a:lnTo>
                    <a:pt x="1992" y="256"/>
                  </a:lnTo>
                  <a:lnTo>
                    <a:pt x="2002" y="233"/>
                  </a:lnTo>
                  <a:lnTo>
                    <a:pt x="2014" y="216"/>
                  </a:lnTo>
                  <a:lnTo>
                    <a:pt x="1994" y="205"/>
                  </a:lnTo>
                  <a:lnTo>
                    <a:pt x="1999" y="184"/>
                  </a:lnTo>
                  <a:lnTo>
                    <a:pt x="1999" y="172"/>
                  </a:lnTo>
                  <a:lnTo>
                    <a:pt x="1978" y="150"/>
                  </a:lnTo>
                  <a:lnTo>
                    <a:pt x="1960" y="147"/>
                  </a:lnTo>
                  <a:lnTo>
                    <a:pt x="1943" y="123"/>
                  </a:lnTo>
                  <a:lnTo>
                    <a:pt x="1966" y="119"/>
                  </a:lnTo>
                  <a:lnTo>
                    <a:pt x="1977" y="100"/>
                  </a:lnTo>
                  <a:lnTo>
                    <a:pt x="1991" y="106"/>
                  </a:lnTo>
                  <a:lnTo>
                    <a:pt x="2005" y="98"/>
                  </a:lnTo>
                  <a:lnTo>
                    <a:pt x="1990" y="80"/>
                  </a:lnTo>
                  <a:lnTo>
                    <a:pt x="2002" y="69"/>
                  </a:lnTo>
                  <a:lnTo>
                    <a:pt x="2021" y="68"/>
                  </a:lnTo>
                  <a:lnTo>
                    <a:pt x="2000" y="53"/>
                  </a:lnTo>
                  <a:lnTo>
                    <a:pt x="1975" y="51"/>
                  </a:lnTo>
                  <a:lnTo>
                    <a:pt x="1990" y="32"/>
                  </a:lnTo>
                  <a:lnTo>
                    <a:pt x="1989" y="11"/>
                  </a:lnTo>
                  <a:lnTo>
                    <a:pt x="2005" y="27"/>
                  </a:lnTo>
                  <a:lnTo>
                    <a:pt x="2015" y="18"/>
                  </a:lnTo>
                  <a:lnTo>
                    <a:pt x="2024" y="21"/>
                  </a:lnTo>
                  <a:lnTo>
                    <a:pt x="2038" y="36"/>
                  </a:lnTo>
                  <a:lnTo>
                    <a:pt x="2060" y="33"/>
                  </a:lnTo>
                  <a:lnTo>
                    <a:pt x="2042" y="15"/>
                  </a:lnTo>
                  <a:lnTo>
                    <a:pt x="2038" y="0"/>
                  </a:lnTo>
                  <a:lnTo>
                    <a:pt x="2006" y="5"/>
                  </a:lnTo>
                  <a:lnTo>
                    <a:pt x="1994" y="0"/>
                  </a:lnTo>
                  <a:lnTo>
                    <a:pt x="1955" y="11"/>
                  </a:lnTo>
                  <a:lnTo>
                    <a:pt x="1913" y="18"/>
                  </a:lnTo>
                  <a:lnTo>
                    <a:pt x="1886" y="30"/>
                  </a:lnTo>
                  <a:lnTo>
                    <a:pt x="1885" y="47"/>
                  </a:lnTo>
                  <a:lnTo>
                    <a:pt x="1864" y="50"/>
                  </a:lnTo>
                  <a:cubicBezTo>
                    <a:pt x="1858" y="55"/>
                    <a:pt x="1854" y="75"/>
                    <a:pt x="1847" y="77"/>
                  </a:cubicBezTo>
                  <a:cubicBezTo>
                    <a:pt x="1839" y="82"/>
                    <a:pt x="1830" y="65"/>
                    <a:pt x="1820" y="63"/>
                  </a:cubicBezTo>
                  <a:lnTo>
                    <a:pt x="1786" y="66"/>
                  </a:lnTo>
                  <a:lnTo>
                    <a:pt x="1732" y="56"/>
                  </a:lnTo>
                  <a:lnTo>
                    <a:pt x="1709" y="62"/>
                  </a:lnTo>
                  <a:lnTo>
                    <a:pt x="1678" y="56"/>
                  </a:lnTo>
                  <a:lnTo>
                    <a:pt x="1666" y="47"/>
                  </a:lnTo>
                  <a:lnTo>
                    <a:pt x="1643" y="50"/>
                  </a:lnTo>
                  <a:cubicBezTo>
                    <a:pt x="1635" y="52"/>
                    <a:pt x="1626" y="57"/>
                    <a:pt x="1618" y="60"/>
                  </a:cubicBezTo>
                  <a:cubicBezTo>
                    <a:pt x="1610" y="63"/>
                    <a:pt x="1603" y="67"/>
                    <a:pt x="1597" y="71"/>
                  </a:cubicBezTo>
                  <a:cubicBezTo>
                    <a:pt x="1591" y="75"/>
                    <a:pt x="1587" y="84"/>
                    <a:pt x="1583" y="83"/>
                  </a:cubicBezTo>
                  <a:cubicBezTo>
                    <a:pt x="1571" y="90"/>
                    <a:pt x="1576" y="67"/>
                    <a:pt x="1571" y="65"/>
                  </a:cubicBezTo>
                  <a:lnTo>
                    <a:pt x="1553" y="69"/>
                  </a:lnTo>
                  <a:cubicBezTo>
                    <a:pt x="1544" y="66"/>
                    <a:pt x="1531" y="50"/>
                    <a:pt x="1517" y="47"/>
                  </a:cubicBezTo>
                  <a:cubicBezTo>
                    <a:pt x="1503" y="46"/>
                    <a:pt x="1479" y="45"/>
                    <a:pt x="1468" y="48"/>
                  </a:cubicBezTo>
                  <a:cubicBezTo>
                    <a:pt x="1457" y="51"/>
                    <a:pt x="1461" y="63"/>
                    <a:pt x="1451" y="63"/>
                  </a:cubicBezTo>
                  <a:cubicBezTo>
                    <a:pt x="1439" y="66"/>
                    <a:pt x="1419" y="48"/>
                    <a:pt x="1408" y="47"/>
                  </a:cubicBezTo>
                  <a:cubicBezTo>
                    <a:pt x="1397" y="46"/>
                    <a:pt x="1390" y="59"/>
                    <a:pt x="1382" y="59"/>
                  </a:cubicBezTo>
                  <a:cubicBezTo>
                    <a:pt x="1374" y="59"/>
                    <a:pt x="1362" y="52"/>
                    <a:pt x="1357" y="47"/>
                  </a:cubicBezTo>
                  <a:cubicBezTo>
                    <a:pt x="1352" y="42"/>
                    <a:pt x="1356" y="36"/>
                    <a:pt x="1349" y="30"/>
                  </a:cubicBezTo>
                  <a:cubicBezTo>
                    <a:pt x="1333" y="26"/>
                    <a:pt x="1330" y="13"/>
                    <a:pt x="1318" y="11"/>
                  </a:cubicBezTo>
                  <a:cubicBezTo>
                    <a:pt x="1306" y="9"/>
                    <a:pt x="1287" y="20"/>
                    <a:pt x="1277" y="20"/>
                  </a:cubicBezTo>
                  <a:cubicBezTo>
                    <a:pt x="1267" y="20"/>
                    <a:pt x="1268" y="10"/>
                    <a:pt x="1259" y="9"/>
                  </a:cubicBezTo>
                  <a:lnTo>
                    <a:pt x="1222" y="14"/>
                  </a:lnTo>
                  <a:lnTo>
                    <a:pt x="1210" y="32"/>
                  </a:lnTo>
                  <a:cubicBezTo>
                    <a:pt x="1203" y="35"/>
                    <a:pt x="1187" y="28"/>
                    <a:pt x="1178" y="29"/>
                  </a:cubicBezTo>
                  <a:cubicBezTo>
                    <a:pt x="1169" y="30"/>
                    <a:pt x="1164" y="36"/>
                    <a:pt x="1154" y="39"/>
                  </a:cubicBezTo>
                  <a:cubicBezTo>
                    <a:pt x="1144" y="42"/>
                    <a:pt x="1124" y="44"/>
                    <a:pt x="1120" y="48"/>
                  </a:cubicBezTo>
                  <a:cubicBezTo>
                    <a:pt x="1109" y="57"/>
                    <a:pt x="1132" y="61"/>
                    <a:pt x="1132" y="65"/>
                  </a:cubicBezTo>
                  <a:cubicBezTo>
                    <a:pt x="1132" y="69"/>
                    <a:pt x="1126" y="70"/>
                    <a:pt x="1118" y="72"/>
                  </a:cubicBezTo>
                  <a:cubicBezTo>
                    <a:pt x="1110" y="74"/>
                    <a:pt x="1084" y="72"/>
                    <a:pt x="1085" y="77"/>
                  </a:cubicBezTo>
                  <a:cubicBezTo>
                    <a:pt x="1085" y="86"/>
                    <a:pt x="1126" y="103"/>
                    <a:pt x="1127" y="105"/>
                  </a:cubicBezTo>
                  <a:lnTo>
                    <a:pt x="1090" y="90"/>
                  </a:lnTo>
                  <a:lnTo>
                    <a:pt x="1072" y="95"/>
                  </a:lnTo>
                  <a:cubicBezTo>
                    <a:pt x="1063" y="93"/>
                    <a:pt x="1039" y="65"/>
                    <a:pt x="1033" y="80"/>
                  </a:cubicBezTo>
                  <a:cubicBezTo>
                    <a:pt x="1027" y="95"/>
                    <a:pt x="1077" y="132"/>
                    <a:pt x="1084" y="147"/>
                  </a:cubicBezTo>
                  <a:lnTo>
                    <a:pt x="1075" y="171"/>
                  </a:lnTo>
                  <a:lnTo>
                    <a:pt x="1040" y="170"/>
                  </a:lnTo>
                  <a:cubicBezTo>
                    <a:pt x="1040" y="170"/>
                    <a:pt x="1061" y="164"/>
                    <a:pt x="1060" y="155"/>
                  </a:cubicBezTo>
                  <a:cubicBezTo>
                    <a:pt x="1059" y="146"/>
                    <a:pt x="1043" y="127"/>
                    <a:pt x="1031" y="113"/>
                  </a:cubicBezTo>
                  <a:cubicBezTo>
                    <a:pt x="1025" y="101"/>
                    <a:pt x="1030" y="84"/>
                    <a:pt x="1024" y="81"/>
                  </a:cubicBezTo>
                  <a:cubicBezTo>
                    <a:pt x="1018" y="78"/>
                    <a:pt x="997" y="65"/>
                    <a:pt x="989" y="71"/>
                  </a:cubicBezTo>
                  <a:cubicBezTo>
                    <a:pt x="968" y="74"/>
                    <a:pt x="970" y="107"/>
                    <a:pt x="974" y="116"/>
                  </a:cubicBezTo>
                  <a:cubicBezTo>
                    <a:pt x="978" y="125"/>
                    <a:pt x="1009" y="122"/>
                    <a:pt x="1012" y="125"/>
                  </a:cubicBezTo>
                  <a:cubicBezTo>
                    <a:pt x="1028" y="153"/>
                    <a:pt x="1005" y="143"/>
                    <a:pt x="989" y="134"/>
                  </a:cubicBezTo>
                  <a:cubicBezTo>
                    <a:pt x="973" y="125"/>
                    <a:pt x="968" y="128"/>
                    <a:pt x="958" y="128"/>
                  </a:cubicBezTo>
                  <a:cubicBezTo>
                    <a:pt x="948" y="128"/>
                    <a:pt x="931" y="133"/>
                    <a:pt x="926" y="137"/>
                  </a:cubicBezTo>
                  <a:cubicBezTo>
                    <a:pt x="921" y="141"/>
                    <a:pt x="939" y="157"/>
                    <a:pt x="926" y="152"/>
                  </a:cubicBezTo>
                  <a:cubicBezTo>
                    <a:pt x="913" y="147"/>
                    <a:pt x="899" y="149"/>
                    <a:pt x="886" y="147"/>
                  </a:cubicBezTo>
                  <a:cubicBezTo>
                    <a:pt x="873" y="145"/>
                    <a:pt x="863" y="136"/>
                    <a:pt x="847" y="140"/>
                  </a:cubicBezTo>
                  <a:cubicBezTo>
                    <a:pt x="825" y="147"/>
                    <a:pt x="794" y="185"/>
                    <a:pt x="787" y="171"/>
                  </a:cubicBezTo>
                  <a:cubicBezTo>
                    <a:pt x="780" y="157"/>
                    <a:pt x="800" y="155"/>
                    <a:pt x="800" y="150"/>
                  </a:cubicBezTo>
                  <a:cubicBezTo>
                    <a:pt x="800" y="145"/>
                    <a:pt x="796" y="138"/>
                    <a:pt x="790" y="138"/>
                  </a:cubicBezTo>
                  <a:cubicBezTo>
                    <a:pt x="784" y="138"/>
                    <a:pt x="764" y="144"/>
                    <a:pt x="763" y="152"/>
                  </a:cubicBezTo>
                  <a:cubicBezTo>
                    <a:pt x="761" y="163"/>
                    <a:pt x="783" y="181"/>
                    <a:pt x="782" y="186"/>
                  </a:cubicBezTo>
                  <a:cubicBezTo>
                    <a:pt x="781" y="191"/>
                    <a:pt x="765" y="180"/>
                    <a:pt x="758" y="183"/>
                  </a:cubicBezTo>
                  <a:cubicBezTo>
                    <a:pt x="751" y="186"/>
                    <a:pt x="746" y="207"/>
                    <a:pt x="742" y="203"/>
                  </a:cubicBezTo>
                  <a:lnTo>
                    <a:pt x="728" y="189"/>
                  </a:lnTo>
                  <a:lnTo>
                    <a:pt x="746" y="170"/>
                  </a:lnTo>
                  <a:lnTo>
                    <a:pt x="733" y="158"/>
                  </a:lnTo>
                  <a:cubicBezTo>
                    <a:pt x="727" y="155"/>
                    <a:pt x="718" y="150"/>
                    <a:pt x="712" y="149"/>
                  </a:cubicBezTo>
                  <a:cubicBezTo>
                    <a:pt x="706" y="148"/>
                    <a:pt x="701" y="154"/>
                    <a:pt x="698" y="152"/>
                  </a:cubicBezTo>
                  <a:cubicBezTo>
                    <a:pt x="695" y="150"/>
                    <a:pt x="698" y="139"/>
                    <a:pt x="695" y="138"/>
                  </a:cubicBezTo>
                  <a:cubicBezTo>
                    <a:pt x="692" y="137"/>
                    <a:pt x="685" y="146"/>
                    <a:pt x="680" y="146"/>
                  </a:cubicBezTo>
                  <a:cubicBezTo>
                    <a:pt x="675" y="146"/>
                    <a:pt x="677" y="142"/>
                    <a:pt x="667" y="140"/>
                  </a:cubicBezTo>
                  <a:cubicBezTo>
                    <a:pt x="657" y="138"/>
                    <a:pt x="632" y="139"/>
                    <a:pt x="622" y="135"/>
                  </a:cubicBezTo>
                  <a:cubicBezTo>
                    <a:pt x="612" y="131"/>
                    <a:pt x="632" y="117"/>
                    <a:pt x="608" y="113"/>
                  </a:cubicBezTo>
                  <a:cubicBezTo>
                    <a:pt x="584" y="109"/>
                    <a:pt x="590" y="119"/>
                    <a:pt x="583" y="119"/>
                  </a:cubicBezTo>
                  <a:lnTo>
                    <a:pt x="568" y="114"/>
                  </a:lnTo>
                  <a:cubicBezTo>
                    <a:pt x="555" y="116"/>
                    <a:pt x="521" y="125"/>
                    <a:pt x="505" y="131"/>
                  </a:cubicBezTo>
                  <a:cubicBezTo>
                    <a:pt x="482" y="140"/>
                    <a:pt x="485" y="140"/>
                    <a:pt x="472" y="152"/>
                  </a:cubicBezTo>
                  <a:cubicBezTo>
                    <a:pt x="459" y="164"/>
                    <a:pt x="443" y="192"/>
                    <a:pt x="428" y="204"/>
                  </a:cubicBezTo>
                  <a:cubicBezTo>
                    <a:pt x="410" y="223"/>
                    <a:pt x="393" y="217"/>
                    <a:pt x="382" y="224"/>
                  </a:cubicBezTo>
                  <a:lnTo>
                    <a:pt x="364" y="248"/>
                  </a:lnTo>
                  <a:lnTo>
                    <a:pt x="368" y="290"/>
                  </a:lnTo>
                  <a:lnTo>
                    <a:pt x="389" y="306"/>
                  </a:lnTo>
                  <a:lnTo>
                    <a:pt x="436" y="290"/>
                  </a:lnTo>
                  <a:cubicBezTo>
                    <a:pt x="447" y="296"/>
                    <a:pt x="448" y="335"/>
                    <a:pt x="457" y="341"/>
                  </a:cubicBezTo>
                  <a:cubicBezTo>
                    <a:pt x="468" y="348"/>
                    <a:pt x="486" y="330"/>
                    <a:pt x="491" y="324"/>
                  </a:cubicBezTo>
                  <a:lnTo>
                    <a:pt x="496" y="300"/>
                  </a:lnTo>
                  <a:lnTo>
                    <a:pt x="514" y="281"/>
                  </a:lnTo>
                  <a:cubicBezTo>
                    <a:pt x="515" y="270"/>
                    <a:pt x="499" y="245"/>
                    <a:pt x="502" y="234"/>
                  </a:cubicBezTo>
                  <a:cubicBezTo>
                    <a:pt x="505" y="225"/>
                    <a:pt x="526" y="220"/>
                    <a:pt x="535" y="213"/>
                  </a:cubicBezTo>
                  <a:cubicBezTo>
                    <a:pt x="544" y="206"/>
                    <a:pt x="546" y="192"/>
                    <a:pt x="554" y="191"/>
                  </a:cubicBezTo>
                  <a:cubicBezTo>
                    <a:pt x="567" y="190"/>
                    <a:pt x="580" y="200"/>
                    <a:pt x="581" y="204"/>
                  </a:cubicBezTo>
                  <a:cubicBezTo>
                    <a:pt x="581" y="208"/>
                    <a:pt x="560" y="200"/>
                    <a:pt x="557" y="215"/>
                  </a:cubicBezTo>
                  <a:cubicBezTo>
                    <a:pt x="554" y="230"/>
                    <a:pt x="535" y="233"/>
                    <a:pt x="533" y="242"/>
                  </a:cubicBezTo>
                  <a:lnTo>
                    <a:pt x="548" y="267"/>
                  </a:lnTo>
                  <a:lnTo>
                    <a:pt x="571" y="276"/>
                  </a:lnTo>
                  <a:lnTo>
                    <a:pt x="598" y="264"/>
                  </a:lnTo>
                  <a:lnTo>
                    <a:pt x="625" y="261"/>
                  </a:lnTo>
                  <a:cubicBezTo>
                    <a:pt x="632" y="263"/>
                    <a:pt x="645" y="271"/>
                    <a:pt x="638" y="276"/>
                  </a:cubicBezTo>
                  <a:cubicBezTo>
                    <a:pt x="631" y="281"/>
                    <a:pt x="593" y="287"/>
                    <a:pt x="584" y="293"/>
                  </a:cubicBezTo>
                  <a:cubicBezTo>
                    <a:pt x="575" y="299"/>
                    <a:pt x="587" y="309"/>
                    <a:pt x="581" y="311"/>
                  </a:cubicBezTo>
                  <a:cubicBezTo>
                    <a:pt x="567" y="319"/>
                    <a:pt x="556" y="301"/>
                    <a:pt x="550" y="303"/>
                  </a:cubicBezTo>
                  <a:lnTo>
                    <a:pt x="547" y="323"/>
                  </a:lnTo>
                  <a:lnTo>
                    <a:pt x="536" y="350"/>
                  </a:lnTo>
                  <a:lnTo>
                    <a:pt x="512" y="351"/>
                  </a:lnTo>
                  <a:lnTo>
                    <a:pt x="476" y="360"/>
                  </a:lnTo>
                  <a:lnTo>
                    <a:pt x="457" y="351"/>
                  </a:lnTo>
                  <a:lnTo>
                    <a:pt x="443" y="357"/>
                  </a:lnTo>
                  <a:lnTo>
                    <a:pt x="419" y="342"/>
                  </a:lnTo>
                  <a:cubicBezTo>
                    <a:pt x="417" y="335"/>
                    <a:pt x="433" y="329"/>
                    <a:pt x="428" y="317"/>
                  </a:cubicBezTo>
                  <a:cubicBezTo>
                    <a:pt x="423" y="305"/>
                    <a:pt x="396" y="313"/>
                    <a:pt x="392" y="321"/>
                  </a:cubicBezTo>
                  <a:lnTo>
                    <a:pt x="397" y="362"/>
                  </a:lnTo>
                  <a:lnTo>
                    <a:pt x="373" y="362"/>
                  </a:lnTo>
                  <a:cubicBezTo>
                    <a:pt x="365" y="366"/>
                    <a:pt x="355" y="380"/>
                    <a:pt x="347" y="386"/>
                  </a:cubicBezTo>
                  <a:cubicBezTo>
                    <a:pt x="339" y="392"/>
                    <a:pt x="332" y="379"/>
                    <a:pt x="322" y="399"/>
                  </a:cubicBezTo>
                  <a:cubicBezTo>
                    <a:pt x="312" y="419"/>
                    <a:pt x="301" y="411"/>
                    <a:pt x="293" y="414"/>
                  </a:cubicBezTo>
                  <a:cubicBezTo>
                    <a:pt x="285" y="417"/>
                    <a:pt x="280" y="414"/>
                    <a:pt x="275" y="416"/>
                  </a:cubicBezTo>
                  <a:cubicBezTo>
                    <a:pt x="270" y="418"/>
                    <a:pt x="267" y="426"/>
                    <a:pt x="260" y="426"/>
                  </a:cubicBezTo>
                  <a:cubicBezTo>
                    <a:pt x="253" y="426"/>
                    <a:pt x="238" y="417"/>
                    <a:pt x="232" y="419"/>
                  </a:cubicBezTo>
                  <a:cubicBezTo>
                    <a:pt x="226" y="421"/>
                    <a:pt x="221" y="432"/>
                    <a:pt x="226" y="437"/>
                  </a:cubicBezTo>
                  <a:lnTo>
                    <a:pt x="263" y="449"/>
                  </a:lnTo>
                  <a:lnTo>
                    <a:pt x="272" y="474"/>
                  </a:lnTo>
                  <a:lnTo>
                    <a:pt x="262" y="503"/>
                  </a:lnTo>
                  <a:cubicBezTo>
                    <a:pt x="251" y="507"/>
                    <a:pt x="223" y="499"/>
                    <a:pt x="206" y="498"/>
                  </a:cubicBezTo>
                  <a:cubicBezTo>
                    <a:pt x="189" y="497"/>
                    <a:pt x="164" y="492"/>
                    <a:pt x="158" y="498"/>
                  </a:cubicBezTo>
                  <a:cubicBezTo>
                    <a:pt x="152" y="504"/>
                    <a:pt x="167" y="527"/>
                    <a:pt x="167" y="537"/>
                  </a:cubicBezTo>
                  <a:cubicBezTo>
                    <a:pt x="167" y="547"/>
                    <a:pt x="159" y="551"/>
                    <a:pt x="157" y="557"/>
                  </a:cubicBezTo>
                  <a:cubicBezTo>
                    <a:pt x="155" y="563"/>
                    <a:pt x="161" y="569"/>
                    <a:pt x="157" y="576"/>
                  </a:cubicBezTo>
                  <a:cubicBezTo>
                    <a:pt x="153" y="583"/>
                    <a:pt x="127" y="594"/>
                    <a:pt x="130" y="597"/>
                  </a:cubicBezTo>
                  <a:cubicBezTo>
                    <a:pt x="139" y="606"/>
                    <a:pt x="160" y="592"/>
                    <a:pt x="176" y="592"/>
                  </a:cubicBezTo>
                  <a:lnTo>
                    <a:pt x="226" y="598"/>
                  </a:lnTo>
                  <a:lnTo>
                    <a:pt x="260" y="588"/>
                  </a:lnTo>
                  <a:lnTo>
                    <a:pt x="274" y="576"/>
                  </a:lnTo>
                  <a:cubicBezTo>
                    <a:pt x="282" y="573"/>
                    <a:pt x="306" y="573"/>
                    <a:pt x="307" y="569"/>
                  </a:cubicBezTo>
                  <a:cubicBezTo>
                    <a:pt x="321" y="557"/>
                    <a:pt x="283" y="559"/>
                    <a:pt x="283" y="552"/>
                  </a:cubicBezTo>
                  <a:cubicBezTo>
                    <a:pt x="283" y="545"/>
                    <a:pt x="300" y="533"/>
                    <a:pt x="307" y="528"/>
                  </a:cubicBezTo>
                  <a:lnTo>
                    <a:pt x="325" y="522"/>
                  </a:lnTo>
                  <a:lnTo>
                    <a:pt x="320" y="503"/>
                  </a:lnTo>
                  <a:cubicBezTo>
                    <a:pt x="323" y="499"/>
                    <a:pt x="336" y="495"/>
                    <a:pt x="342" y="495"/>
                  </a:cubicBezTo>
                  <a:cubicBezTo>
                    <a:pt x="348" y="495"/>
                    <a:pt x="350" y="506"/>
                    <a:pt x="358" y="505"/>
                  </a:cubicBezTo>
                  <a:cubicBezTo>
                    <a:pt x="366" y="504"/>
                    <a:pt x="384" y="490"/>
                    <a:pt x="393" y="491"/>
                  </a:cubicBezTo>
                  <a:lnTo>
                    <a:pt x="415" y="510"/>
                  </a:lnTo>
                  <a:cubicBezTo>
                    <a:pt x="416" y="517"/>
                    <a:pt x="407" y="520"/>
                    <a:pt x="401" y="530"/>
                  </a:cubicBezTo>
                  <a:lnTo>
                    <a:pt x="381" y="573"/>
                  </a:lnTo>
                  <a:lnTo>
                    <a:pt x="406" y="576"/>
                  </a:lnTo>
                  <a:lnTo>
                    <a:pt x="412" y="561"/>
                  </a:lnTo>
                  <a:lnTo>
                    <a:pt x="404" y="543"/>
                  </a:lnTo>
                  <a:cubicBezTo>
                    <a:pt x="406" y="539"/>
                    <a:pt x="417" y="541"/>
                    <a:pt x="423" y="538"/>
                  </a:cubicBezTo>
                  <a:cubicBezTo>
                    <a:pt x="430" y="537"/>
                    <a:pt x="435" y="526"/>
                    <a:pt x="441" y="527"/>
                  </a:cubicBezTo>
                  <a:cubicBezTo>
                    <a:pt x="447" y="528"/>
                    <a:pt x="453" y="542"/>
                    <a:pt x="460" y="547"/>
                  </a:cubicBezTo>
                  <a:lnTo>
                    <a:pt x="483" y="559"/>
                  </a:lnTo>
                  <a:lnTo>
                    <a:pt x="490" y="573"/>
                  </a:lnTo>
                  <a:lnTo>
                    <a:pt x="493" y="590"/>
                  </a:lnTo>
                  <a:lnTo>
                    <a:pt x="508" y="579"/>
                  </a:lnTo>
                  <a:cubicBezTo>
                    <a:pt x="508" y="579"/>
                    <a:pt x="507" y="566"/>
                    <a:pt x="509" y="564"/>
                  </a:cubicBezTo>
                  <a:cubicBezTo>
                    <a:pt x="513" y="561"/>
                    <a:pt x="512" y="581"/>
                    <a:pt x="521" y="569"/>
                  </a:cubicBezTo>
                  <a:cubicBezTo>
                    <a:pt x="530" y="557"/>
                    <a:pt x="525" y="556"/>
                    <a:pt x="515" y="549"/>
                  </a:cubicBezTo>
                  <a:lnTo>
                    <a:pt x="468" y="523"/>
                  </a:lnTo>
                  <a:lnTo>
                    <a:pt x="441" y="508"/>
                  </a:lnTo>
                  <a:lnTo>
                    <a:pt x="455" y="480"/>
                  </a:lnTo>
                  <a:lnTo>
                    <a:pt x="464" y="498"/>
                  </a:lnTo>
                  <a:lnTo>
                    <a:pt x="487" y="512"/>
                  </a:lnTo>
                  <a:lnTo>
                    <a:pt x="517" y="527"/>
                  </a:lnTo>
                  <a:cubicBezTo>
                    <a:pt x="526" y="535"/>
                    <a:pt x="529" y="546"/>
                    <a:pt x="539" y="559"/>
                  </a:cubicBezTo>
                  <a:cubicBezTo>
                    <a:pt x="549" y="572"/>
                    <a:pt x="570" y="602"/>
                    <a:pt x="579" y="608"/>
                  </a:cubicBezTo>
                  <a:cubicBezTo>
                    <a:pt x="588" y="614"/>
                    <a:pt x="588" y="598"/>
                    <a:pt x="592" y="597"/>
                  </a:cubicBezTo>
                  <a:cubicBezTo>
                    <a:pt x="596" y="594"/>
                    <a:pt x="604" y="602"/>
                    <a:pt x="604" y="599"/>
                  </a:cubicBezTo>
                  <a:cubicBezTo>
                    <a:pt x="604" y="596"/>
                    <a:pt x="596" y="583"/>
                    <a:pt x="593" y="578"/>
                  </a:cubicBezTo>
                  <a:cubicBezTo>
                    <a:pt x="589" y="574"/>
                    <a:pt x="590" y="568"/>
                    <a:pt x="587" y="567"/>
                  </a:cubicBezTo>
                  <a:cubicBezTo>
                    <a:pt x="585" y="563"/>
                    <a:pt x="583" y="558"/>
                    <a:pt x="584" y="555"/>
                  </a:cubicBezTo>
                  <a:cubicBezTo>
                    <a:pt x="585" y="552"/>
                    <a:pt x="589" y="550"/>
                    <a:pt x="592" y="548"/>
                  </a:cubicBezTo>
                  <a:lnTo>
                    <a:pt x="601" y="542"/>
                  </a:lnTo>
                  <a:cubicBezTo>
                    <a:pt x="607" y="541"/>
                    <a:pt x="621" y="541"/>
                    <a:pt x="627" y="541"/>
                  </a:cubicBezTo>
                  <a:cubicBezTo>
                    <a:pt x="633" y="541"/>
                    <a:pt x="636" y="541"/>
                    <a:pt x="640" y="539"/>
                  </a:cubicBezTo>
                  <a:cubicBezTo>
                    <a:pt x="644" y="537"/>
                    <a:pt x="648" y="532"/>
                    <a:pt x="650" y="528"/>
                  </a:cubicBezTo>
                  <a:lnTo>
                    <a:pt x="653" y="513"/>
                  </a:lnTo>
                  <a:lnTo>
                    <a:pt x="639" y="505"/>
                  </a:lnTo>
                  <a:cubicBezTo>
                    <a:pt x="639" y="503"/>
                    <a:pt x="650" y="505"/>
                    <a:pt x="655" y="501"/>
                  </a:cubicBezTo>
                  <a:cubicBezTo>
                    <a:pt x="660" y="497"/>
                    <a:pt x="665" y="488"/>
                    <a:pt x="670" y="483"/>
                  </a:cubicBezTo>
                  <a:cubicBezTo>
                    <a:pt x="675" y="478"/>
                    <a:pt x="681" y="471"/>
                    <a:pt x="686" y="470"/>
                  </a:cubicBezTo>
                  <a:lnTo>
                    <a:pt x="703" y="476"/>
                  </a:lnTo>
                  <a:lnTo>
                    <a:pt x="718" y="494"/>
                  </a:lnTo>
                  <a:cubicBezTo>
                    <a:pt x="723" y="498"/>
                    <a:pt x="727" y="503"/>
                    <a:pt x="731" y="501"/>
                  </a:cubicBezTo>
                  <a:cubicBezTo>
                    <a:pt x="735" y="499"/>
                    <a:pt x="742" y="488"/>
                    <a:pt x="742" y="482"/>
                  </a:cubicBezTo>
                  <a:lnTo>
                    <a:pt x="728" y="466"/>
                  </a:lnTo>
                  <a:cubicBezTo>
                    <a:pt x="730" y="462"/>
                    <a:pt x="746" y="463"/>
                    <a:pt x="755" y="459"/>
                  </a:cubicBezTo>
                  <a:cubicBezTo>
                    <a:pt x="764" y="455"/>
                    <a:pt x="777" y="444"/>
                    <a:pt x="782" y="444"/>
                  </a:cubicBezTo>
                  <a:cubicBezTo>
                    <a:pt x="787" y="444"/>
                    <a:pt x="786" y="452"/>
                    <a:pt x="784" y="458"/>
                  </a:cubicBezTo>
                  <a:cubicBezTo>
                    <a:pt x="782" y="464"/>
                    <a:pt x="765" y="469"/>
                    <a:pt x="772" y="480"/>
                  </a:cubicBezTo>
                  <a:cubicBezTo>
                    <a:pt x="779" y="491"/>
                    <a:pt x="820" y="516"/>
                    <a:pt x="824" y="525"/>
                  </a:cubicBezTo>
                  <a:cubicBezTo>
                    <a:pt x="828" y="534"/>
                    <a:pt x="808" y="535"/>
                    <a:pt x="796" y="537"/>
                  </a:cubicBezTo>
                  <a:cubicBezTo>
                    <a:pt x="784" y="539"/>
                    <a:pt x="763" y="541"/>
                    <a:pt x="751" y="539"/>
                  </a:cubicBezTo>
                  <a:cubicBezTo>
                    <a:pt x="739" y="537"/>
                    <a:pt x="739" y="524"/>
                    <a:pt x="722" y="524"/>
                  </a:cubicBezTo>
                  <a:cubicBezTo>
                    <a:pt x="705" y="524"/>
                    <a:pt x="707" y="533"/>
                    <a:pt x="697" y="537"/>
                  </a:cubicBezTo>
                  <a:lnTo>
                    <a:pt x="667" y="538"/>
                  </a:lnTo>
                  <a:lnTo>
                    <a:pt x="623" y="560"/>
                  </a:lnTo>
                  <a:lnTo>
                    <a:pt x="634" y="576"/>
                  </a:lnTo>
                  <a:lnTo>
                    <a:pt x="639" y="598"/>
                  </a:lnTo>
                  <a:lnTo>
                    <a:pt x="669" y="617"/>
                  </a:lnTo>
                  <a:lnTo>
                    <a:pt x="700" y="602"/>
                  </a:lnTo>
                  <a:lnTo>
                    <a:pt x="718" y="611"/>
                  </a:lnTo>
                  <a:lnTo>
                    <a:pt x="752" y="608"/>
                  </a:lnTo>
                  <a:lnTo>
                    <a:pt x="757" y="644"/>
                  </a:lnTo>
                  <a:lnTo>
                    <a:pt x="697" y="677"/>
                  </a:ln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FF5425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</p:grpSp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016433" y="2795199"/>
            <a:ext cx="8534400" cy="1143000"/>
          </a:xfrm>
        </p:spPr>
        <p:txBody>
          <a:bodyPr/>
          <a:lstStyle>
            <a:lvl1pPr algn="ctr">
              <a:defRPr sz="4300" i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noProof="0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417038320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8" grpId="0"/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4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fld id="{C764DE79-268F-4C1A-8933-263129D2AF90}" type="datetimeFigureOut">
              <a:rPr lang="en-US" smtClean="0"/>
              <a:pPr/>
              <a:t>11/13/2025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32" descr="7">
            <a:extLst>
              <a:ext uri="{FF2B5EF4-FFF2-40B4-BE49-F238E27FC236}">
                <a16:creationId xmlns:a16="http://schemas.microsoft.com/office/drawing/2014/main" id="{685BCEC7-45C5-4A49-B69F-34F045680A7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62534" y="6165851"/>
            <a:ext cx="2785533" cy="638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31" descr="6">
            <a:extLst>
              <a:ext uri="{FF2B5EF4-FFF2-40B4-BE49-F238E27FC236}">
                <a16:creationId xmlns:a16="http://schemas.microsoft.com/office/drawing/2014/main" id="{A2C92922-05D0-4C06-A300-278F0404726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"/>
            <a:ext cx="3695700" cy="906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6" descr="2">
            <a:extLst>
              <a:ext uri="{FF2B5EF4-FFF2-40B4-BE49-F238E27FC236}">
                <a16:creationId xmlns:a16="http://schemas.microsoft.com/office/drawing/2014/main" id="{E1E926B6-6A6E-412B-88B0-151490D8C47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5700" y="441326"/>
            <a:ext cx="4656667" cy="466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24">
            <a:extLst>
              <a:ext uri="{FF2B5EF4-FFF2-40B4-BE49-F238E27FC236}">
                <a16:creationId xmlns:a16="http://schemas.microsoft.com/office/drawing/2014/main" id="{23B23CA3-28AA-4CB0-B89D-ECD0367D09FC}"/>
              </a:ext>
            </a:extLst>
          </p:cNvPr>
          <p:cNvSpPr>
            <a:spLocks noChangeArrowheads="1"/>
          </p:cNvSpPr>
          <p:nvPr userDrawn="1"/>
        </p:nvSpPr>
        <p:spPr bwMode="gray">
          <a:xfrm>
            <a:off x="0" y="1"/>
            <a:ext cx="12192000" cy="1484313"/>
          </a:xfrm>
          <a:prstGeom prst="rect">
            <a:avLst/>
          </a:prstGeom>
          <a:gradFill rotWithShape="1">
            <a:gsLst>
              <a:gs pos="0">
                <a:srgbClr val="3366FF">
                  <a:alpha val="60001"/>
                </a:srgbClr>
              </a:gs>
              <a:gs pos="100000">
                <a:srgbClr val="FFFFFF">
                  <a:alpha val="70000"/>
                </a:srgb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8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11" name="Picture 29" descr="artplus_nature_naturalcity42_f">
            <a:extLst>
              <a:ext uri="{FF2B5EF4-FFF2-40B4-BE49-F238E27FC236}">
                <a16:creationId xmlns:a16="http://schemas.microsoft.com/office/drawing/2014/main" id="{E9B18A8F-BC64-4294-A7C4-16E27561297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79417" y="6334126"/>
            <a:ext cx="1826683" cy="523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928688"/>
            <a:ext cx="105156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45546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  <p:sldLayoutId id="2147483724" r:id="rId2"/>
    <p:sldLayoutId id="2147483725" r:id="rId3"/>
    <p:sldLayoutId id="2147483729" r:id="rId4"/>
    <p:sldLayoutId id="2147483734" r:id="rId5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image" Target="../media/image6.tmp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slideLayout" Target="../slideLayouts/slideLayout4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10" Type="http://schemas.openxmlformats.org/officeDocument/2006/relationships/tags" Target="../tags/tag10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24.xml"/><Relationship Id="rId13" Type="http://schemas.openxmlformats.org/officeDocument/2006/relationships/tags" Target="../tags/tag29.xml"/><Relationship Id="rId3" Type="http://schemas.openxmlformats.org/officeDocument/2006/relationships/tags" Target="../tags/tag19.xml"/><Relationship Id="rId7" Type="http://schemas.openxmlformats.org/officeDocument/2006/relationships/tags" Target="../tags/tag23.xml"/><Relationship Id="rId12" Type="http://schemas.openxmlformats.org/officeDocument/2006/relationships/tags" Target="../tags/tag28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tags" Target="../tags/tag22.xml"/><Relationship Id="rId11" Type="http://schemas.openxmlformats.org/officeDocument/2006/relationships/tags" Target="../tags/tag27.xml"/><Relationship Id="rId5" Type="http://schemas.openxmlformats.org/officeDocument/2006/relationships/tags" Target="../tags/tag21.xml"/><Relationship Id="rId15" Type="http://schemas.openxmlformats.org/officeDocument/2006/relationships/image" Target="../media/image6.tmp"/><Relationship Id="rId10" Type="http://schemas.openxmlformats.org/officeDocument/2006/relationships/tags" Target="../tags/tag26.xml"/><Relationship Id="rId4" Type="http://schemas.openxmlformats.org/officeDocument/2006/relationships/tags" Target="../tags/tag20.xml"/><Relationship Id="rId9" Type="http://schemas.openxmlformats.org/officeDocument/2006/relationships/tags" Target="../tags/tag25.xml"/><Relationship Id="rId14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37.xml"/><Relationship Id="rId3" Type="http://schemas.openxmlformats.org/officeDocument/2006/relationships/tags" Target="../tags/tag32.xml"/><Relationship Id="rId7" Type="http://schemas.openxmlformats.org/officeDocument/2006/relationships/tags" Target="../tags/tag36.xml"/><Relationship Id="rId2" Type="http://schemas.openxmlformats.org/officeDocument/2006/relationships/tags" Target="../tags/tag31.xml"/><Relationship Id="rId1" Type="http://schemas.openxmlformats.org/officeDocument/2006/relationships/tags" Target="../tags/tag30.xml"/><Relationship Id="rId6" Type="http://schemas.openxmlformats.org/officeDocument/2006/relationships/tags" Target="../tags/tag35.xml"/><Relationship Id="rId11" Type="http://schemas.openxmlformats.org/officeDocument/2006/relationships/image" Target="../media/image6.tmp"/><Relationship Id="rId5" Type="http://schemas.openxmlformats.org/officeDocument/2006/relationships/tags" Target="../tags/tag34.xml"/><Relationship Id="rId10" Type="http://schemas.openxmlformats.org/officeDocument/2006/relationships/slideLayout" Target="../slideLayouts/slideLayout4.xml"/><Relationship Id="rId4" Type="http://schemas.openxmlformats.org/officeDocument/2006/relationships/tags" Target="../tags/tag33.xml"/><Relationship Id="rId9" Type="http://schemas.openxmlformats.org/officeDocument/2006/relationships/tags" Target="../tags/tag3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46.xml"/><Relationship Id="rId3" Type="http://schemas.openxmlformats.org/officeDocument/2006/relationships/tags" Target="../tags/tag41.xml"/><Relationship Id="rId7" Type="http://schemas.openxmlformats.org/officeDocument/2006/relationships/tags" Target="../tags/tag45.xml"/><Relationship Id="rId2" Type="http://schemas.openxmlformats.org/officeDocument/2006/relationships/tags" Target="../tags/tag40.xml"/><Relationship Id="rId1" Type="http://schemas.openxmlformats.org/officeDocument/2006/relationships/tags" Target="../tags/tag39.xml"/><Relationship Id="rId6" Type="http://schemas.openxmlformats.org/officeDocument/2006/relationships/tags" Target="../tags/tag44.xml"/><Relationship Id="rId11" Type="http://schemas.openxmlformats.org/officeDocument/2006/relationships/image" Target="../media/image6.tmp"/><Relationship Id="rId5" Type="http://schemas.openxmlformats.org/officeDocument/2006/relationships/tags" Target="../tags/tag43.xml"/><Relationship Id="rId10" Type="http://schemas.openxmlformats.org/officeDocument/2006/relationships/slideLayout" Target="../slideLayouts/slideLayout4.xml"/><Relationship Id="rId4" Type="http://schemas.openxmlformats.org/officeDocument/2006/relationships/tags" Target="../tags/tag42.xml"/><Relationship Id="rId9" Type="http://schemas.openxmlformats.org/officeDocument/2006/relationships/tags" Target="../tags/tag4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Visio_Drawing.vsd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2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Visio_Drawing1.vsd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12.e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tags" Target="../tags/tag55.xml"/><Relationship Id="rId13" Type="http://schemas.openxmlformats.org/officeDocument/2006/relationships/tags" Target="../tags/tag60.xml"/><Relationship Id="rId18" Type="http://schemas.openxmlformats.org/officeDocument/2006/relationships/slideLayout" Target="../slideLayouts/slideLayout4.xml"/><Relationship Id="rId3" Type="http://schemas.openxmlformats.org/officeDocument/2006/relationships/tags" Target="../tags/tag50.xml"/><Relationship Id="rId7" Type="http://schemas.openxmlformats.org/officeDocument/2006/relationships/tags" Target="../tags/tag54.xml"/><Relationship Id="rId12" Type="http://schemas.openxmlformats.org/officeDocument/2006/relationships/tags" Target="../tags/tag59.xml"/><Relationship Id="rId17" Type="http://schemas.openxmlformats.org/officeDocument/2006/relationships/tags" Target="../tags/tag64.xml"/><Relationship Id="rId2" Type="http://schemas.openxmlformats.org/officeDocument/2006/relationships/tags" Target="../tags/tag49.xml"/><Relationship Id="rId16" Type="http://schemas.openxmlformats.org/officeDocument/2006/relationships/tags" Target="../tags/tag63.xml"/><Relationship Id="rId1" Type="http://schemas.openxmlformats.org/officeDocument/2006/relationships/tags" Target="../tags/tag48.xml"/><Relationship Id="rId6" Type="http://schemas.openxmlformats.org/officeDocument/2006/relationships/tags" Target="../tags/tag53.xml"/><Relationship Id="rId11" Type="http://schemas.openxmlformats.org/officeDocument/2006/relationships/tags" Target="../tags/tag58.xml"/><Relationship Id="rId5" Type="http://schemas.openxmlformats.org/officeDocument/2006/relationships/tags" Target="../tags/tag52.xml"/><Relationship Id="rId15" Type="http://schemas.openxmlformats.org/officeDocument/2006/relationships/tags" Target="../tags/tag62.xml"/><Relationship Id="rId10" Type="http://schemas.openxmlformats.org/officeDocument/2006/relationships/tags" Target="../tags/tag57.xml"/><Relationship Id="rId19" Type="http://schemas.openxmlformats.org/officeDocument/2006/relationships/image" Target="../media/image6.tmp"/><Relationship Id="rId4" Type="http://schemas.openxmlformats.org/officeDocument/2006/relationships/tags" Target="../tags/tag51.xml"/><Relationship Id="rId9" Type="http://schemas.openxmlformats.org/officeDocument/2006/relationships/tags" Target="../tags/tag56.xml"/><Relationship Id="rId14" Type="http://schemas.openxmlformats.org/officeDocument/2006/relationships/tags" Target="../tags/tag61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tags" Target="../tags/tag72.xml"/><Relationship Id="rId13" Type="http://schemas.openxmlformats.org/officeDocument/2006/relationships/tags" Target="../tags/tag77.xml"/><Relationship Id="rId18" Type="http://schemas.openxmlformats.org/officeDocument/2006/relationships/slideLayout" Target="../slideLayouts/slideLayout4.xml"/><Relationship Id="rId3" Type="http://schemas.openxmlformats.org/officeDocument/2006/relationships/tags" Target="../tags/tag67.xml"/><Relationship Id="rId7" Type="http://schemas.openxmlformats.org/officeDocument/2006/relationships/tags" Target="../tags/tag71.xml"/><Relationship Id="rId12" Type="http://schemas.openxmlformats.org/officeDocument/2006/relationships/tags" Target="../tags/tag76.xml"/><Relationship Id="rId17" Type="http://schemas.openxmlformats.org/officeDocument/2006/relationships/tags" Target="../tags/tag81.xml"/><Relationship Id="rId2" Type="http://schemas.openxmlformats.org/officeDocument/2006/relationships/tags" Target="../tags/tag66.xml"/><Relationship Id="rId16" Type="http://schemas.openxmlformats.org/officeDocument/2006/relationships/tags" Target="../tags/tag80.xml"/><Relationship Id="rId1" Type="http://schemas.openxmlformats.org/officeDocument/2006/relationships/tags" Target="../tags/tag65.xml"/><Relationship Id="rId6" Type="http://schemas.openxmlformats.org/officeDocument/2006/relationships/tags" Target="../tags/tag70.xml"/><Relationship Id="rId11" Type="http://schemas.openxmlformats.org/officeDocument/2006/relationships/tags" Target="../tags/tag75.xml"/><Relationship Id="rId5" Type="http://schemas.openxmlformats.org/officeDocument/2006/relationships/tags" Target="../tags/tag69.xml"/><Relationship Id="rId15" Type="http://schemas.openxmlformats.org/officeDocument/2006/relationships/tags" Target="../tags/tag79.xml"/><Relationship Id="rId10" Type="http://schemas.openxmlformats.org/officeDocument/2006/relationships/tags" Target="../tags/tag74.xml"/><Relationship Id="rId19" Type="http://schemas.openxmlformats.org/officeDocument/2006/relationships/image" Target="../media/image6.tmp"/><Relationship Id="rId4" Type="http://schemas.openxmlformats.org/officeDocument/2006/relationships/tags" Target="../tags/tag68.xml"/><Relationship Id="rId9" Type="http://schemas.openxmlformats.org/officeDocument/2006/relationships/tags" Target="../tags/tag73.xml"/><Relationship Id="rId14" Type="http://schemas.openxmlformats.org/officeDocument/2006/relationships/tags" Target="../tags/tag78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tags" Target="../tags/tag89.xml"/><Relationship Id="rId13" Type="http://schemas.openxmlformats.org/officeDocument/2006/relationships/tags" Target="../tags/tag94.xml"/><Relationship Id="rId18" Type="http://schemas.openxmlformats.org/officeDocument/2006/relationships/slideLayout" Target="../slideLayouts/slideLayout4.xml"/><Relationship Id="rId3" Type="http://schemas.openxmlformats.org/officeDocument/2006/relationships/tags" Target="../tags/tag84.xml"/><Relationship Id="rId7" Type="http://schemas.openxmlformats.org/officeDocument/2006/relationships/tags" Target="../tags/tag88.xml"/><Relationship Id="rId12" Type="http://schemas.openxmlformats.org/officeDocument/2006/relationships/tags" Target="../tags/tag93.xml"/><Relationship Id="rId17" Type="http://schemas.openxmlformats.org/officeDocument/2006/relationships/tags" Target="../tags/tag98.xml"/><Relationship Id="rId2" Type="http://schemas.openxmlformats.org/officeDocument/2006/relationships/tags" Target="../tags/tag83.xml"/><Relationship Id="rId16" Type="http://schemas.openxmlformats.org/officeDocument/2006/relationships/tags" Target="../tags/tag97.xml"/><Relationship Id="rId1" Type="http://schemas.openxmlformats.org/officeDocument/2006/relationships/tags" Target="../tags/tag82.xml"/><Relationship Id="rId6" Type="http://schemas.openxmlformats.org/officeDocument/2006/relationships/tags" Target="../tags/tag87.xml"/><Relationship Id="rId11" Type="http://schemas.openxmlformats.org/officeDocument/2006/relationships/tags" Target="../tags/tag92.xml"/><Relationship Id="rId5" Type="http://schemas.openxmlformats.org/officeDocument/2006/relationships/tags" Target="../tags/tag86.xml"/><Relationship Id="rId15" Type="http://schemas.openxmlformats.org/officeDocument/2006/relationships/tags" Target="../tags/tag96.xml"/><Relationship Id="rId10" Type="http://schemas.openxmlformats.org/officeDocument/2006/relationships/tags" Target="../tags/tag91.xml"/><Relationship Id="rId19" Type="http://schemas.openxmlformats.org/officeDocument/2006/relationships/image" Target="../media/image6.tmp"/><Relationship Id="rId4" Type="http://schemas.openxmlformats.org/officeDocument/2006/relationships/tags" Target="../tags/tag85.xml"/><Relationship Id="rId9" Type="http://schemas.openxmlformats.org/officeDocument/2006/relationships/tags" Target="../tags/tag90.xml"/><Relationship Id="rId14" Type="http://schemas.openxmlformats.org/officeDocument/2006/relationships/tags" Target="../tags/tag9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tags" Target="../tags/tag106.xml"/><Relationship Id="rId3" Type="http://schemas.openxmlformats.org/officeDocument/2006/relationships/tags" Target="../tags/tag101.xml"/><Relationship Id="rId7" Type="http://schemas.openxmlformats.org/officeDocument/2006/relationships/tags" Target="../tags/tag105.xml"/><Relationship Id="rId2" Type="http://schemas.openxmlformats.org/officeDocument/2006/relationships/tags" Target="../tags/tag100.xml"/><Relationship Id="rId1" Type="http://schemas.openxmlformats.org/officeDocument/2006/relationships/tags" Target="../tags/tag99.xml"/><Relationship Id="rId6" Type="http://schemas.openxmlformats.org/officeDocument/2006/relationships/tags" Target="../tags/tag104.xml"/><Relationship Id="rId11" Type="http://schemas.openxmlformats.org/officeDocument/2006/relationships/image" Target="../media/image13.tmp"/><Relationship Id="rId5" Type="http://schemas.openxmlformats.org/officeDocument/2006/relationships/tags" Target="../tags/tag103.xml"/><Relationship Id="rId10" Type="http://schemas.openxmlformats.org/officeDocument/2006/relationships/slideLayout" Target="../slideLayouts/slideLayout4.xml"/><Relationship Id="rId4" Type="http://schemas.openxmlformats.org/officeDocument/2006/relationships/tags" Target="../tags/tag102.xml"/><Relationship Id="rId9" Type="http://schemas.openxmlformats.org/officeDocument/2006/relationships/tags" Target="../tags/tag10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tags" Target="../tags/tag115.xml"/><Relationship Id="rId3" Type="http://schemas.openxmlformats.org/officeDocument/2006/relationships/tags" Target="../tags/tag110.xml"/><Relationship Id="rId7" Type="http://schemas.openxmlformats.org/officeDocument/2006/relationships/tags" Target="../tags/tag114.xml"/><Relationship Id="rId2" Type="http://schemas.openxmlformats.org/officeDocument/2006/relationships/tags" Target="../tags/tag109.xml"/><Relationship Id="rId1" Type="http://schemas.openxmlformats.org/officeDocument/2006/relationships/tags" Target="../tags/tag108.xml"/><Relationship Id="rId6" Type="http://schemas.openxmlformats.org/officeDocument/2006/relationships/tags" Target="../tags/tag113.xml"/><Relationship Id="rId11" Type="http://schemas.openxmlformats.org/officeDocument/2006/relationships/image" Target="../media/image13.tmp"/><Relationship Id="rId5" Type="http://schemas.openxmlformats.org/officeDocument/2006/relationships/tags" Target="../tags/tag112.xml"/><Relationship Id="rId10" Type="http://schemas.openxmlformats.org/officeDocument/2006/relationships/slideLayout" Target="../slideLayouts/slideLayout4.xml"/><Relationship Id="rId4" Type="http://schemas.openxmlformats.org/officeDocument/2006/relationships/tags" Target="../tags/tag111.xml"/><Relationship Id="rId9" Type="http://schemas.openxmlformats.org/officeDocument/2006/relationships/tags" Target="../tags/tag11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tags" Target="../tags/tag124.xml"/><Relationship Id="rId13" Type="http://schemas.openxmlformats.org/officeDocument/2006/relationships/tags" Target="../tags/tag129.xml"/><Relationship Id="rId18" Type="http://schemas.openxmlformats.org/officeDocument/2006/relationships/image" Target="../media/image6.tmp"/><Relationship Id="rId3" Type="http://schemas.openxmlformats.org/officeDocument/2006/relationships/tags" Target="../tags/tag119.xml"/><Relationship Id="rId7" Type="http://schemas.openxmlformats.org/officeDocument/2006/relationships/tags" Target="../tags/tag123.xml"/><Relationship Id="rId12" Type="http://schemas.openxmlformats.org/officeDocument/2006/relationships/tags" Target="../tags/tag128.xml"/><Relationship Id="rId17" Type="http://schemas.openxmlformats.org/officeDocument/2006/relationships/slideLayout" Target="../slideLayouts/slideLayout4.xml"/><Relationship Id="rId2" Type="http://schemas.openxmlformats.org/officeDocument/2006/relationships/tags" Target="../tags/tag118.xml"/><Relationship Id="rId16" Type="http://schemas.openxmlformats.org/officeDocument/2006/relationships/tags" Target="../tags/tag132.xml"/><Relationship Id="rId1" Type="http://schemas.openxmlformats.org/officeDocument/2006/relationships/tags" Target="../tags/tag117.xml"/><Relationship Id="rId6" Type="http://schemas.openxmlformats.org/officeDocument/2006/relationships/tags" Target="../tags/tag122.xml"/><Relationship Id="rId11" Type="http://schemas.openxmlformats.org/officeDocument/2006/relationships/tags" Target="../tags/tag127.xml"/><Relationship Id="rId5" Type="http://schemas.openxmlformats.org/officeDocument/2006/relationships/tags" Target="../tags/tag121.xml"/><Relationship Id="rId15" Type="http://schemas.openxmlformats.org/officeDocument/2006/relationships/tags" Target="../tags/tag131.xml"/><Relationship Id="rId10" Type="http://schemas.openxmlformats.org/officeDocument/2006/relationships/tags" Target="../tags/tag126.xml"/><Relationship Id="rId4" Type="http://schemas.openxmlformats.org/officeDocument/2006/relationships/tags" Target="../tags/tag120.xml"/><Relationship Id="rId9" Type="http://schemas.openxmlformats.org/officeDocument/2006/relationships/tags" Target="../tags/tag125.xml"/><Relationship Id="rId14" Type="http://schemas.openxmlformats.org/officeDocument/2006/relationships/tags" Target="../tags/tag130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tags" Target="../tags/tag140.xml"/><Relationship Id="rId3" Type="http://schemas.openxmlformats.org/officeDocument/2006/relationships/tags" Target="../tags/tag135.xml"/><Relationship Id="rId7" Type="http://schemas.openxmlformats.org/officeDocument/2006/relationships/tags" Target="../tags/tag139.xml"/><Relationship Id="rId2" Type="http://schemas.openxmlformats.org/officeDocument/2006/relationships/tags" Target="../tags/tag134.xml"/><Relationship Id="rId1" Type="http://schemas.openxmlformats.org/officeDocument/2006/relationships/tags" Target="../tags/tag133.xml"/><Relationship Id="rId6" Type="http://schemas.openxmlformats.org/officeDocument/2006/relationships/tags" Target="../tags/tag138.xml"/><Relationship Id="rId11" Type="http://schemas.openxmlformats.org/officeDocument/2006/relationships/image" Target="../media/image6.tmp"/><Relationship Id="rId5" Type="http://schemas.openxmlformats.org/officeDocument/2006/relationships/tags" Target="../tags/tag137.xml"/><Relationship Id="rId10" Type="http://schemas.openxmlformats.org/officeDocument/2006/relationships/slideLayout" Target="../slideLayouts/slideLayout4.xml"/><Relationship Id="rId4" Type="http://schemas.openxmlformats.org/officeDocument/2006/relationships/tags" Target="../tags/tag136.xml"/><Relationship Id="rId9" Type="http://schemas.openxmlformats.org/officeDocument/2006/relationships/tags" Target="../tags/tag14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tags" Target="../tags/tag149.xml"/><Relationship Id="rId3" Type="http://schemas.openxmlformats.org/officeDocument/2006/relationships/tags" Target="../tags/tag144.xml"/><Relationship Id="rId7" Type="http://schemas.openxmlformats.org/officeDocument/2006/relationships/tags" Target="../tags/tag148.xml"/><Relationship Id="rId2" Type="http://schemas.openxmlformats.org/officeDocument/2006/relationships/tags" Target="../tags/tag143.xml"/><Relationship Id="rId1" Type="http://schemas.openxmlformats.org/officeDocument/2006/relationships/tags" Target="../tags/tag142.xml"/><Relationship Id="rId6" Type="http://schemas.openxmlformats.org/officeDocument/2006/relationships/tags" Target="../tags/tag147.xml"/><Relationship Id="rId11" Type="http://schemas.openxmlformats.org/officeDocument/2006/relationships/image" Target="../media/image6.tmp"/><Relationship Id="rId5" Type="http://schemas.openxmlformats.org/officeDocument/2006/relationships/tags" Target="../tags/tag146.xml"/><Relationship Id="rId10" Type="http://schemas.openxmlformats.org/officeDocument/2006/relationships/slideLayout" Target="../slideLayouts/slideLayout4.xml"/><Relationship Id="rId4" Type="http://schemas.openxmlformats.org/officeDocument/2006/relationships/tags" Target="../tags/tag145.xml"/><Relationship Id="rId9" Type="http://schemas.openxmlformats.org/officeDocument/2006/relationships/tags" Target="../tags/tag150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tags" Target="../tags/tag158.xml"/><Relationship Id="rId13" Type="http://schemas.openxmlformats.org/officeDocument/2006/relationships/tags" Target="../tags/tag163.xml"/><Relationship Id="rId3" Type="http://schemas.openxmlformats.org/officeDocument/2006/relationships/tags" Target="../tags/tag153.xml"/><Relationship Id="rId7" Type="http://schemas.openxmlformats.org/officeDocument/2006/relationships/tags" Target="../tags/tag157.xml"/><Relationship Id="rId12" Type="http://schemas.openxmlformats.org/officeDocument/2006/relationships/tags" Target="../tags/tag162.xml"/><Relationship Id="rId2" Type="http://schemas.openxmlformats.org/officeDocument/2006/relationships/tags" Target="../tags/tag152.xml"/><Relationship Id="rId1" Type="http://schemas.openxmlformats.org/officeDocument/2006/relationships/tags" Target="../tags/tag151.xml"/><Relationship Id="rId6" Type="http://schemas.openxmlformats.org/officeDocument/2006/relationships/tags" Target="../tags/tag156.xml"/><Relationship Id="rId11" Type="http://schemas.openxmlformats.org/officeDocument/2006/relationships/tags" Target="../tags/tag161.xml"/><Relationship Id="rId5" Type="http://schemas.openxmlformats.org/officeDocument/2006/relationships/tags" Target="../tags/tag155.xml"/><Relationship Id="rId15" Type="http://schemas.openxmlformats.org/officeDocument/2006/relationships/image" Target="../media/image6.tmp"/><Relationship Id="rId10" Type="http://schemas.openxmlformats.org/officeDocument/2006/relationships/tags" Target="../tags/tag160.xml"/><Relationship Id="rId4" Type="http://schemas.openxmlformats.org/officeDocument/2006/relationships/tags" Target="../tags/tag154.xml"/><Relationship Id="rId9" Type="http://schemas.openxmlformats.org/officeDocument/2006/relationships/tags" Target="../tags/tag159.xml"/><Relationship Id="rId14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tags" Target="../tags/tag171.xml"/><Relationship Id="rId3" Type="http://schemas.openxmlformats.org/officeDocument/2006/relationships/tags" Target="../tags/tag166.xml"/><Relationship Id="rId7" Type="http://schemas.openxmlformats.org/officeDocument/2006/relationships/tags" Target="../tags/tag170.xml"/><Relationship Id="rId12" Type="http://schemas.openxmlformats.org/officeDocument/2006/relationships/image" Target="../media/image6.tmp"/><Relationship Id="rId2" Type="http://schemas.openxmlformats.org/officeDocument/2006/relationships/tags" Target="../tags/tag165.xml"/><Relationship Id="rId1" Type="http://schemas.openxmlformats.org/officeDocument/2006/relationships/tags" Target="../tags/tag164.xml"/><Relationship Id="rId6" Type="http://schemas.openxmlformats.org/officeDocument/2006/relationships/tags" Target="../tags/tag169.xml"/><Relationship Id="rId11" Type="http://schemas.openxmlformats.org/officeDocument/2006/relationships/slideLayout" Target="../slideLayouts/slideLayout4.xml"/><Relationship Id="rId5" Type="http://schemas.openxmlformats.org/officeDocument/2006/relationships/tags" Target="../tags/tag168.xml"/><Relationship Id="rId10" Type="http://schemas.openxmlformats.org/officeDocument/2006/relationships/tags" Target="../tags/tag173.xml"/><Relationship Id="rId4" Type="http://schemas.openxmlformats.org/officeDocument/2006/relationships/tags" Target="../tags/tag167.xml"/><Relationship Id="rId9" Type="http://schemas.openxmlformats.org/officeDocument/2006/relationships/tags" Target="../tags/tag17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tags" Target="../tags/tag181.xml"/><Relationship Id="rId3" Type="http://schemas.openxmlformats.org/officeDocument/2006/relationships/tags" Target="../tags/tag176.xml"/><Relationship Id="rId7" Type="http://schemas.openxmlformats.org/officeDocument/2006/relationships/tags" Target="../tags/tag180.xml"/><Relationship Id="rId2" Type="http://schemas.openxmlformats.org/officeDocument/2006/relationships/tags" Target="../tags/tag175.xml"/><Relationship Id="rId1" Type="http://schemas.openxmlformats.org/officeDocument/2006/relationships/tags" Target="../tags/tag174.xml"/><Relationship Id="rId6" Type="http://schemas.openxmlformats.org/officeDocument/2006/relationships/tags" Target="../tags/tag179.xml"/><Relationship Id="rId11" Type="http://schemas.openxmlformats.org/officeDocument/2006/relationships/image" Target="../media/image6.tmp"/><Relationship Id="rId5" Type="http://schemas.openxmlformats.org/officeDocument/2006/relationships/tags" Target="../tags/tag178.xml"/><Relationship Id="rId10" Type="http://schemas.openxmlformats.org/officeDocument/2006/relationships/slideLayout" Target="../slideLayouts/slideLayout4.xml"/><Relationship Id="rId4" Type="http://schemas.openxmlformats.org/officeDocument/2006/relationships/tags" Target="../tags/tag177.xml"/><Relationship Id="rId9" Type="http://schemas.openxmlformats.org/officeDocument/2006/relationships/tags" Target="../tags/tag18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tags" Target="../tags/tag190.xml"/><Relationship Id="rId13" Type="http://schemas.openxmlformats.org/officeDocument/2006/relationships/tags" Target="../tags/tag195.xml"/><Relationship Id="rId3" Type="http://schemas.openxmlformats.org/officeDocument/2006/relationships/tags" Target="../tags/tag185.xml"/><Relationship Id="rId7" Type="http://schemas.openxmlformats.org/officeDocument/2006/relationships/tags" Target="../tags/tag189.xml"/><Relationship Id="rId12" Type="http://schemas.openxmlformats.org/officeDocument/2006/relationships/tags" Target="../tags/tag194.xml"/><Relationship Id="rId2" Type="http://schemas.openxmlformats.org/officeDocument/2006/relationships/tags" Target="../tags/tag184.xml"/><Relationship Id="rId1" Type="http://schemas.openxmlformats.org/officeDocument/2006/relationships/tags" Target="../tags/tag183.xml"/><Relationship Id="rId6" Type="http://schemas.openxmlformats.org/officeDocument/2006/relationships/tags" Target="../tags/tag188.xml"/><Relationship Id="rId11" Type="http://schemas.openxmlformats.org/officeDocument/2006/relationships/tags" Target="../tags/tag193.xml"/><Relationship Id="rId5" Type="http://schemas.openxmlformats.org/officeDocument/2006/relationships/tags" Target="../tags/tag187.xml"/><Relationship Id="rId15" Type="http://schemas.openxmlformats.org/officeDocument/2006/relationships/image" Target="../media/image6.tmp"/><Relationship Id="rId10" Type="http://schemas.openxmlformats.org/officeDocument/2006/relationships/tags" Target="../tags/tag192.xml"/><Relationship Id="rId4" Type="http://schemas.openxmlformats.org/officeDocument/2006/relationships/tags" Target="../tags/tag186.xml"/><Relationship Id="rId9" Type="http://schemas.openxmlformats.org/officeDocument/2006/relationships/tags" Target="../tags/tag191.xml"/><Relationship Id="rId14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tags" Target="../tags/tag203.xml"/><Relationship Id="rId3" Type="http://schemas.openxmlformats.org/officeDocument/2006/relationships/tags" Target="../tags/tag198.xml"/><Relationship Id="rId7" Type="http://schemas.openxmlformats.org/officeDocument/2006/relationships/tags" Target="../tags/tag202.xml"/><Relationship Id="rId2" Type="http://schemas.openxmlformats.org/officeDocument/2006/relationships/tags" Target="../tags/tag197.xml"/><Relationship Id="rId1" Type="http://schemas.openxmlformats.org/officeDocument/2006/relationships/tags" Target="../tags/tag196.xml"/><Relationship Id="rId6" Type="http://schemas.openxmlformats.org/officeDocument/2006/relationships/tags" Target="../tags/tag201.xml"/><Relationship Id="rId11" Type="http://schemas.openxmlformats.org/officeDocument/2006/relationships/image" Target="../media/image6.tmp"/><Relationship Id="rId5" Type="http://schemas.openxmlformats.org/officeDocument/2006/relationships/tags" Target="../tags/tag200.xml"/><Relationship Id="rId10" Type="http://schemas.openxmlformats.org/officeDocument/2006/relationships/slideLayout" Target="../slideLayouts/slideLayout4.xml"/><Relationship Id="rId4" Type="http://schemas.openxmlformats.org/officeDocument/2006/relationships/tags" Target="../tags/tag199.xml"/><Relationship Id="rId9" Type="http://schemas.openxmlformats.org/officeDocument/2006/relationships/tags" Target="../tags/tag204.xml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tags" Target="../tags/tag212.xml"/><Relationship Id="rId3" Type="http://schemas.openxmlformats.org/officeDocument/2006/relationships/tags" Target="../tags/tag207.xml"/><Relationship Id="rId7" Type="http://schemas.openxmlformats.org/officeDocument/2006/relationships/tags" Target="../tags/tag211.xml"/><Relationship Id="rId2" Type="http://schemas.openxmlformats.org/officeDocument/2006/relationships/tags" Target="../tags/tag206.xml"/><Relationship Id="rId1" Type="http://schemas.openxmlformats.org/officeDocument/2006/relationships/tags" Target="../tags/tag205.xml"/><Relationship Id="rId6" Type="http://schemas.openxmlformats.org/officeDocument/2006/relationships/tags" Target="../tags/tag210.xml"/><Relationship Id="rId11" Type="http://schemas.openxmlformats.org/officeDocument/2006/relationships/image" Target="../media/image6.tmp"/><Relationship Id="rId5" Type="http://schemas.openxmlformats.org/officeDocument/2006/relationships/tags" Target="../tags/tag209.xml"/><Relationship Id="rId10" Type="http://schemas.openxmlformats.org/officeDocument/2006/relationships/slideLayout" Target="../slideLayouts/slideLayout4.xml"/><Relationship Id="rId4" Type="http://schemas.openxmlformats.org/officeDocument/2006/relationships/tags" Target="../tags/tag208.xml"/><Relationship Id="rId9" Type="http://schemas.openxmlformats.org/officeDocument/2006/relationships/tags" Target="../tags/tag21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tags" Target="../tags/tag221.xml"/><Relationship Id="rId3" Type="http://schemas.openxmlformats.org/officeDocument/2006/relationships/tags" Target="../tags/tag216.xml"/><Relationship Id="rId7" Type="http://schemas.openxmlformats.org/officeDocument/2006/relationships/tags" Target="../tags/tag220.xml"/><Relationship Id="rId12" Type="http://schemas.openxmlformats.org/officeDocument/2006/relationships/image" Target="../media/image6.tmp"/><Relationship Id="rId2" Type="http://schemas.openxmlformats.org/officeDocument/2006/relationships/tags" Target="../tags/tag215.xml"/><Relationship Id="rId1" Type="http://schemas.openxmlformats.org/officeDocument/2006/relationships/tags" Target="../tags/tag214.xml"/><Relationship Id="rId6" Type="http://schemas.openxmlformats.org/officeDocument/2006/relationships/tags" Target="../tags/tag219.xml"/><Relationship Id="rId11" Type="http://schemas.openxmlformats.org/officeDocument/2006/relationships/slideLayout" Target="../slideLayouts/slideLayout4.xml"/><Relationship Id="rId5" Type="http://schemas.openxmlformats.org/officeDocument/2006/relationships/tags" Target="../tags/tag218.xml"/><Relationship Id="rId10" Type="http://schemas.openxmlformats.org/officeDocument/2006/relationships/tags" Target="../tags/tag223.xml"/><Relationship Id="rId4" Type="http://schemas.openxmlformats.org/officeDocument/2006/relationships/tags" Target="../tags/tag217.xml"/><Relationship Id="rId9" Type="http://schemas.openxmlformats.org/officeDocument/2006/relationships/tags" Target="../tags/tag22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8" Type="http://schemas.openxmlformats.org/officeDocument/2006/relationships/tags" Target="../tags/tag231.xml"/><Relationship Id="rId13" Type="http://schemas.openxmlformats.org/officeDocument/2006/relationships/tags" Target="../tags/tag236.xml"/><Relationship Id="rId18" Type="http://schemas.openxmlformats.org/officeDocument/2006/relationships/slideLayout" Target="../slideLayouts/slideLayout4.xml"/><Relationship Id="rId3" Type="http://schemas.openxmlformats.org/officeDocument/2006/relationships/tags" Target="../tags/tag226.xml"/><Relationship Id="rId7" Type="http://schemas.openxmlformats.org/officeDocument/2006/relationships/tags" Target="../tags/tag230.xml"/><Relationship Id="rId12" Type="http://schemas.openxmlformats.org/officeDocument/2006/relationships/tags" Target="../tags/tag235.xml"/><Relationship Id="rId17" Type="http://schemas.openxmlformats.org/officeDocument/2006/relationships/tags" Target="../tags/tag240.xml"/><Relationship Id="rId2" Type="http://schemas.openxmlformats.org/officeDocument/2006/relationships/tags" Target="../tags/tag225.xml"/><Relationship Id="rId16" Type="http://schemas.openxmlformats.org/officeDocument/2006/relationships/tags" Target="../tags/tag239.xml"/><Relationship Id="rId1" Type="http://schemas.openxmlformats.org/officeDocument/2006/relationships/tags" Target="../tags/tag224.xml"/><Relationship Id="rId6" Type="http://schemas.openxmlformats.org/officeDocument/2006/relationships/tags" Target="../tags/tag229.xml"/><Relationship Id="rId11" Type="http://schemas.openxmlformats.org/officeDocument/2006/relationships/tags" Target="../tags/tag234.xml"/><Relationship Id="rId5" Type="http://schemas.openxmlformats.org/officeDocument/2006/relationships/tags" Target="../tags/tag228.xml"/><Relationship Id="rId15" Type="http://schemas.openxmlformats.org/officeDocument/2006/relationships/tags" Target="../tags/tag238.xml"/><Relationship Id="rId10" Type="http://schemas.openxmlformats.org/officeDocument/2006/relationships/tags" Target="../tags/tag233.xml"/><Relationship Id="rId19" Type="http://schemas.openxmlformats.org/officeDocument/2006/relationships/image" Target="../media/image6.tmp"/><Relationship Id="rId4" Type="http://schemas.openxmlformats.org/officeDocument/2006/relationships/tags" Target="../tags/tag227.xml"/><Relationship Id="rId9" Type="http://schemas.openxmlformats.org/officeDocument/2006/relationships/tags" Target="../tags/tag232.xml"/><Relationship Id="rId14" Type="http://schemas.openxmlformats.org/officeDocument/2006/relationships/tags" Target="../tags/tag237.xml"/></Relationships>
</file>

<file path=ppt/slides/_rels/slide80.xml.rels><?xml version="1.0" encoding="UTF-8" standalone="yes"?>
<Relationships xmlns="http://schemas.openxmlformats.org/package/2006/relationships"><Relationship Id="rId8" Type="http://schemas.openxmlformats.org/officeDocument/2006/relationships/tags" Target="../tags/tag248.xml"/><Relationship Id="rId13" Type="http://schemas.openxmlformats.org/officeDocument/2006/relationships/tags" Target="../tags/tag253.xml"/><Relationship Id="rId18" Type="http://schemas.openxmlformats.org/officeDocument/2006/relationships/slideLayout" Target="../slideLayouts/slideLayout4.xml"/><Relationship Id="rId3" Type="http://schemas.openxmlformats.org/officeDocument/2006/relationships/tags" Target="../tags/tag243.xml"/><Relationship Id="rId7" Type="http://schemas.openxmlformats.org/officeDocument/2006/relationships/tags" Target="../tags/tag247.xml"/><Relationship Id="rId12" Type="http://schemas.openxmlformats.org/officeDocument/2006/relationships/tags" Target="../tags/tag252.xml"/><Relationship Id="rId17" Type="http://schemas.openxmlformats.org/officeDocument/2006/relationships/tags" Target="../tags/tag257.xml"/><Relationship Id="rId2" Type="http://schemas.openxmlformats.org/officeDocument/2006/relationships/tags" Target="../tags/tag242.xml"/><Relationship Id="rId16" Type="http://schemas.openxmlformats.org/officeDocument/2006/relationships/tags" Target="../tags/tag256.xml"/><Relationship Id="rId1" Type="http://schemas.openxmlformats.org/officeDocument/2006/relationships/tags" Target="../tags/tag241.xml"/><Relationship Id="rId6" Type="http://schemas.openxmlformats.org/officeDocument/2006/relationships/tags" Target="../tags/tag246.xml"/><Relationship Id="rId11" Type="http://schemas.openxmlformats.org/officeDocument/2006/relationships/tags" Target="../tags/tag251.xml"/><Relationship Id="rId5" Type="http://schemas.openxmlformats.org/officeDocument/2006/relationships/tags" Target="../tags/tag245.xml"/><Relationship Id="rId15" Type="http://schemas.openxmlformats.org/officeDocument/2006/relationships/tags" Target="../tags/tag255.xml"/><Relationship Id="rId10" Type="http://schemas.openxmlformats.org/officeDocument/2006/relationships/tags" Target="../tags/tag250.xml"/><Relationship Id="rId19" Type="http://schemas.openxmlformats.org/officeDocument/2006/relationships/image" Target="../media/image6.tmp"/><Relationship Id="rId4" Type="http://schemas.openxmlformats.org/officeDocument/2006/relationships/tags" Target="../tags/tag244.xml"/><Relationship Id="rId9" Type="http://schemas.openxmlformats.org/officeDocument/2006/relationships/tags" Target="../tags/tag249.xml"/><Relationship Id="rId14" Type="http://schemas.openxmlformats.org/officeDocument/2006/relationships/tags" Target="../tags/tag254.xml"/></Relationships>
</file>

<file path=ppt/slides/_rels/slide81.xml.rels><?xml version="1.0" encoding="UTF-8" standalone="yes"?>
<Relationships xmlns="http://schemas.openxmlformats.org/package/2006/relationships"><Relationship Id="rId8" Type="http://schemas.openxmlformats.org/officeDocument/2006/relationships/tags" Target="../tags/tag265.xml"/><Relationship Id="rId13" Type="http://schemas.openxmlformats.org/officeDocument/2006/relationships/tags" Target="../tags/tag270.xml"/><Relationship Id="rId18" Type="http://schemas.openxmlformats.org/officeDocument/2006/relationships/slideLayout" Target="../slideLayouts/slideLayout4.xml"/><Relationship Id="rId3" Type="http://schemas.openxmlformats.org/officeDocument/2006/relationships/tags" Target="../tags/tag260.xml"/><Relationship Id="rId7" Type="http://schemas.openxmlformats.org/officeDocument/2006/relationships/tags" Target="../tags/tag264.xml"/><Relationship Id="rId12" Type="http://schemas.openxmlformats.org/officeDocument/2006/relationships/tags" Target="../tags/tag269.xml"/><Relationship Id="rId17" Type="http://schemas.openxmlformats.org/officeDocument/2006/relationships/tags" Target="../tags/tag274.xml"/><Relationship Id="rId2" Type="http://schemas.openxmlformats.org/officeDocument/2006/relationships/tags" Target="../tags/tag259.xml"/><Relationship Id="rId16" Type="http://schemas.openxmlformats.org/officeDocument/2006/relationships/tags" Target="../tags/tag273.xml"/><Relationship Id="rId1" Type="http://schemas.openxmlformats.org/officeDocument/2006/relationships/tags" Target="../tags/tag258.xml"/><Relationship Id="rId6" Type="http://schemas.openxmlformats.org/officeDocument/2006/relationships/tags" Target="../tags/tag263.xml"/><Relationship Id="rId11" Type="http://schemas.openxmlformats.org/officeDocument/2006/relationships/tags" Target="../tags/tag268.xml"/><Relationship Id="rId5" Type="http://schemas.openxmlformats.org/officeDocument/2006/relationships/tags" Target="../tags/tag262.xml"/><Relationship Id="rId15" Type="http://schemas.openxmlformats.org/officeDocument/2006/relationships/tags" Target="../tags/tag272.xml"/><Relationship Id="rId10" Type="http://schemas.openxmlformats.org/officeDocument/2006/relationships/tags" Target="../tags/tag267.xml"/><Relationship Id="rId19" Type="http://schemas.openxmlformats.org/officeDocument/2006/relationships/image" Target="../media/image6.tmp"/><Relationship Id="rId4" Type="http://schemas.openxmlformats.org/officeDocument/2006/relationships/tags" Target="../tags/tag261.xml"/><Relationship Id="rId9" Type="http://schemas.openxmlformats.org/officeDocument/2006/relationships/tags" Target="../tags/tag266.xml"/><Relationship Id="rId14" Type="http://schemas.openxmlformats.org/officeDocument/2006/relationships/tags" Target="../tags/tag27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8" Type="http://schemas.openxmlformats.org/officeDocument/2006/relationships/tags" Target="../tags/tag282.xml"/><Relationship Id="rId3" Type="http://schemas.openxmlformats.org/officeDocument/2006/relationships/tags" Target="../tags/tag277.xml"/><Relationship Id="rId7" Type="http://schemas.openxmlformats.org/officeDocument/2006/relationships/tags" Target="../tags/tag281.xml"/><Relationship Id="rId2" Type="http://schemas.openxmlformats.org/officeDocument/2006/relationships/tags" Target="../tags/tag276.xml"/><Relationship Id="rId1" Type="http://schemas.openxmlformats.org/officeDocument/2006/relationships/tags" Target="../tags/tag275.xml"/><Relationship Id="rId6" Type="http://schemas.openxmlformats.org/officeDocument/2006/relationships/tags" Target="../tags/tag280.xml"/><Relationship Id="rId11" Type="http://schemas.openxmlformats.org/officeDocument/2006/relationships/image" Target="../media/image6.tmp"/><Relationship Id="rId5" Type="http://schemas.openxmlformats.org/officeDocument/2006/relationships/tags" Target="../tags/tag279.xml"/><Relationship Id="rId10" Type="http://schemas.openxmlformats.org/officeDocument/2006/relationships/slideLayout" Target="../slideLayouts/slideLayout4.xml"/><Relationship Id="rId4" Type="http://schemas.openxmlformats.org/officeDocument/2006/relationships/tags" Target="../tags/tag278.xml"/><Relationship Id="rId9" Type="http://schemas.openxmlformats.org/officeDocument/2006/relationships/tags" Target="../tags/tag283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8" Type="http://schemas.openxmlformats.org/officeDocument/2006/relationships/tags" Target="../tags/tag291.xml"/><Relationship Id="rId13" Type="http://schemas.openxmlformats.org/officeDocument/2006/relationships/tags" Target="../tags/tag296.xml"/><Relationship Id="rId18" Type="http://schemas.openxmlformats.org/officeDocument/2006/relationships/tags" Target="../tags/tag301.xml"/><Relationship Id="rId3" Type="http://schemas.openxmlformats.org/officeDocument/2006/relationships/tags" Target="../tags/tag286.xml"/><Relationship Id="rId21" Type="http://schemas.openxmlformats.org/officeDocument/2006/relationships/slideLayout" Target="../slideLayouts/slideLayout4.xml"/><Relationship Id="rId7" Type="http://schemas.openxmlformats.org/officeDocument/2006/relationships/tags" Target="../tags/tag290.xml"/><Relationship Id="rId12" Type="http://schemas.openxmlformats.org/officeDocument/2006/relationships/tags" Target="../tags/tag295.xml"/><Relationship Id="rId17" Type="http://schemas.openxmlformats.org/officeDocument/2006/relationships/tags" Target="../tags/tag300.xml"/><Relationship Id="rId2" Type="http://schemas.openxmlformats.org/officeDocument/2006/relationships/tags" Target="../tags/tag285.xml"/><Relationship Id="rId16" Type="http://schemas.openxmlformats.org/officeDocument/2006/relationships/tags" Target="../tags/tag299.xml"/><Relationship Id="rId20" Type="http://schemas.openxmlformats.org/officeDocument/2006/relationships/tags" Target="../tags/tag303.xml"/><Relationship Id="rId1" Type="http://schemas.openxmlformats.org/officeDocument/2006/relationships/tags" Target="../tags/tag284.xml"/><Relationship Id="rId6" Type="http://schemas.openxmlformats.org/officeDocument/2006/relationships/tags" Target="../tags/tag289.xml"/><Relationship Id="rId11" Type="http://schemas.openxmlformats.org/officeDocument/2006/relationships/tags" Target="../tags/tag294.xml"/><Relationship Id="rId5" Type="http://schemas.openxmlformats.org/officeDocument/2006/relationships/tags" Target="../tags/tag288.xml"/><Relationship Id="rId15" Type="http://schemas.openxmlformats.org/officeDocument/2006/relationships/tags" Target="../tags/tag298.xml"/><Relationship Id="rId10" Type="http://schemas.openxmlformats.org/officeDocument/2006/relationships/tags" Target="../tags/tag293.xml"/><Relationship Id="rId19" Type="http://schemas.openxmlformats.org/officeDocument/2006/relationships/tags" Target="../tags/tag302.xml"/><Relationship Id="rId4" Type="http://schemas.openxmlformats.org/officeDocument/2006/relationships/tags" Target="../tags/tag287.xml"/><Relationship Id="rId9" Type="http://schemas.openxmlformats.org/officeDocument/2006/relationships/tags" Target="../tags/tag292.xml"/><Relationship Id="rId14" Type="http://schemas.openxmlformats.org/officeDocument/2006/relationships/tags" Target="../tags/tag297.xml"/><Relationship Id="rId22" Type="http://schemas.openxmlformats.org/officeDocument/2006/relationships/image" Target="../media/image6.tmp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8" Type="http://schemas.openxmlformats.org/officeDocument/2006/relationships/tags" Target="../tags/tag311.xml"/><Relationship Id="rId13" Type="http://schemas.openxmlformats.org/officeDocument/2006/relationships/tags" Target="../tags/tag316.xml"/><Relationship Id="rId3" Type="http://schemas.openxmlformats.org/officeDocument/2006/relationships/tags" Target="../tags/tag306.xml"/><Relationship Id="rId7" Type="http://schemas.openxmlformats.org/officeDocument/2006/relationships/tags" Target="../tags/tag310.xml"/><Relationship Id="rId12" Type="http://schemas.openxmlformats.org/officeDocument/2006/relationships/tags" Target="../tags/tag315.xml"/><Relationship Id="rId17" Type="http://schemas.openxmlformats.org/officeDocument/2006/relationships/image" Target="../media/image6.tmp"/><Relationship Id="rId2" Type="http://schemas.openxmlformats.org/officeDocument/2006/relationships/tags" Target="../tags/tag305.xml"/><Relationship Id="rId16" Type="http://schemas.openxmlformats.org/officeDocument/2006/relationships/slideLayout" Target="../slideLayouts/slideLayout4.xml"/><Relationship Id="rId1" Type="http://schemas.openxmlformats.org/officeDocument/2006/relationships/tags" Target="../tags/tag304.xml"/><Relationship Id="rId6" Type="http://schemas.openxmlformats.org/officeDocument/2006/relationships/tags" Target="../tags/tag309.xml"/><Relationship Id="rId11" Type="http://schemas.openxmlformats.org/officeDocument/2006/relationships/tags" Target="../tags/tag314.xml"/><Relationship Id="rId5" Type="http://schemas.openxmlformats.org/officeDocument/2006/relationships/tags" Target="../tags/tag308.xml"/><Relationship Id="rId15" Type="http://schemas.openxmlformats.org/officeDocument/2006/relationships/tags" Target="../tags/tag318.xml"/><Relationship Id="rId10" Type="http://schemas.openxmlformats.org/officeDocument/2006/relationships/tags" Target="../tags/tag313.xml"/><Relationship Id="rId4" Type="http://schemas.openxmlformats.org/officeDocument/2006/relationships/tags" Target="../tags/tag307.xml"/><Relationship Id="rId9" Type="http://schemas.openxmlformats.org/officeDocument/2006/relationships/tags" Target="../tags/tag312.xml"/><Relationship Id="rId14" Type="http://schemas.openxmlformats.org/officeDocument/2006/relationships/tags" Target="../tags/tag317.xml"/></Relationships>
</file>

<file path=ppt/slides/_rels/slide93.xml.rels><?xml version="1.0" encoding="UTF-8" standalone="yes"?>
<Relationships xmlns="http://schemas.openxmlformats.org/package/2006/relationships"><Relationship Id="rId8" Type="http://schemas.openxmlformats.org/officeDocument/2006/relationships/tags" Target="../tags/tag326.xml"/><Relationship Id="rId13" Type="http://schemas.openxmlformats.org/officeDocument/2006/relationships/tags" Target="../tags/tag331.xml"/><Relationship Id="rId3" Type="http://schemas.openxmlformats.org/officeDocument/2006/relationships/tags" Target="../tags/tag321.xml"/><Relationship Id="rId7" Type="http://schemas.openxmlformats.org/officeDocument/2006/relationships/tags" Target="../tags/tag325.xml"/><Relationship Id="rId12" Type="http://schemas.openxmlformats.org/officeDocument/2006/relationships/tags" Target="../tags/tag330.xml"/><Relationship Id="rId17" Type="http://schemas.openxmlformats.org/officeDocument/2006/relationships/image" Target="../media/image6.tmp"/><Relationship Id="rId2" Type="http://schemas.openxmlformats.org/officeDocument/2006/relationships/tags" Target="../tags/tag320.xml"/><Relationship Id="rId16" Type="http://schemas.openxmlformats.org/officeDocument/2006/relationships/slideLayout" Target="../slideLayouts/slideLayout4.xml"/><Relationship Id="rId1" Type="http://schemas.openxmlformats.org/officeDocument/2006/relationships/tags" Target="../tags/tag319.xml"/><Relationship Id="rId6" Type="http://schemas.openxmlformats.org/officeDocument/2006/relationships/tags" Target="../tags/tag324.xml"/><Relationship Id="rId11" Type="http://schemas.openxmlformats.org/officeDocument/2006/relationships/tags" Target="../tags/tag329.xml"/><Relationship Id="rId5" Type="http://schemas.openxmlformats.org/officeDocument/2006/relationships/tags" Target="../tags/tag323.xml"/><Relationship Id="rId15" Type="http://schemas.openxmlformats.org/officeDocument/2006/relationships/tags" Target="../tags/tag333.xml"/><Relationship Id="rId10" Type="http://schemas.openxmlformats.org/officeDocument/2006/relationships/tags" Target="../tags/tag328.xml"/><Relationship Id="rId4" Type="http://schemas.openxmlformats.org/officeDocument/2006/relationships/tags" Target="../tags/tag322.xml"/><Relationship Id="rId9" Type="http://schemas.openxmlformats.org/officeDocument/2006/relationships/tags" Target="../tags/tag327.xml"/><Relationship Id="rId14" Type="http://schemas.openxmlformats.org/officeDocument/2006/relationships/tags" Target="../tags/tag332.xml"/></Relationships>
</file>

<file path=ppt/slides/_rels/slide94.xml.rels><?xml version="1.0" encoding="UTF-8" standalone="yes"?>
<Relationships xmlns="http://schemas.openxmlformats.org/package/2006/relationships"><Relationship Id="rId8" Type="http://schemas.openxmlformats.org/officeDocument/2006/relationships/tags" Target="../tags/tag341.xml"/><Relationship Id="rId13" Type="http://schemas.openxmlformats.org/officeDocument/2006/relationships/tags" Target="../tags/tag346.xml"/><Relationship Id="rId3" Type="http://schemas.openxmlformats.org/officeDocument/2006/relationships/tags" Target="../tags/tag336.xml"/><Relationship Id="rId7" Type="http://schemas.openxmlformats.org/officeDocument/2006/relationships/tags" Target="../tags/tag340.xml"/><Relationship Id="rId12" Type="http://schemas.openxmlformats.org/officeDocument/2006/relationships/tags" Target="../tags/tag345.xml"/><Relationship Id="rId17" Type="http://schemas.openxmlformats.org/officeDocument/2006/relationships/image" Target="../media/image6.tmp"/><Relationship Id="rId2" Type="http://schemas.openxmlformats.org/officeDocument/2006/relationships/tags" Target="../tags/tag335.xml"/><Relationship Id="rId16" Type="http://schemas.openxmlformats.org/officeDocument/2006/relationships/slideLayout" Target="../slideLayouts/slideLayout4.xml"/><Relationship Id="rId1" Type="http://schemas.openxmlformats.org/officeDocument/2006/relationships/tags" Target="../tags/tag334.xml"/><Relationship Id="rId6" Type="http://schemas.openxmlformats.org/officeDocument/2006/relationships/tags" Target="../tags/tag339.xml"/><Relationship Id="rId11" Type="http://schemas.openxmlformats.org/officeDocument/2006/relationships/tags" Target="../tags/tag344.xml"/><Relationship Id="rId5" Type="http://schemas.openxmlformats.org/officeDocument/2006/relationships/tags" Target="../tags/tag338.xml"/><Relationship Id="rId15" Type="http://schemas.openxmlformats.org/officeDocument/2006/relationships/tags" Target="../tags/tag348.xml"/><Relationship Id="rId10" Type="http://schemas.openxmlformats.org/officeDocument/2006/relationships/tags" Target="../tags/tag343.xml"/><Relationship Id="rId4" Type="http://schemas.openxmlformats.org/officeDocument/2006/relationships/tags" Target="../tags/tag337.xml"/><Relationship Id="rId9" Type="http://schemas.openxmlformats.org/officeDocument/2006/relationships/tags" Target="../tags/tag342.xml"/><Relationship Id="rId14" Type="http://schemas.openxmlformats.org/officeDocument/2006/relationships/tags" Target="../tags/tag347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8" Type="http://schemas.openxmlformats.org/officeDocument/2006/relationships/tags" Target="../tags/tag356.xml"/><Relationship Id="rId13" Type="http://schemas.openxmlformats.org/officeDocument/2006/relationships/tags" Target="../tags/tag361.xml"/><Relationship Id="rId3" Type="http://schemas.openxmlformats.org/officeDocument/2006/relationships/tags" Target="../tags/tag351.xml"/><Relationship Id="rId7" Type="http://schemas.openxmlformats.org/officeDocument/2006/relationships/tags" Target="../tags/tag355.xml"/><Relationship Id="rId12" Type="http://schemas.openxmlformats.org/officeDocument/2006/relationships/tags" Target="../tags/tag360.xml"/><Relationship Id="rId17" Type="http://schemas.openxmlformats.org/officeDocument/2006/relationships/image" Target="../media/image6.tmp"/><Relationship Id="rId2" Type="http://schemas.openxmlformats.org/officeDocument/2006/relationships/tags" Target="../tags/tag350.xml"/><Relationship Id="rId16" Type="http://schemas.openxmlformats.org/officeDocument/2006/relationships/slideLayout" Target="../slideLayouts/slideLayout4.xml"/><Relationship Id="rId1" Type="http://schemas.openxmlformats.org/officeDocument/2006/relationships/tags" Target="../tags/tag349.xml"/><Relationship Id="rId6" Type="http://schemas.openxmlformats.org/officeDocument/2006/relationships/tags" Target="../tags/tag354.xml"/><Relationship Id="rId11" Type="http://schemas.openxmlformats.org/officeDocument/2006/relationships/tags" Target="../tags/tag359.xml"/><Relationship Id="rId5" Type="http://schemas.openxmlformats.org/officeDocument/2006/relationships/tags" Target="../tags/tag353.xml"/><Relationship Id="rId15" Type="http://schemas.openxmlformats.org/officeDocument/2006/relationships/tags" Target="../tags/tag363.xml"/><Relationship Id="rId10" Type="http://schemas.openxmlformats.org/officeDocument/2006/relationships/tags" Target="../tags/tag358.xml"/><Relationship Id="rId4" Type="http://schemas.openxmlformats.org/officeDocument/2006/relationships/tags" Target="../tags/tag352.xml"/><Relationship Id="rId9" Type="http://schemas.openxmlformats.org/officeDocument/2006/relationships/tags" Target="../tags/tag357.xml"/><Relationship Id="rId14" Type="http://schemas.openxmlformats.org/officeDocument/2006/relationships/tags" Target="../tags/tag362.xml"/></Relationships>
</file>

<file path=ppt/slides/_rels/slide97.xml.rels><?xml version="1.0" encoding="UTF-8" standalone="yes"?>
<Relationships xmlns="http://schemas.openxmlformats.org/package/2006/relationships"><Relationship Id="rId8" Type="http://schemas.openxmlformats.org/officeDocument/2006/relationships/tags" Target="../tags/tag371.xml"/><Relationship Id="rId13" Type="http://schemas.openxmlformats.org/officeDocument/2006/relationships/tags" Target="../tags/tag376.xml"/><Relationship Id="rId3" Type="http://schemas.openxmlformats.org/officeDocument/2006/relationships/tags" Target="../tags/tag366.xml"/><Relationship Id="rId7" Type="http://schemas.openxmlformats.org/officeDocument/2006/relationships/tags" Target="../tags/tag370.xml"/><Relationship Id="rId12" Type="http://schemas.openxmlformats.org/officeDocument/2006/relationships/tags" Target="../tags/tag375.xml"/><Relationship Id="rId17" Type="http://schemas.openxmlformats.org/officeDocument/2006/relationships/image" Target="../media/image6.tmp"/><Relationship Id="rId2" Type="http://schemas.openxmlformats.org/officeDocument/2006/relationships/tags" Target="../tags/tag365.xml"/><Relationship Id="rId16" Type="http://schemas.openxmlformats.org/officeDocument/2006/relationships/slideLayout" Target="../slideLayouts/slideLayout4.xml"/><Relationship Id="rId1" Type="http://schemas.openxmlformats.org/officeDocument/2006/relationships/tags" Target="../tags/tag364.xml"/><Relationship Id="rId6" Type="http://schemas.openxmlformats.org/officeDocument/2006/relationships/tags" Target="../tags/tag369.xml"/><Relationship Id="rId11" Type="http://schemas.openxmlformats.org/officeDocument/2006/relationships/tags" Target="../tags/tag374.xml"/><Relationship Id="rId5" Type="http://schemas.openxmlformats.org/officeDocument/2006/relationships/tags" Target="../tags/tag368.xml"/><Relationship Id="rId15" Type="http://schemas.openxmlformats.org/officeDocument/2006/relationships/tags" Target="../tags/tag378.xml"/><Relationship Id="rId10" Type="http://schemas.openxmlformats.org/officeDocument/2006/relationships/tags" Target="../tags/tag373.xml"/><Relationship Id="rId4" Type="http://schemas.openxmlformats.org/officeDocument/2006/relationships/tags" Target="../tags/tag367.xml"/><Relationship Id="rId9" Type="http://schemas.openxmlformats.org/officeDocument/2006/relationships/tags" Target="../tags/tag372.xml"/><Relationship Id="rId14" Type="http://schemas.openxmlformats.org/officeDocument/2006/relationships/tags" Target="../tags/tag377.xml"/></Relationships>
</file>

<file path=ppt/slides/_rels/slide98.xml.rels><?xml version="1.0" encoding="UTF-8" standalone="yes"?>
<Relationships xmlns="http://schemas.openxmlformats.org/package/2006/relationships"><Relationship Id="rId8" Type="http://schemas.openxmlformats.org/officeDocument/2006/relationships/tags" Target="../tags/tag386.xml"/><Relationship Id="rId13" Type="http://schemas.openxmlformats.org/officeDocument/2006/relationships/tags" Target="../tags/tag391.xml"/><Relationship Id="rId3" Type="http://schemas.openxmlformats.org/officeDocument/2006/relationships/tags" Target="../tags/tag381.xml"/><Relationship Id="rId7" Type="http://schemas.openxmlformats.org/officeDocument/2006/relationships/tags" Target="../tags/tag385.xml"/><Relationship Id="rId12" Type="http://schemas.openxmlformats.org/officeDocument/2006/relationships/tags" Target="../tags/tag390.xml"/><Relationship Id="rId17" Type="http://schemas.openxmlformats.org/officeDocument/2006/relationships/image" Target="../media/image6.tmp"/><Relationship Id="rId2" Type="http://schemas.openxmlformats.org/officeDocument/2006/relationships/tags" Target="../tags/tag380.xml"/><Relationship Id="rId16" Type="http://schemas.openxmlformats.org/officeDocument/2006/relationships/slideLayout" Target="../slideLayouts/slideLayout4.xml"/><Relationship Id="rId1" Type="http://schemas.openxmlformats.org/officeDocument/2006/relationships/tags" Target="../tags/tag379.xml"/><Relationship Id="rId6" Type="http://schemas.openxmlformats.org/officeDocument/2006/relationships/tags" Target="../tags/tag384.xml"/><Relationship Id="rId11" Type="http://schemas.openxmlformats.org/officeDocument/2006/relationships/tags" Target="../tags/tag389.xml"/><Relationship Id="rId5" Type="http://schemas.openxmlformats.org/officeDocument/2006/relationships/tags" Target="../tags/tag383.xml"/><Relationship Id="rId15" Type="http://schemas.openxmlformats.org/officeDocument/2006/relationships/tags" Target="../tags/tag393.xml"/><Relationship Id="rId10" Type="http://schemas.openxmlformats.org/officeDocument/2006/relationships/tags" Target="../tags/tag388.xml"/><Relationship Id="rId4" Type="http://schemas.openxmlformats.org/officeDocument/2006/relationships/tags" Target="../tags/tag382.xml"/><Relationship Id="rId9" Type="http://schemas.openxmlformats.org/officeDocument/2006/relationships/tags" Target="../tags/tag387.xml"/><Relationship Id="rId14" Type="http://schemas.openxmlformats.org/officeDocument/2006/relationships/tags" Target="../tags/tag39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emf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8" Type="http://schemas.openxmlformats.org/officeDocument/2006/relationships/tags" Target="../tags/tag401.xml"/><Relationship Id="rId13" Type="http://schemas.openxmlformats.org/officeDocument/2006/relationships/image" Target="../media/image6.tmp"/><Relationship Id="rId3" Type="http://schemas.openxmlformats.org/officeDocument/2006/relationships/tags" Target="../tags/tag396.xml"/><Relationship Id="rId7" Type="http://schemas.openxmlformats.org/officeDocument/2006/relationships/tags" Target="../tags/tag400.xml"/><Relationship Id="rId12" Type="http://schemas.openxmlformats.org/officeDocument/2006/relationships/image" Target="../media/image34.emf"/><Relationship Id="rId2" Type="http://schemas.openxmlformats.org/officeDocument/2006/relationships/tags" Target="../tags/tag395.xml"/><Relationship Id="rId1" Type="http://schemas.openxmlformats.org/officeDocument/2006/relationships/tags" Target="../tags/tag394.xml"/><Relationship Id="rId6" Type="http://schemas.openxmlformats.org/officeDocument/2006/relationships/tags" Target="../tags/tag399.xml"/><Relationship Id="rId11" Type="http://schemas.openxmlformats.org/officeDocument/2006/relationships/slideLayout" Target="../slideLayouts/slideLayout4.xml"/><Relationship Id="rId5" Type="http://schemas.openxmlformats.org/officeDocument/2006/relationships/tags" Target="../tags/tag398.xml"/><Relationship Id="rId10" Type="http://schemas.openxmlformats.org/officeDocument/2006/relationships/tags" Target="../tags/tag403.xml"/><Relationship Id="rId4" Type="http://schemas.openxmlformats.org/officeDocument/2006/relationships/tags" Target="../tags/tag397.xml"/><Relationship Id="rId9" Type="http://schemas.openxmlformats.org/officeDocument/2006/relationships/tags" Target="../tags/tag40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0.xml.rels><?xml version="1.0" encoding="UTF-8" standalone="yes"?>
<Relationships xmlns="http://schemas.openxmlformats.org/package/2006/relationships"><Relationship Id="rId8" Type="http://schemas.openxmlformats.org/officeDocument/2006/relationships/tags" Target="../tags/tag411.xml"/><Relationship Id="rId3" Type="http://schemas.openxmlformats.org/officeDocument/2006/relationships/tags" Target="../tags/tag406.xml"/><Relationship Id="rId7" Type="http://schemas.openxmlformats.org/officeDocument/2006/relationships/tags" Target="../tags/tag410.xml"/><Relationship Id="rId2" Type="http://schemas.openxmlformats.org/officeDocument/2006/relationships/tags" Target="../tags/tag405.xml"/><Relationship Id="rId1" Type="http://schemas.openxmlformats.org/officeDocument/2006/relationships/tags" Target="../tags/tag404.xml"/><Relationship Id="rId6" Type="http://schemas.openxmlformats.org/officeDocument/2006/relationships/tags" Target="../tags/tag409.xml"/><Relationship Id="rId11" Type="http://schemas.openxmlformats.org/officeDocument/2006/relationships/image" Target="../media/image6.tmp"/><Relationship Id="rId5" Type="http://schemas.openxmlformats.org/officeDocument/2006/relationships/tags" Target="../tags/tag408.xml"/><Relationship Id="rId10" Type="http://schemas.openxmlformats.org/officeDocument/2006/relationships/slideLayout" Target="../slideLayouts/slideLayout4.xml"/><Relationship Id="rId4" Type="http://schemas.openxmlformats.org/officeDocument/2006/relationships/tags" Target="../tags/tag407.xml"/><Relationship Id="rId9" Type="http://schemas.openxmlformats.org/officeDocument/2006/relationships/tags" Target="../tags/tag412.xml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8" Type="http://schemas.openxmlformats.org/officeDocument/2006/relationships/tags" Target="../tags/tag420.xml"/><Relationship Id="rId13" Type="http://schemas.openxmlformats.org/officeDocument/2006/relationships/tags" Target="../tags/tag425.xml"/><Relationship Id="rId18" Type="http://schemas.openxmlformats.org/officeDocument/2006/relationships/image" Target="../media/image6.tmp"/><Relationship Id="rId3" Type="http://schemas.openxmlformats.org/officeDocument/2006/relationships/tags" Target="../tags/tag415.xml"/><Relationship Id="rId7" Type="http://schemas.openxmlformats.org/officeDocument/2006/relationships/tags" Target="../tags/tag419.xml"/><Relationship Id="rId12" Type="http://schemas.openxmlformats.org/officeDocument/2006/relationships/tags" Target="../tags/tag424.xml"/><Relationship Id="rId17" Type="http://schemas.openxmlformats.org/officeDocument/2006/relationships/slideLayout" Target="../slideLayouts/slideLayout4.xml"/><Relationship Id="rId2" Type="http://schemas.openxmlformats.org/officeDocument/2006/relationships/tags" Target="../tags/tag414.xml"/><Relationship Id="rId16" Type="http://schemas.openxmlformats.org/officeDocument/2006/relationships/tags" Target="../tags/tag428.xml"/><Relationship Id="rId1" Type="http://schemas.openxmlformats.org/officeDocument/2006/relationships/tags" Target="../tags/tag413.xml"/><Relationship Id="rId6" Type="http://schemas.openxmlformats.org/officeDocument/2006/relationships/tags" Target="../tags/tag418.xml"/><Relationship Id="rId11" Type="http://schemas.openxmlformats.org/officeDocument/2006/relationships/tags" Target="../tags/tag423.xml"/><Relationship Id="rId5" Type="http://schemas.openxmlformats.org/officeDocument/2006/relationships/tags" Target="../tags/tag417.xml"/><Relationship Id="rId15" Type="http://schemas.openxmlformats.org/officeDocument/2006/relationships/tags" Target="../tags/tag427.xml"/><Relationship Id="rId10" Type="http://schemas.openxmlformats.org/officeDocument/2006/relationships/tags" Target="../tags/tag422.xml"/><Relationship Id="rId4" Type="http://schemas.openxmlformats.org/officeDocument/2006/relationships/tags" Target="../tags/tag416.xml"/><Relationship Id="rId9" Type="http://schemas.openxmlformats.org/officeDocument/2006/relationships/tags" Target="../tags/tag421.xml"/><Relationship Id="rId14" Type="http://schemas.openxmlformats.org/officeDocument/2006/relationships/tags" Target="../tags/tag426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emf"/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emf"/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8" Type="http://schemas.openxmlformats.org/officeDocument/2006/relationships/tags" Target="../tags/tag436.xml"/><Relationship Id="rId13" Type="http://schemas.openxmlformats.org/officeDocument/2006/relationships/tags" Target="../tags/tag441.xml"/><Relationship Id="rId18" Type="http://schemas.openxmlformats.org/officeDocument/2006/relationships/slideLayout" Target="../slideLayouts/slideLayout4.xml"/><Relationship Id="rId3" Type="http://schemas.openxmlformats.org/officeDocument/2006/relationships/tags" Target="../tags/tag431.xml"/><Relationship Id="rId7" Type="http://schemas.openxmlformats.org/officeDocument/2006/relationships/tags" Target="../tags/tag435.xml"/><Relationship Id="rId12" Type="http://schemas.openxmlformats.org/officeDocument/2006/relationships/tags" Target="../tags/tag440.xml"/><Relationship Id="rId17" Type="http://schemas.openxmlformats.org/officeDocument/2006/relationships/tags" Target="../tags/tag445.xml"/><Relationship Id="rId2" Type="http://schemas.openxmlformats.org/officeDocument/2006/relationships/tags" Target="../tags/tag430.xml"/><Relationship Id="rId16" Type="http://schemas.openxmlformats.org/officeDocument/2006/relationships/tags" Target="../tags/tag444.xml"/><Relationship Id="rId1" Type="http://schemas.openxmlformats.org/officeDocument/2006/relationships/tags" Target="../tags/tag429.xml"/><Relationship Id="rId6" Type="http://schemas.openxmlformats.org/officeDocument/2006/relationships/tags" Target="../tags/tag434.xml"/><Relationship Id="rId11" Type="http://schemas.openxmlformats.org/officeDocument/2006/relationships/tags" Target="../tags/tag439.xml"/><Relationship Id="rId5" Type="http://schemas.openxmlformats.org/officeDocument/2006/relationships/tags" Target="../tags/tag433.xml"/><Relationship Id="rId15" Type="http://schemas.openxmlformats.org/officeDocument/2006/relationships/tags" Target="../tags/tag443.xml"/><Relationship Id="rId10" Type="http://schemas.openxmlformats.org/officeDocument/2006/relationships/tags" Target="../tags/tag438.xml"/><Relationship Id="rId19" Type="http://schemas.openxmlformats.org/officeDocument/2006/relationships/image" Target="../media/image6.tmp"/><Relationship Id="rId4" Type="http://schemas.openxmlformats.org/officeDocument/2006/relationships/tags" Target="../tags/tag432.xml"/><Relationship Id="rId9" Type="http://schemas.openxmlformats.org/officeDocument/2006/relationships/tags" Target="../tags/tag437.xml"/><Relationship Id="rId14" Type="http://schemas.openxmlformats.org/officeDocument/2006/relationships/tags" Target="../tags/tag442.xml"/></Relationships>
</file>

<file path=ppt/slides/_rels/slide129.xml.rels><?xml version="1.0" encoding="UTF-8" standalone="yes"?>
<Relationships xmlns="http://schemas.openxmlformats.org/package/2006/relationships"><Relationship Id="rId8" Type="http://schemas.openxmlformats.org/officeDocument/2006/relationships/tags" Target="../tags/tag453.xml"/><Relationship Id="rId13" Type="http://schemas.openxmlformats.org/officeDocument/2006/relationships/tags" Target="../tags/tag458.xml"/><Relationship Id="rId18" Type="http://schemas.openxmlformats.org/officeDocument/2006/relationships/slideLayout" Target="../slideLayouts/slideLayout4.xml"/><Relationship Id="rId3" Type="http://schemas.openxmlformats.org/officeDocument/2006/relationships/tags" Target="../tags/tag448.xml"/><Relationship Id="rId7" Type="http://schemas.openxmlformats.org/officeDocument/2006/relationships/tags" Target="../tags/tag452.xml"/><Relationship Id="rId12" Type="http://schemas.openxmlformats.org/officeDocument/2006/relationships/tags" Target="../tags/tag457.xml"/><Relationship Id="rId17" Type="http://schemas.openxmlformats.org/officeDocument/2006/relationships/tags" Target="../tags/tag462.xml"/><Relationship Id="rId2" Type="http://schemas.openxmlformats.org/officeDocument/2006/relationships/tags" Target="../tags/tag447.xml"/><Relationship Id="rId16" Type="http://schemas.openxmlformats.org/officeDocument/2006/relationships/tags" Target="../tags/tag461.xml"/><Relationship Id="rId1" Type="http://schemas.openxmlformats.org/officeDocument/2006/relationships/tags" Target="../tags/tag446.xml"/><Relationship Id="rId6" Type="http://schemas.openxmlformats.org/officeDocument/2006/relationships/tags" Target="../tags/tag451.xml"/><Relationship Id="rId11" Type="http://schemas.openxmlformats.org/officeDocument/2006/relationships/tags" Target="../tags/tag456.xml"/><Relationship Id="rId5" Type="http://schemas.openxmlformats.org/officeDocument/2006/relationships/tags" Target="../tags/tag450.xml"/><Relationship Id="rId15" Type="http://schemas.openxmlformats.org/officeDocument/2006/relationships/tags" Target="../tags/tag460.xml"/><Relationship Id="rId10" Type="http://schemas.openxmlformats.org/officeDocument/2006/relationships/tags" Target="../tags/tag455.xml"/><Relationship Id="rId19" Type="http://schemas.openxmlformats.org/officeDocument/2006/relationships/image" Target="../media/image6.tmp"/><Relationship Id="rId4" Type="http://schemas.openxmlformats.org/officeDocument/2006/relationships/tags" Target="../tags/tag449.xml"/><Relationship Id="rId9" Type="http://schemas.openxmlformats.org/officeDocument/2006/relationships/tags" Target="../tags/tag454.xml"/><Relationship Id="rId14" Type="http://schemas.openxmlformats.org/officeDocument/2006/relationships/tags" Target="../tags/tag459.xml"/></Relationships>
</file>

<file path=ppt/slides/_rels/slide130.xml.rels><?xml version="1.0" encoding="UTF-8" standalone="yes"?>
<Relationships xmlns="http://schemas.openxmlformats.org/package/2006/relationships"><Relationship Id="rId8" Type="http://schemas.openxmlformats.org/officeDocument/2006/relationships/tags" Target="../tags/tag470.xml"/><Relationship Id="rId13" Type="http://schemas.openxmlformats.org/officeDocument/2006/relationships/tags" Target="../tags/tag475.xml"/><Relationship Id="rId18" Type="http://schemas.openxmlformats.org/officeDocument/2006/relationships/slideLayout" Target="../slideLayouts/slideLayout4.xml"/><Relationship Id="rId3" Type="http://schemas.openxmlformats.org/officeDocument/2006/relationships/tags" Target="../tags/tag465.xml"/><Relationship Id="rId7" Type="http://schemas.openxmlformats.org/officeDocument/2006/relationships/tags" Target="../tags/tag469.xml"/><Relationship Id="rId12" Type="http://schemas.openxmlformats.org/officeDocument/2006/relationships/tags" Target="../tags/tag474.xml"/><Relationship Id="rId17" Type="http://schemas.openxmlformats.org/officeDocument/2006/relationships/tags" Target="../tags/tag479.xml"/><Relationship Id="rId2" Type="http://schemas.openxmlformats.org/officeDocument/2006/relationships/tags" Target="../tags/tag464.xml"/><Relationship Id="rId16" Type="http://schemas.openxmlformats.org/officeDocument/2006/relationships/tags" Target="../tags/tag478.xml"/><Relationship Id="rId1" Type="http://schemas.openxmlformats.org/officeDocument/2006/relationships/tags" Target="../tags/tag463.xml"/><Relationship Id="rId6" Type="http://schemas.openxmlformats.org/officeDocument/2006/relationships/tags" Target="../tags/tag468.xml"/><Relationship Id="rId11" Type="http://schemas.openxmlformats.org/officeDocument/2006/relationships/tags" Target="../tags/tag473.xml"/><Relationship Id="rId5" Type="http://schemas.openxmlformats.org/officeDocument/2006/relationships/tags" Target="../tags/tag467.xml"/><Relationship Id="rId15" Type="http://schemas.openxmlformats.org/officeDocument/2006/relationships/tags" Target="../tags/tag477.xml"/><Relationship Id="rId10" Type="http://schemas.openxmlformats.org/officeDocument/2006/relationships/tags" Target="../tags/tag472.xml"/><Relationship Id="rId19" Type="http://schemas.openxmlformats.org/officeDocument/2006/relationships/image" Target="../media/image6.tmp"/><Relationship Id="rId4" Type="http://schemas.openxmlformats.org/officeDocument/2006/relationships/tags" Target="../tags/tag466.xml"/><Relationship Id="rId9" Type="http://schemas.openxmlformats.org/officeDocument/2006/relationships/tags" Target="../tags/tag471.xml"/><Relationship Id="rId14" Type="http://schemas.openxmlformats.org/officeDocument/2006/relationships/tags" Target="../tags/tag476.xml"/></Relationships>
</file>

<file path=ppt/slides/_rels/slide131.xml.rels><?xml version="1.0" encoding="UTF-8" standalone="yes"?>
<Relationships xmlns="http://schemas.openxmlformats.org/package/2006/relationships"><Relationship Id="rId8" Type="http://schemas.openxmlformats.org/officeDocument/2006/relationships/tags" Target="../tags/tag487.xml"/><Relationship Id="rId13" Type="http://schemas.openxmlformats.org/officeDocument/2006/relationships/tags" Target="../tags/tag492.xml"/><Relationship Id="rId18" Type="http://schemas.openxmlformats.org/officeDocument/2006/relationships/tags" Target="../tags/tag497.xml"/><Relationship Id="rId3" Type="http://schemas.openxmlformats.org/officeDocument/2006/relationships/tags" Target="../tags/tag482.xml"/><Relationship Id="rId7" Type="http://schemas.openxmlformats.org/officeDocument/2006/relationships/tags" Target="../tags/tag486.xml"/><Relationship Id="rId12" Type="http://schemas.openxmlformats.org/officeDocument/2006/relationships/tags" Target="../tags/tag491.xml"/><Relationship Id="rId17" Type="http://schemas.openxmlformats.org/officeDocument/2006/relationships/tags" Target="../tags/tag496.xml"/><Relationship Id="rId2" Type="http://schemas.openxmlformats.org/officeDocument/2006/relationships/tags" Target="../tags/tag481.xml"/><Relationship Id="rId16" Type="http://schemas.openxmlformats.org/officeDocument/2006/relationships/tags" Target="../tags/tag495.xml"/><Relationship Id="rId20" Type="http://schemas.openxmlformats.org/officeDocument/2006/relationships/image" Target="../media/image6.tmp"/><Relationship Id="rId1" Type="http://schemas.openxmlformats.org/officeDocument/2006/relationships/tags" Target="../tags/tag480.xml"/><Relationship Id="rId6" Type="http://schemas.openxmlformats.org/officeDocument/2006/relationships/tags" Target="../tags/tag485.xml"/><Relationship Id="rId11" Type="http://schemas.openxmlformats.org/officeDocument/2006/relationships/tags" Target="../tags/tag490.xml"/><Relationship Id="rId5" Type="http://schemas.openxmlformats.org/officeDocument/2006/relationships/tags" Target="../tags/tag484.xml"/><Relationship Id="rId15" Type="http://schemas.openxmlformats.org/officeDocument/2006/relationships/tags" Target="../tags/tag494.xml"/><Relationship Id="rId10" Type="http://schemas.openxmlformats.org/officeDocument/2006/relationships/tags" Target="../tags/tag489.xml"/><Relationship Id="rId19" Type="http://schemas.openxmlformats.org/officeDocument/2006/relationships/slideLayout" Target="../slideLayouts/slideLayout4.xml"/><Relationship Id="rId4" Type="http://schemas.openxmlformats.org/officeDocument/2006/relationships/tags" Target="../tags/tag483.xml"/><Relationship Id="rId9" Type="http://schemas.openxmlformats.org/officeDocument/2006/relationships/tags" Target="../tags/tag488.xml"/><Relationship Id="rId14" Type="http://schemas.openxmlformats.org/officeDocument/2006/relationships/tags" Target="../tags/tag493.xml"/></Relationships>
</file>

<file path=ppt/slides/_rels/slide132.xml.rels><?xml version="1.0" encoding="UTF-8" standalone="yes"?>
<Relationships xmlns="http://schemas.openxmlformats.org/package/2006/relationships"><Relationship Id="rId8" Type="http://schemas.openxmlformats.org/officeDocument/2006/relationships/tags" Target="../tags/tag505.xml"/><Relationship Id="rId3" Type="http://schemas.openxmlformats.org/officeDocument/2006/relationships/tags" Target="../tags/tag500.xml"/><Relationship Id="rId7" Type="http://schemas.openxmlformats.org/officeDocument/2006/relationships/tags" Target="../tags/tag504.xml"/><Relationship Id="rId12" Type="http://schemas.openxmlformats.org/officeDocument/2006/relationships/image" Target="../media/image6.tmp"/><Relationship Id="rId2" Type="http://schemas.openxmlformats.org/officeDocument/2006/relationships/tags" Target="../tags/tag499.xml"/><Relationship Id="rId1" Type="http://schemas.openxmlformats.org/officeDocument/2006/relationships/tags" Target="../tags/tag498.xml"/><Relationship Id="rId6" Type="http://schemas.openxmlformats.org/officeDocument/2006/relationships/tags" Target="../tags/tag503.xml"/><Relationship Id="rId11" Type="http://schemas.openxmlformats.org/officeDocument/2006/relationships/slideLayout" Target="../slideLayouts/slideLayout4.xml"/><Relationship Id="rId5" Type="http://schemas.openxmlformats.org/officeDocument/2006/relationships/tags" Target="../tags/tag502.xml"/><Relationship Id="rId10" Type="http://schemas.openxmlformats.org/officeDocument/2006/relationships/tags" Target="../tags/tag507.xml"/><Relationship Id="rId4" Type="http://schemas.openxmlformats.org/officeDocument/2006/relationships/tags" Target="../tags/tag501.xml"/><Relationship Id="rId9" Type="http://schemas.openxmlformats.org/officeDocument/2006/relationships/tags" Target="../tags/tag506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4.xml.rels><?xml version="1.0" encoding="UTF-8" standalone="yes"?>
<Relationships xmlns="http://schemas.openxmlformats.org/package/2006/relationships"><Relationship Id="rId8" Type="http://schemas.openxmlformats.org/officeDocument/2006/relationships/tags" Target="../tags/tag515.xml"/><Relationship Id="rId3" Type="http://schemas.openxmlformats.org/officeDocument/2006/relationships/tags" Target="../tags/tag510.xml"/><Relationship Id="rId7" Type="http://schemas.openxmlformats.org/officeDocument/2006/relationships/tags" Target="../tags/tag514.xml"/><Relationship Id="rId2" Type="http://schemas.openxmlformats.org/officeDocument/2006/relationships/tags" Target="../tags/tag509.xml"/><Relationship Id="rId1" Type="http://schemas.openxmlformats.org/officeDocument/2006/relationships/tags" Target="../tags/tag508.xml"/><Relationship Id="rId6" Type="http://schemas.openxmlformats.org/officeDocument/2006/relationships/tags" Target="../tags/tag513.xml"/><Relationship Id="rId11" Type="http://schemas.openxmlformats.org/officeDocument/2006/relationships/image" Target="../media/image6.tmp"/><Relationship Id="rId5" Type="http://schemas.openxmlformats.org/officeDocument/2006/relationships/tags" Target="../tags/tag512.xml"/><Relationship Id="rId10" Type="http://schemas.openxmlformats.org/officeDocument/2006/relationships/slideLayout" Target="../slideLayouts/slideLayout4.xml"/><Relationship Id="rId4" Type="http://schemas.openxmlformats.org/officeDocument/2006/relationships/tags" Target="../tags/tag511.xml"/><Relationship Id="rId9" Type="http://schemas.openxmlformats.org/officeDocument/2006/relationships/tags" Target="../tags/tag516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emf"/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5.xml.rels><?xml version="1.0" encoding="UTF-8" standalone="yes"?>
<Relationships xmlns="http://schemas.openxmlformats.org/package/2006/relationships"><Relationship Id="rId8" Type="http://schemas.openxmlformats.org/officeDocument/2006/relationships/tags" Target="../tags/tag524.xml"/><Relationship Id="rId13" Type="http://schemas.openxmlformats.org/officeDocument/2006/relationships/tags" Target="../tags/tag529.xml"/><Relationship Id="rId18" Type="http://schemas.openxmlformats.org/officeDocument/2006/relationships/slideLayout" Target="../slideLayouts/slideLayout4.xml"/><Relationship Id="rId3" Type="http://schemas.openxmlformats.org/officeDocument/2006/relationships/tags" Target="../tags/tag519.xml"/><Relationship Id="rId7" Type="http://schemas.openxmlformats.org/officeDocument/2006/relationships/tags" Target="../tags/tag523.xml"/><Relationship Id="rId12" Type="http://schemas.openxmlformats.org/officeDocument/2006/relationships/tags" Target="../tags/tag528.xml"/><Relationship Id="rId17" Type="http://schemas.openxmlformats.org/officeDocument/2006/relationships/tags" Target="../tags/tag533.xml"/><Relationship Id="rId2" Type="http://schemas.openxmlformats.org/officeDocument/2006/relationships/tags" Target="../tags/tag518.xml"/><Relationship Id="rId16" Type="http://schemas.openxmlformats.org/officeDocument/2006/relationships/tags" Target="../tags/tag532.xml"/><Relationship Id="rId1" Type="http://schemas.openxmlformats.org/officeDocument/2006/relationships/tags" Target="../tags/tag517.xml"/><Relationship Id="rId6" Type="http://schemas.openxmlformats.org/officeDocument/2006/relationships/tags" Target="../tags/tag522.xml"/><Relationship Id="rId11" Type="http://schemas.openxmlformats.org/officeDocument/2006/relationships/tags" Target="../tags/tag527.xml"/><Relationship Id="rId5" Type="http://schemas.openxmlformats.org/officeDocument/2006/relationships/tags" Target="../tags/tag521.xml"/><Relationship Id="rId15" Type="http://schemas.openxmlformats.org/officeDocument/2006/relationships/tags" Target="../tags/tag531.xml"/><Relationship Id="rId10" Type="http://schemas.openxmlformats.org/officeDocument/2006/relationships/tags" Target="../tags/tag526.xml"/><Relationship Id="rId19" Type="http://schemas.openxmlformats.org/officeDocument/2006/relationships/image" Target="../media/image6.tmp"/><Relationship Id="rId4" Type="http://schemas.openxmlformats.org/officeDocument/2006/relationships/tags" Target="../tags/tag520.xml"/><Relationship Id="rId9" Type="http://schemas.openxmlformats.org/officeDocument/2006/relationships/tags" Target="../tags/tag525.xml"/><Relationship Id="rId14" Type="http://schemas.openxmlformats.org/officeDocument/2006/relationships/tags" Target="../tags/tag530.xml"/></Relationships>
</file>

<file path=ppt/slides/_rels/slide146.xml.rels><?xml version="1.0" encoding="UTF-8" standalone="yes"?>
<Relationships xmlns="http://schemas.openxmlformats.org/package/2006/relationships"><Relationship Id="rId8" Type="http://schemas.openxmlformats.org/officeDocument/2006/relationships/tags" Target="../tags/tag541.xml"/><Relationship Id="rId13" Type="http://schemas.openxmlformats.org/officeDocument/2006/relationships/tags" Target="../tags/tag546.xml"/><Relationship Id="rId18" Type="http://schemas.openxmlformats.org/officeDocument/2006/relationships/slideLayout" Target="../slideLayouts/slideLayout4.xml"/><Relationship Id="rId3" Type="http://schemas.openxmlformats.org/officeDocument/2006/relationships/tags" Target="../tags/tag536.xml"/><Relationship Id="rId7" Type="http://schemas.openxmlformats.org/officeDocument/2006/relationships/tags" Target="../tags/tag540.xml"/><Relationship Id="rId12" Type="http://schemas.openxmlformats.org/officeDocument/2006/relationships/tags" Target="../tags/tag545.xml"/><Relationship Id="rId17" Type="http://schemas.openxmlformats.org/officeDocument/2006/relationships/tags" Target="../tags/tag550.xml"/><Relationship Id="rId2" Type="http://schemas.openxmlformats.org/officeDocument/2006/relationships/tags" Target="../tags/tag535.xml"/><Relationship Id="rId16" Type="http://schemas.openxmlformats.org/officeDocument/2006/relationships/tags" Target="../tags/tag549.xml"/><Relationship Id="rId1" Type="http://schemas.openxmlformats.org/officeDocument/2006/relationships/tags" Target="../tags/tag534.xml"/><Relationship Id="rId6" Type="http://schemas.openxmlformats.org/officeDocument/2006/relationships/tags" Target="../tags/tag539.xml"/><Relationship Id="rId11" Type="http://schemas.openxmlformats.org/officeDocument/2006/relationships/tags" Target="../tags/tag544.xml"/><Relationship Id="rId5" Type="http://schemas.openxmlformats.org/officeDocument/2006/relationships/tags" Target="../tags/tag538.xml"/><Relationship Id="rId15" Type="http://schemas.openxmlformats.org/officeDocument/2006/relationships/tags" Target="../tags/tag548.xml"/><Relationship Id="rId10" Type="http://schemas.openxmlformats.org/officeDocument/2006/relationships/tags" Target="../tags/tag543.xml"/><Relationship Id="rId19" Type="http://schemas.openxmlformats.org/officeDocument/2006/relationships/image" Target="../media/image6.tmp"/><Relationship Id="rId4" Type="http://schemas.openxmlformats.org/officeDocument/2006/relationships/tags" Target="../tags/tag537.xml"/><Relationship Id="rId9" Type="http://schemas.openxmlformats.org/officeDocument/2006/relationships/tags" Target="../tags/tag542.xml"/><Relationship Id="rId14" Type="http://schemas.openxmlformats.org/officeDocument/2006/relationships/tags" Target="../tags/tag547.xml"/></Relationships>
</file>

<file path=ppt/slides/_rels/slide147.xml.rels><?xml version="1.0" encoding="UTF-8" standalone="yes"?>
<Relationships xmlns="http://schemas.openxmlformats.org/package/2006/relationships"><Relationship Id="rId8" Type="http://schemas.openxmlformats.org/officeDocument/2006/relationships/tags" Target="../tags/tag558.xml"/><Relationship Id="rId3" Type="http://schemas.openxmlformats.org/officeDocument/2006/relationships/tags" Target="../tags/tag553.xml"/><Relationship Id="rId7" Type="http://schemas.openxmlformats.org/officeDocument/2006/relationships/tags" Target="../tags/tag557.xml"/><Relationship Id="rId12" Type="http://schemas.openxmlformats.org/officeDocument/2006/relationships/image" Target="../media/image6.tmp"/><Relationship Id="rId2" Type="http://schemas.openxmlformats.org/officeDocument/2006/relationships/tags" Target="../tags/tag552.xml"/><Relationship Id="rId1" Type="http://schemas.openxmlformats.org/officeDocument/2006/relationships/tags" Target="../tags/tag551.xml"/><Relationship Id="rId6" Type="http://schemas.openxmlformats.org/officeDocument/2006/relationships/tags" Target="../tags/tag556.xml"/><Relationship Id="rId11" Type="http://schemas.openxmlformats.org/officeDocument/2006/relationships/slideLayout" Target="../slideLayouts/slideLayout4.xml"/><Relationship Id="rId5" Type="http://schemas.openxmlformats.org/officeDocument/2006/relationships/tags" Target="../tags/tag555.xml"/><Relationship Id="rId10" Type="http://schemas.openxmlformats.org/officeDocument/2006/relationships/tags" Target="../tags/tag560.xml"/><Relationship Id="rId4" Type="http://schemas.openxmlformats.org/officeDocument/2006/relationships/tags" Target="../tags/tag554.xml"/><Relationship Id="rId9" Type="http://schemas.openxmlformats.org/officeDocument/2006/relationships/tags" Target="../tags/tag559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882802"/>
            <a:ext cx="12192000" cy="1405305"/>
          </a:xfrm>
        </p:spPr>
        <p:txBody>
          <a:bodyPr>
            <a:normAutofit fontScale="900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4400" b="1" i="0" dirty="0">
                <a:solidFill>
                  <a:schemeClr val="tx1"/>
                </a:solidFill>
                <a:ea typeface="宋体" panose="02010600030101010101" pitchFamily="2" charset="-122"/>
              </a:rPr>
              <a:t>汇编语言与逆向技术</a:t>
            </a:r>
            <a:br>
              <a:rPr lang="en-US" i="0" dirty="0">
                <a:solidFill>
                  <a:schemeClr val="tx1"/>
                </a:solidFill>
                <a:ea typeface="宋体" panose="02010600030101010101" pitchFamily="2" charset="-122"/>
              </a:rPr>
            </a:br>
            <a:r>
              <a:rPr lang="zh-CN" altLang="en-US" sz="3600" b="1" dirty="0">
                <a:solidFill>
                  <a:srgbClr val="7030A0"/>
                </a:solidFill>
              </a:rPr>
              <a:t>第</a:t>
            </a:r>
            <a:r>
              <a:rPr lang="en-US" altLang="zh-CN" sz="3600" b="1" dirty="0">
                <a:solidFill>
                  <a:srgbClr val="7030A0"/>
                </a:solidFill>
              </a:rPr>
              <a:t>9</a:t>
            </a:r>
            <a:r>
              <a:rPr lang="zh-CN" altLang="en-US" sz="3600" b="1" dirty="0">
                <a:solidFill>
                  <a:srgbClr val="7030A0"/>
                </a:solidFill>
              </a:rPr>
              <a:t>章 </a:t>
            </a:r>
            <a:r>
              <a:rPr lang="en-US" altLang="zh-CN" sz="3600" b="1" dirty="0">
                <a:solidFill>
                  <a:srgbClr val="7030A0"/>
                </a:solidFill>
              </a:rPr>
              <a:t>PE</a:t>
            </a:r>
            <a:r>
              <a:rPr lang="zh-CN" altLang="en-US" sz="3600" b="1" dirty="0">
                <a:solidFill>
                  <a:srgbClr val="7030A0"/>
                </a:solidFill>
              </a:rPr>
              <a:t>文件结构</a:t>
            </a:r>
            <a:endParaRPr lang="en-US" sz="2800" b="1" dirty="0">
              <a:solidFill>
                <a:srgbClr val="7030A0"/>
              </a:solidFill>
              <a:ea typeface="宋体" panose="02010600030101010101" pitchFamily="2" charset="-122"/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 bwMode="auto">
          <a:xfrm>
            <a:off x="0" y="3626471"/>
            <a:ext cx="12192000" cy="13012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4300" b="1" i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defTabSz="914400"/>
            <a:r>
              <a:rPr lang="zh-CN" altLang="en-US" sz="3600" b="0" i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王志、李旭昇、过辰锴、邓琮弋</a:t>
            </a:r>
            <a:r>
              <a:rPr lang="en-US" altLang="zh-CN" sz="3600" b="0" i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</a:p>
          <a:p>
            <a:pPr algn="ctr" defTabSz="914400"/>
            <a:r>
              <a:rPr lang="en-US" altLang="zh-CN" sz="2400" b="0" i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zwang@nankai.edu.cn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 bwMode="auto">
          <a:xfrm>
            <a:off x="0" y="5179843"/>
            <a:ext cx="12192000" cy="16781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4300" b="1" i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defTabSz="914400">
              <a:lnSpc>
                <a:spcPct val="150000"/>
              </a:lnSpc>
            </a:pPr>
            <a:r>
              <a:rPr lang="zh-CN" altLang="en-US" sz="2400" i="0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南开大学 网络空间安全学院</a:t>
            </a:r>
            <a:endParaRPr lang="en-US" altLang="zh-CN" sz="2400" i="0" dirty="0">
              <a:solidFill>
                <a:srgbClr val="7030A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ctr" defTabSz="914400">
              <a:lnSpc>
                <a:spcPct val="150000"/>
              </a:lnSpc>
            </a:pPr>
            <a:r>
              <a:rPr lang="en-US" altLang="zh-CN" sz="2400" i="0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2025-2026</a:t>
            </a:r>
            <a:r>
              <a:rPr lang="zh-CN" altLang="en-US" sz="2400" i="0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学年</a:t>
            </a:r>
            <a:endParaRPr lang="en-US" altLang="zh-CN" sz="2400" i="0" dirty="0">
              <a:solidFill>
                <a:srgbClr val="7030A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0920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3969D0-D159-47F9-957C-49963E18CC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本章知识点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CB8B89F-D60A-42C3-84D9-4CFC30452A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9585" y="1825625"/>
            <a:ext cx="5644487" cy="4351338"/>
          </a:xfrm>
        </p:spPr>
        <p:txBody>
          <a:bodyPr>
            <a:normAutofit fontScale="850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zh-CN" altLang="en-US" dirty="0">
                <a:latin typeface="宋体" panose="02010600030101010101" pitchFamily="2" charset="-122"/>
              </a:rPr>
              <a:t>可执行文件</a:t>
            </a:r>
            <a:endParaRPr lang="en-US" altLang="zh-CN" dirty="0">
              <a:latin typeface="宋体" panose="02010600030101010101" pitchFamily="2" charset="-122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altLang="zh-CN" dirty="0">
                <a:latin typeface="宋体" panose="02010600030101010101" pitchFamily="2" charset="-122"/>
              </a:rPr>
              <a:t>PE</a:t>
            </a:r>
            <a:r>
              <a:rPr lang="zh-CN" altLang="en-US" dirty="0">
                <a:latin typeface="宋体" panose="02010600030101010101" pitchFamily="2" charset="-122"/>
              </a:rPr>
              <a:t>文件基本概念</a:t>
            </a:r>
            <a:endParaRPr lang="en-US" altLang="zh-CN" dirty="0">
              <a:latin typeface="宋体" panose="02010600030101010101" pitchFamily="2" charset="-122"/>
            </a:endParaRPr>
          </a:p>
          <a:p>
            <a:pPr lvl="1"/>
            <a:r>
              <a:rPr lang="zh-CN" altLang="en-US" dirty="0">
                <a:solidFill>
                  <a:srgbClr val="FF0000"/>
                </a:solidFill>
                <a:latin typeface="宋体" panose="02010600030101010101" pitchFamily="2" charset="-122"/>
              </a:rPr>
              <a:t>难点：虚拟地址空间、相对虚拟地址</a:t>
            </a:r>
            <a:endParaRPr lang="en-US" altLang="zh-CN" dirty="0">
              <a:solidFill>
                <a:srgbClr val="FF0000"/>
              </a:solidFill>
              <a:latin typeface="宋体" panose="02010600030101010101" pitchFamily="2" charset="-122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altLang="zh-CN" dirty="0">
                <a:latin typeface="宋体" panose="02010600030101010101" pitchFamily="2" charset="-122"/>
              </a:rPr>
              <a:t>DOS</a:t>
            </a:r>
            <a:r>
              <a:rPr lang="zh-CN" altLang="en-US" dirty="0">
                <a:latin typeface="宋体" panose="02010600030101010101" pitchFamily="2" charset="-122"/>
              </a:rPr>
              <a:t>文件头</a:t>
            </a:r>
            <a:endParaRPr lang="en-US" altLang="zh-CN" dirty="0">
              <a:latin typeface="宋体" panose="02010600030101010101" pitchFamily="2" charset="-122"/>
            </a:endParaRPr>
          </a:p>
          <a:p>
            <a:pPr lvl="1"/>
            <a:r>
              <a:rPr lang="zh-CN" altLang="en-US" dirty="0">
                <a:solidFill>
                  <a:srgbClr val="FF0000"/>
                </a:solidFill>
                <a:latin typeface="宋体" panose="02010600030101010101" pitchFamily="2" charset="-122"/>
              </a:rPr>
              <a:t>重点：</a:t>
            </a:r>
            <a:r>
              <a:rPr lang="en-US" altLang="zh-CN" dirty="0">
                <a:solidFill>
                  <a:srgbClr val="FF0000"/>
                </a:solidFill>
                <a:latin typeface="宋体" panose="02010600030101010101" pitchFamily="2" charset="-122"/>
              </a:rPr>
              <a:t>MZ</a:t>
            </a:r>
            <a:r>
              <a:rPr lang="zh-CN" altLang="en-US" dirty="0">
                <a:solidFill>
                  <a:srgbClr val="FF0000"/>
                </a:solidFill>
                <a:latin typeface="宋体" panose="02010600030101010101" pitchFamily="2" charset="-122"/>
              </a:rPr>
              <a:t>头、定位</a:t>
            </a:r>
            <a:r>
              <a:rPr lang="en-US" altLang="zh-CN" dirty="0">
                <a:solidFill>
                  <a:srgbClr val="FF0000"/>
                </a:solidFill>
                <a:latin typeface="宋体" panose="02010600030101010101" pitchFamily="2" charset="-122"/>
              </a:rPr>
              <a:t>PE</a:t>
            </a:r>
            <a:r>
              <a:rPr lang="zh-CN" altLang="en-US" dirty="0">
                <a:solidFill>
                  <a:srgbClr val="FF0000"/>
                </a:solidFill>
                <a:latin typeface="宋体" panose="02010600030101010101" pitchFamily="2" charset="-122"/>
              </a:rPr>
              <a:t>头</a:t>
            </a:r>
            <a:endParaRPr lang="en-US" altLang="zh-CN" dirty="0">
              <a:solidFill>
                <a:srgbClr val="FF0000"/>
              </a:solidFill>
              <a:latin typeface="宋体" panose="02010600030101010101" pitchFamily="2" charset="-122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altLang="zh-CN" dirty="0">
                <a:latin typeface="宋体" panose="02010600030101010101" pitchFamily="2" charset="-122"/>
              </a:rPr>
              <a:t>PE</a:t>
            </a:r>
            <a:r>
              <a:rPr lang="zh-CN" altLang="en-US" dirty="0">
                <a:latin typeface="宋体" panose="02010600030101010101" pitchFamily="2" charset="-122"/>
              </a:rPr>
              <a:t>文件头</a:t>
            </a:r>
            <a:endParaRPr lang="en-US" altLang="zh-CN" dirty="0">
              <a:latin typeface="宋体" panose="02010600030101010101" pitchFamily="2" charset="-122"/>
            </a:endParaRPr>
          </a:p>
          <a:p>
            <a:pPr lvl="1"/>
            <a:r>
              <a:rPr lang="zh-CN" altLang="en-US" dirty="0">
                <a:solidFill>
                  <a:srgbClr val="FF0000"/>
                </a:solidFill>
                <a:latin typeface="宋体" panose="02010600030101010101" pitchFamily="2" charset="-122"/>
              </a:rPr>
              <a:t>重点：</a:t>
            </a:r>
            <a:r>
              <a:rPr lang="en-US" altLang="zh-CN" dirty="0" err="1">
                <a:solidFill>
                  <a:srgbClr val="FF0000"/>
                </a:solidFill>
                <a:latin typeface="宋体" panose="02010600030101010101" pitchFamily="2" charset="-122"/>
              </a:rPr>
              <a:t>AddressOfEntryPoint</a:t>
            </a:r>
            <a:r>
              <a:rPr lang="zh-CN" altLang="en-US" dirty="0">
                <a:solidFill>
                  <a:srgbClr val="FF0000"/>
                </a:solidFill>
                <a:latin typeface="宋体" panose="02010600030101010101" pitchFamily="2" charset="-122"/>
              </a:rPr>
              <a:t>、</a:t>
            </a:r>
            <a:r>
              <a:rPr lang="en-US" altLang="zh-CN" dirty="0" err="1">
                <a:solidFill>
                  <a:srgbClr val="FF0000"/>
                </a:solidFill>
                <a:latin typeface="宋体" panose="02010600030101010101" pitchFamily="2" charset="-122"/>
              </a:rPr>
              <a:t>ImageBase</a:t>
            </a:r>
            <a:r>
              <a:rPr lang="zh-CN" altLang="en-US" dirty="0">
                <a:solidFill>
                  <a:srgbClr val="FF0000"/>
                </a:solidFill>
                <a:latin typeface="宋体" panose="02010600030101010101" pitchFamily="2" charset="-122"/>
              </a:rPr>
              <a:t>、数据目录</a:t>
            </a:r>
            <a:endParaRPr lang="en-US" altLang="zh-CN" dirty="0">
              <a:solidFill>
                <a:srgbClr val="FF0000"/>
              </a:solidFill>
              <a:latin typeface="宋体" panose="02010600030101010101" pitchFamily="2" charset="-122"/>
            </a:endParaRPr>
          </a:p>
          <a:p>
            <a:pPr lvl="1"/>
            <a:endParaRPr lang="en-US" altLang="zh-CN" dirty="0">
              <a:latin typeface="宋体" panose="02010600030101010101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543E63B-68FB-02D8-13BB-70822027302D}"/>
              </a:ext>
            </a:extLst>
          </p:cNvPr>
          <p:cNvSpPr txBox="1"/>
          <p:nvPr/>
        </p:nvSpPr>
        <p:spPr>
          <a:xfrm>
            <a:off x="5964072" y="1825625"/>
            <a:ext cx="6093724" cy="39253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 defTabSz="914400">
              <a:lnSpc>
                <a:spcPct val="130000"/>
              </a:lnSpc>
              <a:spcBef>
                <a:spcPts val="1000"/>
              </a:spcBef>
              <a:buFont typeface="+mj-lt"/>
              <a:buAutoNum type="arabicPeriod" startAt="5"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节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685800" lvl="1" indent="-228600" defTabSz="914400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难点：文件偏移</a:t>
            </a:r>
            <a:r>
              <a:rPr lang="en-US" altLang="zh-CN" sz="20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RAW</a:t>
            </a:r>
            <a:r>
              <a:rPr lang="zh-CN" altLang="en-US" sz="20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到内存地址</a:t>
            </a:r>
            <a:r>
              <a:rPr lang="en-US" altLang="zh-CN" sz="20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RVA</a:t>
            </a:r>
            <a:r>
              <a:rPr lang="zh-CN" altLang="en-US" sz="20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的转换方法</a:t>
            </a:r>
            <a:endParaRPr lang="en-US" altLang="zh-CN" sz="2000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514350" indent="-514350" defTabSz="914400">
              <a:lnSpc>
                <a:spcPct val="130000"/>
              </a:lnSpc>
              <a:spcBef>
                <a:spcPts val="1000"/>
              </a:spcBef>
              <a:buFont typeface="+mj-lt"/>
              <a:buAutoNum type="arabicPeriod" startAt="5"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导入表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685800" lvl="1" indent="-228600" defTabSz="914400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难点：</a:t>
            </a:r>
            <a:r>
              <a:rPr lang="en-US" altLang="zh-CN" sz="20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INT</a:t>
            </a:r>
            <a:r>
              <a:rPr lang="zh-CN" altLang="en-US" sz="20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0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Import Name Table</a:t>
            </a:r>
            <a:r>
              <a:rPr lang="zh-CN" altLang="en-US" sz="20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）与</a:t>
            </a:r>
            <a:r>
              <a:rPr lang="en-US" altLang="zh-CN" sz="20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IAT</a:t>
            </a:r>
            <a:r>
              <a:rPr lang="zh-CN" altLang="en-US" sz="20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0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Import Address Table</a:t>
            </a:r>
            <a:r>
              <a:rPr lang="zh-CN" altLang="en-US" sz="20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endParaRPr lang="en-US" altLang="zh-CN" sz="2000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514350" indent="-514350" defTabSz="914400">
              <a:lnSpc>
                <a:spcPct val="130000"/>
              </a:lnSpc>
              <a:spcBef>
                <a:spcPts val="1000"/>
              </a:spcBef>
              <a:buFont typeface="+mj-lt"/>
              <a:buAutoNum type="arabicPeriod" startAt="5"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导出表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685800" lvl="1" indent="-228600" defTabSz="914400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难点：</a:t>
            </a:r>
            <a:r>
              <a:rPr lang="en-US" altLang="zh-CN" sz="2000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AddressOfNames</a:t>
            </a:r>
            <a:r>
              <a:rPr lang="en-US" altLang="zh-CN" sz="20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sz="2000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AddressOfNameOrdinals</a:t>
            </a:r>
            <a:r>
              <a:rPr lang="zh-CN" altLang="en-US" sz="20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000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AddressOfFunctions</a:t>
            </a:r>
            <a:endParaRPr lang="en-US" altLang="zh-CN" sz="2000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25758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44727" y="2337582"/>
            <a:ext cx="6400800" cy="1143000"/>
          </a:xfrm>
        </p:spPr>
        <p:txBody>
          <a:bodyPr/>
          <a:lstStyle/>
          <a:p>
            <a:pPr algn="ctr"/>
            <a:r>
              <a:rPr lang="zh-CN" altLang="en-US" dirty="0"/>
              <a:t>可执行文件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77641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D7901021-EF31-410A-9AF3-1824C561599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219200" y="1252376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exe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可执行程序是否仅包含汇编语言对应的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CPU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指令序列？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exe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程序中除了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CPU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指令，还需要哪些信息。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0DCFF459-95C3-4793-919E-B9613C9FAB3A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976E47F-CC77-4A60-878A-390060C01574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12573000" y="0"/>
            <a:ext cx="3840480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BD6652A3-2554-43C9-ABCB-9B1B73229A1C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2661900" y="6326832"/>
            <a:ext cx="3662680" cy="46166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FFFFFF"/>
                </a:solidFill>
              </a14:hiddenLine>
            </a:ext>
          </a:extLst>
        </p:spPr>
        <p:txBody>
          <a:bodyPr vert="horz" rtlCol="0" anchor="ctr">
            <a:spAutoFit/>
          </a:bodyPr>
          <a:lstStyle/>
          <a:p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可为此题添加文本、图片、公式等解析，且需将内容全部放在本区域内。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F01736D3-E1AB-46B3-B6C2-99F2A4CCEEBA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2827000" y="1270000"/>
            <a:ext cx="3332480" cy="2554545"/>
          </a:xfrm>
          <a:prstGeom prst="rect">
            <a:avLst/>
          </a:prstGeom>
          <a:noFill/>
        </p:spPr>
        <p:txBody>
          <a:bodyPr vert="horz" rtlCol="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可执行程序除了</a:t>
            </a: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CPU</a:t>
            </a: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指令序列，还需要包括操作系统相关的内容。因为程序中包含了操作系统相关内容，导致</a:t>
            </a: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Windows</a:t>
            </a: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上的程序不能运行在</a:t>
            </a: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Linux</a:t>
            </a: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上，</a:t>
            </a: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Linux</a:t>
            </a: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系统上的程序不能运行在</a:t>
            </a: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Windows</a:t>
            </a: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系统上。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Microsoft Yahei" panose="020B0503020204020204" pitchFamily="34" charset="-122"/>
            </a:endParaRPr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FC31DC4C-7601-443E-BE77-DB98506973D8}"/>
              </a:ext>
            </a:extLst>
          </p:cNvPr>
          <p:cNvGrpSpPr/>
          <p:nvPr>
            <p:custDataLst>
              <p:tags r:id="rId7"/>
            </p:custDataLst>
          </p:nvPr>
        </p:nvGrpSpPr>
        <p:grpSpPr>
          <a:xfrm>
            <a:off x="12585700" y="0"/>
            <a:ext cx="3815080" cy="647700"/>
            <a:chOff x="12585700" y="0"/>
            <a:chExt cx="3815080" cy="647700"/>
          </a:xfrm>
        </p:grpSpPr>
        <p:sp>
          <p:nvSpPr>
            <p:cNvPr id="13" name="RemarkBack">
              <a:extLst>
                <a:ext uri="{FF2B5EF4-FFF2-40B4-BE49-F238E27FC236}">
                  <a16:creationId xmlns:a16="http://schemas.microsoft.com/office/drawing/2014/main" id="{B87C5873-26CE-4F78-B347-527D0BEA4D3D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12585700" y="12700"/>
              <a:ext cx="381508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RemarkBlock">
              <a:extLst>
                <a:ext uri="{FF2B5EF4-FFF2-40B4-BE49-F238E27FC236}">
                  <a16:creationId xmlns:a16="http://schemas.microsoft.com/office/drawing/2014/main" id="{0A5CCEA6-F10D-4FDD-B88F-3E0DBDDCAC81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12585700" y="1270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RemarkTitleText">
              <a:extLst>
                <a:ext uri="{FF2B5EF4-FFF2-40B4-BE49-F238E27FC236}">
                  <a16:creationId xmlns:a16="http://schemas.microsoft.com/office/drawing/2014/main" id="{83A59439-666B-49C2-A1F3-335E33A93DD0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12827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答案解析</a:t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92E05EDE-FDA7-4A46-90FE-0B43726371B6}"/>
              </a:ext>
            </a:extLst>
          </p:cNvPr>
          <p:cNvGrpSpPr/>
          <p:nvPr>
            <p:custDataLst>
              <p:tags r:id="rId8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7" name="TitleBackground">
              <a:extLst>
                <a:ext uri="{FF2B5EF4-FFF2-40B4-BE49-F238E27FC236}">
                  <a16:creationId xmlns:a16="http://schemas.microsoft.com/office/drawing/2014/main" id="{DFE742B9-7FC4-4468-B977-88109636AF21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ColorBlock">
              <a:extLst>
                <a:ext uri="{FF2B5EF4-FFF2-40B4-BE49-F238E27FC236}">
                  <a16:creationId xmlns:a16="http://schemas.microsoft.com/office/drawing/2014/main" id="{E855726D-C1A4-4416-BF87-A2E2A0A17383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TypeText">
              <a:extLst>
                <a:ext uri="{FF2B5EF4-FFF2-40B4-BE49-F238E27FC236}">
                  <a16:creationId xmlns:a16="http://schemas.microsoft.com/office/drawing/2014/main" id="{D6E40A4D-4B50-44FF-8D67-EBC2223615A7}"/>
                </a:ext>
              </a:extLst>
            </p:cNvPr>
            <p:cNvSpPr txBox="1"/>
            <p:nvPr>
              <p:custDataLst>
                <p:tags r:id="rId12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主观题</a:t>
              </a:r>
            </a:p>
          </p:txBody>
        </p:sp>
        <p:sp>
          <p:nvSpPr>
            <p:cNvPr id="10" name="TipText">
              <a:extLst>
                <a:ext uri="{FF2B5EF4-FFF2-40B4-BE49-F238E27FC236}">
                  <a16:creationId xmlns:a16="http://schemas.microsoft.com/office/drawing/2014/main" id="{606E9639-3C52-4061-A231-F3B1A99C6B78}"/>
                </a:ext>
              </a:extLst>
            </p:cNvPr>
            <p:cNvSpPr txBox="1"/>
            <p:nvPr>
              <p:custDataLst>
                <p:tags r:id="rId13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4" name="图片 3">
            <a:extLst>
              <a:ext uri="{FF2B5EF4-FFF2-40B4-BE49-F238E27FC236}">
                <a16:creationId xmlns:a16="http://schemas.microsoft.com/office/drawing/2014/main" id="{4D5B1E9F-9BE9-4A10-8F16-AEDBDAF4B4E6}"/>
              </a:ext>
            </a:extLst>
          </p:cNvPr>
          <p:cNvPicPr>
            <a:picLocks/>
          </p:cNvPicPr>
          <p:nvPr>
            <p:custDataLst>
              <p:tags r:id="rId9"/>
            </p:custDataLst>
          </p:nvPr>
        </p:nvPicPr>
        <p:blipFill>
          <a:blip r:embed="rId18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0405549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E551CE57-D4D6-42BC-A6C0-2B06378408B1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Windows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、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Linux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上的可执行文件格式是一样的吗？ （使用相同的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CPU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，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Windows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上的可执行程序是否可以在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Linux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上执行。）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4DB2E6C-8E39-4364-B14A-CD96F48A4303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是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A0F996B-8116-4B83-880F-D011E97FAE78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不是</a:t>
            </a: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09E8F664-80DE-4359-94FB-BFCE59C83F8C}"/>
              </a:ext>
            </a:extLst>
          </p:cNvPr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5DED34E7-D8FD-4900-8D2B-4BF5AECC0B18}"/>
              </a:ext>
            </a:extLst>
          </p:cNvPr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C604CAEE-3C07-4448-9187-6027AA4100FC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4F1FDAD9-02E1-4A37-BE1E-902EC067107A}"/>
              </a:ext>
            </a:extLst>
          </p:cNvPr>
          <p:cNvGrpSpPr/>
          <p:nvPr>
            <p:custDataLst>
              <p:tags r:id="rId8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6" name="TitleBackground">
              <a:extLst>
                <a:ext uri="{FF2B5EF4-FFF2-40B4-BE49-F238E27FC236}">
                  <a16:creationId xmlns:a16="http://schemas.microsoft.com/office/drawing/2014/main" id="{0EE499B8-E43D-4B03-A833-457689A1DD47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ColorBlock">
              <a:extLst>
                <a:ext uri="{FF2B5EF4-FFF2-40B4-BE49-F238E27FC236}">
                  <a16:creationId xmlns:a16="http://schemas.microsoft.com/office/drawing/2014/main" id="{C77EBAA3-B20A-4825-B94C-0A2AC913961B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TypeText">
              <a:extLst>
                <a:ext uri="{FF2B5EF4-FFF2-40B4-BE49-F238E27FC236}">
                  <a16:creationId xmlns:a16="http://schemas.microsoft.com/office/drawing/2014/main" id="{A8055A97-C9DC-43E0-ABC4-020B0D6191F6}"/>
                </a:ext>
              </a:extLst>
            </p:cNvPr>
            <p:cNvSpPr txBox="1"/>
            <p:nvPr>
              <p:custDataLst>
                <p:tags r:id="rId12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9" name="TipText">
              <a:extLst>
                <a:ext uri="{FF2B5EF4-FFF2-40B4-BE49-F238E27FC236}">
                  <a16:creationId xmlns:a16="http://schemas.microsoft.com/office/drawing/2014/main" id="{69C47B50-A02E-4A44-A757-7FCDE937F9D3}"/>
                </a:ext>
              </a:extLst>
            </p:cNvPr>
            <p:cNvSpPr txBox="1"/>
            <p:nvPr>
              <p:custDataLst>
                <p:tags r:id="rId13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D29A6ECB-A235-4753-9EB1-52D579E455F9}"/>
              </a:ext>
            </a:extLst>
          </p:cNvPr>
          <p:cNvPicPr>
            <a:picLocks/>
          </p:cNvPicPr>
          <p:nvPr>
            <p:custDataLst>
              <p:tags r:id="rId9"/>
            </p:custDataLst>
          </p:nvPr>
        </p:nvPicPr>
        <p:blipFill>
          <a:blip r:embed="rId15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9887797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9A54EB-49E1-42EF-9A2D-EF5C311C6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可执行文件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82D747A-0FFE-40F3-8E45-E067FD1C5E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0247" y="1852246"/>
            <a:ext cx="9945076" cy="4229468"/>
          </a:xfrm>
        </p:spPr>
        <p:txBody>
          <a:bodyPr/>
          <a:lstStyle/>
          <a:p>
            <a:r>
              <a:rPr lang="zh-CN" altLang="en-US" dirty="0"/>
              <a:t>可执行文件 </a:t>
            </a:r>
            <a:r>
              <a:rPr lang="en-US" altLang="zh-CN" dirty="0"/>
              <a:t>(executable file) </a:t>
            </a:r>
          </a:p>
          <a:p>
            <a:pPr lvl="1"/>
            <a:r>
              <a:rPr lang="zh-CN" altLang="en-US" dirty="0"/>
              <a:t>可以由</a:t>
            </a:r>
            <a:r>
              <a:rPr lang="zh-CN" altLang="en-US" b="1" dirty="0">
                <a:solidFill>
                  <a:srgbClr val="FF0000"/>
                </a:solidFill>
              </a:rPr>
              <a:t>操作系统</a:t>
            </a:r>
            <a:r>
              <a:rPr lang="zh-CN" altLang="en-US" dirty="0"/>
              <a:t>进行</a:t>
            </a:r>
            <a:r>
              <a:rPr lang="zh-CN" altLang="en-US" dirty="0">
                <a:solidFill>
                  <a:srgbClr val="0070C0"/>
                </a:solidFill>
              </a:rPr>
              <a:t>加载</a:t>
            </a:r>
            <a:r>
              <a:rPr lang="zh-CN" altLang="en-US" dirty="0"/>
              <a:t>、</a:t>
            </a:r>
            <a:r>
              <a:rPr lang="zh-CN" altLang="en-US" dirty="0">
                <a:solidFill>
                  <a:srgbClr val="0070C0"/>
                </a:solidFill>
              </a:rPr>
              <a:t>执行</a:t>
            </a:r>
            <a:r>
              <a:rPr lang="zh-CN" altLang="en-US" dirty="0"/>
              <a:t>的文件</a:t>
            </a:r>
            <a:endParaRPr lang="en-US" altLang="zh-CN" dirty="0"/>
          </a:p>
          <a:p>
            <a:pPr lvl="1"/>
            <a:r>
              <a:rPr lang="zh-CN" altLang="en-US" dirty="0"/>
              <a:t>在不同的操作系统环境下，可执行文件的格式不一样</a:t>
            </a:r>
            <a:endParaRPr lang="en-US" altLang="zh-CN" dirty="0"/>
          </a:p>
          <a:p>
            <a:pPr lvl="2"/>
            <a:r>
              <a:rPr lang="en-US" altLang="zh-CN" dirty="0"/>
              <a:t>Windows</a:t>
            </a:r>
            <a:r>
              <a:rPr lang="zh-CN" altLang="en-US" dirty="0"/>
              <a:t>、</a:t>
            </a:r>
            <a:r>
              <a:rPr lang="en-US" altLang="zh-CN" dirty="0"/>
              <a:t>Linux</a:t>
            </a:r>
            <a:r>
              <a:rPr lang="zh-CN" altLang="en-US" dirty="0"/>
              <a:t>、</a:t>
            </a:r>
            <a:r>
              <a:rPr lang="en-US" altLang="zh-CN" dirty="0"/>
              <a:t>MacOS</a:t>
            </a:r>
          </a:p>
          <a:p>
            <a:pPr lvl="1"/>
            <a:r>
              <a:rPr lang="zh-CN" altLang="en-US" dirty="0"/>
              <a:t>二进制文件，不同于</a:t>
            </a:r>
            <a:r>
              <a:rPr lang="en-US" altLang="zh-CN" dirty="0"/>
              <a:t>txt</a:t>
            </a:r>
            <a:r>
              <a:rPr lang="zh-CN" altLang="en-US" dirty="0"/>
              <a:t>、</a:t>
            </a:r>
            <a:r>
              <a:rPr lang="en-US" altLang="zh-CN" dirty="0"/>
              <a:t>word</a:t>
            </a:r>
            <a:r>
              <a:rPr lang="zh-CN" altLang="en-US" dirty="0"/>
              <a:t>、</a:t>
            </a:r>
            <a:r>
              <a:rPr lang="en-US" altLang="zh-CN" dirty="0"/>
              <a:t>excel</a:t>
            </a:r>
            <a:r>
              <a:rPr lang="zh-CN" altLang="en-US" dirty="0"/>
              <a:t>等文本文件</a:t>
            </a:r>
          </a:p>
        </p:txBody>
      </p:sp>
    </p:spTree>
    <p:extLst>
      <p:ext uri="{BB962C8B-B14F-4D97-AF65-F5344CB8AC3E}">
        <p14:creationId xmlns:p14="http://schemas.microsoft.com/office/powerpoint/2010/main" val="24517421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5C0A942A-2FB3-48F7-8756-66D855EDBB8A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Windows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系统可执行文件的格式是</a:t>
            </a:r>
            <a:r>
              <a:rPr lang="zh-CN" altLang="en-US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en-US" altLang="zh-CN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1]</a:t>
            </a:r>
            <a:r>
              <a:rPr lang="zh-CN" altLang="en-US" sz="2600" dirty="0"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，</a:t>
            </a:r>
            <a:r>
              <a:rPr lang="en-US" altLang="zh-CN" sz="2600" dirty="0"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Linux</a:t>
            </a:r>
            <a:r>
              <a:rPr lang="zh-CN" altLang="en-US" sz="2600" dirty="0"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系统可执行文件的格式是</a:t>
            </a:r>
            <a:r>
              <a:rPr lang="zh-CN" altLang="en-US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en-US" altLang="zh-CN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2]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 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EA9E70D5-BB1C-449F-8900-C8CDA2C0FF55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608FCC6D-08AA-4FD3-BD10-E5B55C2765ED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0" y="0"/>
            <a:ext cx="12192000" cy="635000"/>
            <a:chOff x="0" y="31102"/>
            <a:chExt cx="12192000" cy="635000"/>
          </a:xfrm>
        </p:grpSpPr>
        <p:sp>
          <p:nvSpPr>
            <p:cNvPr id="8" name="TitleBackground">
              <a:extLst>
                <a:ext uri="{FF2B5EF4-FFF2-40B4-BE49-F238E27FC236}">
                  <a16:creationId xmlns:a16="http://schemas.microsoft.com/office/drawing/2014/main" id="{81FAF2B9-C9BA-4C42-9B88-98E77559BCE1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0" y="31102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ColorBlock">
              <a:extLst>
                <a:ext uri="{FF2B5EF4-FFF2-40B4-BE49-F238E27FC236}">
                  <a16:creationId xmlns:a16="http://schemas.microsoft.com/office/drawing/2014/main" id="{11C8C400-6415-4BB6-BDD4-CDD51B7993CF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0" y="31102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TypeText">
              <a:extLst>
                <a:ext uri="{FF2B5EF4-FFF2-40B4-BE49-F238E27FC236}">
                  <a16:creationId xmlns:a16="http://schemas.microsoft.com/office/drawing/2014/main" id="{362869A1-403F-40EF-ADDC-0F88C5B5AFFC}"/>
                </a:ext>
              </a:extLst>
            </p:cNvPr>
            <p:cNvSpPr txBox="1"/>
            <p:nvPr>
              <p:custDataLst>
                <p:tags r:id="rId8"/>
              </p:custDataLst>
            </p:nvPr>
          </p:nvSpPr>
          <p:spPr>
            <a:xfrm>
              <a:off x="254000" y="31102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填空题</a:t>
              </a:r>
            </a:p>
          </p:txBody>
        </p:sp>
        <p:sp>
          <p:nvSpPr>
            <p:cNvPr id="11" name="TipText">
              <a:extLst>
                <a:ext uri="{FF2B5EF4-FFF2-40B4-BE49-F238E27FC236}">
                  <a16:creationId xmlns:a16="http://schemas.microsoft.com/office/drawing/2014/main" id="{279B714A-99DE-4E41-8CEB-767E6424DD40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1525905" y="140322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D7F71D57-E027-432C-A43C-BE5C882F6235}"/>
              </a:ext>
            </a:extLst>
          </p:cNvPr>
          <p:cNvPicPr>
            <a:picLocks/>
          </p:cNvPicPr>
          <p:nvPr>
            <p:custDataLst>
              <p:tags r:id="rId5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8851187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2D553D-823F-4D59-8A7A-E651AB9195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可执行文件格式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ECD8E85-1039-44C5-A3E2-9FE72DD4C3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806723" cy="2040721"/>
          </a:xfrm>
        </p:spPr>
        <p:txBody>
          <a:bodyPr>
            <a:normAutofit lnSpcReduction="10000"/>
          </a:bodyPr>
          <a:lstStyle/>
          <a:p>
            <a:r>
              <a:rPr lang="en-US" altLang="zh-CN" dirty="0"/>
              <a:t>Windows</a:t>
            </a:r>
            <a:r>
              <a:rPr lang="zh-CN" altLang="en-US" dirty="0"/>
              <a:t>系统可执行文件使用</a:t>
            </a:r>
            <a:r>
              <a:rPr lang="en-US" altLang="zh-CN" dirty="0">
                <a:solidFill>
                  <a:srgbClr val="FF0000"/>
                </a:solidFill>
              </a:rPr>
              <a:t>PE</a:t>
            </a:r>
            <a:r>
              <a:rPr lang="zh-CN" altLang="en-US" dirty="0"/>
              <a:t>文件格式（</a:t>
            </a:r>
            <a:r>
              <a:rPr lang="en-US" altLang="zh-CN" dirty="0"/>
              <a:t>Portable Executable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en-US" altLang="zh-CN" dirty="0"/>
              <a:t>Linux</a:t>
            </a:r>
            <a:r>
              <a:rPr lang="zh-CN" altLang="en-US" dirty="0"/>
              <a:t>系统可执行文件使用</a:t>
            </a:r>
            <a:r>
              <a:rPr lang="en-US" altLang="zh-CN" dirty="0">
                <a:solidFill>
                  <a:srgbClr val="FF0000"/>
                </a:solidFill>
              </a:rPr>
              <a:t>ELF</a:t>
            </a:r>
            <a:r>
              <a:rPr lang="zh-CN" altLang="en-US" dirty="0"/>
              <a:t>文件格式（</a:t>
            </a:r>
            <a:r>
              <a:rPr lang="en-US" altLang="zh-CN" dirty="0"/>
              <a:t>Executable and Linkable Format</a:t>
            </a:r>
            <a:r>
              <a:rPr lang="zh-CN" altLang="en-US" dirty="0"/>
              <a:t>）</a:t>
            </a:r>
          </a:p>
        </p:txBody>
      </p:sp>
      <p:pic>
        <p:nvPicPr>
          <p:cNvPr id="1026" name="Picture 2" descr="PE Format">
            <a:extLst>
              <a:ext uri="{FF2B5EF4-FFF2-40B4-BE49-F238E27FC236}">
                <a16:creationId xmlns:a16="http://schemas.microsoft.com/office/drawing/2014/main" id="{600AACB0-23F2-49F8-97C1-4CD6B25818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323" y="3819368"/>
            <a:ext cx="6037926" cy="2776817"/>
          </a:xfrm>
          <a:prstGeom prst="rect">
            <a:avLst/>
          </a:prstGeom>
          <a:noFill/>
          <a:ln>
            <a:solidFill>
              <a:srgbClr val="7030A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undefined">
            <a:extLst>
              <a:ext uri="{FF2B5EF4-FFF2-40B4-BE49-F238E27FC236}">
                <a16:creationId xmlns:a16="http://schemas.microsoft.com/office/drawing/2014/main" id="{04EC7224-DA35-43AB-8701-2D9FC82FC6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6681" y="3813984"/>
            <a:ext cx="3919782" cy="2771433"/>
          </a:xfrm>
          <a:prstGeom prst="rect">
            <a:avLst/>
          </a:prstGeom>
          <a:noFill/>
          <a:ln>
            <a:solidFill>
              <a:srgbClr val="7030A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08873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8A8CA837-0269-4195-96FC-DF05B7144773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除了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exe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，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Windows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上有哪些可执行文件的后缀？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B916219B-C5E6-426C-A449-1484AC530D49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E6629036-B1A9-46B9-96CB-5EFDD7D05487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8" name="TitleBackground">
              <a:extLst>
                <a:ext uri="{FF2B5EF4-FFF2-40B4-BE49-F238E27FC236}">
                  <a16:creationId xmlns:a16="http://schemas.microsoft.com/office/drawing/2014/main" id="{855D1957-CB35-4E5A-A3F9-D53A6CFF1CF4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ColorBlock">
              <a:extLst>
                <a:ext uri="{FF2B5EF4-FFF2-40B4-BE49-F238E27FC236}">
                  <a16:creationId xmlns:a16="http://schemas.microsoft.com/office/drawing/2014/main" id="{894D2CCE-F1E5-4FA6-8609-9DD972AD2C3A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TypeText">
              <a:extLst>
                <a:ext uri="{FF2B5EF4-FFF2-40B4-BE49-F238E27FC236}">
                  <a16:creationId xmlns:a16="http://schemas.microsoft.com/office/drawing/2014/main" id="{7AB5FCC9-C509-4F77-BA0D-718B370943F7}"/>
                </a:ext>
              </a:extLst>
            </p:cNvPr>
            <p:cNvSpPr txBox="1"/>
            <p:nvPr>
              <p:custDataLst>
                <p:tags r:id="rId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主观题</a:t>
              </a:r>
            </a:p>
          </p:txBody>
        </p:sp>
        <p:sp>
          <p:nvSpPr>
            <p:cNvPr id="11" name="TipText">
              <a:extLst>
                <a:ext uri="{FF2B5EF4-FFF2-40B4-BE49-F238E27FC236}">
                  <a16:creationId xmlns:a16="http://schemas.microsoft.com/office/drawing/2014/main" id="{FE119104-7440-4B90-9D14-21E5863BAAF6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940304C3-945F-4AB5-B62A-AB9C25BED8F5}"/>
              </a:ext>
            </a:extLst>
          </p:cNvPr>
          <p:cNvPicPr>
            <a:picLocks/>
          </p:cNvPicPr>
          <p:nvPr>
            <p:custDataLst>
              <p:tags r:id="rId5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9381711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F42DCD-5035-4B4C-AA2D-847EF87CF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Windows</a:t>
            </a:r>
            <a:r>
              <a:rPr lang="zh-CN" altLang="en-US" dirty="0"/>
              <a:t>系统可执行文件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E305D30-DB36-4BA7-88F7-A741D9CC72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在</a:t>
            </a:r>
            <a:r>
              <a:rPr lang="en-US" altLang="zh-CN" dirty="0"/>
              <a:t>Windows</a:t>
            </a:r>
            <a:r>
              <a:rPr lang="zh-CN" altLang="en-US" dirty="0"/>
              <a:t>操作系统下，可执行程序可以是</a:t>
            </a:r>
            <a:r>
              <a:rPr lang="en-US" altLang="zh-CN" dirty="0">
                <a:solidFill>
                  <a:srgbClr val="FF0000"/>
                </a:solidFill>
              </a:rPr>
              <a:t>.com</a:t>
            </a:r>
            <a:r>
              <a:rPr lang="zh-CN" altLang="en-US" dirty="0"/>
              <a:t>文件、</a:t>
            </a:r>
            <a:r>
              <a:rPr lang="zh-CN" altLang="en-US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FF0000"/>
                </a:solidFill>
              </a:rPr>
              <a:t>.exe</a:t>
            </a:r>
            <a:r>
              <a:rPr lang="zh-CN" altLang="en-US" dirty="0"/>
              <a:t>文件、 </a:t>
            </a:r>
            <a:r>
              <a:rPr lang="en-US" altLang="zh-CN" dirty="0">
                <a:solidFill>
                  <a:srgbClr val="FF0000"/>
                </a:solidFill>
              </a:rPr>
              <a:t>.sys</a:t>
            </a:r>
            <a:r>
              <a:rPr lang="zh-CN" altLang="en-US" dirty="0"/>
              <a:t>文件、 </a:t>
            </a:r>
            <a:r>
              <a:rPr lang="en-US" altLang="zh-CN" dirty="0">
                <a:solidFill>
                  <a:srgbClr val="FF0000"/>
                </a:solidFill>
              </a:rPr>
              <a:t>.</a:t>
            </a:r>
            <a:r>
              <a:rPr lang="en-US" altLang="zh-CN" dirty="0" err="1">
                <a:solidFill>
                  <a:srgbClr val="FF0000"/>
                </a:solidFill>
              </a:rPr>
              <a:t>dll</a:t>
            </a:r>
            <a:r>
              <a:rPr lang="zh-CN" altLang="en-US" dirty="0"/>
              <a:t>文件、</a:t>
            </a:r>
            <a:r>
              <a:rPr lang="en-US" altLang="zh-CN" dirty="0">
                <a:solidFill>
                  <a:srgbClr val="FF0000"/>
                </a:solidFill>
              </a:rPr>
              <a:t>.</a:t>
            </a:r>
            <a:r>
              <a:rPr lang="en-US" altLang="zh-CN" dirty="0" err="1">
                <a:solidFill>
                  <a:srgbClr val="FF0000"/>
                </a:solidFill>
              </a:rPr>
              <a:t>scr</a:t>
            </a:r>
            <a:r>
              <a:rPr lang="zh-CN" altLang="en-US" dirty="0"/>
              <a:t>文件等类型文件</a:t>
            </a:r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578227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67E0B8-58B5-4A37-B9CF-4696010BA2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.com</a:t>
            </a:r>
            <a:r>
              <a:rPr lang="zh-CN" altLang="en-US" dirty="0"/>
              <a:t>文件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49250EE-6928-411E-BDBB-04A0FE240D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.com</a:t>
            </a:r>
            <a:r>
              <a:rPr lang="zh-CN" altLang="en-US" dirty="0"/>
              <a:t>文件在</a:t>
            </a:r>
            <a:r>
              <a:rPr lang="en-US" altLang="zh-CN" dirty="0"/>
              <a:t>IBM PC</a:t>
            </a:r>
            <a:r>
              <a:rPr lang="zh-CN" altLang="en-US" dirty="0"/>
              <a:t>早期出现，格式主要用于</a:t>
            </a:r>
            <a:r>
              <a:rPr lang="zh-CN" altLang="en-US" dirty="0">
                <a:solidFill>
                  <a:srgbClr val="FF0000"/>
                </a:solidFill>
              </a:rPr>
              <a:t>命令行应用程序、</a:t>
            </a:r>
            <a:r>
              <a:rPr lang="zh-CN" altLang="en-US" dirty="0"/>
              <a:t>最大</a:t>
            </a:r>
            <a:r>
              <a:rPr lang="en-US" altLang="zh-CN" dirty="0"/>
              <a:t>65,280</a:t>
            </a:r>
            <a:r>
              <a:rPr lang="zh-CN" altLang="en-US" dirty="0"/>
              <a:t>字节</a:t>
            </a:r>
            <a:endParaRPr lang="en-US" altLang="zh-CN" dirty="0"/>
          </a:p>
          <a:p>
            <a:r>
              <a:rPr lang="zh-CN" altLang="en-US" dirty="0"/>
              <a:t>与</a:t>
            </a:r>
            <a:r>
              <a:rPr lang="en-US" altLang="zh-CN" dirty="0">
                <a:solidFill>
                  <a:srgbClr val="FF0000"/>
                </a:solidFill>
              </a:rPr>
              <a:t>MS-DOS</a:t>
            </a:r>
            <a:r>
              <a:rPr lang="zh-CN" altLang="en-US" dirty="0"/>
              <a:t>操作系统的可执行文件兼容</a:t>
            </a:r>
            <a:endParaRPr lang="en-US" altLang="zh-CN" dirty="0"/>
          </a:p>
          <a:p>
            <a:endParaRPr lang="zh-CN" altLang="en-US" dirty="0"/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CF534AD1-1AAC-40BA-9B9E-0CE1B21C4E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128309" y="4307276"/>
            <a:ext cx="5747045" cy="21146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pic>
    </p:spTree>
    <p:extLst>
      <p:ext uri="{BB962C8B-B14F-4D97-AF65-F5344CB8AC3E}">
        <p14:creationId xmlns:p14="http://schemas.microsoft.com/office/powerpoint/2010/main" val="26920906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6657F3-4F45-458B-AF1A-375565EE70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.exe</a:t>
            </a:r>
            <a:r>
              <a:rPr lang="zh-CN" altLang="en-US" dirty="0"/>
              <a:t>、</a:t>
            </a:r>
            <a:r>
              <a:rPr lang="en-US" altLang="zh-CN" dirty="0"/>
              <a:t>.</a:t>
            </a:r>
            <a:r>
              <a:rPr lang="en-US" altLang="zh-CN" dirty="0" err="1"/>
              <a:t>dll</a:t>
            </a:r>
            <a:r>
              <a:rPr lang="zh-CN" altLang="en-US" dirty="0"/>
              <a:t>、</a:t>
            </a:r>
            <a:r>
              <a:rPr lang="en-US" altLang="zh-CN" dirty="0"/>
              <a:t>.sys</a:t>
            </a:r>
            <a:r>
              <a:rPr lang="zh-CN" altLang="en-US" dirty="0"/>
              <a:t>可执行文件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19755A2-70E8-4234-862B-79B9E69EFF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.exe,.dll,.sys</a:t>
            </a:r>
            <a:r>
              <a:rPr lang="zh-CN" altLang="en-US" dirty="0"/>
              <a:t>文件使用的是</a:t>
            </a:r>
            <a:r>
              <a:rPr lang="en-US" altLang="zh-CN" dirty="0"/>
              <a:t>PE</a:t>
            </a:r>
            <a:r>
              <a:rPr lang="zh-CN" altLang="en-US" dirty="0"/>
              <a:t>文件结构</a:t>
            </a:r>
            <a:endParaRPr lang="en-US" altLang="zh-CN" dirty="0"/>
          </a:p>
          <a:p>
            <a:r>
              <a:rPr lang="en-US" altLang="zh-CN" dirty="0"/>
              <a:t>PE</a:t>
            </a:r>
            <a:r>
              <a:rPr lang="zh-CN" altLang="en-US" dirty="0"/>
              <a:t>（</a:t>
            </a:r>
            <a:r>
              <a:rPr lang="en-US" altLang="zh-CN" dirty="0">
                <a:solidFill>
                  <a:srgbClr val="FF0000"/>
                </a:solidFill>
              </a:rPr>
              <a:t>Portable Executable </a:t>
            </a:r>
            <a:r>
              <a:rPr lang="en-US" altLang="zh-CN" dirty="0"/>
              <a:t>File Format</a:t>
            </a:r>
            <a:r>
              <a:rPr lang="zh-CN" altLang="en-US" dirty="0"/>
              <a:t>）可移植可执行文件结构</a:t>
            </a:r>
            <a:endParaRPr lang="en-US" altLang="zh-CN" dirty="0"/>
          </a:p>
          <a:p>
            <a:r>
              <a:rPr lang="zh-CN" altLang="en-US" dirty="0"/>
              <a:t>理解</a:t>
            </a:r>
            <a:r>
              <a:rPr lang="en-US" altLang="zh-CN" dirty="0"/>
              <a:t>PE</a:t>
            </a:r>
            <a:r>
              <a:rPr lang="zh-CN" altLang="en-US" dirty="0"/>
              <a:t>文件结构是逆向技术的</a:t>
            </a:r>
            <a:r>
              <a:rPr lang="zh-CN" altLang="en-US" dirty="0">
                <a:solidFill>
                  <a:srgbClr val="FF0000"/>
                </a:solidFill>
              </a:rPr>
              <a:t>基础</a:t>
            </a:r>
            <a:endParaRPr lang="en-US" altLang="zh-CN" dirty="0">
              <a:solidFill>
                <a:srgbClr val="FF0000"/>
              </a:solidFill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37138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8FC0F5-B389-41ED-A389-E65C7FCCD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PE</a:t>
            </a:r>
            <a:r>
              <a:rPr lang="zh-CN" altLang="en-US" dirty="0"/>
              <a:t>结构的二进制文件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E8A8B7C-FDC2-42E0-9423-0636706A26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001" y="2148018"/>
            <a:ext cx="6234510" cy="3357044"/>
          </a:xfrm>
          <a:prstGeom prst="rect">
            <a:avLst/>
          </a:prstGeom>
        </p:spPr>
      </p:pic>
      <p:pic>
        <p:nvPicPr>
          <p:cNvPr id="1026" name="Picture 2" descr="PE Structure">
            <a:extLst>
              <a:ext uri="{FF2B5EF4-FFF2-40B4-BE49-F238E27FC236}">
                <a16:creationId xmlns:a16="http://schemas.microsoft.com/office/drawing/2014/main" id="{948C7104-0BFD-4859-9015-E97777349F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47672" y="1809653"/>
            <a:ext cx="5312618" cy="3807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1197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8FC0F5-B389-41ED-A389-E65C7FCCD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Linux</a:t>
            </a:r>
            <a:r>
              <a:rPr lang="zh-CN" altLang="en-US" dirty="0"/>
              <a:t>系统可执行文件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425780C-9CB0-B18A-2F9B-6CE150CCA473}"/>
              </a:ext>
            </a:extLst>
          </p:cNvPr>
          <p:cNvSpPr txBox="1"/>
          <p:nvPr/>
        </p:nvSpPr>
        <p:spPr>
          <a:xfrm>
            <a:off x="639638" y="1851601"/>
            <a:ext cx="11552361" cy="13031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 defTabSz="914400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zh-CN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Linux</a:t>
            </a:r>
            <a:r>
              <a:rPr lang="zh-CN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系统中，最常见的可执行文件格式是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ELF</a:t>
            </a:r>
            <a:r>
              <a:rPr lang="zh-CN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Executable and Linkable Format</a:t>
            </a:r>
            <a:r>
              <a:rPr lang="zh-CN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endParaRPr lang="zh-CN" altLang="en-US" sz="28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B4AA671C-B5AE-3B09-2F91-1F6E8E1493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6F130263-A1EE-315B-D237-F1333DDC77A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11805587"/>
              </p:ext>
            </p:extLst>
          </p:nvPr>
        </p:nvGraphicFramePr>
        <p:xfrm>
          <a:off x="1802423" y="3154778"/>
          <a:ext cx="8238392" cy="3277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9" name="Visio" r:id="rId3" imgW="6800915" imgH="2714586" progId="Visio.Drawing.15">
                  <p:embed/>
                </p:oleObj>
              </mc:Choice>
              <mc:Fallback>
                <p:oleObj name="Visio" r:id="rId3" imgW="6800915" imgH="2714586" progId="Visio.Drawing.15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2423" y="3154778"/>
                        <a:ext cx="8238392" cy="327748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000843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8FC0F5-B389-41ED-A389-E65C7FCCD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Linux</a:t>
            </a:r>
            <a:r>
              <a:rPr lang="zh-CN" altLang="en-US" dirty="0"/>
              <a:t>系统可执行文件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B4AA671C-B5AE-3B09-2F91-1F6E8E1493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6F130263-A1EE-315B-D237-F1333DDC77A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02423" y="3154778"/>
          <a:ext cx="8238392" cy="3277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3" name="Visio" r:id="rId3" imgW="6800915" imgH="2714586" progId="Visio.Drawing.15">
                  <p:embed/>
                </p:oleObj>
              </mc:Choice>
              <mc:Fallback>
                <p:oleObj name="Visio" r:id="rId3" imgW="6800915" imgH="2714586" progId="Visio.Drawing.15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6F130263-A1EE-315B-D237-F1333DDC77A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2423" y="3154778"/>
                        <a:ext cx="8238392" cy="327748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文本框 8">
            <a:extLst>
              <a:ext uri="{FF2B5EF4-FFF2-40B4-BE49-F238E27FC236}">
                <a16:creationId xmlns:a16="http://schemas.microsoft.com/office/drawing/2014/main" id="{44C18200-CF26-4B53-D947-A5D3504EC3F7}"/>
              </a:ext>
            </a:extLst>
          </p:cNvPr>
          <p:cNvSpPr txBox="1"/>
          <p:nvPr/>
        </p:nvSpPr>
        <p:spPr>
          <a:xfrm>
            <a:off x="753941" y="1758352"/>
            <a:ext cx="10069390" cy="1130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 defTabSz="914400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zh-CN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静态链接器会以链接视图解析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ELF</a:t>
            </a:r>
            <a:r>
              <a:rPr lang="zh-CN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文件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zh-CN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动态链接器会以执行视图解析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ELF</a:t>
            </a:r>
            <a:r>
              <a:rPr lang="zh-CN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文件并动态链接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zh-CN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41940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807DD0A0-0AF8-4F1D-BD12-1A31A9D65714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2438400" y="617221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以下哪些是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Windows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可执行文件？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3C4127D-9341-44ED-93CE-0FEF318D7CB2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3352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.exe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文件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444363E-EAF6-4151-A39B-417F01AA7BE2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3352800" y="36433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.</a:t>
            </a:r>
            <a:r>
              <a:rPr lang="en-US" altLang="zh-CN" sz="2600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dll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文件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C7FFC33-CA8D-4BEB-A226-4585214011C6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3352800" y="45005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.doc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文件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D998C29-4BFF-4ACF-B98F-F31064C202FD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3352800" y="53578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.txt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文件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2BE70CB-89D7-485C-9863-D9CED68D89FE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2638425" y="285035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A6F1FA6-B20F-4567-9A08-D44CDF3AD6EC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2638425" y="370760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CD4F6E4-CD0F-488F-B3DF-3CE14BE716A8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2638425" y="4564856"/>
            <a:ext cx="514350" cy="514350"/>
          </a:xfrm>
          <a:prstGeom prst="rect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1BAE599-1CC4-4B88-BA55-0F040BB2119B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2638425" y="5422106"/>
            <a:ext cx="514350" cy="514350"/>
          </a:xfrm>
          <a:prstGeom prst="rect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4B8F406F-6171-4B7D-9ADE-BE9D6C886395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7696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5E83CF8F-80ED-49D9-8035-28BFE61FB84F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-1524000" y="0"/>
            <a:chExt cx="9144000" cy="635000"/>
          </a:xfrm>
        </p:grpSpPr>
        <p:sp>
          <p:nvSpPr>
            <p:cNvPr id="16" name="TitleBackground">
              <a:extLst>
                <a:ext uri="{FF2B5EF4-FFF2-40B4-BE49-F238E27FC236}">
                  <a16:creationId xmlns:a16="http://schemas.microsoft.com/office/drawing/2014/main" id="{033535CA-7425-430A-99E0-CF875E24392D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-152400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ColorBlock">
              <a:extLst>
                <a:ext uri="{FF2B5EF4-FFF2-40B4-BE49-F238E27FC236}">
                  <a16:creationId xmlns:a16="http://schemas.microsoft.com/office/drawing/2014/main" id="{10897FAB-BB4B-4ED5-A0F9-72F75730697E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-152400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TypeText">
              <a:extLst>
                <a:ext uri="{FF2B5EF4-FFF2-40B4-BE49-F238E27FC236}">
                  <a16:creationId xmlns:a16="http://schemas.microsoft.com/office/drawing/2014/main" id="{E758DEE6-1327-498B-B754-7C138D929289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-127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多选题</a:t>
              </a:r>
            </a:p>
          </p:txBody>
        </p:sp>
        <p:sp>
          <p:nvSpPr>
            <p:cNvPr id="19" name="TipText">
              <a:extLst>
                <a:ext uri="{FF2B5EF4-FFF2-40B4-BE49-F238E27FC236}">
                  <a16:creationId xmlns:a16="http://schemas.microsoft.com/office/drawing/2014/main" id="{4737A59E-BC9E-4388-934B-BDF5A2140B54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1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2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BE294A32-6861-4298-9C1A-25059FB4D1AB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184853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3DFF771C-3722-4AE3-B9B5-FF43985F668A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Windows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可执行文件的格式是？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214B2A3-CC46-48E0-A1D0-58F1387903F1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PE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386A380-95B8-4B49-84E7-A9DD4D770CEC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ELF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1665FC1-925F-4560-BF16-CE7B8C0D2A60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2438400" y="45005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APK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3618D32-4606-4592-9017-F1C79113303D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2438400" y="53578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ZIP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1812B82C-4A1D-45CB-B377-5CC438CE1FBF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898DFED0-7311-4E55-B6BB-60572BF30308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32AA7C4A-6E3D-4DE7-BC73-AF8165E08359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45648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B591BCF6-5134-4504-8DFA-37A934563375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54221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3C820DC7-9DC1-4A7E-8E89-15292159F96B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5423E185-B281-4F69-A00A-EC734B7B3025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4" name="TitleBackground">
              <a:extLst>
                <a:ext uri="{FF2B5EF4-FFF2-40B4-BE49-F238E27FC236}">
                  <a16:creationId xmlns:a16="http://schemas.microsoft.com/office/drawing/2014/main" id="{C7AF595F-F3E2-48AB-9BE9-005EFF834976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ColorBlock">
              <a:extLst>
                <a:ext uri="{FF2B5EF4-FFF2-40B4-BE49-F238E27FC236}">
                  <a16:creationId xmlns:a16="http://schemas.microsoft.com/office/drawing/2014/main" id="{8A8B9814-5E79-4BEA-8E6E-819544322E1F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TypeText">
              <a:extLst>
                <a:ext uri="{FF2B5EF4-FFF2-40B4-BE49-F238E27FC236}">
                  <a16:creationId xmlns:a16="http://schemas.microsoft.com/office/drawing/2014/main" id="{19D07345-C3C1-4E7E-BC3F-E863FD0FFAB6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7" name="TipText">
              <a:extLst>
                <a:ext uri="{FF2B5EF4-FFF2-40B4-BE49-F238E27FC236}">
                  <a16:creationId xmlns:a16="http://schemas.microsoft.com/office/drawing/2014/main" id="{9EF3D1FA-20EB-49C4-81B5-FE34E5638AAD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E6911C48-8DBE-47DE-84A3-1DA3D467365F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221246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FFB6E1F1-ABF8-4F6B-B4FF-2FFA1F94AB8B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Linux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系统可执行文件的格式是？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3D6458A-C764-42AD-8255-83C0918913E7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PE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D9E0F36-4D97-4EFE-ACE2-612C1DE67A9B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ELF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88D9D52-DFC6-4D61-91EF-80F3FDF07CBC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2438400" y="45005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APK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841EBE4-19AC-4C19-9611-C571AD7C4BDE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2438400" y="53578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ZIP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71E485E8-34E0-4237-BE30-68007958D944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2AD675E1-F433-4B0E-9FE1-C9AD201BDBFE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85C3D49A-3D2F-412E-A831-71F72C588B2C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45648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0AC6A198-4D97-4133-9802-E535C215E971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54221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E3EA5710-5B64-4671-ADC1-DF17E9F50905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6EEA1CDA-C456-4FD4-95AA-3496826B49E1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4" name="TitleBackground">
              <a:extLst>
                <a:ext uri="{FF2B5EF4-FFF2-40B4-BE49-F238E27FC236}">
                  <a16:creationId xmlns:a16="http://schemas.microsoft.com/office/drawing/2014/main" id="{B715EEB0-0ADA-4FF8-88A1-1E4EBB6CAC09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ColorBlock">
              <a:extLst>
                <a:ext uri="{FF2B5EF4-FFF2-40B4-BE49-F238E27FC236}">
                  <a16:creationId xmlns:a16="http://schemas.microsoft.com/office/drawing/2014/main" id="{6D7E5DA2-4793-4B47-9A96-3E465092CA06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TypeText">
              <a:extLst>
                <a:ext uri="{FF2B5EF4-FFF2-40B4-BE49-F238E27FC236}">
                  <a16:creationId xmlns:a16="http://schemas.microsoft.com/office/drawing/2014/main" id="{A38136B6-B052-43F4-AA34-E92818608C50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7" name="TipText">
              <a:extLst>
                <a:ext uri="{FF2B5EF4-FFF2-40B4-BE49-F238E27FC236}">
                  <a16:creationId xmlns:a16="http://schemas.microsoft.com/office/drawing/2014/main" id="{37D4B5F1-D9F6-4FA4-AF44-3488D71A9B5B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C8F90829-C25D-4C4B-98C9-D2DBF610F546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5404769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44727" y="2337582"/>
            <a:ext cx="6400800" cy="1143000"/>
          </a:xfrm>
        </p:spPr>
        <p:txBody>
          <a:bodyPr/>
          <a:lstStyle/>
          <a:p>
            <a:pPr algn="ctr"/>
            <a:r>
              <a:rPr lang="en-US" altLang="zh-CN" dirty="0"/>
              <a:t>PE</a:t>
            </a:r>
            <a:r>
              <a:rPr lang="zh-CN" altLang="en-US" dirty="0"/>
              <a:t>文件基本概念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48948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PE Format">
            <a:extLst>
              <a:ext uri="{FF2B5EF4-FFF2-40B4-BE49-F238E27FC236}">
                <a16:creationId xmlns:a16="http://schemas.microsoft.com/office/drawing/2014/main" id="{0324B934-2EE5-4F1B-873E-F4363A6F888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4645" y="1825625"/>
            <a:ext cx="9462709" cy="4351338"/>
          </a:xfrm>
          <a:prstGeom prst="rect">
            <a:avLst/>
          </a:prstGeom>
          <a:noFill/>
          <a:ln>
            <a:solidFill>
              <a:srgbClr val="7030A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标题 1">
            <a:extLst>
              <a:ext uri="{FF2B5EF4-FFF2-40B4-BE49-F238E27FC236}">
                <a16:creationId xmlns:a16="http://schemas.microsoft.com/office/drawing/2014/main" id="{CEEBABEE-8CA6-4E80-B7D0-3383395382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28688"/>
            <a:ext cx="10515600" cy="762000"/>
          </a:xfrm>
        </p:spPr>
        <p:txBody>
          <a:bodyPr/>
          <a:lstStyle/>
          <a:p>
            <a:r>
              <a:rPr lang="en-US" altLang="zh-CN" dirty="0"/>
              <a:t>PE</a:t>
            </a:r>
            <a:r>
              <a:rPr lang="zh-CN" altLang="en-US" dirty="0"/>
              <a:t>文件结构</a:t>
            </a:r>
          </a:p>
        </p:txBody>
      </p:sp>
    </p:spTree>
    <p:extLst>
      <p:ext uri="{BB962C8B-B14F-4D97-AF65-F5344CB8AC3E}">
        <p14:creationId xmlns:p14="http://schemas.microsoft.com/office/powerpoint/2010/main" val="7361821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90871D-6248-4992-A966-42F7091175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PE</a:t>
            </a:r>
            <a:r>
              <a:rPr lang="zh-CN" altLang="en-US" dirty="0"/>
              <a:t>文件结构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7D72B48-FC62-46D9-BD06-8B898390C9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latin typeface="宋体" panose="02010600030101010101" pitchFamily="2" charset="-122"/>
                <a:cs typeface="Times New Roman" panose="02020603050405020304" pitchFamily="18" charset="0"/>
                <a:sym typeface="+mn-ea"/>
              </a:rPr>
              <a:t>PE</a:t>
            </a:r>
            <a:r>
              <a:rPr lang="zh-CN" altLang="en-US" dirty="0">
                <a:latin typeface="宋体" panose="02010600030101010101" pitchFamily="2" charset="-122"/>
                <a:cs typeface="思源黑体 CN Medium" panose="020B0600000000000000" pitchFamily="34" charset="-122"/>
                <a:sym typeface="+mn-ea"/>
              </a:rPr>
              <a:t>文件使用的是</a:t>
            </a:r>
            <a:r>
              <a:rPr lang="zh-CN" altLang="en-US" dirty="0">
                <a:solidFill>
                  <a:srgbClr val="FF0000"/>
                </a:solidFill>
                <a:latin typeface="宋体" panose="02010600030101010101" pitchFamily="2" charset="-122"/>
                <a:cs typeface="思源黑体 CN Medium" panose="020B0600000000000000" pitchFamily="34" charset="-122"/>
                <a:sym typeface="+mn-ea"/>
              </a:rPr>
              <a:t>线性</a:t>
            </a:r>
            <a:r>
              <a:rPr lang="zh-CN" altLang="en-US" dirty="0">
                <a:latin typeface="宋体" panose="02010600030101010101" pitchFamily="2" charset="-122"/>
                <a:cs typeface="思源黑体 CN Medium" panose="020B0600000000000000" pitchFamily="34" charset="-122"/>
                <a:sym typeface="+mn-ea"/>
              </a:rPr>
              <a:t>地址空间</a:t>
            </a:r>
            <a:endParaRPr lang="en-US" altLang="zh-CN" dirty="0">
              <a:latin typeface="宋体" panose="02010600030101010101" pitchFamily="2" charset="-122"/>
              <a:cs typeface="思源黑体 CN Medium" panose="020B0600000000000000" pitchFamily="34" charset="-122"/>
              <a:sym typeface="+mn-ea"/>
            </a:endParaRPr>
          </a:p>
          <a:p>
            <a:pPr lvl="1"/>
            <a:r>
              <a:rPr lang="zh-CN" altLang="en-US" dirty="0">
                <a:latin typeface="宋体" panose="02010600030101010101" pitchFamily="2" charset="-122"/>
                <a:cs typeface="华文宋体" panose="02010600040101010101" charset="-122"/>
                <a:sym typeface="+mn-ea"/>
              </a:rPr>
              <a:t>所有代码和数据都在一个地址空间，组成</a:t>
            </a:r>
            <a:r>
              <a:rPr lang="en-US" altLang="zh-CN" dirty="0">
                <a:latin typeface="宋体" panose="02010600030101010101" pitchFamily="2" charset="-122"/>
                <a:cs typeface="华文宋体" panose="02010600040101010101" charset="-122"/>
                <a:sym typeface="+mn-ea"/>
              </a:rPr>
              <a:t>PE</a:t>
            </a:r>
            <a:r>
              <a:rPr lang="zh-CN" altLang="en-US" dirty="0">
                <a:latin typeface="宋体" panose="02010600030101010101" pitchFamily="2" charset="-122"/>
                <a:cs typeface="华文宋体" panose="02010600040101010101" charset="-122"/>
                <a:sym typeface="+mn-ea"/>
              </a:rPr>
              <a:t>文件</a:t>
            </a:r>
            <a:endParaRPr lang="en-US" altLang="zh-CN" dirty="0">
              <a:solidFill>
                <a:srgbClr val="FF0000"/>
              </a:solidFill>
              <a:latin typeface="宋体" panose="02010600030101010101" pitchFamily="2" charset="-122"/>
              <a:cs typeface="华文宋体" panose="02010600040101010101" charset="-122"/>
              <a:sym typeface="+mn-ea"/>
            </a:endParaRPr>
          </a:p>
          <a:p>
            <a:r>
              <a:rPr lang="en-US" altLang="zh-CN" dirty="0" err="1">
                <a:latin typeface="宋体" panose="02010600030101010101" pitchFamily="2" charset="-122"/>
                <a:sym typeface="+mn-ea"/>
              </a:rPr>
              <a:t>文件内容被分割为不同的</a:t>
            </a:r>
            <a:r>
              <a:rPr lang="zh-CN" altLang="en-US" dirty="0">
                <a:solidFill>
                  <a:srgbClr val="FF0000"/>
                </a:solidFill>
                <a:latin typeface="宋体" panose="02010600030101010101" pitchFamily="2" charset="-122"/>
                <a:sym typeface="+mn-ea"/>
              </a:rPr>
              <a:t>节</a:t>
            </a:r>
            <a:r>
              <a:rPr lang="en-US" altLang="zh-CN" dirty="0">
                <a:latin typeface="宋体" panose="02010600030101010101" pitchFamily="2" charset="-122"/>
                <a:sym typeface="+mn-ea"/>
              </a:rPr>
              <a:t>(Section</a:t>
            </a:r>
            <a:r>
              <a:rPr lang="zh-CN" altLang="en-US" dirty="0">
                <a:latin typeface="宋体" panose="02010600030101010101" pitchFamily="2" charset="-122"/>
                <a:sym typeface="+mn-ea"/>
              </a:rPr>
              <a:t>，也叫做</a:t>
            </a:r>
            <a:r>
              <a:rPr lang="zh-CN" altLang="en-US" dirty="0">
                <a:solidFill>
                  <a:srgbClr val="FF0000"/>
                </a:solidFill>
                <a:latin typeface="宋体" panose="02010600030101010101" pitchFamily="2" charset="-122"/>
                <a:sym typeface="+mn-ea"/>
              </a:rPr>
              <a:t>块、区块、段</a:t>
            </a:r>
            <a:r>
              <a:rPr lang="zh-CN" altLang="en-US" dirty="0">
                <a:latin typeface="宋体" panose="02010600030101010101" pitchFamily="2" charset="-122"/>
                <a:sym typeface="+mn-ea"/>
              </a:rPr>
              <a:t>等</a:t>
            </a:r>
            <a:r>
              <a:rPr lang="en-US" altLang="zh-CN" dirty="0">
                <a:latin typeface="宋体" panose="02010600030101010101" pitchFamily="2" charset="-122"/>
                <a:sym typeface="+mn-ea"/>
              </a:rPr>
              <a:t>)</a:t>
            </a:r>
          </a:p>
          <a:p>
            <a:endParaRPr lang="zh-CN" altLang="en-US" dirty="0">
              <a:solidFill>
                <a:srgbClr val="FF0000"/>
              </a:solidFill>
              <a:latin typeface="宋体" panose="02010600030101010101" pitchFamily="2" charset="-122"/>
              <a:cs typeface="华文宋体" panose="02010600040101010101" charset="-122"/>
              <a:sym typeface="+mn-ea"/>
            </a:endParaRPr>
          </a:p>
          <a:p>
            <a:pPr lvl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068759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7840F1-D017-4977-8EB3-0E791B61E8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节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48DA4B9-EE36-401B-8903-0CA044C4CB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-457200" fontAlgn="auto">
              <a:buClrTx/>
            </a:pPr>
            <a:r>
              <a:rPr lang="zh-CN" altLang="en-US" dirty="0">
                <a:latin typeface="宋体" panose="02010600030101010101" pitchFamily="2" charset="-122"/>
                <a:cs typeface="华文宋体" panose="02010600040101010101" charset="-122"/>
                <a:sym typeface="+mn-ea"/>
              </a:rPr>
              <a:t>代码节、数据节</a:t>
            </a:r>
            <a:endParaRPr lang="zh-CN" altLang="en-US" dirty="0">
              <a:latin typeface="宋体" panose="02010600030101010101" pitchFamily="2" charset="-122"/>
              <a:cs typeface="华文宋体" panose="02010600040101010101" charset="-122"/>
            </a:endParaRPr>
          </a:p>
          <a:p>
            <a:pPr marL="457200" lvl="1" indent="-457200" fontAlgn="auto">
              <a:buClrTx/>
            </a:pPr>
            <a:r>
              <a:rPr lang="zh-CN" altLang="en-US" dirty="0">
                <a:latin typeface="宋体" panose="02010600030101010101" pitchFamily="2" charset="-122"/>
                <a:cs typeface="华文宋体" panose="02010600040101010101" charset="-122"/>
                <a:sym typeface="+mn-ea"/>
              </a:rPr>
              <a:t>各个节按页边界对齐（</a:t>
            </a:r>
            <a:r>
              <a:rPr lang="en-US" altLang="zh-CN" dirty="0">
                <a:latin typeface="宋体" panose="02010600030101010101" pitchFamily="2" charset="-122"/>
                <a:cs typeface="华文宋体" panose="02010600040101010101" charset="-122"/>
                <a:sym typeface="+mn-ea"/>
              </a:rPr>
              <a:t>4096Bytes</a:t>
            </a:r>
            <a:r>
              <a:rPr lang="zh-CN" altLang="en-US" dirty="0">
                <a:latin typeface="宋体" panose="02010600030101010101" pitchFamily="2" charset="-122"/>
                <a:cs typeface="华文宋体" panose="02010600040101010101" charset="-122"/>
                <a:sym typeface="+mn-ea"/>
              </a:rPr>
              <a:t>）</a:t>
            </a:r>
            <a:endParaRPr lang="zh-CN" altLang="en-US" dirty="0">
              <a:latin typeface="宋体" panose="02010600030101010101" pitchFamily="2" charset="-122"/>
              <a:cs typeface="华文宋体" panose="02010600040101010101" charset="-122"/>
            </a:endParaRPr>
          </a:p>
          <a:p>
            <a:pPr marL="457200" lvl="1" indent="-457200" fontAlgn="auto">
              <a:buClrTx/>
            </a:pPr>
            <a:r>
              <a:rPr lang="zh-CN" altLang="en-US" dirty="0">
                <a:latin typeface="宋体" panose="02010600030101010101" pitchFamily="2" charset="-122"/>
                <a:cs typeface="华文宋体" panose="02010600040101010101" charset="-122"/>
                <a:sym typeface="+mn-ea"/>
              </a:rPr>
              <a:t>节是一个连续结构，没有大小限制</a:t>
            </a:r>
            <a:endParaRPr lang="zh-CN" altLang="en-US" dirty="0">
              <a:latin typeface="宋体" panose="02010600030101010101" pitchFamily="2" charset="-122"/>
              <a:cs typeface="华文宋体" panose="02010600040101010101" charset="-122"/>
            </a:endParaRPr>
          </a:p>
          <a:p>
            <a:pPr marL="457200" lvl="1" indent="-457200" fontAlgn="auto">
              <a:buClrTx/>
            </a:pPr>
            <a:r>
              <a:rPr lang="zh-CN" altLang="en-US" dirty="0">
                <a:latin typeface="宋体" panose="02010600030101010101" pitchFamily="2" charset="-122"/>
                <a:cs typeface="华文宋体" panose="02010600040101010101" charset="-122"/>
                <a:sym typeface="+mn-ea"/>
              </a:rPr>
              <a:t>每个节都有自己的</a:t>
            </a:r>
            <a:r>
              <a:rPr lang="zh-CN" altLang="en-US" dirty="0">
                <a:solidFill>
                  <a:srgbClr val="FF0000"/>
                </a:solidFill>
                <a:latin typeface="宋体" panose="02010600030101010101" pitchFamily="2" charset="-122"/>
                <a:cs typeface="华文宋体" panose="02010600040101010101" charset="-122"/>
                <a:sym typeface="+mn-ea"/>
              </a:rPr>
              <a:t>内存属性</a:t>
            </a:r>
            <a:endParaRPr lang="en-US" altLang="zh-CN" dirty="0">
              <a:solidFill>
                <a:srgbClr val="FF0000"/>
              </a:solidFill>
              <a:latin typeface="宋体" panose="02010600030101010101" pitchFamily="2" charset="-122"/>
              <a:cs typeface="华文宋体" panose="02010600040101010101" charset="-122"/>
              <a:sym typeface="+mn-ea"/>
            </a:endParaRPr>
          </a:p>
          <a:p>
            <a:pPr marL="914400" lvl="2" indent="-457200"/>
            <a:r>
              <a:rPr lang="zh-CN" altLang="en-US" dirty="0">
                <a:solidFill>
                  <a:srgbClr val="FF0000"/>
                </a:solidFill>
                <a:latin typeface="宋体" panose="02010600030101010101" pitchFamily="2" charset="-122"/>
                <a:cs typeface="华文宋体" panose="02010600040101010101" charset="-122"/>
                <a:sym typeface="+mn-ea"/>
              </a:rPr>
              <a:t>内存有哪些属性？</a:t>
            </a:r>
            <a:endParaRPr lang="zh-CN" altLang="en-US" dirty="0">
              <a:solidFill>
                <a:srgbClr val="FF0000"/>
              </a:solidFill>
              <a:latin typeface="宋体" panose="02010600030101010101" pitchFamily="2" charset="-122"/>
              <a:cs typeface="华文宋体" panose="02010600040101010101" charset="-122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658961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2544750F-D34B-42E7-9552-6DB65B5B6896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一个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exe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文件，在内存和在硬盘上占用的空间是否是一致的？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43E5BE12-2C61-41C7-A0A3-4556B693587A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BCE853EF-00D7-47FE-AE92-C809722A4693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8" name="TitleBackground">
              <a:extLst>
                <a:ext uri="{FF2B5EF4-FFF2-40B4-BE49-F238E27FC236}">
                  <a16:creationId xmlns:a16="http://schemas.microsoft.com/office/drawing/2014/main" id="{57FAF2BC-9556-4459-B678-9E59D8D781BD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ColorBlock">
              <a:extLst>
                <a:ext uri="{FF2B5EF4-FFF2-40B4-BE49-F238E27FC236}">
                  <a16:creationId xmlns:a16="http://schemas.microsoft.com/office/drawing/2014/main" id="{C5CC733F-C4D0-4F13-8112-9B36E164FF74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TypeText">
              <a:extLst>
                <a:ext uri="{FF2B5EF4-FFF2-40B4-BE49-F238E27FC236}">
                  <a16:creationId xmlns:a16="http://schemas.microsoft.com/office/drawing/2014/main" id="{D6908832-B731-4F0A-8F10-ADE041FC8987}"/>
                </a:ext>
              </a:extLst>
            </p:cNvPr>
            <p:cNvSpPr txBox="1"/>
            <p:nvPr>
              <p:custDataLst>
                <p:tags r:id="rId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主观题</a:t>
              </a:r>
            </a:p>
          </p:txBody>
        </p:sp>
        <p:sp>
          <p:nvSpPr>
            <p:cNvPr id="11" name="TipText">
              <a:extLst>
                <a:ext uri="{FF2B5EF4-FFF2-40B4-BE49-F238E27FC236}">
                  <a16:creationId xmlns:a16="http://schemas.microsoft.com/office/drawing/2014/main" id="{1231F3BE-FFAB-455E-A295-48D52969B93D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C1A17405-ED70-4B0A-9109-D2176D556011}"/>
              </a:ext>
            </a:extLst>
          </p:cNvPr>
          <p:cNvPicPr>
            <a:picLocks/>
          </p:cNvPicPr>
          <p:nvPr>
            <p:custDataLst>
              <p:tags r:id="rId5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6659764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FA477342-0052-4B73-9E46-DD2E3064DE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3138" y="1550377"/>
            <a:ext cx="7440246" cy="4890162"/>
          </a:xfrm>
          <a:prstGeom prst="rect">
            <a:avLst/>
          </a:prstGeom>
          <a:ln>
            <a:solidFill>
              <a:srgbClr val="7030A0"/>
            </a:solidFill>
          </a:ln>
        </p:spPr>
      </p:pic>
    </p:spTree>
    <p:extLst>
      <p:ext uri="{BB962C8B-B14F-4D97-AF65-F5344CB8AC3E}">
        <p14:creationId xmlns:p14="http://schemas.microsoft.com/office/powerpoint/2010/main" val="34867081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E3BDEFC9-4E29-4D97-BB6A-0AA4804CE772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Windows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系统是多用户多任务的系统，所有正在运行的程序是在同一个地址空间里面吗？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EC6A6FF0-C9A5-406D-98FF-6FD349B418A5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1B448A5B-C3BC-47EB-948C-136399B4206D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8" name="TitleBackground">
              <a:extLst>
                <a:ext uri="{FF2B5EF4-FFF2-40B4-BE49-F238E27FC236}">
                  <a16:creationId xmlns:a16="http://schemas.microsoft.com/office/drawing/2014/main" id="{E2657C73-F889-4DDC-97AC-52227F411893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ColorBlock">
              <a:extLst>
                <a:ext uri="{FF2B5EF4-FFF2-40B4-BE49-F238E27FC236}">
                  <a16:creationId xmlns:a16="http://schemas.microsoft.com/office/drawing/2014/main" id="{29628AED-BF81-4762-A4E6-BB90DE167803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TypeText">
              <a:extLst>
                <a:ext uri="{FF2B5EF4-FFF2-40B4-BE49-F238E27FC236}">
                  <a16:creationId xmlns:a16="http://schemas.microsoft.com/office/drawing/2014/main" id="{69D65961-929D-4AB4-81BA-46568747C1FD}"/>
                </a:ext>
              </a:extLst>
            </p:cNvPr>
            <p:cNvSpPr txBox="1"/>
            <p:nvPr>
              <p:custDataLst>
                <p:tags r:id="rId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主观题</a:t>
              </a:r>
            </a:p>
          </p:txBody>
        </p:sp>
        <p:sp>
          <p:nvSpPr>
            <p:cNvPr id="11" name="TipText">
              <a:extLst>
                <a:ext uri="{FF2B5EF4-FFF2-40B4-BE49-F238E27FC236}">
                  <a16:creationId xmlns:a16="http://schemas.microsoft.com/office/drawing/2014/main" id="{07B55512-BA1F-4B3C-9E56-D24218B9CD4D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DB68A332-6C33-423F-97EE-E48DCC6E7FF7}"/>
              </a:ext>
            </a:extLst>
          </p:cNvPr>
          <p:cNvPicPr>
            <a:picLocks/>
          </p:cNvPicPr>
          <p:nvPr>
            <p:custDataLst>
              <p:tags r:id="rId5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41061569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7B1E85-2793-40EA-BC49-109A892CE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虚拟内存地址空间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D170CD0-1015-4AFA-A187-FB1D9945FE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每个程序都有自己的</a:t>
            </a:r>
            <a:r>
              <a:rPr lang="zh-CN" altLang="en-US" dirty="0">
                <a:solidFill>
                  <a:srgbClr val="FF0000"/>
                </a:solidFill>
                <a:sym typeface="+mn-ea"/>
              </a:rPr>
              <a:t>虚拟内存地址空间</a:t>
            </a:r>
            <a:r>
              <a:rPr lang="zh-CN" altLang="en-US" dirty="0">
                <a:sym typeface="+mn-ea"/>
              </a:rPr>
              <a:t>，虚拟空间的内存地址称为</a:t>
            </a:r>
            <a:r>
              <a:rPr lang="zh-CN" altLang="en-US" dirty="0">
                <a:solidFill>
                  <a:srgbClr val="FF0000"/>
                </a:solidFill>
                <a:sym typeface="+mn-ea"/>
              </a:rPr>
              <a:t>虚拟地址</a:t>
            </a:r>
            <a:r>
              <a:rPr lang="zh-CN" altLang="en-US" dirty="0">
                <a:sym typeface="+mn-ea"/>
              </a:rPr>
              <a:t>(Virtual Address，VA)</a:t>
            </a:r>
            <a:endParaRPr lang="zh-CN" altLang="en-US" dirty="0"/>
          </a:p>
          <a:p>
            <a:pPr lvl="1"/>
            <a:r>
              <a:rPr lang="en-US" altLang="zh-CN" dirty="0"/>
              <a:t>4GB</a:t>
            </a:r>
          </a:p>
          <a:p>
            <a:pPr lvl="1"/>
            <a:r>
              <a:rPr lang="zh-CN" altLang="en-US" dirty="0"/>
              <a:t>不同进程的虚拟地址空间是相互</a:t>
            </a:r>
            <a:r>
              <a:rPr lang="zh-CN" altLang="en-US" dirty="0">
                <a:solidFill>
                  <a:srgbClr val="FF0000"/>
                </a:solidFill>
              </a:rPr>
              <a:t>隔离</a:t>
            </a:r>
            <a:r>
              <a:rPr lang="zh-CN" altLang="en-US" dirty="0"/>
              <a:t>的</a:t>
            </a:r>
          </a:p>
        </p:txBody>
      </p:sp>
    </p:spTree>
    <p:extLst>
      <p:ext uri="{BB962C8B-B14F-4D97-AF65-F5344CB8AC3E}">
        <p14:creationId xmlns:p14="http://schemas.microsoft.com/office/powerpoint/2010/main" val="181970970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D1F152-CC75-4ADA-AE6B-2B501FF5E2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虚拟地址</a:t>
            </a:r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874770DE-766C-469C-A89C-F528037F95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18518" y="1989139"/>
            <a:ext cx="7574017" cy="4092575"/>
          </a:xfrm>
          <a:prstGeom prst="rect">
            <a:avLst/>
          </a:prstGeom>
          <a:ln>
            <a:solidFill>
              <a:srgbClr val="7030A0"/>
            </a:solidFill>
          </a:ln>
        </p:spPr>
      </p:pic>
    </p:spTree>
    <p:extLst>
      <p:ext uri="{BB962C8B-B14F-4D97-AF65-F5344CB8AC3E}">
        <p14:creationId xmlns:p14="http://schemas.microsoft.com/office/powerpoint/2010/main" val="199454875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C3B598DF-F5CC-49D4-A09B-E35A14D01DB2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一个进程的虚拟地址空间中只有一个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PE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文件结构吗？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80C0C2C6-96BB-4677-BC37-DDB26BC5B8DF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A8CE162-670F-4364-BC63-16E8EA80FD6F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12573000" y="0"/>
            <a:ext cx="3840480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34BE20B9-AE1B-4609-8C73-B2D77C558693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2661900" y="6326832"/>
            <a:ext cx="3662680" cy="46166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FFFFFF"/>
                </a:solidFill>
              </a14:hiddenLine>
            </a:ext>
          </a:extLst>
        </p:spPr>
        <p:txBody>
          <a:bodyPr vert="horz" rtlCol="0" anchor="ctr">
            <a:spAutoFit/>
          </a:bodyPr>
          <a:lstStyle/>
          <a:p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可为此题添加文本、图片、公式等解析，且需将内容全部放在本区域内。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3EB9A77A-92D4-479C-8AEE-B1C1377FB676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2827000" y="1270000"/>
            <a:ext cx="3332480" cy="1323439"/>
          </a:xfrm>
          <a:prstGeom prst="rect">
            <a:avLst/>
          </a:prstGeom>
          <a:noFill/>
        </p:spPr>
        <p:txBody>
          <a:bodyPr vert="horz" rtlCol="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一个进程中的虚拟地址空间通常有多个</a:t>
            </a: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PE</a:t>
            </a: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文件结构，包括</a:t>
            </a: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dll</a:t>
            </a: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文件、操作系统内核文件等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Microsoft Yahei" panose="020B0503020204020204" pitchFamily="34" charset="-122"/>
            </a:endParaRP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297F081D-8227-4BDB-BF11-5B942E620C82}"/>
              </a:ext>
            </a:extLst>
          </p:cNvPr>
          <p:cNvGrpSpPr/>
          <p:nvPr>
            <p:custDataLst>
              <p:tags r:id="rId7"/>
            </p:custDataLst>
          </p:nvPr>
        </p:nvGrpSpPr>
        <p:grpSpPr>
          <a:xfrm>
            <a:off x="12585700" y="0"/>
            <a:ext cx="3815080" cy="647700"/>
            <a:chOff x="12585700" y="0"/>
            <a:chExt cx="3815080" cy="647700"/>
          </a:xfrm>
        </p:grpSpPr>
        <p:sp>
          <p:nvSpPr>
            <p:cNvPr id="14" name="RemarkBack">
              <a:extLst>
                <a:ext uri="{FF2B5EF4-FFF2-40B4-BE49-F238E27FC236}">
                  <a16:creationId xmlns:a16="http://schemas.microsoft.com/office/drawing/2014/main" id="{8A52E19B-FFB8-4029-ABEA-48B13B5AF1FF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12585700" y="12700"/>
              <a:ext cx="381508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RemarkBlock">
              <a:extLst>
                <a:ext uri="{FF2B5EF4-FFF2-40B4-BE49-F238E27FC236}">
                  <a16:creationId xmlns:a16="http://schemas.microsoft.com/office/drawing/2014/main" id="{807CDA22-FED9-4022-8DC1-03FAFB37C03E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12585700" y="1270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RemarkTitleText">
              <a:extLst>
                <a:ext uri="{FF2B5EF4-FFF2-40B4-BE49-F238E27FC236}">
                  <a16:creationId xmlns:a16="http://schemas.microsoft.com/office/drawing/2014/main" id="{97B039EE-5C10-4222-828C-F21430F4C1F3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12827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答案解析</a:t>
              </a: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4F1CF200-0AAB-467C-8A4B-13E6F7BFCFCF}"/>
              </a:ext>
            </a:extLst>
          </p:cNvPr>
          <p:cNvGrpSpPr/>
          <p:nvPr>
            <p:custDataLst>
              <p:tags r:id="rId8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8" name="TitleBackground">
              <a:extLst>
                <a:ext uri="{FF2B5EF4-FFF2-40B4-BE49-F238E27FC236}">
                  <a16:creationId xmlns:a16="http://schemas.microsoft.com/office/drawing/2014/main" id="{35F2505A-B082-4FF7-9398-BF78BC3D6C10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ColorBlock">
              <a:extLst>
                <a:ext uri="{FF2B5EF4-FFF2-40B4-BE49-F238E27FC236}">
                  <a16:creationId xmlns:a16="http://schemas.microsoft.com/office/drawing/2014/main" id="{15D57E2A-9321-4C3A-83AD-E47727A39907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TypeText">
              <a:extLst>
                <a:ext uri="{FF2B5EF4-FFF2-40B4-BE49-F238E27FC236}">
                  <a16:creationId xmlns:a16="http://schemas.microsoft.com/office/drawing/2014/main" id="{539EDD24-EEFD-4A2E-898E-C1C5FE5B667E}"/>
                </a:ext>
              </a:extLst>
            </p:cNvPr>
            <p:cNvSpPr txBox="1"/>
            <p:nvPr>
              <p:custDataLst>
                <p:tags r:id="rId12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主观题</a:t>
              </a:r>
            </a:p>
          </p:txBody>
        </p:sp>
        <p:sp>
          <p:nvSpPr>
            <p:cNvPr id="11" name="TipText">
              <a:extLst>
                <a:ext uri="{FF2B5EF4-FFF2-40B4-BE49-F238E27FC236}">
                  <a16:creationId xmlns:a16="http://schemas.microsoft.com/office/drawing/2014/main" id="{43683F93-76D7-4609-BF78-6EAC490668F8}"/>
                </a:ext>
              </a:extLst>
            </p:cNvPr>
            <p:cNvSpPr txBox="1"/>
            <p:nvPr>
              <p:custDataLst>
                <p:tags r:id="rId13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56A2DB1D-4F86-4558-83C0-ACA18D9E6A5A}"/>
              </a:ext>
            </a:extLst>
          </p:cNvPr>
          <p:cNvPicPr>
            <a:picLocks/>
          </p:cNvPicPr>
          <p:nvPr>
            <p:custDataLst>
              <p:tags r:id="rId9"/>
            </p:custDataLst>
          </p:nvPr>
        </p:nvPicPr>
        <p:blipFill>
          <a:blip r:embed="rId18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56388587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A84B58-1388-4408-B5A2-C050831E7F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模块</a:t>
            </a:r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8FE98EFC-E342-4DBA-891F-038394A585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91213" y="1975318"/>
            <a:ext cx="6409574" cy="3862775"/>
          </a:xfrm>
          <a:prstGeom prst="rect">
            <a:avLst/>
          </a:prstGeom>
          <a:ln>
            <a:solidFill>
              <a:srgbClr val="7030A0"/>
            </a:solidFill>
          </a:ln>
        </p:spPr>
      </p:pic>
    </p:spTree>
    <p:extLst>
      <p:ext uri="{BB962C8B-B14F-4D97-AF65-F5344CB8AC3E}">
        <p14:creationId xmlns:p14="http://schemas.microsoft.com/office/powerpoint/2010/main" val="55798029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2798EB-74BE-43D0-898B-554D9D7BD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模块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472148-B126-46D5-8009-862417355D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latin typeface="宋体" panose="02010600030101010101" pitchFamily="2" charset="-122"/>
                <a:cs typeface="Times New Roman" pitchFamily="18" charset="0"/>
                <a:sym typeface="+mn-ea"/>
              </a:rPr>
              <a:t>当PE文件通过Windows加载器载入内存后，内存中的版本称为</a:t>
            </a:r>
            <a:r>
              <a:rPr lang="zh-CN" altLang="en-US" dirty="0">
                <a:solidFill>
                  <a:srgbClr val="FF0000"/>
                </a:solidFill>
                <a:latin typeface="宋体" panose="02010600030101010101" pitchFamily="2" charset="-122"/>
                <a:cs typeface="Times New Roman" pitchFamily="18" charset="0"/>
                <a:sym typeface="+mn-ea"/>
              </a:rPr>
              <a:t>模块</a:t>
            </a:r>
            <a:r>
              <a:rPr lang="zh-CN" altLang="en-US" dirty="0">
                <a:latin typeface="宋体" panose="02010600030101010101" pitchFamily="2" charset="-122"/>
                <a:cs typeface="Times New Roman" pitchFamily="18" charset="0"/>
                <a:sym typeface="+mn-ea"/>
              </a:rPr>
              <a:t>(Module)</a:t>
            </a:r>
            <a:endParaRPr lang="en-US" altLang="zh-CN" dirty="0">
              <a:latin typeface="宋体" panose="02010600030101010101" pitchFamily="2" charset="-122"/>
              <a:cs typeface="Times New Roman" pitchFamily="18" charset="0"/>
            </a:endParaRPr>
          </a:p>
          <a:p>
            <a:pPr lvl="1"/>
            <a:r>
              <a:rPr lang="zh-CN" altLang="en-US" dirty="0">
                <a:latin typeface="宋体" panose="02010600030101010101" pitchFamily="2" charset="-122"/>
                <a:cs typeface="Times New Roman" pitchFamily="18" charset="0"/>
                <a:sym typeface="+mn-ea"/>
              </a:rPr>
              <a:t>映射文件的起始地址称为</a:t>
            </a:r>
            <a:r>
              <a:rPr lang="zh-CN" altLang="en-US" dirty="0">
                <a:solidFill>
                  <a:srgbClr val="FF0000"/>
                </a:solidFill>
                <a:latin typeface="宋体" panose="02010600030101010101" pitchFamily="2" charset="-122"/>
                <a:cs typeface="Times New Roman" pitchFamily="18" charset="0"/>
                <a:sym typeface="+mn-ea"/>
              </a:rPr>
              <a:t>模块句柄</a:t>
            </a:r>
            <a:r>
              <a:rPr lang="zh-CN" altLang="en-US" dirty="0">
                <a:latin typeface="宋体" panose="02010600030101010101" pitchFamily="2" charset="-122"/>
                <a:cs typeface="Times New Roman" pitchFamily="18" charset="0"/>
                <a:sym typeface="+mn-ea"/>
              </a:rPr>
              <a:t>(hModule )</a:t>
            </a:r>
            <a:endParaRPr lang="en-US" altLang="zh-CN" dirty="0">
              <a:latin typeface="宋体" panose="02010600030101010101" pitchFamily="2" charset="-122"/>
              <a:cs typeface="Times New Roman" pitchFamily="18" charset="0"/>
            </a:endParaRPr>
          </a:p>
          <a:p>
            <a:pPr lvl="1"/>
            <a:r>
              <a:rPr lang="zh-CN" altLang="en-US" dirty="0">
                <a:latin typeface="宋体" panose="02010600030101010101" pitchFamily="2" charset="-122"/>
                <a:cs typeface="Times New Roman" pitchFamily="18" charset="0"/>
                <a:sym typeface="+mn-ea"/>
              </a:rPr>
              <a:t>初始内存地址也称为</a:t>
            </a:r>
            <a:r>
              <a:rPr lang="zh-CN" altLang="en-US" dirty="0">
                <a:solidFill>
                  <a:srgbClr val="FF0000"/>
                </a:solidFill>
                <a:latin typeface="宋体" panose="02010600030101010101" pitchFamily="2" charset="-122"/>
                <a:cs typeface="Times New Roman" pitchFamily="18" charset="0"/>
                <a:sym typeface="+mn-ea"/>
              </a:rPr>
              <a:t>基地址</a:t>
            </a:r>
            <a:r>
              <a:rPr lang="zh-CN" altLang="en-US" dirty="0">
                <a:latin typeface="宋体" panose="02010600030101010101" pitchFamily="2" charset="-122"/>
                <a:cs typeface="Times New Roman" pitchFamily="18" charset="0"/>
                <a:sym typeface="+mn-ea"/>
              </a:rPr>
              <a:t>(ImageBase )</a:t>
            </a:r>
            <a:endParaRPr lang="en-US" altLang="zh-CN" dirty="0">
              <a:latin typeface="宋体" panose="02010600030101010101" pitchFamily="2" charset="-122"/>
              <a:cs typeface="Times New Roman" pitchFamily="18" charset="0"/>
            </a:endParaRPr>
          </a:p>
          <a:p>
            <a:endParaRPr lang="zh-CN" altLang="en-US" dirty="0">
              <a:latin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3714205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CA8FE0-7BC8-43C0-8D44-2F953FD0F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模块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DFF74D0-333B-40BE-A29D-07EE71E801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latin typeface="宋体" panose="02010600030101010101" pitchFamily="2" charset="-122"/>
                <a:cs typeface="Times New Roman" pitchFamily="18" charset="0"/>
                <a:sym typeface="+mn-ea"/>
              </a:rPr>
              <a:t>内存中的</a:t>
            </a:r>
            <a:r>
              <a:rPr lang="zh-CN" altLang="en-US" dirty="0">
                <a:solidFill>
                  <a:srgbClr val="FF0000"/>
                </a:solidFill>
                <a:latin typeface="宋体" panose="02010600030101010101" pitchFamily="2" charset="-122"/>
                <a:cs typeface="Times New Roman" pitchFamily="18" charset="0"/>
                <a:sym typeface="+mn-ea"/>
              </a:rPr>
              <a:t>模块</a:t>
            </a:r>
            <a:r>
              <a:rPr lang="zh-CN" altLang="en-US" dirty="0">
                <a:latin typeface="宋体" panose="02010600030101010101" pitchFamily="2" charset="-122"/>
                <a:cs typeface="Times New Roman" pitchFamily="18" charset="0"/>
                <a:sym typeface="+mn-ea"/>
              </a:rPr>
              <a:t>代表进程将这个可执行文件所需要的代码、数据、资源、输入表、输出表及其它有用的数据结构都放在一个连续的内存节中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0677405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686DA2-FE5E-440F-99E0-F4EDD8FC63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模块句柄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73A99CE-9A65-4811-BED6-D61C263445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Windows将Module的基地址作为Module的</a:t>
            </a:r>
            <a:r>
              <a:rPr lang="zh-CN" altLang="en-US" dirty="0">
                <a:solidFill>
                  <a:srgbClr val="FF0000"/>
                </a:solidFill>
              </a:rPr>
              <a:t>实例句柄</a:t>
            </a:r>
            <a:r>
              <a:rPr lang="zh-CN" altLang="en-US" dirty="0"/>
              <a:t>(Instance Handle，即Hinstance)。</a:t>
            </a:r>
            <a:endParaRPr lang="en-US" altLang="zh-CN" dirty="0"/>
          </a:p>
          <a:p>
            <a:pPr lvl="1"/>
            <a:r>
              <a:rPr lang="zh-CN" altLang="en-US" dirty="0"/>
              <a:t>GetModuleHandle获得DLL句柄，通过句柄访问DLL Module的内容</a:t>
            </a:r>
          </a:p>
          <a:p>
            <a:endParaRPr lang="zh-CN" altLang="en-US" dirty="0"/>
          </a:p>
        </p:txBody>
      </p:sp>
      <p:pic>
        <p:nvPicPr>
          <p:cNvPr id="4" name="图片 3" descr="1565190322(1)">
            <a:extLst>
              <a:ext uri="{FF2B5EF4-FFF2-40B4-BE49-F238E27FC236}">
                <a16:creationId xmlns:a16="http://schemas.microsoft.com/office/drawing/2014/main" id="{E1F476D2-F3D4-4ACE-8F4B-1F966C9EA0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4060" y="4308690"/>
            <a:ext cx="8183880" cy="686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79131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2BA3C31F-9181-4803-B57C-3D172F6525F2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思考题：进程的内存空间中有多个模块。模块在内存中的位置是固定的吗？字符串、全局变量、函数等内存地址是固定的吗？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2E679937-0EB1-4625-B8B5-0B1C171417E1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63F219CF-3047-4A20-A99F-7A259F1C780A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8" name="TitleBackground">
              <a:extLst>
                <a:ext uri="{FF2B5EF4-FFF2-40B4-BE49-F238E27FC236}">
                  <a16:creationId xmlns:a16="http://schemas.microsoft.com/office/drawing/2014/main" id="{353E6C51-090C-43D5-92A9-334C13642A15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ColorBlock">
              <a:extLst>
                <a:ext uri="{FF2B5EF4-FFF2-40B4-BE49-F238E27FC236}">
                  <a16:creationId xmlns:a16="http://schemas.microsoft.com/office/drawing/2014/main" id="{00D0FD00-E8F0-40C7-82CD-47E7B381388B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TypeText">
              <a:extLst>
                <a:ext uri="{FF2B5EF4-FFF2-40B4-BE49-F238E27FC236}">
                  <a16:creationId xmlns:a16="http://schemas.microsoft.com/office/drawing/2014/main" id="{5D96B01B-3CBB-47AA-A6AA-63902F648863}"/>
                </a:ext>
              </a:extLst>
            </p:cNvPr>
            <p:cNvSpPr txBox="1"/>
            <p:nvPr>
              <p:custDataLst>
                <p:tags r:id="rId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主观题</a:t>
              </a:r>
            </a:p>
          </p:txBody>
        </p:sp>
        <p:sp>
          <p:nvSpPr>
            <p:cNvPr id="11" name="TipText">
              <a:extLst>
                <a:ext uri="{FF2B5EF4-FFF2-40B4-BE49-F238E27FC236}">
                  <a16:creationId xmlns:a16="http://schemas.microsoft.com/office/drawing/2014/main" id="{8860A53E-007A-4E50-98E8-E26DD07B4C45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FC49853A-902B-4932-A7B2-D11C947E18DB}"/>
              </a:ext>
            </a:extLst>
          </p:cNvPr>
          <p:cNvPicPr>
            <a:picLocks/>
          </p:cNvPicPr>
          <p:nvPr>
            <p:custDataLst>
              <p:tags r:id="rId5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44040537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667876-BCD1-4F6D-A177-2E0EE328C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相对虚拟地址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8EDE37-94FD-4273-B973-246EA78441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zh-CN" altLang="en-US" dirty="0">
                <a:latin typeface="宋体" panose="02010600030101010101" pitchFamily="2" charset="-122"/>
                <a:cs typeface="思源黑体 CN Medium" panose="020B0600000000000000" pitchFamily="34" charset="-122"/>
                <a:sym typeface="+mn-ea"/>
              </a:rPr>
              <a:t>模块的地址冲突问题</a:t>
            </a:r>
            <a:endParaRPr lang="en-US" altLang="zh-CN" dirty="0">
              <a:latin typeface="宋体" panose="02010600030101010101" pitchFamily="2" charset="-122"/>
              <a:cs typeface="思源黑体 CN Medium" panose="020B0600000000000000" pitchFamily="34" charset="-122"/>
              <a:sym typeface="+mn-ea"/>
            </a:endParaRPr>
          </a:p>
          <a:p>
            <a:pPr lvl="1"/>
            <a:r>
              <a:rPr lang="zh-CN" altLang="en-US" dirty="0">
                <a:solidFill>
                  <a:srgbClr val="FF0000"/>
                </a:solidFill>
                <a:latin typeface="宋体" panose="02010600030101010101" pitchFamily="2" charset="-122"/>
                <a:cs typeface="思源黑体 CN Medium" panose="020B0600000000000000" pitchFamily="34" charset="-122"/>
                <a:sym typeface="+mn-ea"/>
              </a:rPr>
              <a:t>模块的加载顺序和加载地址是不确定的</a:t>
            </a:r>
            <a:r>
              <a:rPr lang="zh-CN" altLang="en-US" dirty="0">
                <a:latin typeface="宋体" panose="02010600030101010101" pitchFamily="2" charset="-122"/>
                <a:cs typeface="思源黑体 CN Medium" panose="020B0600000000000000" pitchFamily="34" charset="-122"/>
                <a:sym typeface="+mn-ea"/>
              </a:rPr>
              <a:t>。</a:t>
            </a:r>
            <a:endParaRPr lang="en-US" altLang="zh-CN" dirty="0">
              <a:latin typeface="宋体" panose="02010600030101010101" pitchFamily="2" charset="-122"/>
              <a:cs typeface="思源黑体 CN Medium" panose="020B0600000000000000" pitchFamily="34" charset="-122"/>
              <a:sym typeface="+mn-ea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>
                <a:latin typeface="宋体" panose="02010600030101010101" pitchFamily="2" charset="-122"/>
                <a:cs typeface="思源黑体 CN Medium" panose="020B0600000000000000" pitchFamily="34" charset="-122"/>
                <a:sym typeface="+mn-ea"/>
              </a:rPr>
              <a:t>在可执行文件中，有许多地方需要内存地址</a:t>
            </a:r>
            <a:endParaRPr lang="en-US" altLang="zh-CN" dirty="0">
              <a:latin typeface="宋体" panose="02010600030101010101" pitchFamily="2" charset="-122"/>
              <a:cs typeface="思源黑体 CN Medium" panose="020B0600000000000000" pitchFamily="34" charset="-122"/>
            </a:endParaRPr>
          </a:p>
          <a:p>
            <a:pPr lvl="1"/>
            <a:r>
              <a:rPr lang="zh-CN" altLang="en-US" sz="2000" dirty="0">
                <a:latin typeface="宋体" panose="02010600030101010101" pitchFamily="2" charset="-122"/>
                <a:cs typeface="思源黑体 CN Medium" panose="020B0600000000000000" pitchFamily="34" charset="-122"/>
                <a:sym typeface="+mn-ea"/>
              </a:rPr>
              <a:t>例如，引用全局变量时需要指定它的地址</a:t>
            </a:r>
            <a:endParaRPr lang="en-US" altLang="zh-CN" dirty="0">
              <a:latin typeface="宋体" panose="02010600030101010101" pitchFamily="2" charset="-122"/>
              <a:cs typeface="思源黑体 CN Medium" panose="020B0600000000000000" pitchFamily="34" charset="-122"/>
            </a:endParaRPr>
          </a:p>
          <a:p>
            <a:r>
              <a:rPr lang="zh-CN" altLang="en-US" dirty="0">
                <a:latin typeface="宋体" panose="02010600030101010101" pitchFamily="2" charset="-122"/>
                <a:cs typeface="Times New Roman" panose="02020603050405020304" pitchFamily="18" charset="0"/>
                <a:sym typeface="+mn-ea"/>
              </a:rPr>
              <a:t>PE</a:t>
            </a:r>
            <a:r>
              <a:rPr lang="zh-CN" altLang="en-US" dirty="0">
                <a:latin typeface="宋体" panose="02010600030101010101" pitchFamily="2" charset="-122"/>
                <a:cs typeface="思源黑体 CN Medium" panose="020B0600000000000000" pitchFamily="34" charset="-122"/>
                <a:sym typeface="+mn-ea"/>
              </a:rPr>
              <a:t>文件有一个首选的载入地址(基地址)</a:t>
            </a:r>
            <a:endParaRPr lang="en-US" altLang="zh-CN" dirty="0">
              <a:latin typeface="宋体" panose="02010600030101010101" pitchFamily="2" charset="-122"/>
              <a:cs typeface="思源黑体 CN Medium" panose="020B0600000000000000" pitchFamily="34" charset="-122"/>
              <a:sym typeface="+mn-ea"/>
            </a:endParaRPr>
          </a:p>
          <a:p>
            <a:r>
              <a:rPr lang="en-US" altLang="zh-CN" dirty="0">
                <a:latin typeface="宋体" panose="02010600030101010101" pitchFamily="2" charset="-122"/>
                <a:cs typeface="思源黑体 CN Medium" panose="020B0600000000000000" pitchFamily="34" charset="-122"/>
                <a:sym typeface="+mn-ea"/>
              </a:rPr>
              <a:t>PE</a:t>
            </a:r>
            <a:r>
              <a:rPr lang="zh-CN" altLang="en-US" dirty="0">
                <a:latin typeface="宋体" panose="02010600030101010101" pitchFamily="2" charset="-122"/>
                <a:cs typeface="思源黑体 CN Medium" panose="020B0600000000000000" pitchFamily="34" charset="-122"/>
                <a:sym typeface="+mn-ea"/>
              </a:rPr>
              <a:t>文件可以载入到进程空间任何地方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6002311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571DE0-691D-4A7F-8A02-1A9D6EFB2B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相对虚拟地址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F5B1164-65E8-4F44-9E04-27D558EA62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zh-CN" altLang="en-US" dirty="0">
                <a:sym typeface="+mn-ea"/>
              </a:rPr>
              <a:t>为了避免绝对内存地址，引入了</a:t>
            </a:r>
            <a:r>
              <a:rPr lang="zh-CN" altLang="en-US" dirty="0">
                <a:solidFill>
                  <a:srgbClr val="FF0000"/>
                </a:solidFill>
                <a:sym typeface="+mn-ea"/>
              </a:rPr>
              <a:t>相对虚拟地址</a:t>
            </a:r>
            <a:r>
              <a:rPr lang="zh-CN" altLang="en-US" dirty="0">
                <a:sym typeface="+mn-ea"/>
              </a:rPr>
              <a:t>(Relative Virtual Address,  RVA )的概念</a:t>
            </a:r>
            <a:endParaRPr lang="en-US" altLang="zh-CN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zh-CN" altLang="en-US" dirty="0">
                <a:sym typeface="+mn-ea"/>
              </a:rPr>
              <a:t>RVA是相对于</a:t>
            </a:r>
            <a:r>
              <a:rPr lang="zh-CN" altLang="en-US" dirty="0">
                <a:solidFill>
                  <a:srgbClr val="FF0000"/>
                </a:solidFill>
                <a:sym typeface="+mn-ea"/>
              </a:rPr>
              <a:t>PE文件载入地址</a:t>
            </a:r>
            <a:r>
              <a:rPr lang="zh-CN" altLang="en-US" dirty="0">
                <a:sym typeface="+mn-ea"/>
              </a:rPr>
              <a:t>的偏移位置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01206399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EB0123-CB78-402E-8C13-DA2AC673D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相对虚拟地址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22716CD-58C7-443F-8CCC-100E0DD524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latin typeface="宋体" panose="02010600030101010101" pitchFamily="2" charset="-122"/>
                <a:cs typeface="Times New Roman" pitchFamily="18" charset="0"/>
                <a:sym typeface="+mn-ea"/>
              </a:rPr>
              <a:t>假设一个EXE文件从</a:t>
            </a:r>
            <a:r>
              <a:rPr lang="en-US" altLang="zh-CN" dirty="0">
                <a:solidFill>
                  <a:srgbClr val="FF0000"/>
                </a:solidFill>
                <a:latin typeface="宋体" panose="02010600030101010101" pitchFamily="2" charset="-122"/>
                <a:cs typeface="Times New Roman" pitchFamily="18" charset="0"/>
                <a:sym typeface="+mn-ea"/>
              </a:rPr>
              <a:t>00</a:t>
            </a:r>
            <a:r>
              <a:rPr lang="zh-CN" altLang="en-US" dirty="0">
                <a:latin typeface="宋体" panose="02010600030101010101" pitchFamily="2" charset="-122"/>
                <a:cs typeface="Times New Roman" pitchFamily="18" charset="0"/>
                <a:sym typeface="+mn-ea"/>
              </a:rPr>
              <a:t>400000h处载入内存</a:t>
            </a:r>
            <a:endParaRPr lang="en-US" altLang="zh-CN" dirty="0">
              <a:latin typeface="宋体" panose="02010600030101010101" pitchFamily="2" charset="-122"/>
              <a:cs typeface="Times New Roman" pitchFamily="18" charset="0"/>
              <a:sym typeface="+mn-ea"/>
            </a:endParaRPr>
          </a:p>
          <a:p>
            <a:r>
              <a:rPr lang="zh-CN" altLang="en-US" dirty="0">
                <a:latin typeface="宋体" panose="02010600030101010101" pitchFamily="2" charset="-122"/>
                <a:cs typeface="Times New Roman" pitchFamily="18" charset="0"/>
                <a:sym typeface="+mn-ea"/>
              </a:rPr>
              <a:t>代码节</a:t>
            </a:r>
            <a:r>
              <a:rPr lang="zh-CN" altLang="en-US" dirty="0">
                <a:latin typeface="宋体" panose="02010600030101010101" pitchFamily="2" charset="-122"/>
                <a:sym typeface="+mn-ea"/>
              </a:rPr>
              <a:t>起始地址为</a:t>
            </a:r>
            <a:r>
              <a:rPr lang="zh-CN" altLang="en-US" dirty="0">
                <a:latin typeface="宋体" panose="02010600030101010101" pitchFamily="2" charset="-122"/>
                <a:cs typeface="Times New Roman" pitchFamily="18" charset="0"/>
                <a:sym typeface="+mn-ea"/>
              </a:rPr>
              <a:t>401000h</a:t>
            </a:r>
            <a:r>
              <a:rPr lang="zh-CN" altLang="en-US" dirty="0">
                <a:latin typeface="宋体" panose="02010600030101010101" pitchFamily="2" charset="-122"/>
                <a:sym typeface="+mn-ea"/>
              </a:rPr>
              <a:t>，</a:t>
            </a:r>
            <a:r>
              <a:rPr lang="zh-CN" altLang="en-US" dirty="0">
                <a:latin typeface="宋体" panose="02010600030101010101" pitchFamily="2" charset="-122"/>
                <a:cs typeface="Times New Roman" pitchFamily="18" charset="0"/>
                <a:sym typeface="+mn-ea"/>
              </a:rPr>
              <a:t>代码节起始地址的RVA计算方法如下:</a:t>
            </a:r>
            <a:endParaRPr lang="zh-CN" altLang="en-US" dirty="0">
              <a:latin typeface="宋体" panose="02010600030101010101" pitchFamily="2" charset="-122"/>
              <a:cs typeface="Times New Roman" pitchFamily="18" charset="0"/>
            </a:endParaRPr>
          </a:p>
          <a:p>
            <a:pPr marL="857250" lvl="1" indent="-457200" fontAlgn="auto"/>
            <a:r>
              <a:rPr lang="zh-CN" altLang="en-US" dirty="0">
                <a:latin typeface="宋体" panose="02010600030101010101" pitchFamily="2" charset="-122"/>
                <a:cs typeface="Times New Roman" pitchFamily="18" charset="0"/>
                <a:sym typeface="+mn-ea"/>
              </a:rPr>
              <a:t>目标地址401000h - 载入地址400000h = RVA 1000h</a:t>
            </a:r>
            <a:endParaRPr lang="zh-CN" altLang="en-US" kern="0" dirty="0">
              <a:latin typeface="宋体" panose="02010600030101010101" pitchFamily="2" charset="-122"/>
              <a:cs typeface="Times New Roman" pitchFamily="18" charset="0"/>
              <a:sym typeface="+mn-ea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8329845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4B8987-30C1-44AA-84A0-7C3605166F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相对虚拟地址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D192C97-C586-4110-B7CB-55B0A181F2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latin typeface="宋体" panose="02010600030101010101" pitchFamily="2" charset="-122"/>
                <a:cs typeface="Times New Roman" panose="02020603050405020304" pitchFamily="18" charset="0"/>
                <a:sym typeface="+mn-ea"/>
              </a:rPr>
              <a:t>将RVA转换成虚拟地址</a:t>
            </a:r>
            <a:r>
              <a:rPr lang="en-US" altLang="zh-CN" dirty="0">
                <a:latin typeface="宋体" panose="02010600030101010101" pitchFamily="2" charset="-122"/>
                <a:cs typeface="Times New Roman" panose="02020603050405020304" pitchFamily="18" charset="0"/>
                <a:sym typeface="+mn-ea"/>
              </a:rPr>
              <a:t>VA</a:t>
            </a:r>
            <a:r>
              <a:rPr lang="zh-CN" altLang="en-US" dirty="0">
                <a:latin typeface="宋体" panose="02010600030101010101" pitchFamily="2" charset="-122"/>
                <a:cs typeface="Times New Roman" panose="02020603050405020304" pitchFamily="18" charset="0"/>
                <a:sym typeface="+mn-ea"/>
              </a:rPr>
              <a:t>的过程</a:t>
            </a:r>
            <a:endParaRPr lang="en-US" altLang="zh-CN" dirty="0">
              <a:latin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lvl="1"/>
            <a:r>
              <a:rPr lang="zh-CN" altLang="en-US" dirty="0">
                <a:latin typeface="宋体" panose="02010600030101010101" pitchFamily="2" charset="-122"/>
                <a:cs typeface="Times New Roman" panose="02020603050405020304" pitchFamily="18" charset="0"/>
                <a:sym typeface="+mn-ea"/>
              </a:rPr>
              <a:t>用实际的载入地址</a:t>
            </a:r>
            <a:r>
              <a:rPr lang="en-US" altLang="zh-CN" b="1" dirty="0" err="1">
                <a:latin typeface="宋体" panose="02010600030101010101" pitchFamily="2" charset="-122"/>
                <a:cs typeface="Times New Roman" panose="02020603050405020304" pitchFamily="18" charset="0"/>
                <a:sym typeface="+mn-ea"/>
              </a:rPr>
              <a:t>ImageBase</a:t>
            </a:r>
            <a:r>
              <a:rPr lang="zh-CN" altLang="en-US" dirty="0">
                <a:latin typeface="宋体" panose="02010600030101010101" pitchFamily="2" charset="-122"/>
                <a:cs typeface="Times New Roman" panose="02020603050405020304" pitchFamily="18" charset="0"/>
                <a:sym typeface="+mn-ea"/>
              </a:rPr>
              <a:t>加相对虚拟地址</a:t>
            </a:r>
            <a:r>
              <a:rPr lang="zh-CN" altLang="en-US" b="1" dirty="0">
                <a:latin typeface="宋体" panose="02010600030101010101" pitchFamily="2" charset="-122"/>
                <a:cs typeface="Times New Roman" panose="02020603050405020304" pitchFamily="18" charset="0"/>
                <a:sym typeface="+mn-ea"/>
              </a:rPr>
              <a:t>RVA</a:t>
            </a:r>
            <a:endParaRPr lang="en-US" altLang="zh-CN" b="1" dirty="0">
              <a:latin typeface="宋体" panose="02010600030101010101" pitchFamily="2" charset="-122"/>
              <a:cs typeface="Times New Roman" panose="02020603050405020304" pitchFamily="18" charset="0"/>
            </a:endParaRPr>
          </a:p>
          <a:p>
            <a:pPr lvl="1"/>
            <a:r>
              <a:rPr lang="zh-CN" altLang="en-US" dirty="0">
                <a:latin typeface="宋体" panose="02010600030101010101" pitchFamily="2" charset="-122"/>
                <a:cs typeface="Times New Roman" panose="02020603050405020304" pitchFamily="18" charset="0"/>
                <a:sym typeface="+mn-ea"/>
              </a:rPr>
              <a:t>虚拟地址(</a:t>
            </a:r>
            <a:r>
              <a:rPr lang="zh-CN" altLang="en-US" dirty="0">
                <a:solidFill>
                  <a:srgbClr val="FF0000"/>
                </a:solidFill>
                <a:latin typeface="宋体" panose="02010600030101010101" pitchFamily="2" charset="-122"/>
                <a:cs typeface="Times New Roman" panose="02020603050405020304" pitchFamily="18" charset="0"/>
                <a:sym typeface="+mn-ea"/>
              </a:rPr>
              <a:t>VA</a:t>
            </a:r>
            <a:r>
              <a:rPr lang="zh-CN" altLang="en-US" dirty="0">
                <a:latin typeface="宋体" panose="02010600030101010101" pitchFamily="2" charset="-122"/>
                <a:cs typeface="Times New Roman" panose="02020603050405020304" pitchFamily="18" charset="0"/>
                <a:sym typeface="+mn-ea"/>
              </a:rPr>
              <a:t>)=基地址(</a:t>
            </a:r>
            <a:r>
              <a:rPr lang="zh-CN" altLang="en-US" dirty="0">
                <a:solidFill>
                  <a:srgbClr val="FF0000"/>
                </a:solidFill>
                <a:latin typeface="宋体" panose="02010600030101010101" pitchFamily="2" charset="-122"/>
                <a:cs typeface="Times New Roman" panose="02020603050405020304" pitchFamily="18" charset="0"/>
                <a:sym typeface="+mn-ea"/>
              </a:rPr>
              <a:t>ImageBase</a:t>
            </a:r>
            <a:r>
              <a:rPr lang="zh-CN" altLang="en-US" dirty="0">
                <a:latin typeface="宋体" panose="02010600030101010101" pitchFamily="2" charset="-122"/>
                <a:cs typeface="Times New Roman" panose="02020603050405020304" pitchFamily="18" charset="0"/>
                <a:sym typeface="+mn-ea"/>
              </a:rPr>
              <a:t>)+相对虚拟地址(</a:t>
            </a:r>
            <a:r>
              <a:rPr lang="zh-CN" altLang="en-US" dirty="0">
                <a:solidFill>
                  <a:srgbClr val="FF0000"/>
                </a:solidFill>
                <a:latin typeface="宋体" panose="02010600030101010101" pitchFamily="2" charset="-122"/>
                <a:cs typeface="Times New Roman" panose="02020603050405020304" pitchFamily="18" charset="0"/>
                <a:sym typeface="+mn-ea"/>
              </a:rPr>
              <a:t>RVA</a:t>
            </a:r>
            <a:r>
              <a:rPr lang="zh-CN" altLang="en-US" dirty="0">
                <a:latin typeface="宋体" panose="02010600030101010101" pitchFamily="2" charset="-122"/>
                <a:cs typeface="Times New Roman" panose="02020603050405020304" pitchFamily="18" charset="0"/>
                <a:sym typeface="+mn-ea"/>
              </a:rPr>
              <a:t>)</a:t>
            </a:r>
            <a:endParaRPr lang="zh-CN" altLang="en-US" dirty="0">
              <a:latin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4861005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B6A5DA-DB94-4B63-A3DC-F99F5900DC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文件偏移地址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00F0636-20EC-4C58-B078-0A1FD0CF93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latin typeface="宋体" panose="02010600030101010101" pitchFamily="2" charset="-122"/>
                <a:cs typeface="Times New Roman" panose="02020603050405020304" pitchFamily="18" charset="0"/>
                <a:sym typeface="+mn-ea"/>
              </a:rPr>
              <a:t>PE文件储存在磁盘中，某个数据的位置相对于文件头的偏移量称为</a:t>
            </a:r>
            <a:r>
              <a:rPr lang="zh-CN" altLang="en-US" dirty="0">
                <a:solidFill>
                  <a:srgbClr val="FF0000"/>
                </a:solidFill>
                <a:latin typeface="宋体" panose="02010600030101010101" pitchFamily="2" charset="-122"/>
                <a:cs typeface="Times New Roman" panose="02020603050405020304" pitchFamily="18" charset="0"/>
                <a:sym typeface="+mn-ea"/>
              </a:rPr>
              <a:t>文件偏移地址</a:t>
            </a:r>
            <a:r>
              <a:rPr lang="zh-CN" altLang="en-US" dirty="0">
                <a:latin typeface="宋体" panose="02010600030101010101" pitchFamily="2" charset="-122"/>
                <a:cs typeface="Times New Roman" panose="02020603050405020304" pitchFamily="18" charset="0"/>
                <a:sym typeface="+mn-ea"/>
              </a:rPr>
              <a:t>(File Offset)或物理地址(RAW Offset)。</a:t>
            </a:r>
            <a:endParaRPr lang="zh-CN" altLang="en-US" dirty="0">
              <a:latin typeface="宋体" panose="02010600030101010101" pitchFamily="2" charset="-122"/>
              <a:cs typeface="Times New Roman" panose="02020603050405020304" pitchFamily="18" charset="0"/>
            </a:endParaRPr>
          </a:p>
          <a:p>
            <a:pPr lvl="1"/>
            <a:r>
              <a:rPr lang="zh-CN" altLang="en-US" dirty="0">
                <a:latin typeface="宋体" panose="02010600030101010101" pitchFamily="2" charset="-122"/>
                <a:cs typeface="Times New Roman" panose="02020603050405020304" pitchFamily="18" charset="0"/>
                <a:sym typeface="+mn-ea"/>
              </a:rPr>
              <a:t>文件偏移地址从PE文件的第1个字节开始计数，起始值为0。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8477646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8FC0F5-B389-41ED-A389-E65C7FCCD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PE</a:t>
            </a:r>
            <a:r>
              <a:rPr lang="zh-CN" altLang="en-US" dirty="0"/>
              <a:t>文件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2E7809A-16F6-462E-B9F0-7489972FE2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1059" y="1876219"/>
            <a:ext cx="7429882" cy="4000706"/>
          </a:xfrm>
          <a:prstGeom prst="rect">
            <a:avLst/>
          </a:prstGeom>
          <a:ln>
            <a:solidFill>
              <a:srgbClr val="7030A0"/>
            </a:solidFill>
          </a:ln>
        </p:spPr>
      </p:pic>
    </p:spTree>
    <p:extLst>
      <p:ext uri="{BB962C8B-B14F-4D97-AF65-F5344CB8AC3E}">
        <p14:creationId xmlns:p14="http://schemas.microsoft.com/office/powerpoint/2010/main" val="272290639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5C7A7062-5C6B-4604-9E43-86346E28888D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PE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文件结构为什么要使用相对虚拟地址？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01111487-5389-43AC-9FBE-2FE8232574B5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8DACF976-D88C-4956-949D-A4D13B3155CE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8" name="TitleBackground">
              <a:extLst>
                <a:ext uri="{FF2B5EF4-FFF2-40B4-BE49-F238E27FC236}">
                  <a16:creationId xmlns:a16="http://schemas.microsoft.com/office/drawing/2014/main" id="{4CB1163A-46AB-41EB-B983-0339D4DD5BF2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ColorBlock">
              <a:extLst>
                <a:ext uri="{FF2B5EF4-FFF2-40B4-BE49-F238E27FC236}">
                  <a16:creationId xmlns:a16="http://schemas.microsoft.com/office/drawing/2014/main" id="{C23EDFBE-6F75-470C-B7AE-67AF50DC3D04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TypeText">
              <a:extLst>
                <a:ext uri="{FF2B5EF4-FFF2-40B4-BE49-F238E27FC236}">
                  <a16:creationId xmlns:a16="http://schemas.microsoft.com/office/drawing/2014/main" id="{647ED58A-6CBD-41B8-B290-F374A1388F6B}"/>
                </a:ext>
              </a:extLst>
            </p:cNvPr>
            <p:cNvSpPr txBox="1"/>
            <p:nvPr>
              <p:custDataLst>
                <p:tags r:id="rId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主观题</a:t>
              </a:r>
            </a:p>
          </p:txBody>
        </p:sp>
        <p:sp>
          <p:nvSpPr>
            <p:cNvPr id="11" name="TipText">
              <a:extLst>
                <a:ext uri="{FF2B5EF4-FFF2-40B4-BE49-F238E27FC236}">
                  <a16:creationId xmlns:a16="http://schemas.microsoft.com/office/drawing/2014/main" id="{898A0974-B2C6-4F1F-B8C2-AE440F233381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81ADB939-A302-49DE-8F8F-A8350B476240}"/>
              </a:ext>
            </a:extLst>
          </p:cNvPr>
          <p:cNvPicPr>
            <a:picLocks/>
          </p:cNvPicPr>
          <p:nvPr>
            <p:custDataLst>
              <p:tags r:id="rId5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83136440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4C2B319E-5893-4195-944C-85933251C75D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PE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文件的偏移地址（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RAW Offset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）是否等于相对虚拟地址（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RVA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）？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79FAA3F-AAE3-4C2B-A6EC-E3974737BE5B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是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169275F-911B-433E-BA6A-1A81949CB33D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不是</a:t>
            </a: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C994CC7F-DE86-4651-B15C-FBEC1579C890}"/>
              </a:ext>
            </a:extLst>
          </p:cNvPr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43CEB3BF-279E-44FA-8DEA-9BEC7E58525E}"/>
              </a:ext>
            </a:extLst>
          </p:cNvPr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321FDBF0-6293-4439-A781-06E13E0751BB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5CACC19B-F947-4ABC-9F18-04AE5483E91A}"/>
              </a:ext>
            </a:extLst>
          </p:cNvPr>
          <p:cNvGrpSpPr/>
          <p:nvPr>
            <p:custDataLst>
              <p:tags r:id="rId8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4" name="TitleBackground">
              <a:extLst>
                <a:ext uri="{FF2B5EF4-FFF2-40B4-BE49-F238E27FC236}">
                  <a16:creationId xmlns:a16="http://schemas.microsoft.com/office/drawing/2014/main" id="{424005E9-C4B3-4F2F-91DC-19A08AF78A32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ColorBlock">
              <a:extLst>
                <a:ext uri="{FF2B5EF4-FFF2-40B4-BE49-F238E27FC236}">
                  <a16:creationId xmlns:a16="http://schemas.microsoft.com/office/drawing/2014/main" id="{A3ED3D0F-6BBA-4D8E-94FF-44CBFFA4D7B1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TypeText">
              <a:extLst>
                <a:ext uri="{FF2B5EF4-FFF2-40B4-BE49-F238E27FC236}">
                  <a16:creationId xmlns:a16="http://schemas.microsoft.com/office/drawing/2014/main" id="{4C84D6B4-DE14-4D39-B2D5-7F4CF7A8E0A6}"/>
                </a:ext>
              </a:extLst>
            </p:cNvPr>
            <p:cNvSpPr txBox="1"/>
            <p:nvPr>
              <p:custDataLst>
                <p:tags r:id="rId12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7" name="TipText">
              <a:extLst>
                <a:ext uri="{FF2B5EF4-FFF2-40B4-BE49-F238E27FC236}">
                  <a16:creationId xmlns:a16="http://schemas.microsoft.com/office/drawing/2014/main" id="{B765F8B1-E9CF-4CCD-8CD4-A349D874205E}"/>
                </a:ext>
              </a:extLst>
            </p:cNvPr>
            <p:cNvSpPr txBox="1"/>
            <p:nvPr>
              <p:custDataLst>
                <p:tags r:id="rId13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71744A02-366B-4A6C-B9B6-09520C2E0591}"/>
              </a:ext>
            </a:extLst>
          </p:cNvPr>
          <p:cNvPicPr>
            <a:picLocks/>
          </p:cNvPicPr>
          <p:nvPr>
            <p:custDataLst>
              <p:tags r:id="rId9"/>
            </p:custDataLst>
          </p:nvPr>
        </p:nvPicPr>
        <p:blipFill>
          <a:blip r:embed="rId15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94355562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17B581E2-8538-447F-BE24-D73518A99F4B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206500" y="18542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hello.exe</a:t>
            </a:r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在内存中的基地址（</a:t>
            </a:r>
            <a:r>
              <a:rPr lang="en-US" altLang="zh-CN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ImageBase</a:t>
            </a:r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）是</a:t>
            </a:r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00400000h</a:t>
            </a:r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，入口点的相对虚拟地址</a:t>
            </a:r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RVA</a:t>
            </a:r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（</a:t>
            </a:r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hello.exe</a:t>
            </a:r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执行的第一条</a:t>
            </a:r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CPU</a:t>
            </a:r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指令的相对虚拟地址）是</a:t>
            </a:r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00001000h</a:t>
            </a:r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，</a:t>
            </a:r>
            <a:r>
              <a:rPr lang="en-US" altLang="zh-CN" sz="2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hello.exe</a:t>
            </a:r>
            <a:r>
              <a:rPr lang="zh-CN" altLang="en-US" sz="2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的入口点虚拟地址</a:t>
            </a:r>
            <a:r>
              <a:rPr lang="en-US" altLang="zh-CN" sz="2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VA</a:t>
            </a:r>
            <a:r>
              <a:rPr lang="zh-CN" altLang="en-US" sz="2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是 ？</a:t>
            </a:r>
            <a:endParaRPr lang="en-US" altLang="zh-CN" sz="2600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31394706-5A2F-40B0-AB75-1B7BCC62B99F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EF1BF6F-7555-492A-8B2F-E1E649A3FAFA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0" y="5727383"/>
            <a:ext cx="12192000" cy="487680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rtlCol="0" anchor="ctr" anchorCtr="1">
            <a:noAutofit/>
          </a:bodyPr>
          <a:lstStyle/>
          <a:p>
            <a:r>
              <a:rPr lang="zh-CN" altLang="en-US" sz="16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正常使用主观题需</a:t>
            </a:r>
            <a:r>
              <a:rPr lang="en-US" altLang="zh-CN" sz="16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2.0</a:t>
            </a:r>
            <a:r>
              <a:rPr lang="zh-CN" altLang="en-US" sz="16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以上版本雨课堂</a:t>
            </a: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089A2AA3-FB48-42B6-94B4-2317F9F48127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6" name="TitleBackground">
              <a:extLst>
                <a:ext uri="{FF2B5EF4-FFF2-40B4-BE49-F238E27FC236}">
                  <a16:creationId xmlns:a16="http://schemas.microsoft.com/office/drawing/2014/main" id="{793A3A65-2DC1-4C82-AA26-B88D27DCF89E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ColorBlock">
              <a:extLst>
                <a:ext uri="{FF2B5EF4-FFF2-40B4-BE49-F238E27FC236}">
                  <a16:creationId xmlns:a16="http://schemas.microsoft.com/office/drawing/2014/main" id="{EFF59FA3-C7C6-4537-B398-86856E3EC33E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TypeText">
              <a:extLst>
                <a:ext uri="{FF2B5EF4-FFF2-40B4-BE49-F238E27FC236}">
                  <a16:creationId xmlns:a16="http://schemas.microsoft.com/office/drawing/2014/main" id="{4AB7F2BC-3F05-45C8-8D3B-974A13E9E496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主观题</a:t>
              </a:r>
            </a:p>
          </p:txBody>
        </p:sp>
        <p:sp>
          <p:nvSpPr>
            <p:cNvPr id="9" name="TipText">
              <a:extLst>
                <a:ext uri="{FF2B5EF4-FFF2-40B4-BE49-F238E27FC236}">
                  <a16:creationId xmlns:a16="http://schemas.microsoft.com/office/drawing/2014/main" id="{54E3CC0C-69D5-467E-83A9-C224E51FD6CF}"/>
                </a:ext>
              </a:extLst>
            </p:cNvPr>
            <p:cNvSpPr txBox="1"/>
            <p:nvPr>
              <p:custDataLst>
                <p:tags r:id="rId10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227DDD07-D438-43C1-8150-8650123BBB73}"/>
              </a:ext>
            </a:extLst>
          </p:cNvPr>
          <p:cNvPicPr>
            <a:picLocks/>
          </p:cNvPicPr>
          <p:nvPr>
            <p:custDataLst>
              <p:tags r:id="rId6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67769410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44727" y="2337582"/>
            <a:ext cx="6400800" cy="1143000"/>
          </a:xfrm>
        </p:spPr>
        <p:txBody>
          <a:bodyPr/>
          <a:lstStyle/>
          <a:p>
            <a:pPr algn="ctr"/>
            <a:r>
              <a:rPr lang="en-US" altLang="zh-CN" dirty="0"/>
              <a:t>DOS</a:t>
            </a:r>
            <a:r>
              <a:rPr lang="zh-CN" altLang="en-US" dirty="0"/>
              <a:t>文件头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2436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C83D2A01-77EA-4D82-94A8-0C62136058ED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为什么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Windows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系统要用一个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16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位的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DOS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程序作为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32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位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PE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文件的头部？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31037C51-7D51-4231-A781-C21B2607EFFF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55CF47A3-2FA4-42ED-B7BD-068E750795EB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7" name="TitleBackground">
              <a:extLst>
                <a:ext uri="{FF2B5EF4-FFF2-40B4-BE49-F238E27FC236}">
                  <a16:creationId xmlns:a16="http://schemas.microsoft.com/office/drawing/2014/main" id="{242A4844-082C-4E7E-B123-F3C9CDCF682D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ColorBlock">
              <a:extLst>
                <a:ext uri="{FF2B5EF4-FFF2-40B4-BE49-F238E27FC236}">
                  <a16:creationId xmlns:a16="http://schemas.microsoft.com/office/drawing/2014/main" id="{812E2783-710B-4A5F-B46E-0811E700AED4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TypeText">
              <a:extLst>
                <a:ext uri="{FF2B5EF4-FFF2-40B4-BE49-F238E27FC236}">
                  <a16:creationId xmlns:a16="http://schemas.microsoft.com/office/drawing/2014/main" id="{FCD34CE1-2B44-4398-91D0-EBE0FE8AC027}"/>
                </a:ext>
              </a:extLst>
            </p:cNvPr>
            <p:cNvSpPr txBox="1"/>
            <p:nvPr>
              <p:custDataLst>
                <p:tags r:id="rId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主观题</a:t>
              </a:r>
            </a:p>
          </p:txBody>
        </p:sp>
        <p:sp>
          <p:nvSpPr>
            <p:cNvPr id="10" name="TipText">
              <a:extLst>
                <a:ext uri="{FF2B5EF4-FFF2-40B4-BE49-F238E27FC236}">
                  <a16:creationId xmlns:a16="http://schemas.microsoft.com/office/drawing/2014/main" id="{F21C785C-F882-4125-BC3A-ACB30E139370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4" name="图片 3">
            <a:extLst>
              <a:ext uri="{FF2B5EF4-FFF2-40B4-BE49-F238E27FC236}">
                <a16:creationId xmlns:a16="http://schemas.microsoft.com/office/drawing/2014/main" id="{A57DFDBB-07F1-4955-837D-A03A40CDB009}"/>
              </a:ext>
            </a:extLst>
          </p:cNvPr>
          <p:cNvPicPr>
            <a:picLocks/>
          </p:cNvPicPr>
          <p:nvPr>
            <p:custDataLst>
              <p:tags r:id="rId5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16758268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E26404-7A1B-4801-82EF-70EC6914D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DOS</a:t>
            </a:r>
            <a:r>
              <a:rPr lang="zh-CN" altLang="en-US" dirty="0"/>
              <a:t>文件头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E0EA5E7-51DD-475A-9911-E3A6553DDB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latin typeface="宋体" panose="02010600030101010101" pitchFamily="2" charset="-122"/>
                <a:cs typeface="Times New Roman" panose="02020603050405020304" pitchFamily="18" charset="0"/>
                <a:sym typeface="+mn-ea"/>
              </a:rPr>
              <a:t>每个PE文件都是以一个</a:t>
            </a:r>
            <a:r>
              <a:rPr lang="en-US" altLang="zh-CN" dirty="0">
                <a:latin typeface="宋体" panose="02010600030101010101" pitchFamily="2" charset="-122"/>
                <a:cs typeface="Times New Roman" panose="02020603050405020304" pitchFamily="18" charset="0"/>
                <a:sym typeface="+mn-ea"/>
              </a:rPr>
              <a:t>16</a:t>
            </a:r>
            <a:r>
              <a:rPr lang="zh-CN" altLang="en-US" dirty="0">
                <a:latin typeface="宋体" panose="02010600030101010101" pitchFamily="2" charset="-122"/>
                <a:cs typeface="Times New Roman" panose="02020603050405020304" pitchFamily="18" charset="0"/>
                <a:sym typeface="+mn-ea"/>
              </a:rPr>
              <a:t>位的DOS程序开始的</a:t>
            </a:r>
            <a:endParaRPr lang="en-US" altLang="zh-CN" dirty="0">
              <a:latin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r>
              <a:rPr lang="zh-CN" altLang="en-US" dirty="0">
                <a:solidFill>
                  <a:srgbClr val="FF0000"/>
                </a:solidFill>
                <a:latin typeface="宋体" panose="02010600030101010101" pitchFamily="2" charset="-122"/>
                <a:cs typeface="Times New Roman" panose="02020603050405020304" pitchFamily="18" charset="0"/>
                <a:sym typeface="+mn-ea"/>
              </a:rPr>
              <a:t>DOS MZ</a:t>
            </a:r>
            <a:r>
              <a:rPr lang="zh-CN" altLang="en-US" dirty="0">
                <a:latin typeface="宋体" panose="02010600030101010101" pitchFamily="2" charset="-122"/>
                <a:cs typeface="Times New Roman" panose="02020603050405020304" pitchFamily="18" charset="0"/>
                <a:sym typeface="+mn-ea"/>
              </a:rPr>
              <a:t>头与</a:t>
            </a:r>
            <a:r>
              <a:rPr lang="zh-CN" altLang="en-US" dirty="0">
                <a:solidFill>
                  <a:srgbClr val="FF0000"/>
                </a:solidFill>
                <a:latin typeface="宋体" panose="02010600030101010101" pitchFamily="2" charset="-122"/>
                <a:cs typeface="Times New Roman" panose="02020603050405020304" pitchFamily="18" charset="0"/>
                <a:sym typeface="+mn-ea"/>
              </a:rPr>
              <a:t>DOS stub</a:t>
            </a:r>
            <a:r>
              <a:rPr lang="zh-CN" altLang="en-US" dirty="0">
                <a:latin typeface="宋体" panose="02010600030101010101" pitchFamily="2" charset="-122"/>
                <a:cs typeface="Times New Roman" panose="02020603050405020304" pitchFamily="18" charset="0"/>
                <a:sym typeface="+mn-ea"/>
              </a:rPr>
              <a:t>合称为DOS文件头</a:t>
            </a:r>
          </a:p>
          <a:p>
            <a:endParaRPr lang="zh-CN" altLang="en-US" dirty="0">
              <a:latin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0734168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3EE33E-17FB-4F31-AB35-141B7FC462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ea typeface="思源黑体 CN Medium" panose="020B0600000000000000" pitchFamily="34" charset="-122"/>
                <a:cs typeface="Times New Roman" panose="02020603050405020304" pitchFamily="18" charset="0"/>
                <a:sym typeface="+mn-ea"/>
              </a:rPr>
              <a:t>IMAGE_ DOS _HEADER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04C4849-C98B-4C54-9C7A-243B0FE15F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6" y="1962560"/>
            <a:ext cx="5333988" cy="4196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81813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F557DF-F841-4743-A427-FB97DB0C9D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DOS</a:t>
            </a:r>
            <a:r>
              <a:rPr lang="zh-CN" altLang="en-US" dirty="0"/>
              <a:t>文件头</a:t>
            </a:r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3C87D1BE-A31D-4B21-A824-FF1479DE47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15797" y="2322201"/>
            <a:ext cx="7353678" cy="2559182"/>
          </a:xfrm>
          <a:prstGeom prst="rect">
            <a:avLst/>
          </a:prstGeom>
        </p:spPr>
      </p:pic>
      <p:sp>
        <p:nvSpPr>
          <p:cNvPr id="3" name="椭圆 2">
            <a:extLst>
              <a:ext uri="{FF2B5EF4-FFF2-40B4-BE49-F238E27FC236}">
                <a16:creationId xmlns:a16="http://schemas.microsoft.com/office/drawing/2014/main" id="{32B66CEB-DE69-4BE5-AAC2-2A8EFE586A82}"/>
              </a:ext>
            </a:extLst>
          </p:cNvPr>
          <p:cNvSpPr/>
          <p:nvPr/>
        </p:nvSpPr>
        <p:spPr>
          <a:xfrm>
            <a:off x="2202024" y="4397829"/>
            <a:ext cx="1194319" cy="37322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2938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D56966A6-BEA2-47AE-AAC4-8C63CFC01889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所有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PE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文件的前两个字节是确定的吗？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09C3C9C-E412-4872-96A4-86A935990517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是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49473DA-4F95-46CD-A423-731A94FCADB6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不是</a:t>
            </a: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CAC4FD11-126C-4FE8-92CE-CD8A3E39B226}"/>
              </a:ext>
            </a:extLst>
          </p:cNvPr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94316EBC-B128-4039-B5CA-5681F07989E1}"/>
              </a:ext>
            </a:extLst>
          </p:cNvPr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E7570A33-5830-48D3-848C-73B70695E02F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55CE1B62-D899-45B0-87ED-DE9AABE1FB7F}"/>
              </a:ext>
            </a:extLst>
          </p:cNvPr>
          <p:cNvGrpSpPr/>
          <p:nvPr>
            <p:custDataLst>
              <p:tags r:id="rId8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6" name="TitleBackground">
              <a:extLst>
                <a:ext uri="{FF2B5EF4-FFF2-40B4-BE49-F238E27FC236}">
                  <a16:creationId xmlns:a16="http://schemas.microsoft.com/office/drawing/2014/main" id="{BD1AFCFE-1B03-4D90-A592-4479E8ECB309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ColorBlock">
              <a:extLst>
                <a:ext uri="{FF2B5EF4-FFF2-40B4-BE49-F238E27FC236}">
                  <a16:creationId xmlns:a16="http://schemas.microsoft.com/office/drawing/2014/main" id="{905D45B0-E3DE-4AF5-B04B-7C5EA3F9A813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TypeText">
              <a:extLst>
                <a:ext uri="{FF2B5EF4-FFF2-40B4-BE49-F238E27FC236}">
                  <a16:creationId xmlns:a16="http://schemas.microsoft.com/office/drawing/2014/main" id="{9D9357B2-2DD3-43F1-9B66-16AFA42B986A}"/>
                </a:ext>
              </a:extLst>
            </p:cNvPr>
            <p:cNvSpPr txBox="1"/>
            <p:nvPr>
              <p:custDataLst>
                <p:tags r:id="rId12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9" name="TipText">
              <a:extLst>
                <a:ext uri="{FF2B5EF4-FFF2-40B4-BE49-F238E27FC236}">
                  <a16:creationId xmlns:a16="http://schemas.microsoft.com/office/drawing/2014/main" id="{D944E9B2-7A37-49DC-8D81-E54CE413A15B}"/>
                </a:ext>
              </a:extLst>
            </p:cNvPr>
            <p:cNvSpPr txBox="1"/>
            <p:nvPr>
              <p:custDataLst>
                <p:tags r:id="rId13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72634C34-D77E-4EBC-9294-BC3F167CEEB3}"/>
              </a:ext>
            </a:extLst>
          </p:cNvPr>
          <p:cNvPicPr>
            <a:picLocks/>
          </p:cNvPicPr>
          <p:nvPr>
            <p:custDataLst>
              <p:tags r:id="rId9"/>
            </p:custDataLst>
          </p:nvPr>
        </p:nvPicPr>
        <p:blipFill>
          <a:blip r:embed="rId15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33935083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EF50DC8D-927F-4426-81E2-BD0C071CB0E1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PE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文件开始的两个字节是</a:t>
            </a:r>
            <a:r>
              <a:rPr lang="zh-CN" altLang="en-US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en-US" altLang="zh-CN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1]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01BFCC12-9FE7-4B1B-A200-703072733E88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EC764041-4910-4B49-8A45-4E716994F72D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8" name="TitleBackground">
              <a:extLst>
                <a:ext uri="{FF2B5EF4-FFF2-40B4-BE49-F238E27FC236}">
                  <a16:creationId xmlns:a16="http://schemas.microsoft.com/office/drawing/2014/main" id="{6A4D8E15-1FF7-4167-BD3B-D31DAA8B13E4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ColorBlock">
              <a:extLst>
                <a:ext uri="{FF2B5EF4-FFF2-40B4-BE49-F238E27FC236}">
                  <a16:creationId xmlns:a16="http://schemas.microsoft.com/office/drawing/2014/main" id="{454491CB-D7E9-4ECE-A823-BDADD4955EC2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TypeText">
              <a:extLst>
                <a:ext uri="{FF2B5EF4-FFF2-40B4-BE49-F238E27FC236}">
                  <a16:creationId xmlns:a16="http://schemas.microsoft.com/office/drawing/2014/main" id="{6E50FCD9-09D0-4D74-8936-8E0E782CAC57}"/>
                </a:ext>
              </a:extLst>
            </p:cNvPr>
            <p:cNvSpPr txBox="1"/>
            <p:nvPr>
              <p:custDataLst>
                <p:tags r:id="rId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填空题</a:t>
              </a:r>
            </a:p>
          </p:txBody>
        </p:sp>
        <p:sp>
          <p:nvSpPr>
            <p:cNvPr id="11" name="TipText">
              <a:extLst>
                <a:ext uri="{FF2B5EF4-FFF2-40B4-BE49-F238E27FC236}">
                  <a16:creationId xmlns:a16="http://schemas.microsoft.com/office/drawing/2014/main" id="{5E4B355A-D96A-4939-8982-6F8E32763CA9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F188CC2A-214A-46BC-BC57-D2A763BFB506}"/>
              </a:ext>
            </a:extLst>
          </p:cNvPr>
          <p:cNvPicPr>
            <a:picLocks/>
          </p:cNvPicPr>
          <p:nvPr>
            <p:custDataLst>
              <p:tags r:id="rId5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7017222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07C5D6F9-D2EF-4705-BD5B-1BE7D29ADA4F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如何通过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DOS Stub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结构找到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PE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头在文件中的位置？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FBCF5941-F74A-46CA-B203-513082D20A66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4D3724C0-01E9-4A6D-9950-57D429585FB0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6" name="TitleBackground">
              <a:extLst>
                <a:ext uri="{FF2B5EF4-FFF2-40B4-BE49-F238E27FC236}">
                  <a16:creationId xmlns:a16="http://schemas.microsoft.com/office/drawing/2014/main" id="{F13A1D53-D5F0-4598-919D-6C0F18C2343A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ColorBlock">
              <a:extLst>
                <a:ext uri="{FF2B5EF4-FFF2-40B4-BE49-F238E27FC236}">
                  <a16:creationId xmlns:a16="http://schemas.microsoft.com/office/drawing/2014/main" id="{CB13DC9F-B5EA-4265-8702-C866AE230EEC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TypeText">
              <a:extLst>
                <a:ext uri="{FF2B5EF4-FFF2-40B4-BE49-F238E27FC236}">
                  <a16:creationId xmlns:a16="http://schemas.microsoft.com/office/drawing/2014/main" id="{A0644516-1CA9-47C2-A823-FC8B8084068A}"/>
                </a:ext>
              </a:extLst>
            </p:cNvPr>
            <p:cNvSpPr txBox="1"/>
            <p:nvPr>
              <p:custDataLst>
                <p:tags r:id="rId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主观题</a:t>
              </a:r>
            </a:p>
          </p:txBody>
        </p:sp>
        <p:sp>
          <p:nvSpPr>
            <p:cNvPr id="9" name="TipText">
              <a:extLst>
                <a:ext uri="{FF2B5EF4-FFF2-40B4-BE49-F238E27FC236}">
                  <a16:creationId xmlns:a16="http://schemas.microsoft.com/office/drawing/2014/main" id="{A9C5A435-6AE2-448A-AB03-ACACCE673734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2B558FC3-B472-4961-9FC8-0460CEA807F7}"/>
              </a:ext>
            </a:extLst>
          </p:cNvPr>
          <p:cNvPicPr>
            <a:picLocks/>
          </p:cNvPicPr>
          <p:nvPr>
            <p:custDataLst>
              <p:tags r:id="rId5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96185151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44727" y="2337582"/>
            <a:ext cx="6400800" cy="1143000"/>
          </a:xfrm>
        </p:spPr>
        <p:txBody>
          <a:bodyPr/>
          <a:lstStyle/>
          <a:p>
            <a:pPr algn="ctr"/>
            <a:r>
              <a:rPr lang="en-US" altLang="zh-CN" dirty="0"/>
              <a:t>PE</a:t>
            </a:r>
            <a:r>
              <a:rPr lang="zh-CN" altLang="en-US" dirty="0"/>
              <a:t>文件头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78581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029E91-3E3E-4D8F-97C9-437C98857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PE</a:t>
            </a:r>
            <a:r>
              <a:rPr lang="zh-CN" altLang="en-US" dirty="0"/>
              <a:t>文件头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CA097F4-A939-4AD0-8526-8D90DF0166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285" y="1989139"/>
            <a:ext cx="10173902" cy="4092575"/>
          </a:xfrm>
        </p:spPr>
        <p:txBody>
          <a:bodyPr/>
          <a:lstStyle/>
          <a:p>
            <a:r>
              <a:rPr lang="en-US" altLang="zh-CN" dirty="0">
                <a:latin typeface="宋体" panose="02010600030101010101" pitchFamily="2" charset="-122"/>
                <a:cs typeface="Times New Roman" panose="02020603050405020304" pitchFamily="18" charset="0"/>
              </a:rPr>
              <a:t>PE</a:t>
            </a:r>
            <a:r>
              <a:rPr lang="zh-CN" altLang="en-US" dirty="0">
                <a:latin typeface="宋体" panose="02010600030101010101" pitchFamily="2" charset="-122"/>
              </a:rPr>
              <a:t>文件头</a:t>
            </a:r>
            <a:r>
              <a:rPr lang="en-US" altLang="zh-CN" dirty="0">
                <a:latin typeface="宋体" panose="02010600030101010101" pitchFamily="2" charset="-122"/>
              </a:rPr>
              <a:t>(</a:t>
            </a:r>
            <a:r>
              <a:rPr lang="en-US" altLang="zh-CN" dirty="0">
                <a:solidFill>
                  <a:srgbClr val="FF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PE Header</a:t>
            </a:r>
            <a:r>
              <a:rPr lang="en-US" altLang="zh-CN" dirty="0">
                <a:latin typeface="宋体" panose="02010600030101010101" pitchFamily="2" charset="-122"/>
              </a:rPr>
              <a:t>)</a:t>
            </a:r>
            <a:r>
              <a:rPr lang="zh-CN" altLang="en-US" dirty="0">
                <a:latin typeface="宋体" panose="02010600030101010101" pitchFamily="2" charset="-122"/>
              </a:rPr>
              <a:t>紧跟在</a:t>
            </a:r>
            <a:r>
              <a:rPr lang="en-US" altLang="zh-CN" dirty="0">
                <a:latin typeface="宋体" panose="02010600030101010101" pitchFamily="2" charset="-122"/>
              </a:rPr>
              <a:t>DOS stub</a:t>
            </a:r>
            <a:r>
              <a:rPr lang="zh-CN" altLang="en-US" dirty="0">
                <a:latin typeface="宋体" panose="02010600030101010101" pitchFamily="2" charset="-122"/>
              </a:rPr>
              <a:t>的后面</a:t>
            </a:r>
            <a:endParaRPr lang="en-US" altLang="zh-CN" dirty="0">
              <a:latin typeface="宋体" panose="02010600030101010101" pitchFamily="2" charset="-122"/>
            </a:endParaRPr>
          </a:p>
          <a:p>
            <a:r>
              <a:rPr lang="en-US" altLang="zh-CN" dirty="0">
                <a:latin typeface="宋体" panose="02010600030101010101" pitchFamily="2" charset="-122"/>
              </a:rPr>
              <a:t>IMAGE_DOS_HEADER</a:t>
            </a:r>
            <a:r>
              <a:rPr lang="zh-CN" altLang="en-US" dirty="0">
                <a:latin typeface="宋体" panose="02010600030101010101" pitchFamily="2" charset="-122"/>
              </a:rPr>
              <a:t>结构的</a:t>
            </a:r>
            <a:r>
              <a:rPr lang="en-US" altLang="zh-CN" dirty="0" err="1">
                <a:solidFill>
                  <a:srgbClr val="FF0000"/>
                </a:solidFill>
                <a:latin typeface="宋体" panose="02010600030101010101" pitchFamily="2" charset="-122"/>
              </a:rPr>
              <a:t>e_lfanew</a:t>
            </a:r>
            <a:r>
              <a:rPr lang="zh-CN" altLang="en-US" dirty="0">
                <a:latin typeface="宋体" panose="02010600030101010101" pitchFamily="2" charset="-122"/>
              </a:rPr>
              <a:t>字段定位</a:t>
            </a:r>
            <a:r>
              <a:rPr lang="en-US" altLang="zh-CN" dirty="0">
                <a:latin typeface="宋体" panose="02010600030101010101" pitchFamily="2" charset="-122"/>
              </a:rPr>
              <a:t>PE Header</a:t>
            </a:r>
            <a:r>
              <a:rPr lang="zh-CN" altLang="en-US" dirty="0">
                <a:latin typeface="宋体" panose="02010600030101010101" pitchFamily="2" charset="-122"/>
              </a:rPr>
              <a:t>的起始偏移量，加上基址，得到</a:t>
            </a:r>
            <a:r>
              <a:rPr lang="en-US" altLang="zh-CN" dirty="0">
                <a:latin typeface="宋体" panose="02010600030101010101" pitchFamily="2" charset="-122"/>
              </a:rPr>
              <a:t>PE</a:t>
            </a:r>
            <a:r>
              <a:rPr lang="zh-CN" altLang="en-US" dirty="0">
                <a:latin typeface="宋体" panose="02010600030101010101" pitchFamily="2" charset="-122"/>
              </a:rPr>
              <a:t>文件头的指针</a:t>
            </a:r>
            <a:endParaRPr lang="en-US" altLang="zh-CN" dirty="0">
              <a:latin typeface="宋体" panose="02010600030101010101" pitchFamily="2" charset="-122"/>
            </a:endParaRPr>
          </a:p>
          <a:p>
            <a:pPr lvl="1"/>
            <a:r>
              <a:rPr lang="en-US" altLang="zh-CN" dirty="0" err="1">
                <a:latin typeface="宋体" panose="02010600030101010101" pitchFamily="2" charset="-122"/>
              </a:rPr>
              <a:t>PNTHeader</a:t>
            </a:r>
            <a:r>
              <a:rPr lang="en-US" altLang="zh-CN" dirty="0">
                <a:latin typeface="宋体" panose="02010600030101010101" pitchFamily="2" charset="-122"/>
              </a:rPr>
              <a:t> = </a:t>
            </a:r>
            <a:r>
              <a:rPr lang="en-US" altLang="zh-CN" dirty="0" err="1">
                <a:latin typeface="宋体" panose="02010600030101010101" pitchFamily="2" charset="-122"/>
              </a:rPr>
              <a:t>ImageBase+DosHeader</a:t>
            </a:r>
            <a:r>
              <a:rPr lang="en-US" altLang="zh-CN" dirty="0">
                <a:latin typeface="宋体" panose="02010600030101010101" pitchFamily="2" charset="-122"/>
              </a:rPr>
              <a:t>-&gt;</a:t>
            </a:r>
            <a:r>
              <a:rPr lang="en-US" altLang="zh-CN" dirty="0" err="1">
                <a:latin typeface="宋体" panose="02010600030101010101" pitchFamily="2" charset="-122"/>
              </a:rPr>
              <a:t>e_lfanew</a:t>
            </a:r>
            <a:endParaRPr lang="en-US" altLang="zh-CN" dirty="0">
              <a:latin typeface="宋体" panose="02010600030101010101" pitchFamily="2" charset="-122"/>
            </a:endParaRPr>
          </a:p>
          <a:p>
            <a:endParaRPr lang="zh-CN" altLang="en-US" dirty="0">
              <a:latin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7237736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81BFB5-BFC0-4362-9BB1-25A285DCB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PE</a:t>
            </a:r>
            <a:r>
              <a:rPr lang="zh-CN" altLang="en-US" dirty="0"/>
              <a:t>文件头</a:t>
            </a:r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177E1324-C42D-466F-A10C-617EB00F11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41388" y="2660581"/>
            <a:ext cx="7328277" cy="2749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823435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D60BB7-F509-4253-9534-1F84019D36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宋体" panose="02010600030101010101" pitchFamily="2" charset="-122"/>
              </a:rPr>
              <a:t>PE</a:t>
            </a:r>
            <a:r>
              <a:rPr lang="zh-CN" altLang="en-US" dirty="0">
                <a:latin typeface="宋体" panose="02010600030101010101" pitchFamily="2" charset="-122"/>
              </a:rPr>
              <a:t>文件头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55508C7-D945-4714-A022-FBC2F691B9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30931"/>
            <a:ext cx="10515600" cy="4146032"/>
          </a:xfrm>
        </p:spPr>
        <p:txBody>
          <a:bodyPr/>
          <a:lstStyle/>
          <a:p>
            <a:r>
              <a:rPr lang="en-US" altLang="zh-CN" dirty="0"/>
              <a:t>Signature</a:t>
            </a:r>
          </a:p>
          <a:p>
            <a:r>
              <a:rPr lang="en-US" altLang="zh-CN" dirty="0" err="1"/>
              <a:t>FileHeader</a:t>
            </a:r>
            <a:endParaRPr lang="en-US" altLang="zh-CN" dirty="0"/>
          </a:p>
          <a:p>
            <a:r>
              <a:rPr lang="en-US" altLang="zh-CN" dirty="0" err="1"/>
              <a:t>OptionalHeader</a:t>
            </a:r>
            <a:endParaRPr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C1A9941-33E4-498E-BC7A-968A875E3B25}"/>
              </a:ext>
            </a:extLst>
          </p:cNvPr>
          <p:cNvSpPr/>
          <p:nvPr/>
        </p:nvSpPr>
        <p:spPr>
          <a:xfrm>
            <a:off x="487680" y="5992297"/>
            <a:ext cx="9676598" cy="369332"/>
          </a:xfrm>
          <a:prstGeom prst="rect">
            <a:avLst/>
          </a:prstGeom>
          <a:ln>
            <a:solidFill>
              <a:srgbClr val="7030A0"/>
            </a:solidFill>
          </a:ln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https://docs.microsoft.com/en-us/windows/win32/api/winnt/ns-winnt-image_nt_headers32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E31F67B-C8DC-49E8-92DB-913EE842DC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8329" y="1898890"/>
            <a:ext cx="6161917" cy="3885206"/>
          </a:xfrm>
          <a:prstGeom prst="rect">
            <a:avLst/>
          </a:prstGeom>
          <a:ln>
            <a:solidFill>
              <a:srgbClr val="7030A0"/>
            </a:solidFill>
          </a:ln>
        </p:spPr>
      </p:pic>
    </p:spTree>
    <p:extLst>
      <p:ext uri="{BB962C8B-B14F-4D97-AF65-F5344CB8AC3E}">
        <p14:creationId xmlns:p14="http://schemas.microsoft.com/office/powerpoint/2010/main" val="18483817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32FCA6-3986-4A70-8E31-91181C8750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Signature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91D8AD4-775E-4F61-B54D-7D2A6644A6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latin typeface="宋体" panose="02010600030101010101" pitchFamily="2" charset="-122"/>
                <a:cs typeface="Times New Roman" panose="02020603050405020304" pitchFamily="18" charset="0"/>
              </a:rPr>
              <a:t>在一个有效的</a:t>
            </a:r>
            <a:r>
              <a:rPr lang="en-US" altLang="zh-CN" dirty="0">
                <a:latin typeface="宋体" panose="02010600030101010101" pitchFamily="2" charset="-122"/>
                <a:cs typeface="Times New Roman" panose="02020603050405020304" pitchFamily="18" charset="0"/>
              </a:rPr>
              <a:t>PE</a:t>
            </a:r>
            <a:r>
              <a:rPr lang="zh-CN" altLang="en-US" dirty="0">
                <a:latin typeface="宋体" panose="02010600030101010101" pitchFamily="2" charset="-122"/>
                <a:cs typeface="Times New Roman" panose="02020603050405020304" pitchFamily="18" charset="0"/>
              </a:rPr>
              <a:t>文件，</a:t>
            </a:r>
            <a:r>
              <a:rPr lang="en-US" altLang="zh-CN" dirty="0">
                <a:latin typeface="宋体" panose="02010600030101010101" pitchFamily="2" charset="-122"/>
                <a:cs typeface="Times New Roman" panose="02020603050405020304" pitchFamily="18" charset="0"/>
              </a:rPr>
              <a:t>Signature</a:t>
            </a:r>
            <a:r>
              <a:rPr lang="zh-CN" altLang="en-US" dirty="0">
                <a:latin typeface="宋体" panose="02010600030101010101" pitchFamily="2" charset="-122"/>
                <a:cs typeface="Times New Roman" panose="02020603050405020304" pitchFamily="18" charset="0"/>
              </a:rPr>
              <a:t>字段的值是</a:t>
            </a:r>
            <a:r>
              <a:rPr lang="en-US" altLang="zh-CN" dirty="0">
                <a:latin typeface="宋体" panose="02010600030101010101" pitchFamily="2" charset="-122"/>
                <a:cs typeface="Times New Roman" panose="02020603050405020304" pitchFamily="18" charset="0"/>
              </a:rPr>
              <a:t>00004550h</a:t>
            </a:r>
          </a:p>
          <a:p>
            <a:pPr lvl="1"/>
            <a:r>
              <a:rPr lang="en-US" altLang="zh-CN" dirty="0">
                <a:latin typeface="宋体" panose="02010600030101010101" pitchFamily="2" charset="-122"/>
                <a:cs typeface="Times New Roman" panose="02020603050405020304" pitchFamily="18" charset="0"/>
              </a:rPr>
              <a:t>ASCII</a:t>
            </a:r>
            <a:r>
              <a:rPr lang="zh-CN" altLang="en-US" dirty="0">
                <a:latin typeface="宋体" panose="02010600030101010101" pitchFamily="2" charset="-122"/>
                <a:cs typeface="Times New Roman" panose="02020603050405020304" pitchFamily="18" charset="0"/>
              </a:rPr>
              <a:t>字符是“</a:t>
            </a:r>
            <a:r>
              <a:rPr lang="en-US" altLang="zh-CN" dirty="0">
                <a:latin typeface="宋体" panose="02010600030101010101" pitchFamily="2" charset="-122"/>
              </a:rPr>
              <a:t>PE\0\0”</a:t>
            </a:r>
            <a:endParaRPr lang="en-US" altLang="zh-CN" dirty="0">
              <a:latin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1BD68CB-285B-456F-B973-642329F7D7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5311" y="3705727"/>
            <a:ext cx="8621378" cy="775392"/>
          </a:xfrm>
          <a:prstGeom prst="rect">
            <a:avLst/>
          </a:prstGeom>
          <a:ln>
            <a:solidFill>
              <a:srgbClr val="7030A0"/>
            </a:solidFill>
          </a:ln>
        </p:spPr>
      </p:pic>
    </p:spTree>
    <p:extLst>
      <p:ext uri="{BB962C8B-B14F-4D97-AF65-F5344CB8AC3E}">
        <p14:creationId xmlns:p14="http://schemas.microsoft.com/office/powerpoint/2010/main" val="17977794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D25ED2-B5DB-4050-9884-907129EE5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FileHeader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7A16E56-E4DF-4C2C-AD1B-FAC5CF81B3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kern="0" dirty="0">
                <a:latin typeface="宋体" panose="02010600030101010101" pitchFamily="2" charset="-122"/>
                <a:cs typeface="Times New Roman" panose="02020603050405020304" pitchFamily="18" charset="0"/>
              </a:rPr>
              <a:t>IMAGE_FILE_HEADER</a:t>
            </a:r>
            <a:r>
              <a:rPr lang="zh-CN" altLang="en-US" kern="0" dirty="0">
                <a:latin typeface="宋体" panose="02010600030101010101" pitchFamily="2" charset="-122"/>
                <a:cs typeface="华文黑体" pitchFamily="2" charset="-122"/>
              </a:rPr>
              <a:t>结构中记录了</a:t>
            </a:r>
            <a:r>
              <a:rPr lang="en-US" altLang="zh-CN" kern="0" dirty="0">
                <a:latin typeface="宋体" panose="02010600030101010101" pitchFamily="2" charset="-122"/>
                <a:cs typeface="华文黑体" pitchFamily="2" charset="-122"/>
              </a:rPr>
              <a:t>PE</a:t>
            </a:r>
            <a:r>
              <a:rPr lang="zh-CN" altLang="en-US" kern="0" dirty="0">
                <a:latin typeface="宋体" panose="02010600030101010101" pitchFamily="2" charset="-122"/>
                <a:cs typeface="华文黑体" pitchFamily="2" charset="-122"/>
              </a:rPr>
              <a:t>文件的一些基本信息，并指出了</a:t>
            </a:r>
            <a:r>
              <a:rPr lang="en-US" altLang="zh-CN" kern="0" dirty="0">
                <a:latin typeface="宋体" panose="02010600030101010101" pitchFamily="2" charset="-122"/>
                <a:cs typeface="Times New Roman" panose="02020603050405020304" pitchFamily="18" charset="0"/>
              </a:rPr>
              <a:t>IMAGE_OPTIONAL_HEADER</a:t>
            </a:r>
            <a:r>
              <a:rPr lang="zh-CN" altLang="en-US" kern="0" dirty="0">
                <a:latin typeface="宋体" panose="02010600030101010101" pitchFamily="2" charset="-122"/>
                <a:cs typeface="华文黑体" pitchFamily="2" charset="-122"/>
              </a:rPr>
              <a:t>的大小</a:t>
            </a:r>
          </a:p>
          <a:p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8FE6508-B975-4D07-AC47-B36AE418AE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2319" y="3479541"/>
            <a:ext cx="8136904" cy="2488641"/>
          </a:xfrm>
          <a:prstGeom prst="rect">
            <a:avLst/>
          </a:prstGeom>
          <a:ln>
            <a:solidFill>
              <a:srgbClr val="7030A0"/>
            </a:solidFill>
          </a:ln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14125FB5-FD71-412D-BCDD-D7D6223EDA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395" y="3479541"/>
            <a:ext cx="3068603" cy="2488641"/>
          </a:xfrm>
          <a:prstGeom prst="rect">
            <a:avLst/>
          </a:prstGeom>
          <a:ln>
            <a:solidFill>
              <a:srgbClr val="7030A0"/>
            </a:solidFill>
          </a:ln>
        </p:spPr>
      </p:pic>
    </p:spTree>
    <p:extLst>
      <p:ext uri="{BB962C8B-B14F-4D97-AF65-F5344CB8AC3E}">
        <p14:creationId xmlns:p14="http://schemas.microsoft.com/office/powerpoint/2010/main" val="4860087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5A5534-8537-48CF-93C8-8CA468E44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FileHeader</a:t>
            </a:r>
            <a:endParaRPr lang="zh-CN" altLang="en-US" dirty="0"/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ABD97C35-8C96-40DE-BF1A-2A0F3C32A6E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09215" y="2344940"/>
            <a:ext cx="7366379" cy="3022755"/>
          </a:xfrm>
          <a:prstGeom prst="rect">
            <a:avLst/>
          </a:prstGeom>
          <a:ln>
            <a:solidFill>
              <a:srgbClr val="7030A0"/>
            </a:solidFill>
          </a:ln>
        </p:spPr>
      </p:pic>
    </p:spTree>
    <p:extLst>
      <p:ext uri="{BB962C8B-B14F-4D97-AF65-F5344CB8AC3E}">
        <p14:creationId xmlns:p14="http://schemas.microsoft.com/office/powerpoint/2010/main" val="179672753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8FC5C2-FF94-4F8E-9E19-FE3988E412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Machine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66B75F9-2879-44B8-8F52-906D5F845E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4911" y="2061933"/>
            <a:ext cx="4631371" cy="4092575"/>
          </a:xfrm>
        </p:spPr>
        <p:txBody>
          <a:bodyPr/>
          <a:lstStyle/>
          <a:p>
            <a:r>
              <a:rPr lang="en-US" altLang="zh-CN" dirty="0">
                <a:latin typeface="宋体" panose="02010600030101010101" pitchFamily="2" charset="-122"/>
                <a:cs typeface="Times New Roman" panose="02020603050405020304" pitchFamily="18" charset="0"/>
              </a:rPr>
              <a:t>Machine</a:t>
            </a:r>
          </a:p>
          <a:p>
            <a:pPr lvl="1"/>
            <a:r>
              <a:rPr lang="zh-CN" altLang="en-US" dirty="0">
                <a:latin typeface="宋体" panose="02010600030101010101" pitchFamily="2" charset="-122"/>
                <a:cs typeface="Times New Roman" panose="02020603050405020304" pitchFamily="18" charset="0"/>
              </a:rPr>
              <a:t>可执行文件的目标</a:t>
            </a:r>
            <a:r>
              <a:rPr lang="en-US" altLang="zh-CN" dirty="0">
                <a:solidFill>
                  <a:srgbClr val="FF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CPU</a:t>
            </a:r>
            <a:r>
              <a:rPr lang="zh-CN" altLang="en-US" dirty="0">
                <a:solidFill>
                  <a:srgbClr val="FF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类型</a:t>
            </a:r>
            <a:endParaRPr lang="en-US" altLang="zh-CN" dirty="0">
              <a:solidFill>
                <a:srgbClr val="FF0000"/>
              </a:solidFill>
              <a:latin typeface="宋体" panose="02010600030101010101" pitchFamily="2" charset="-122"/>
              <a:cs typeface="Times New Roman" panose="02020603050405020304" pitchFamily="18" charset="0"/>
            </a:endParaRPr>
          </a:p>
          <a:p>
            <a:pPr lvl="1"/>
            <a:r>
              <a:rPr lang="en-US" altLang="zh-CN" dirty="0">
                <a:latin typeface="宋体" panose="02010600030101010101" pitchFamily="2" charset="-122"/>
                <a:cs typeface="Times New Roman" panose="02020603050405020304" pitchFamily="18" charset="0"/>
              </a:rPr>
              <a:t>PE</a:t>
            </a:r>
            <a:r>
              <a:rPr lang="zh-CN" altLang="en-US" dirty="0">
                <a:latin typeface="宋体" panose="02010600030101010101" pitchFamily="2" charset="-122"/>
                <a:cs typeface="Times New Roman" panose="02020603050405020304" pitchFamily="18" charset="0"/>
              </a:rPr>
              <a:t>文件可以在多种</a:t>
            </a:r>
            <a:r>
              <a:rPr lang="en-US" altLang="zh-CN" dirty="0">
                <a:latin typeface="宋体" panose="02010600030101010101" pitchFamily="2" charset="-122"/>
                <a:cs typeface="Times New Roman" panose="02020603050405020304" pitchFamily="18" charset="0"/>
              </a:rPr>
              <a:t>CPU</a:t>
            </a:r>
            <a:r>
              <a:rPr lang="zh-CN" altLang="en-US" dirty="0">
                <a:latin typeface="宋体" panose="02010600030101010101" pitchFamily="2" charset="-122"/>
                <a:cs typeface="Times New Roman" panose="02020603050405020304" pitchFamily="18" charset="0"/>
              </a:rPr>
              <a:t>机器上使用，不同平台上指令的机器码不同。</a:t>
            </a:r>
          </a:p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7D53B0C-A64A-4071-8351-1050507F1F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9245" y="2061933"/>
            <a:ext cx="5543951" cy="3390580"/>
          </a:xfrm>
          <a:prstGeom prst="rect">
            <a:avLst/>
          </a:prstGeom>
          <a:ln>
            <a:solidFill>
              <a:srgbClr val="7030A0"/>
            </a:solidFill>
          </a:ln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B492E286-7FAA-431F-A60C-C35D5FEB764D}"/>
              </a:ext>
            </a:extLst>
          </p:cNvPr>
          <p:cNvSpPr/>
          <p:nvPr/>
        </p:nvSpPr>
        <p:spPr>
          <a:xfrm>
            <a:off x="1545456" y="5639092"/>
            <a:ext cx="9287577" cy="369332"/>
          </a:xfrm>
          <a:prstGeom prst="rect">
            <a:avLst/>
          </a:prstGeom>
          <a:ln>
            <a:solidFill>
              <a:srgbClr val="7030A0"/>
            </a:solidFill>
          </a:ln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https://docs.microsoft.com/en-us/windows/win32/api/winnt/ns-winnt-image_file_header</a:t>
            </a:r>
          </a:p>
        </p:txBody>
      </p:sp>
    </p:spTree>
    <p:extLst>
      <p:ext uri="{BB962C8B-B14F-4D97-AF65-F5344CB8AC3E}">
        <p14:creationId xmlns:p14="http://schemas.microsoft.com/office/powerpoint/2010/main" val="190466612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AE0254-B8E2-495C-B7DA-E1BECA9BC2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NumberOfSections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EEE781F-A651-4E1B-8F65-051F9DE296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>
                <a:latin typeface="宋体" panose="02010600030101010101" pitchFamily="2" charset="-122"/>
                <a:cs typeface="Times New Roman" panose="02020603050405020304" pitchFamily="18" charset="0"/>
              </a:rPr>
              <a:t>NumberOfSections</a:t>
            </a:r>
            <a:r>
              <a:rPr lang="zh-CN" altLang="en-US" dirty="0">
                <a:latin typeface="宋体" panose="02010600030101010101" pitchFamily="2" charset="-122"/>
                <a:cs typeface="Times New Roman" panose="02020603050405020304" pitchFamily="18" charset="0"/>
              </a:rPr>
              <a:t>记录节</a:t>
            </a:r>
            <a:r>
              <a:rPr lang="en-US" altLang="zh-CN" dirty="0">
                <a:latin typeface="宋体" panose="02010600030101010101" pitchFamily="2" charset="-122"/>
                <a:cs typeface="Times New Roman" panose="02020603050405020304" pitchFamily="18" charset="0"/>
              </a:rPr>
              <a:t>(Section)</a:t>
            </a:r>
            <a:r>
              <a:rPr lang="zh-CN" altLang="en-US" dirty="0">
                <a:latin typeface="宋体" panose="02010600030101010101" pitchFamily="2" charset="-122"/>
                <a:cs typeface="Times New Roman" panose="02020603050405020304" pitchFamily="18" charset="0"/>
              </a:rPr>
              <a:t>的数量</a:t>
            </a:r>
            <a:endParaRPr lang="en-US" altLang="zh-CN" dirty="0">
              <a:latin typeface="宋体" panose="02010600030101010101" pitchFamily="2" charset="-122"/>
              <a:cs typeface="Times New Roman" panose="02020603050405020304" pitchFamily="18" charset="0"/>
            </a:endParaRPr>
          </a:p>
          <a:p>
            <a:pPr lvl="1"/>
            <a:r>
              <a:rPr lang="zh-CN" altLang="en-US" dirty="0">
                <a:latin typeface="宋体" panose="02010600030101010101" pitchFamily="2" charset="-122"/>
                <a:cs typeface="Times New Roman" panose="02020603050405020304" pitchFamily="18" charset="0"/>
              </a:rPr>
              <a:t>节表紧跟在</a:t>
            </a:r>
            <a:r>
              <a:rPr lang="en-US" altLang="zh-CN" dirty="0">
                <a:latin typeface="宋体" panose="02010600030101010101" pitchFamily="2" charset="-122"/>
                <a:cs typeface="Times New Roman" panose="02020603050405020304" pitchFamily="18" charset="0"/>
              </a:rPr>
              <a:t>IMAGE_NT_HEADERS</a:t>
            </a:r>
            <a:r>
              <a:rPr lang="zh-CN" altLang="en-US" dirty="0">
                <a:latin typeface="宋体" panose="02010600030101010101" pitchFamily="2" charset="-122"/>
                <a:cs typeface="Times New Roman" panose="02020603050405020304" pitchFamily="18" charset="0"/>
              </a:rPr>
              <a:t>后面定义</a:t>
            </a:r>
            <a:endParaRPr lang="zh-CN" altLang="en-US" dirty="0">
              <a:latin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6783274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272195-F5EC-4C61-AE86-A186A71567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TimeDateStamp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273C33A-EC4A-4832-B7AB-1FB7A81B24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/>
              <a:t>TimeDateStamp</a:t>
            </a:r>
            <a:endParaRPr lang="en-US" altLang="zh-CN" dirty="0"/>
          </a:p>
          <a:p>
            <a:pPr lvl="1"/>
            <a:r>
              <a:rPr lang="zh-CN" altLang="en-US" dirty="0"/>
              <a:t>文件的创建时间</a:t>
            </a:r>
            <a:endParaRPr lang="en-US" altLang="zh-CN" dirty="0"/>
          </a:p>
          <a:p>
            <a:pPr lvl="1"/>
            <a:r>
              <a:rPr lang="en-US" altLang="zh-CN" dirty="0"/>
              <a:t>1970</a:t>
            </a:r>
            <a:r>
              <a:rPr lang="zh-CN" altLang="en-US" dirty="0"/>
              <a:t>年</a:t>
            </a:r>
            <a:r>
              <a:rPr lang="en-US" altLang="zh-CN" dirty="0"/>
              <a:t>1</a:t>
            </a:r>
            <a:r>
              <a:rPr lang="zh-CN" altLang="en-US" dirty="0"/>
              <a:t>月</a:t>
            </a:r>
            <a:r>
              <a:rPr lang="en-US" altLang="zh-CN" dirty="0"/>
              <a:t>1</a:t>
            </a:r>
            <a:r>
              <a:rPr lang="zh-CN" altLang="en-US" dirty="0"/>
              <a:t>日到创建该文件的所有的秒数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2E212FD-C448-4ABA-8F67-FDB5147CBA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1435" y="3792283"/>
            <a:ext cx="7629130" cy="2067045"/>
          </a:xfrm>
          <a:prstGeom prst="rect">
            <a:avLst/>
          </a:prstGeom>
          <a:ln>
            <a:solidFill>
              <a:srgbClr val="7030A0"/>
            </a:solidFill>
          </a:ln>
        </p:spPr>
      </p:pic>
    </p:spTree>
    <p:extLst>
      <p:ext uri="{BB962C8B-B14F-4D97-AF65-F5344CB8AC3E}">
        <p14:creationId xmlns:p14="http://schemas.microsoft.com/office/powerpoint/2010/main" val="358076754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4475D9-81D5-4237-8BC6-B6F5F56C03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文件属性字段（</a:t>
            </a:r>
            <a:r>
              <a:rPr lang="en-US" altLang="zh-CN" dirty="0"/>
              <a:t>Characteristics</a:t>
            </a:r>
            <a:r>
              <a:rPr lang="zh-CN" altLang="en-US" dirty="0"/>
              <a:t>）</a:t>
            </a:r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B0671207-115B-4C99-9F00-A1BB54095D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8613" y="1687330"/>
            <a:ext cx="8374774" cy="5324359"/>
          </a:xfrm>
          <a:prstGeom prst="rect">
            <a:avLst/>
          </a:prstGeom>
          <a:ln>
            <a:solidFill>
              <a:srgbClr val="7030A0"/>
            </a:solidFill>
          </a:ln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DEAB0278-A4B9-4C59-9959-FC9840A6B7A0}"/>
              </a:ext>
            </a:extLst>
          </p:cNvPr>
          <p:cNvSpPr/>
          <p:nvPr/>
        </p:nvSpPr>
        <p:spPr>
          <a:xfrm>
            <a:off x="1665171" y="5823284"/>
            <a:ext cx="3166711" cy="36576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760CEA2-A33D-4A28-BE66-3178623BF732}"/>
              </a:ext>
            </a:extLst>
          </p:cNvPr>
          <p:cNvSpPr/>
          <p:nvPr/>
        </p:nvSpPr>
        <p:spPr>
          <a:xfrm>
            <a:off x="1817571" y="2346960"/>
            <a:ext cx="4785360" cy="36576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22139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内容占位符 3">
            <a:extLst>
              <a:ext uri="{FF2B5EF4-FFF2-40B4-BE49-F238E27FC236}">
                <a16:creationId xmlns:a16="http://schemas.microsoft.com/office/drawing/2014/main" id="{F98511FB-F499-47D6-8F6C-5DAA887043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4065" y="1671172"/>
            <a:ext cx="9133422" cy="3747852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E41AA790-C9FE-40F6-9BCF-1ED2EB8AAD2A}"/>
              </a:ext>
            </a:extLst>
          </p:cNvPr>
          <p:cNvSpPr/>
          <p:nvPr/>
        </p:nvSpPr>
        <p:spPr>
          <a:xfrm>
            <a:off x="5321167" y="4589647"/>
            <a:ext cx="774834" cy="27111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534C3CF-D124-47F8-83B4-F26E4F65B57E}"/>
              </a:ext>
            </a:extLst>
          </p:cNvPr>
          <p:cNvSpPr/>
          <p:nvPr/>
        </p:nvSpPr>
        <p:spPr>
          <a:xfrm>
            <a:off x="6096000" y="4589647"/>
            <a:ext cx="774834" cy="27111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05199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3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3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B7C71B7A-1618-4CFE-9733-FD9B525D19FD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2438400" y="635000"/>
            <a:ext cx="7315200" cy="2794000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hello.exe</a:t>
            </a:r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的</a:t>
            </a:r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PE</a:t>
            </a:r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文件头中文件属性字段（</a:t>
            </a:r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Characteristics</a:t>
            </a:r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）值是</a:t>
            </a:r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010Fh</a:t>
            </a:r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，说明</a:t>
            </a:r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hello.exe</a:t>
            </a:r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的文件属性是什么？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C3F2B112-7D4E-4A3E-8CEE-6BE26DD27C6D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7696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作答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5FC4424-B4F2-4752-9864-D6C43CF80D22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1524000" y="5849303"/>
            <a:ext cx="9144000" cy="365760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rtlCol="0" anchor="ctr" anchorCtr="1">
            <a:noAutofit/>
          </a:bodyPr>
          <a:lstStyle/>
          <a:p>
            <a:r>
              <a:rPr lang="zh-CN" altLang="en-US" sz="1200">
                <a:solidFill>
                  <a:srgbClr val="F84F4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正常使用主观题需</a:t>
            </a:r>
            <a:r>
              <a:rPr lang="en-US" altLang="zh-CN" sz="1200">
                <a:solidFill>
                  <a:srgbClr val="F84F4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2.0</a:t>
            </a:r>
            <a:r>
              <a:rPr lang="zh-CN" altLang="en-US" sz="1200">
                <a:solidFill>
                  <a:srgbClr val="F84F4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以上版本雨课堂</a:t>
            </a: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0A02B9A0-9024-4B74-8151-E9CA176C655C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0" y="0"/>
            <a:ext cx="9144000" cy="635000"/>
            <a:chOff x="-1524000" y="0"/>
            <a:chExt cx="9144000" cy="635000"/>
          </a:xfrm>
        </p:grpSpPr>
        <p:sp>
          <p:nvSpPr>
            <p:cNvPr id="8" name="TitleBackground">
              <a:extLst>
                <a:ext uri="{FF2B5EF4-FFF2-40B4-BE49-F238E27FC236}">
                  <a16:creationId xmlns:a16="http://schemas.microsoft.com/office/drawing/2014/main" id="{03B7282D-7A83-4CFD-AB8C-94D7D6A41C69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-152400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9" name="ColorBlock">
              <a:extLst>
                <a:ext uri="{FF2B5EF4-FFF2-40B4-BE49-F238E27FC236}">
                  <a16:creationId xmlns:a16="http://schemas.microsoft.com/office/drawing/2014/main" id="{2BB5738A-0E06-4659-AA78-B0FA8E89EF71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-152400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0" name="TypeText">
              <a:extLst>
                <a:ext uri="{FF2B5EF4-FFF2-40B4-BE49-F238E27FC236}">
                  <a16:creationId xmlns:a16="http://schemas.microsoft.com/office/drawing/2014/main" id="{3774020B-07E7-4765-AD7A-1630BF3DABFC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-127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主观题</a:t>
              </a:r>
            </a:p>
          </p:txBody>
        </p:sp>
        <p:sp>
          <p:nvSpPr>
            <p:cNvPr id="11" name="TipText">
              <a:extLst>
                <a:ext uri="{FF2B5EF4-FFF2-40B4-BE49-F238E27FC236}">
                  <a16:creationId xmlns:a16="http://schemas.microsoft.com/office/drawing/2014/main" id="{80C0B73B-3CFD-4214-95CB-385B96052563}"/>
                </a:ext>
              </a:extLst>
            </p:cNvPr>
            <p:cNvSpPr txBox="1"/>
            <p:nvPr>
              <p:custDataLst>
                <p:tags r:id="rId10"/>
              </p:custDataLst>
            </p:nvPr>
          </p:nvSpPr>
          <p:spPr>
            <a:xfrm>
              <a:off x="-13970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EF8690B3-1AF6-4E06-8F28-3F6C88286913}"/>
              </a:ext>
            </a:extLst>
          </p:cNvPr>
          <p:cNvPicPr>
            <a:picLocks/>
          </p:cNvPicPr>
          <p:nvPr>
            <p:custDataLst>
              <p:tags r:id="rId6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85188884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B30B27-A9DF-49F4-9A5B-2A52E2FB37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1" y="981076"/>
            <a:ext cx="9143999" cy="868363"/>
          </a:xfrm>
        </p:spPr>
        <p:txBody>
          <a:bodyPr/>
          <a:lstStyle/>
          <a:p>
            <a:r>
              <a:rPr lang="en-US" altLang="zh-CN" sz="4400" b="0" dirty="0">
                <a:ea typeface="思源黑体 CN Medium" panose="020B0600000000000000" pitchFamily="34" charset="-122"/>
                <a:cs typeface="Times New Roman" panose="02020603050405020304" pitchFamily="18" charset="0"/>
              </a:rPr>
              <a:t>IMAGE _OPTIONAL_HEADER</a:t>
            </a:r>
            <a:endParaRPr lang="zh-CN" altLang="en-US" b="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2027FAF-1D9C-4CD9-B691-F3BCFD114F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kern="0" dirty="0">
                <a:latin typeface="宋体" panose="02010600030101010101" pitchFamily="2" charset="-122"/>
                <a:cs typeface="华文黑体" pitchFamily="2" charset="-122"/>
              </a:rPr>
              <a:t>可选映像头</a:t>
            </a:r>
            <a:r>
              <a:rPr lang="en-US" altLang="zh-CN" kern="0" dirty="0">
                <a:latin typeface="宋体" panose="02010600030101010101" pitchFamily="2" charset="-122"/>
                <a:cs typeface="Times New Roman" panose="02020603050405020304" pitchFamily="18" charset="0"/>
              </a:rPr>
              <a:t>(IMAGE_ </a:t>
            </a:r>
            <a:r>
              <a:rPr lang="en-US" altLang="zh-CN" kern="0" dirty="0">
                <a:solidFill>
                  <a:srgbClr val="FF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OPTIONAL</a:t>
            </a:r>
            <a:r>
              <a:rPr lang="en-US" altLang="zh-CN" kern="0" dirty="0">
                <a:latin typeface="宋体" panose="02010600030101010101" pitchFamily="2" charset="-122"/>
                <a:cs typeface="Times New Roman" panose="02020603050405020304" pitchFamily="18" charset="0"/>
              </a:rPr>
              <a:t> _HEADER)</a:t>
            </a:r>
            <a:r>
              <a:rPr lang="zh-CN" altLang="en-US" kern="0" dirty="0">
                <a:latin typeface="宋体" panose="02010600030101010101" pitchFamily="2" charset="-122"/>
                <a:cs typeface="华文黑体" pitchFamily="2" charset="-122"/>
              </a:rPr>
              <a:t>结构中定义了更多的</a:t>
            </a:r>
            <a:r>
              <a:rPr lang="en-US" altLang="zh-CN" kern="0" dirty="0">
                <a:latin typeface="宋体" panose="02010600030101010101" pitchFamily="2" charset="-122"/>
                <a:cs typeface="Times New Roman" panose="02020603050405020304" pitchFamily="18" charset="0"/>
              </a:rPr>
              <a:t>PE</a:t>
            </a:r>
            <a:r>
              <a:rPr lang="zh-CN" altLang="en-US" kern="0" dirty="0">
                <a:latin typeface="宋体" panose="02010600030101010101" pitchFamily="2" charset="-122"/>
                <a:cs typeface="华文黑体" pitchFamily="2" charset="-122"/>
              </a:rPr>
              <a:t>文件数据</a:t>
            </a:r>
            <a:endParaRPr lang="en-US" altLang="zh-CN" kern="0" dirty="0">
              <a:latin typeface="宋体" panose="02010600030101010101" pitchFamily="2" charset="-122"/>
              <a:cs typeface="华文黑体" pitchFamily="2" charset="-122"/>
            </a:endParaRPr>
          </a:p>
          <a:p>
            <a:r>
              <a:rPr lang="en-US" altLang="zh-CN" kern="0" dirty="0">
                <a:latin typeface="宋体" panose="02010600030101010101" pitchFamily="2" charset="-122"/>
                <a:cs typeface="华文黑体" pitchFamily="2" charset="-122"/>
              </a:rPr>
              <a:t>IMAGE_</a:t>
            </a:r>
            <a:r>
              <a:rPr lang="en-US" altLang="zh-CN" kern="0" dirty="0">
                <a:solidFill>
                  <a:srgbClr val="FF0000"/>
                </a:solidFill>
                <a:latin typeface="宋体" panose="02010600030101010101" pitchFamily="2" charset="-122"/>
                <a:cs typeface="华文黑体" pitchFamily="2" charset="-122"/>
              </a:rPr>
              <a:t>FILE</a:t>
            </a:r>
            <a:r>
              <a:rPr lang="en-US" altLang="zh-CN" kern="0" dirty="0">
                <a:latin typeface="宋体" panose="02010600030101010101" pitchFamily="2" charset="-122"/>
                <a:cs typeface="华文黑体" pitchFamily="2" charset="-122"/>
              </a:rPr>
              <a:t>_HEADER</a:t>
            </a:r>
            <a:r>
              <a:rPr lang="zh-CN" altLang="en-US" kern="0" dirty="0">
                <a:latin typeface="宋体" panose="02010600030101010101" pitchFamily="2" charset="-122"/>
                <a:cs typeface="华文黑体" pitchFamily="2" charset="-122"/>
              </a:rPr>
              <a:t>和</a:t>
            </a:r>
            <a:r>
              <a:rPr lang="en-US" altLang="zh-CN" kern="0" dirty="0">
                <a:latin typeface="宋体" panose="02010600030101010101" pitchFamily="2" charset="-122"/>
                <a:cs typeface="华文黑体" pitchFamily="2" charset="-122"/>
              </a:rPr>
              <a:t>IMAGE_</a:t>
            </a:r>
            <a:r>
              <a:rPr lang="en-US" altLang="zh-CN" kern="0" dirty="0">
                <a:solidFill>
                  <a:srgbClr val="FF0000"/>
                </a:solidFill>
                <a:latin typeface="宋体" panose="02010600030101010101" pitchFamily="2" charset="-122"/>
                <a:cs typeface="华文黑体" pitchFamily="2" charset="-122"/>
              </a:rPr>
              <a:t>OPTIONAL</a:t>
            </a:r>
            <a:r>
              <a:rPr lang="en-US" altLang="zh-CN" kern="0" dirty="0">
                <a:latin typeface="宋体" panose="02010600030101010101" pitchFamily="2" charset="-122"/>
                <a:cs typeface="华文黑体" pitchFamily="2" charset="-122"/>
              </a:rPr>
              <a:t>_HEADER</a:t>
            </a:r>
            <a:r>
              <a:rPr lang="zh-CN" altLang="en-US" kern="0" dirty="0">
                <a:latin typeface="宋体" panose="02010600030101010101" pitchFamily="2" charset="-122"/>
                <a:cs typeface="华文黑体" pitchFamily="2" charset="-122"/>
              </a:rPr>
              <a:t>合在一起构成</a:t>
            </a:r>
            <a:r>
              <a:rPr lang="en-US" altLang="zh-CN" kern="0" dirty="0">
                <a:latin typeface="宋体" panose="02010600030101010101" pitchFamily="2" charset="-122"/>
                <a:cs typeface="华文黑体" pitchFamily="2" charset="-122"/>
              </a:rPr>
              <a:t>PE</a:t>
            </a:r>
            <a:r>
              <a:rPr lang="zh-CN" altLang="en-US" kern="0" dirty="0">
                <a:latin typeface="宋体" panose="02010600030101010101" pitchFamily="2" charset="-122"/>
                <a:cs typeface="华文黑体" pitchFamily="2" charset="-122"/>
              </a:rPr>
              <a:t>文件头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4088272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66AA71-8123-448A-BE21-46D927024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4512" y="981076"/>
            <a:ext cx="8587818" cy="868363"/>
          </a:xfrm>
        </p:spPr>
        <p:txBody>
          <a:bodyPr/>
          <a:lstStyle/>
          <a:p>
            <a:r>
              <a:rPr lang="en-US" altLang="zh-CN" dirty="0"/>
              <a:t>IMAGE_OPTIONAL_HEADER</a:t>
            </a:r>
            <a:endParaRPr lang="zh-CN" altLang="en-US" dirty="0"/>
          </a:p>
        </p:txBody>
      </p:sp>
      <p:pic>
        <p:nvPicPr>
          <p:cNvPr id="8" name="内容占位符 7">
            <a:extLst>
              <a:ext uri="{FF2B5EF4-FFF2-40B4-BE49-F238E27FC236}">
                <a16:creationId xmlns:a16="http://schemas.microsoft.com/office/drawing/2014/main" id="{FFFD1171-B4FC-461C-BE35-3C29362798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51878" y="1849439"/>
            <a:ext cx="9488244" cy="4344744"/>
          </a:xfrm>
          <a:prstGeom prst="rect">
            <a:avLst/>
          </a:prstGeom>
          <a:ln>
            <a:solidFill>
              <a:srgbClr val="7030A0"/>
            </a:solidFill>
          </a:ln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469D85D3-7993-456E-923A-470670FDA77B}"/>
              </a:ext>
            </a:extLst>
          </p:cNvPr>
          <p:cNvSpPr/>
          <p:nvPr/>
        </p:nvSpPr>
        <p:spPr>
          <a:xfrm>
            <a:off x="0" y="6393928"/>
            <a:ext cx="1071428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https://docs.microsoft.com/en-us/windows/win32/api/winnt/ns-winnt-image_optional_header32</a:t>
            </a:r>
          </a:p>
        </p:txBody>
      </p:sp>
    </p:spTree>
    <p:extLst>
      <p:ext uri="{BB962C8B-B14F-4D97-AF65-F5344CB8AC3E}">
        <p14:creationId xmlns:p14="http://schemas.microsoft.com/office/powerpoint/2010/main" val="193745314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3">
            <a:extLst>
              <a:ext uri="{FF2B5EF4-FFF2-40B4-BE49-F238E27FC236}">
                <a16:creationId xmlns:a16="http://schemas.microsoft.com/office/drawing/2014/main" id="{D448A2E9-3904-4D15-A428-8093CBBAE8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08922" y="1922787"/>
            <a:ext cx="7174155" cy="4556167"/>
          </a:xfrm>
          <a:prstGeom prst="rect">
            <a:avLst/>
          </a:prstGeom>
          <a:ln>
            <a:solidFill>
              <a:srgbClr val="7030A0"/>
            </a:solidFill>
          </a:ln>
        </p:spPr>
      </p:pic>
      <p:sp>
        <p:nvSpPr>
          <p:cNvPr id="6" name="标题 1">
            <a:extLst>
              <a:ext uri="{FF2B5EF4-FFF2-40B4-BE49-F238E27FC236}">
                <a16:creationId xmlns:a16="http://schemas.microsoft.com/office/drawing/2014/main" id="{D49AFABC-7E4F-4352-99F9-291976D6B1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4512" y="981076"/>
            <a:ext cx="8587818" cy="868363"/>
          </a:xfrm>
        </p:spPr>
        <p:txBody>
          <a:bodyPr/>
          <a:lstStyle/>
          <a:p>
            <a:r>
              <a:rPr lang="en-US" altLang="zh-CN" dirty="0"/>
              <a:t>IMAGE_OPTIONAL_HEADER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173683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721E61-0111-44C4-AEE9-115E1E4D98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6805" y="981076"/>
            <a:ext cx="8474697" cy="868363"/>
          </a:xfrm>
        </p:spPr>
        <p:txBody>
          <a:bodyPr/>
          <a:lstStyle/>
          <a:p>
            <a:r>
              <a:rPr lang="en-US" altLang="zh-CN" dirty="0"/>
              <a:t>IMAGE_OPTIONAL_HEADER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B83AB7F-4BE2-43BC-87BD-A7C466DDF4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altLang="zh-CN" sz="2800" kern="0" dirty="0">
                <a:latin typeface="宋体" panose="02010600030101010101" pitchFamily="2" charset="-122"/>
                <a:cs typeface="Times New Roman" panose="02020603050405020304" pitchFamily="18" charset="0"/>
              </a:rPr>
              <a:t>Magic</a:t>
            </a:r>
            <a:r>
              <a:rPr lang="zh-CN" altLang="en-US" sz="2800" kern="0" dirty="0">
                <a:latin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800" kern="0" dirty="0">
                <a:solidFill>
                  <a:srgbClr val="FF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WORD</a:t>
            </a:r>
            <a:r>
              <a:rPr lang="zh-CN" altLang="en-US" sz="2800" kern="0" dirty="0">
                <a:latin typeface="宋体" panose="02010600030101010101" pitchFamily="2" charset="-122"/>
                <a:cs typeface="Times New Roman" panose="02020603050405020304" pitchFamily="18" charset="0"/>
              </a:rPr>
              <a:t>）</a:t>
            </a:r>
            <a:r>
              <a:rPr lang="en-US" altLang="zh-CN" sz="2800" kern="0" dirty="0">
                <a:latin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en-US" sz="2800" kern="0" dirty="0">
                <a:latin typeface="宋体" panose="02010600030101010101" pitchFamily="2" charset="-122"/>
                <a:cs typeface="华文黑体" pitchFamily="2" charset="-122"/>
              </a:rPr>
              <a:t>这是一个标记字，说明文件是</a:t>
            </a:r>
            <a:r>
              <a:rPr lang="en-US" altLang="zh-CN" sz="2800" kern="0" dirty="0">
                <a:latin typeface="宋体" panose="02010600030101010101" pitchFamily="2" charset="-122"/>
                <a:cs typeface="Times New Roman" panose="02020603050405020304" pitchFamily="18" charset="0"/>
              </a:rPr>
              <a:t>ROM</a:t>
            </a:r>
            <a:r>
              <a:rPr lang="zh-CN" altLang="en-US" sz="2800" kern="0" dirty="0">
                <a:latin typeface="宋体" panose="02010600030101010101" pitchFamily="2" charset="-122"/>
                <a:cs typeface="华文黑体" pitchFamily="2" charset="-122"/>
              </a:rPr>
              <a:t>映像</a:t>
            </a:r>
            <a:r>
              <a:rPr lang="en-US" altLang="zh-CN" sz="2800" kern="0" dirty="0">
                <a:latin typeface="宋体" panose="02010600030101010101" pitchFamily="2" charset="-122"/>
                <a:cs typeface="华文黑体" pitchFamily="2" charset="-122"/>
              </a:rPr>
              <a:t>(</a:t>
            </a:r>
            <a:r>
              <a:rPr lang="en-US" altLang="zh-CN" sz="2800" kern="0" dirty="0">
                <a:latin typeface="宋体" panose="02010600030101010101" pitchFamily="2" charset="-122"/>
                <a:cs typeface="Times New Roman" panose="02020603050405020304" pitchFamily="18" charset="0"/>
              </a:rPr>
              <a:t>0107h</a:t>
            </a:r>
            <a:r>
              <a:rPr lang="en-US" altLang="zh-CN" sz="2800" kern="0" dirty="0">
                <a:latin typeface="宋体" panose="02010600030101010101" pitchFamily="2" charset="-122"/>
                <a:cs typeface="华文黑体" pitchFamily="2" charset="-122"/>
              </a:rPr>
              <a:t>)</a:t>
            </a:r>
            <a:r>
              <a:rPr lang="zh-CN" altLang="en-US" sz="2800" kern="0" dirty="0">
                <a:latin typeface="宋体" panose="02010600030101010101" pitchFamily="2" charset="-122"/>
                <a:cs typeface="华文黑体" pitchFamily="2" charset="-122"/>
              </a:rPr>
              <a:t>还是普通可执行的映像</a:t>
            </a:r>
            <a:r>
              <a:rPr lang="en-US" altLang="zh-CN" sz="2800" kern="0" dirty="0">
                <a:latin typeface="宋体" panose="02010600030101010101" pitchFamily="2" charset="-122"/>
                <a:cs typeface="华文黑体" pitchFamily="2" charset="-122"/>
              </a:rPr>
              <a:t>(</a:t>
            </a:r>
            <a:r>
              <a:rPr lang="en-US" altLang="zh-CN" sz="2800" kern="0" dirty="0">
                <a:latin typeface="宋体" panose="02010600030101010101" pitchFamily="2" charset="-122"/>
                <a:cs typeface="Times New Roman" panose="02020603050405020304" pitchFamily="18" charset="0"/>
              </a:rPr>
              <a:t>010Bh )</a:t>
            </a:r>
          </a:p>
          <a:p>
            <a:pPr lvl="1"/>
            <a:r>
              <a:rPr lang="en-US" altLang="zh-CN" sz="2400" kern="0" dirty="0">
                <a:latin typeface="宋体" panose="02010600030101010101" pitchFamily="2" charset="-122"/>
                <a:cs typeface="Times New Roman" panose="02020603050405020304" pitchFamily="18" charset="0"/>
              </a:rPr>
              <a:t>010Bh</a:t>
            </a:r>
            <a:endParaRPr lang="en-US" altLang="zh-CN" sz="2400" kern="0" dirty="0">
              <a:latin typeface="宋体" panose="02010600030101010101" pitchFamily="2" charset="-122"/>
              <a:cs typeface="华文黑体" pitchFamily="2" charset="-122"/>
            </a:endParaRPr>
          </a:p>
          <a:p>
            <a:r>
              <a:rPr lang="en-US" altLang="zh-CN" sz="2800" kern="0" dirty="0" err="1">
                <a:latin typeface="宋体" panose="02010600030101010101" pitchFamily="2" charset="-122"/>
                <a:cs typeface="Times New Roman" panose="02020603050405020304" pitchFamily="18" charset="0"/>
              </a:rPr>
              <a:t>MajorLinkerVersion</a:t>
            </a:r>
            <a:r>
              <a:rPr lang="zh-CN" altLang="en-US" sz="2800" kern="0" dirty="0">
                <a:latin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800" kern="0" dirty="0">
                <a:solidFill>
                  <a:srgbClr val="FF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BYTE</a:t>
            </a:r>
            <a:r>
              <a:rPr lang="zh-CN" altLang="en-US" sz="2800" kern="0" dirty="0">
                <a:latin typeface="宋体" panose="02010600030101010101" pitchFamily="2" charset="-122"/>
                <a:cs typeface="Times New Roman" panose="02020603050405020304" pitchFamily="18" charset="0"/>
              </a:rPr>
              <a:t>）</a:t>
            </a:r>
            <a:r>
              <a:rPr lang="en-US" altLang="zh-CN" sz="2800" kern="0" dirty="0">
                <a:latin typeface="宋体" panose="02010600030101010101" pitchFamily="2" charset="-122"/>
                <a:cs typeface="华文黑体" pitchFamily="2" charset="-122"/>
              </a:rPr>
              <a:t>:</a:t>
            </a:r>
            <a:r>
              <a:rPr lang="zh-CN" altLang="en-US" sz="2800" kern="0" dirty="0">
                <a:latin typeface="宋体" panose="02010600030101010101" pitchFamily="2" charset="-122"/>
                <a:cs typeface="华文黑体" pitchFamily="2" charset="-122"/>
              </a:rPr>
              <a:t>链接程序的主版本号</a:t>
            </a:r>
            <a:endParaRPr lang="en-US" altLang="zh-CN" sz="2800" kern="0" dirty="0">
              <a:latin typeface="宋体" panose="02010600030101010101" pitchFamily="2" charset="-122"/>
              <a:cs typeface="华文黑体" pitchFamily="2" charset="-122"/>
            </a:endParaRPr>
          </a:p>
          <a:p>
            <a:pPr lvl="1"/>
            <a:r>
              <a:rPr lang="en-US" altLang="zh-CN" sz="2400" kern="0" dirty="0">
                <a:latin typeface="宋体" panose="02010600030101010101" pitchFamily="2" charset="-122"/>
                <a:cs typeface="华文黑体" pitchFamily="2" charset="-122"/>
              </a:rPr>
              <a:t>05h</a:t>
            </a:r>
          </a:p>
          <a:p>
            <a:r>
              <a:rPr lang="en-US" altLang="zh-CN" sz="2800" kern="0" dirty="0" err="1">
                <a:latin typeface="宋体" panose="02010600030101010101" pitchFamily="2" charset="-122"/>
                <a:cs typeface="Times New Roman" panose="02020603050405020304" pitchFamily="18" charset="0"/>
              </a:rPr>
              <a:t>MinorLinkerVersion</a:t>
            </a:r>
            <a:r>
              <a:rPr lang="en-US" altLang="zh-CN" sz="2800" kern="0" dirty="0">
                <a:latin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2800" kern="0" dirty="0">
                <a:solidFill>
                  <a:srgbClr val="FF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BYTE</a:t>
            </a:r>
            <a:r>
              <a:rPr lang="en-US" altLang="zh-CN" sz="2800" kern="0" dirty="0">
                <a:latin typeface="宋体" panose="02010600030101010101" pitchFamily="2" charset="-122"/>
                <a:cs typeface="Times New Roman" panose="02020603050405020304" pitchFamily="18" charset="0"/>
              </a:rPr>
              <a:t>):</a:t>
            </a:r>
            <a:r>
              <a:rPr lang="zh-CN" altLang="en-US" sz="2800" kern="0" dirty="0">
                <a:latin typeface="宋体" panose="02010600030101010101" pitchFamily="2" charset="-122"/>
                <a:cs typeface="华文黑体" pitchFamily="2" charset="-122"/>
              </a:rPr>
              <a:t>链接程序的次版本号</a:t>
            </a:r>
            <a:endParaRPr lang="en-US" altLang="zh-CN" sz="2800" kern="0" dirty="0">
              <a:latin typeface="宋体" panose="02010600030101010101" pitchFamily="2" charset="-122"/>
              <a:cs typeface="华文黑体" pitchFamily="2" charset="-122"/>
            </a:endParaRPr>
          </a:p>
          <a:p>
            <a:pPr lvl="1"/>
            <a:r>
              <a:rPr lang="en-US" altLang="zh-CN" sz="2400" kern="0" dirty="0">
                <a:latin typeface="宋体" panose="02010600030101010101" pitchFamily="2" charset="-122"/>
              </a:rPr>
              <a:t>0Ch</a:t>
            </a:r>
            <a:endParaRPr lang="zh-CN" altLang="en-US" sz="2400" dirty="0">
              <a:latin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09769394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0E77EF-5B2B-4986-A4AC-8DD9777527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0817" y="981076"/>
            <a:ext cx="8587819" cy="868363"/>
          </a:xfrm>
        </p:spPr>
        <p:txBody>
          <a:bodyPr/>
          <a:lstStyle/>
          <a:p>
            <a:r>
              <a:rPr lang="en-US" altLang="zh-CN" dirty="0"/>
              <a:t>IMAGE_OPTIONAL_HEADER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82167B4-D416-4172-B379-3533EE71F4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/>
              <a:t>SizeOfCode</a:t>
            </a:r>
            <a:r>
              <a:rPr lang="en-US" altLang="zh-CN" dirty="0"/>
              <a:t>(</a:t>
            </a:r>
            <a:r>
              <a:rPr lang="en-US" altLang="zh-CN" dirty="0">
                <a:solidFill>
                  <a:srgbClr val="FF0000"/>
                </a:solidFill>
              </a:rPr>
              <a:t>DWORD</a:t>
            </a:r>
            <a:r>
              <a:rPr lang="en-US" altLang="zh-CN" dirty="0"/>
              <a:t>)</a:t>
            </a:r>
            <a:r>
              <a:rPr lang="zh-CN" altLang="en-US" dirty="0"/>
              <a:t>：代码段的大小</a:t>
            </a:r>
            <a:endParaRPr lang="en-US" altLang="zh-CN" dirty="0"/>
          </a:p>
          <a:p>
            <a:pPr lvl="1"/>
            <a:r>
              <a:rPr lang="en-US" altLang="zh-CN" dirty="0"/>
              <a:t>00000200h</a:t>
            </a:r>
          </a:p>
          <a:p>
            <a:r>
              <a:rPr lang="en-US" altLang="zh-CN" dirty="0" err="1"/>
              <a:t>SizeOflnitializedData</a:t>
            </a:r>
            <a:r>
              <a:rPr lang="en-US" altLang="zh-CN" dirty="0"/>
              <a:t>(</a:t>
            </a:r>
            <a:r>
              <a:rPr lang="en-US" altLang="zh-CN" dirty="0">
                <a:solidFill>
                  <a:srgbClr val="FF0000"/>
                </a:solidFill>
              </a:rPr>
              <a:t>DWORD</a:t>
            </a:r>
            <a:r>
              <a:rPr lang="en-US" altLang="zh-CN" dirty="0"/>
              <a:t>): </a:t>
            </a:r>
            <a:r>
              <a:rPr lang="zh-CN" altLang="en-US" dirty="0"/>
              <a:t>已初始化数据块的大小：</a:t>
            </a:r>
            <a:r>
              <a:rPr lang="en-US" altLang="zh-CN" dirty="0"/>
              <a:t>00000400h</a:t>
            </a:r>
          </a:p>
          <a:p>
            <a:r>
              <a:rPr lang="en-US" altLang="zh-CN" dirty="0" err="1"/>
              <a:t>SizeOfUninitializedData</a:t>
            </a:r>
            <a:r>
              <a:rPr lang="en-US" altLang="zh-CN" dirty="0"/>
              <a:t>(</a:t>
            </a:r>
            <a:r>
              <a:rPr lang="en-US" altLang="zh-CN" dirty="0">
                <a:solidFill>
                  <a:srgbClr val="FF0000"/>
                </a:solidFill>
              </a:rPr>
              <a:t>DWORD</a:t>
            </a:r>
            <a:r>
              <a:rPr lang="en-US" altLang="zh-CN" dirty="0"/>
              <a:t>):</a:t>
            </a:r>
            <a:r>
              <a:rPr lang="zh-CN" altLang="en-US" dirty="0"/>
              <a:t>未初始化数据块的大小：</a:t>
            </a:r>
            <a:r>
              <a:rPr lang="en-US" altLang="zh-CN" dirty="0"/>
              <a:t>00000000h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216835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68874A0-5C7F-4C7A-A6D1-D897C1C78A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IMAGE_OPTIONAL_HEADER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F093F4E-B622-4BC6-BE80-F588ABF026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1" dirty="0" err="1">
                <a:solidFill>
                  <a:srgbClr val="FF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AddressOfEntryPoint</a:t>
            </a:r>
            <a:r>
              <a:rPr lang="zh-CN" altLang="en-US" dirty="0">
                <a:solidFill>
                  <a:srgbClr val="FF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dirty="0">
                <a:solidFill>
                  <a:srgbClr val="FF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DWORD</a:t>
            </a:r>
            <a:r>
              <a:rPr lang="zh-CN" altLang="en-US" dirty="0">
                <a:solidFill>
                  <a:srgbClr val="FF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）</a:t>
            </a:r>
            <a:r>
              <a:rPr lang="zh-CN" altLang="en-US" dirty="0">
                <a:latin typeface="宋体" panose="02010600030101010101" pitchFamily="2" charset="-122"/>
                <a:cs typeface="Times New Roman" panose="02020603050405020304" pitchFamily="18" charset="0"/>
              </a:rPr>
              <a:t>程序执行的入口</a:t>
            </a:r>
            <a:r>
              <a:rPr lang="en-US" altLang="zh-CN" dirty="0">
                <a:latin typeface="宋体" panose="02010600030101010101" pitchFamily="2" charset="-122"/>
                <a:cs typeface="Times New Roman" panose="02020603050405020304" pitchFamily="18" charset="0"/>
              </a:rPr>
              <a:t>RVA</a:t>
            </a:r>
            <a:r>
              <a:rPr lang="zh-CN" altLang="en-US" dirty="0">
                <a:latin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en-US" altLang="zh-CN" dirty="0">
                <a:latin typeface="宋体" panose="02010600030101010101" pitchFamily="2" charset="-122"/>
                <a:cs typeface="Times New Roman" panose="02020603050405020304" pitchFamily="18" charset="0"/>
              </a:rPr>
              <a:t>00001000h</a:t>
            </a:r>
          </a:p>
          <a:p>
            <a:r>
              <a:rPr lang="en-US" altLang="zh-CN" dirty="0" err="1">
                <a:latin typeface="宋体" panose="02010600030101010101" pitchFamily="2" charset="-122"/>
                <a:cs typeface="Times New Roman" panose="02020603050405020304" pitchFamily="18" charset="0"/>
              </a:rPr>
              <a:t>BaseOfCode</a:t>
            </a:r>
            <a:r>
              <a:rPr lang="zh-CN" altLang="en-US" dirty="0">
                <a:solidFill>
                  <a:srgbClr val="FF0000"/>
                </a:solidFill>
                <a:latin typeface="宋体" panose="02010600030101010101" pitchFamily="2" charset="-122"/>
              </a:rPr>
              <a:t> （</a:t>
            </a:r>
            <a:r>
              <a:rPr lang="en-US" altLang="zh-CN" dirty="0">
                <a:solidFill>
                  <a:srgbClr val="FF0000"/>
                </a:solidFill>
                <a:latin typeface="宋体" panose="02010600030101010101" pitchFamily="2" charset="-122"/>
              </a:rPr>
              <a:t>DWORD</a:t>
            </a:r>
            <a:r>
              <a:rPr lang="zh-CN" altLang="en-US" dirty="0">
                <a:solidFill>
                  <a:srgbClr val="FF0000"/>
                </a:solidFill>
                <a:latin typeface="宋体" panose="02010600030101010101" pitchFamily="2" charset="-122"/>
              </a:rPr>
              <a:t>）</a:t>
            </a:r>
            <a:r>
              <a:rPr lang="zh-CN" altLang="en-US" dirty="0">
                <a:latin typeface="宋体" panose="02010600030101010101" pitchFamily="2" charset="-122"/>
                <a:cs typeface="Times New Roman" panose="02020603050405020304" pitchFamily="18" charset="0"/>
              </a:rPr>
              <a:t>代码段的起始</a:t>
            </a:r>
            <a:r>
              <a:rPr lang="en-US" altLang="zh-CN" dirty="0">
                <a:latin typeface="宋体" panose="02010600030101010101" pitchFamily="2" charset="-122"/>
                <a:cs typeface="Times New Roman" panose="02020603050405020304" pitchFamily="18" charset="0"/>
              </a:rPr>
              <a:t>RVA</a:t>
            </a:r>
            <a:r>
              <a:rPr lang="zh-CN" altLang="en-US" dirty="0">
                <a:latin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en-US" altLang="zh-CN" dirty="0">
                <a:latin typeface="宋体" panose="02010600030101010101" pitchFamily="2" charset="-122"/>
                <a:cs typeface="Times New Roman" panose="02020603050405020304" pitchFamily="18" charset="0"/>
              </a:rPr>
              <a:t>00001000h</a:t>
            </a:r>
          </a:p>
          <a:p>
            <a:r>
              <a:rPr lang="en-US" altLang="zh-CN" dirty="0" err="1">
                <a:latin typeface="宋体" panose="02010600030101010101" pitchFamily="2" charset="-122"/>
                <a:cs typeface="Times New Roman" panose="02020603050405020304" pitchFamily="18" charset="0"/>
              </a:rPr>
              <a:t>BaseOfData</a:t>
            </a:r>
            <a:r>
              <a:rPr lang="zh-CN" altLang="en-US" dirty="0">
                <a:solidFill>
                  <a:srgbClr val="FF0000"/>
                </a:solidFill>
                <a:latin typeface="宋体" panose="02010600030101010101" pitchFamily="2" charset="-122"/>
              </a:rPr>
              <a:t> （</a:t>
            </a:r>
            <a:r>
              <a:rPr lang="en-US" altLang="zh-CN" dirty="0">
                <a:solidFill>
                  <a:srgbClr val="FF0000"/>
                </a:solidFill>
                <a:latin typeface="宋体" panose="02010600030101010101" pitchFamily="2" charset="-122"/>
              </a:rPr>
              <a:t>DWORD</a:t>
            </a:r>
            <a:r>
              <a:rPr lang="zh-CN" altLang="en-US" dirty="0">
                <a:solidFill>
                  <a:srgbClr val="FF0000"/>
                </a:solidFill>
                <a:latin typeface="宋体" panose="02010600030101010101" pitchFamily="2" charset="-122"/>
              </a:rPr>
              <a:t>）</a:t>
            </a:r>
            <a:r>
              <a:rPr lang="zh-CN" altLang="en-US" dirty="0">
                <a:latin typeface="宋体" panose="02010600030101010101" pitchFamily="2" charset="-122"/>
                <a:cs typeface="Times New Roman" panose="02020603050405020304" pitchFamily="18" charset="0"/>
              </a:rPr>
              <a:t>数据段的起始</a:t>
            </a:r>
            <a:r>
              <a:rPr lang="en-US" altLang="zh-CN" dirty="0">
                <a:latin typeface="宋体" panose="02010600030101010101" pitchFamily="2" charset="-122"/>
                <a:cs typeface="Times New Roman" panose="02020603050405020304" pitchFamily="18" charset="0"/>
              </a:rPr>
              <a:t>RVA</a:t>
            </a:r>
            <a:r>
              <a:rPr lang="zh-CN" altLang="en-US" dirty="0">
                <a:latin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en-US" altLang="zh-CN" dirty="0">
                <a:latin typeface="宋体" panose="02010600030101010101" pitchFamily="2" charset="-122"/>
                <a:cs typeface="Times New Roman" panose="02020603050405020304" pitchFamily="18" charset="0"/>
              </a:rPr>
              <a:t>00002000h</a:t>
            </a:r>
          </a:p>
          <a:p>
            <a:r>
              <a:rPr lang="en-US" altLang="zh-CN" b="1" dirty="0" err="1">
                <a:solidFill>
                  <a:srgbClr val="FF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ImageBase</a:t>
            </a:r>
            <a:r>
              <a:rPr lang="zh-CN" altLang="en-US" dirty="0">
                <a:solidFill>
                  <a:srgbClr val="FF0000"/>
                </a:solidFill>
                <a:latin typeface="宋体" panose="02010600030101010101" pitchFamily="2" charset="-122"/>
              </a:rPr>
              <a:t> （</a:t>
            </a:r>
            <a:r>
              <a:rPr lang="en-US" altLang="zh-CN" dirty="0">
                <a:solidFill>
                  <a:srgbClr val="FF0000"/>
                </a:solidFill>
                <a:latin typeface="宋体" panose="02010600030101010101" pitchFamily="2" charset="-122"/>
              </a:rPr>
              <a:t>DWORD</a:t>
            </a:r>
            <a:r>
              <a:rPr lang="zh-CN" altLang="en-US" dirty="0">
                <a:solidFill>
                  <a:srgbClr val="FF0000"/>
                </a:solidFill>
                <a:latin typeface="宋体" panose="02010600030101010101" pitchFamily="2" charset="-122"/>
              </a:rPr>
              <a:t>）</a:t>
            </a:r>
            <a:r>
              <a:rPr lang="zh-CN" altLang="en-US" dirty="0">
                <a:latin typeface="宋体" panose="02010600030101010101" pitchFamily="2" charset="-122"/>
                <a:cs typeface="Times New Roman" panose="02020603050405020304" pitchFamily="18" charset="0"/>
              </a:rPr>
              <a:t>文件在内存中的载入地址</a:t>
            </a:r>
            <a:endParaRPr lang="en-US" altLang="zh-CN" dirty="0">
              <a:latin typeface="宋体" panose="02010600030101010101" pitchFamily="2" charset="-122"/>
              <a:cs typeface="Times New Roman" panose="02020603050405020304" pitchFamily="18" charset="0"/>
            </a:endParaRPr>
          </a:p>
          <a:p>
            <a:pPr lvl="1"/>
            <a:r>
              <a:rPr lang="en-US" altLang="zh-CN" dirty="0">
                <a:latin typeface="宋体" panose="02010600030101010101" pitchFamily="2" charset="-122"/>
                <a:cs typeface="Times New Roman" panose="02020603050405020304" pitchFamily="18" charset="0"/>
              </a:rPr>
              <a:t>00400000h</a:t>
            </a:r>
            <a:endParaRPr lang="zh-CN" altLang="en-US" dirty="0">
              <a:latin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7830295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CBEB5-B2F6-487F-8B14-DDD9B6C2D2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IMAGE_OPTIONAL_HEADER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29D137E-CB58-4973-ADAF-880B8C0F32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/>
              <a:t>SectionAlignment</a:t>
            </a:r>
            <a:r>
              <a:rPr lang="en-US" altLang="zh-CN" dirty="0"/>
              <a:t>(</a:t>
            </a:r>
            <a:r>
              <a:rPr lang="en-US" altLang="zh-CN" dirty="0">
                <a:solidFill>
                  <a:srgbClr val="FF0000"/>
                </a:solidFill>
              </a:rPr>
              <a:t>DWORD</a:t>
            </a:r>
            <a:r>
              <a:rPr lang="en-US" altLang="zh-CN" dirty="0"/>
              <a:t>)</a:t>
            </a:r>
            <a:r>
              <a:rPr lang="zh-CN" altLang="en-US" dirty="0"/>
              <a:t>：内存上区块间的对齐大小</a:t>
            </a:r>
            <a:endParaRPr lang="en-US" altLang="zh-CN" dirty="0"/>
          </a:p>
          <a:p>
            <a:pPr lvl="1"/>
            <a:r>
              <a:rPr lang="en-US" altLang="zh-CN" sz="2800" dirty="0">
                <a:solidFill>
                  <a:srgbClr val="FF0000"/>
                </a:solidFill>
              </a:rPr>
              <a:t>00001000h</a:t>
            </a:r>
          </a:p>
          <a:p>
            <a:pPr lvl="1"/>
            <a:r>
              <a:rPr lang="zh-CN" altLang="en-US" sz="2800" dirty="0">
                <a:solidFill>
                  <a:srgbClr val="FF0000"/>
                </a:solidFill>
              </a:rPr>
              <a:t>多少字节？</a:t>
            </a:r>
            <a:endParaRPr lang="en-US" altLang="zh-CN" sz="2800" dirty="0">
              <a:solidFill>
                <a:srgbClr val="FF0000"/>
              </a:solidFill>
            </a:endParaRPr>
          </a:p>
          <a:p>
            <a:r>
              <a:rPr lang="en-US" altLang="zh-CN" dirty="0" err="1"/>
              <a:t>FileAlignment</a:t>
            </a:r>
            <a:r>
              <a:rPr lang="en-US" altLang="zh-CN" dirty="0"/>
              <a:t>(DWORD):</a:t>
            </a:r>
            <a:r>
              <a:rPr lang="zh-CN" altLang="en-US" dirty="0"/>
              <a:t>硬盘上区块间的对齐大小</a:t>
            </a:r>
            <a:endParaRPr lang="en-US" altLang="zh-CN" dirty="0"/>
          </a:p>
          <a:p>
            <a:pPr lvl="1"/>
            <a:r>
              <a:rPr lang="en-US" altLang="zh-CN" sz="2800" dirty="0">
                <a:solidFill>
                  <a:srgbClr val="FF0000"/>
                </a:solidFill>
              </a:rPr>
              <a:t>00000200h</a:t>
            </a:r>
          </a:p>
          <a:p>
            <a:pPr lvl="1"/>
            <a:r>
              <a:rPr lang="zh-CN" altLang="en-US" sz="2800" dirty="0">
                <a:solidFill>
                  <a:srgbClr val="FF0000"/>
                </a:solidFill>
              </a:rPr>
              <a:t>多少字节？</a:t>
            </a:r>
          </a:p>
        </p:txBody>
      </p:sp>
    </p:spTree>
    <p:extLst>
      <p:ext uri="{BB962C8B-B14F-4D97-AF65-F5344CB8AC3E}">
        <p14:creationId xmlns:p14="http://schemas.microsoft.com/office/powerpoint/2010/main" val="3653643647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5597D94-29A7-4C77-B952-F15AF05B43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13416" y="1819654"/>
            <a:ext cx="8165167" cy="4590772"/>
          </a:xfrm>
        </p:spPr>
        <p:txBody>
          <a:bodyPr>
            <a:normAutofit lnSpcReduction="10000"/>
          </a:bodyPr>
          <a:lstStyle/>
          <a:p>
            <a:r>
              <a:rPr lang="en-US" altLang="zh-CN" dirty="0" err="1">
                <a:latin typeface="宋体" panose="02010600030101010101" pitchFamily="2" charset="-122"/>
                <a:cs typeface="Times New Roman" panose="02020603050405020304" pitchFamily="18" charset="0"/>
              </a:rPr>
              <a:t>MajorOperatingSystemVersion</a:t>
            </a:r>
            <a:r>
              <a:rPr lang="zh-CN" altLang="en-US" dirty="0">
                <a:latin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dirty="0">
                <a:solidFill>
                  <a:srgbClr val="FF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WORD</a:t>
            </a:r>
            <a:r>
              <a:rPr lang="zh-CN" altLang="en-US" dirty="0">
                <a:latin typeface="宋体" panose="02010600030101010101" pitchFamily="2" charset="-122"/>
                <a:cs typeface="Times New Roman" panose="02020603050405020304" pitchFamily="18" charset="0"/>
              </a:rPr>
              <a:t>）</a:t>
            </a:r>
            <a:endParaRPr lang="en-US" altLang="zh-CN" dirty="0">
              <a:latin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dirty="0" err="1">
                <a:latin typeface="宋体" panose="02010600030101010101" pitchFamily="2" charset="-122"/>
                <a:cs typeface="Times New Roman" panose="02020603050405020304" pitchFamily="18" charset="0"/>
              </a:rPr>
              <a:t>MinorOperatingSystemVersion</a:t>
            </a:r>
            <a:r>
              <a:rPr lang="zh-CN" altLang="en-US" dirty="0">
                <a:latin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dirty="0">
                <a:solidFill>
                  <a:srgbClr val="FF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WORD</a:t>
            </a:r>
            <a:r>
              <a:rPr lang="zh-CN" altLang="en-US" dirty="0">
                <a:latin typeface="宋体" panose="02010600030101010101" pitchFamily="2" charset="-122"/>
                <a:cs typeface="Times New Roman" panose="02020603050405020304" pitchFamily="18" charset="0"/>
              </a:rPr>
              <a:t>）</a:t>
            </a:r>
            <a:endParaRPr lang="en-US" altLang="zh-CN" dirty="0">
              <a:latin typeface="宋体" panose="02010600030101010101" pitchFamily="2" charset="-122"/>
              <a:cs typeface="Times New Roman" panose="02020603050405020304" pitchFamily="18" charset="0"/>
            </a:endParaRPr>
          </a:p>
          <a:p>
            <a:pPr lvl="1"/>
            <a:r>
              <a:rPr lang="en-US" altLang="zh-CN" dirty="0">
                <a:latin typeface="宋体" panose="02010600030101010101" pitchFamily="2" charset="-122"/>
                <a:cs typeface="Times New Roman" panose="02020603050405020304" pitchFamily="18" charset="0"/>
              </a:rPr>
              <a:t>PE</a:t>
            </a:r>
            <a:r>
              <a:rPr lang="zh-CN" altLang="en-US" dirty="0">
                <a:latin typeface="宋体" panose="02010600030101010101" pitchFamily="2" charset="-122"/>
                <a:cs typeface="Times New Roman" panose="02020603050405020304" pitchFamily="18" charset="0"/>
              </a:rPr>
              <a:t>文件执行所需要的</a:t>
            </a:r>
            <a:r>
              <a:rPr lang="en-US" altLang="zh-CN" dirty="0">
                <a:latin typeface="宋体" panose="02010600030101010101" pitchFamily="2" charset="-122"/>
                <a:cs typeface="Times New Roman" panose="02020603050405020304" pitchFamily="18" charset="0"/>
              </a:rPr>
              <a:t>Windows</a:t>
            </a:r>
            <a:r>
              <a:rPr lang="zh-CN" altLang="en-US" dirty="0">
                <a:latin typeface="宋体" panose="02010600030101010101" pitchFamily="2" charset="-122"/>
                <a:cs typeface="Times New Roman" panose="02020603050405020304" pitchFamily="18" charset="0"/>
              </a:rPr>
              <a:t>系统最低版本号</a:t>
            </a:r>
            <a:endParaRPr lang="en-US" altLang="zh-CN" dirty="0">
              <a:latin typeface="宋体" panose="02010600030101010101" pitchFamily="2" charset="-122"/>
              <a:cs typeface="Times New Roman" panose="02020603050405020304" pitchFamily="18" charset="0"/>
            </a:endParaRPr>
          </a:p>
          <a:p>
            <a:pPr lvl="1"/>
            <a:r>
              <a:rPr lang="en-US" altLang="zh-CN" dirty="0">
                <a:latin typeface="宋体" panose="02010600030101010101" pitchFamily="2" charset="-122"/>
                <a:cs typeface="Times New Roman" panose="02020603050405020304" pitchFamily="18" charset="0"/>
              </a:rPr>
              <a:t>0004</a:t>
            </a:r>
            <a:r>
              <a:rPr lang="zh-CN" altLang="en-US" dirty="0">
                <a:latin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dirty="0">
                <a:latin typeface="宋体" panose="02010600030101010101" pitchFamily="2" charset="-122"/>
                <a:cs typeface="Times New Roman" panose="02020603050405020304" pitchFamily="18" charset="0"/>
              </a:rPr>
              <a:t>0000</a:t>
            </a:r>
          </a:p>
          <a:p>
            <a:pPr lvl="1"/>
            <a:r>
              <a:rPr lang="en-US" altLang="zh-CN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</a:t>
            </a:r>
            <a:r>
              <a:rPr lang="zh-CN" altLang="zh-CN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indows </a:t>
            </a:r>
            <a:r>
              <a:rPr lang="en-US" altLang="zh-CN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NT </a:t>
            </a:r>
            <a:r>
              <a:rPr lang="zh-CN" altLang="zh-CN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的内部版本号是 </a:t>
            </a:r>
            <a:r>
              <a:rPr lang="zh-CN" altLang="zh-CN" dirty="0">
                <a:solidFill>
                  <a:srgbClr val="8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4.0</a:t>
            </a:r>
            <a:endParaRPr lang="en-US" altLang="zh-CN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altLang="zh-CN" dirty="0">
                <a:solidFill>
                  <a:srgbClr val="8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</a:t>
            </a:r>
            <a:r>
              <a:rPr lang="zh-CN" altLang="zh-CN" dirty="0">
                <a:solidFill>
                  <a:srgbClr val="8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in2000是5.0</a:t>
            </a:r>
            <a:r>
              <a:rPr lang="zh-CN" altLang="en-US" dirty="0">
                <a:solidFill>
                  <a:srgbClr val="8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、</a:t>
            </a:r>
            <a:r>
              <a:rPr lang="en-US" altLang="zh-CN" dirty="0">
                <a:solidFill>
                  <a:srgbClr val="8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XP</a:t>
            </a:r>
            <a:r>
              <a:rPr lang="zh-CN" altLang="en-US" dirty="0">
                <a:solidFill>
                  <a:srgbClr val="8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是</a:t>
            </a:r>
            <a:r>
              <a:rPr lang="en-US" altLang="zh-CN" dirty="0">
                <a:solidFill>
                  <a:srgbClr val="8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5.1</a:t>
            </a:r>
            <a:r>
              <a:rPr lang="zh-CN" altLang="en-US" dirty="0">
                <a:solidFill>
                  <a:srgbClr val="8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、</a:t>
            </a:r>
            <a:r>
              <a:rPr lang="en-US" altLang="zh-CN" dirty="0">
                <a:solidFill>
                  <a:srgbClr val="8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Vista</a:t>
            </a:r>
            <a:r>
              <a:rPr lang="zh-CN" altLang="en-US" dirty="0">
                <a:solidFill>
                  <a:srgbClr val="8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是</a:t>
            </a:r>
            <a:r>
              <a:rPr lang="en-US" altLang="zh-CN" dirty="0">
                <a:solidFill>
                  <a:srgbClr val="8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6.0</a:t>
            </a:r>
            <a:r>
              <a:rPr lang="zh-CN" altLang="en-US" dirty="0">
                <a:solidFill>
                  <a:srgbClr val="8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、</a:t>
            </a:r>
            <a:r>
              <a:rPr lang="en-US" altLang="zh-CN" dirty="0">
                <a:solidFill>
                  <a:srgbClr val="8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Win7</a:t>
            </a:r>
            <a:r>
              <a:rPr lang="zh-CN" altLang="en-US" dirty="0">
                <a:solidFill>
                  <a:srgbClr val="8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是</a:t>
            </a:r>
            <a:r>
              <a:rPr lang="en-US" altLang="zh-CN" dirty="0">
                <a:solidFill>
                  <a:srgbClr val="8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6.1</a:t>
            </a:r>
            <a:r>
              <a:rPr lang="zh-CN" altLang="en-US" dirty="0">
                <a:solidFill>
                  <a:srgbClr val="8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、</a:t>
            </a:r>
            <a:r>
              <a:rPr lang="en-US" altLang="zh-CN" dirty="0">
                <a:solidFill>
                  <a:srgbClr val="8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Win8</a:t>
            </a:r>
            <a:r>
              <a:rPr lang="zh-CN" altLang="en-US" dirty="0">
                <a:solidFill>
                  <a:srgbClr val="8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是</a:t>
            </a:r>
            <a:r>
              <a:rPr lang="en-US" altLang="zh-CN" dirty="0">
                <a:solidFill>
                  <a:srgbClr val="8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6.2</a:t>
            </a:r>
            <a:r>
              <a:rPr lang="zh-CN" altLang="en-US" dirty="0">
                <a:solidFill>
                  <a:srgbClr val="8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、</a:t>
            </a:r>
            <a:r>
              <a:rPr lang="en-US" altLang="zh-CN" dirty="0">
                <a:solidFill>
                  <a:srgbClr val="8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Win10</a:t>
            </a:r>
            <a:r>
              <a:rPr lang="zh-CN" altLang="en-US" dirty="0">
                <a:solidFill>
                  <a:srgbClr val="8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是</a:t>
            </a:r>
            <a:r>
              <a:rPr lang="en-US" altLang="zh-CN" dirty="0">
                <a:solidFill>
                  <a:srgbClr val="8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10.0</a:t>
            </a:r>
            <a:r>
              <a:rPr lang="zh-CN" altLang="en-US" dirty="0">
                <a:solidFill>
                  <a:srgbClr val="8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、</a:t>
            </a:r>
            <a:r>
              <a:rPr lang="en-US" altLang="zh-CN" dirty="0">
                <a:solidFill>
                  <a:srgbClr val="8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Win11</a:t>
            </a:r>
            <a:r>
              <a:rPr lang="zh-CN" altLang="en-US" dirty="0">
                <a:solidFill>
                  <a:srgbClr val="8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是</a:t>
            </a:r>
            <a:r>
              <a:rPr lang="en-US" altLang="zh-CN" dirty="0">
                <a:solidFill>
                  <a:srgbClr val="8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10.0</a:t>
            </a:r>
          </a:p>
          <a:p>
            <a:pPr marL="457200" lvl="1" indent="0">
              <a:buNone/>
            </a:pPr>
            <a:r>
              <a:rPr lang="zh-CN" altLang="zh-CN" sz="800" dirty="0"/>
              <a:t> </a:t>
            </a:r>
            <a:endParaRPr lang="zh-CN" altLang="zh-CN" sz="6000" dirty="0">
              <a:latin typeface="Arial" panose="020B0604020202020204" pitchFamily="34" charset="0"/>
            </a:endParaRPr>
          </a:p>
          <a:p>
            <a:pPr lvl="1"/>
            <a:endParaRPr lang="en-US" altLang="zh-CN" dirty="0">
              <a:latin typeface="宋体" panose="02010600030101010101" pitchFamily="2" charset="-122"/>
              <a:cs typeface="Times New Roman" panose="02020603050405020304" pitchFamily="18" charset="0"/>
            </a:endParaRPr>
          </a:p>
          <a:p>
            <a:pPr lvl="1"/>
            <a:endParaRPr lang="zh-CN" altLang="en-US" dirty="0">
              <a:latin typeface="宋体" panose="02010600030101010101" pitchFamily="2" charset="-122"/>
            </a:endParaRP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9158EE1A-2139-42FC-931D-D5F1F0E153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28688"/>
            <a:ext cx="10515600" cy="762000"/>
          </a:xfrm>
        </p:spPr>
        <p:txBody>
          <a:bodyPr/>
          <a:lstStyle/>
          <a:p>
            <a:r>
              <a:rPr lang="en-US" altLang="zh-CN" dirty="0"/>
              <a:t>IMAGE_OPTIONAL_HEADER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24377265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030EC79-BFB3-433B-8A58-9910B9DC36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>
                <a:latin typeface="宋体" panose="02010600030101010101" pitchFamily="2" charset="-122"/>
                <a:cs typeface="Times New Roman" panose="02020603050405020304" pitchFamily="18" charset="0"/>
              </a:rPr>
              <a:t>MajorImageVersion</a:t>
            </a:r>
            <a:r>
              <a:rPr lang="en-US" altLang="zh-CN" dirty="0">
                <a:latin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solidFill>
                  <a:srgbClr val="FF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WORD</a:t>
            </a:r>
            <a:r>
              <a:rPr lang="en-US" altLang="zh-CN" dirty="0">
                <a:latin typeface="宋体" panose="02010600030101010101" pitchFamily="2" charset="-122"/>
                <a:cs typeface="Times New Roman" panose="02020603050405020304" pitchFamily="18" charset="0"/>
              </a:rPr>
              <a:t>)</a:t>
            </a:r>
          </a:p>
          <a:p>
            <a:r>
              <a:rPr lang="en-US" altLang="zh-CN" dirty="0" err="1">
                <a:latin typeface="宋体" panose="02010600030101010101" pitchFamily="2" charset="-122"/>
                <a:cs typeface="Times New Roman" panose="02020603050405020304" pitchFamily="18" charset="0"/>
              </a:rPr>
              <a:t>MinorImageVersion</a:t>
            </a:r>
            <a:r>
              <a:rPr lang="en-US" altLang="zh-CN" dirty="0">
                <a:latin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solidFill>
                  <a:srgbClr val="FF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WORD</a:t>
            </a:r>
            <a:r>
              <a:rPr lang="en-US" altLang="zh-CN" dirty="0">
                <a:latin typeface="宋体" panose="02010600030101010101" pitchFamily="2" charset="-122"/>
                <a:cs typeface="Times New Roman" panose="02020603050405020304" pitchFamily="18" charset="0"/>
              </a:rPr>
              <a:t>)</a:t>
            </a:r>
          </a:p>
          <a:p>
            <a:pPr lvl="1"/>
            <a:r>
              <a:rPr lang="zh-CN" altLang="en-US" dirty="0">
                <a:latin typeface="宋体" panose="02010600030101010101" pitchFamily="2" charset="-122"/>
                <a:cs typeface="Times New Roman" panose="02020603050405020304" pitchFamily="18" charset="0"/>
              </a:rPr>
              <a:t>程序的主版本号和次版本号</a:t>
            </a:r>
            <a:endParaRPr lang="en-US" altLang="zh-CN" dirty="0">
              <a:latin typeface="宋体" panose="02010600030101010101" pitchFamily="2" charset="-122"/>
              <a:cs typeface="Times New Roman" panose="02020603050405020304" pitchFamily="18" charset="0"/>
            </a:endParaRPr>
          </a:p>
          <a:p>
            <a:pPr lvl="1"/>
            <a:r>
              <a:rPr lang="zh-CN" altLang="en-US" dirty="0">
                <a:latin typeface="宋体" panose="02010600030101010101" pitchFamily="2" charset="-122"/>
                <a:cs typeface="Times New Roman" panose="02020603050405020304" pitchFamily="18" charset="0"/>
              </a:rPr>
              <a:t>由程序员自己定义</a:t>
            </a:r>
            <a:endParaRPr lang="en-US" altLang="zh-CN" dirty="0">
              <a:latin typeface="宋体" panose="02010600030101010101" pitchFamily="2" charset="-122"/>
              <a:cs typeface="Times New Roman" panose="02020603050405020304" pitchFamily="18" charset="0"/>
            </a:endParaRPr>
          </a:p>
          <a:p>
            <a:pPr lvl="1"/>
            <a:r>
              <a:rPr lang="en-US" altLang="zh-CN" dirty="0">
                <a:latin typeface="宋体" panose="02010600030101010101" pitchFamily="2" charset="-122"/>
                <a:cs typeface="Times New Roman" panose="02020603050405020304" pitchFamily="18" charset="0"/>
              </a:rPr>
              <a:t>0000 0000</a:t>
            </a:r>
            <a:endParaRPr lang="zh-CN" altLang="en-US" dirty="0">
              <a:latin typeface="宋体" panose="02010600030101010101" pitchFamily="2" charset="-122"/>
            </a:endParaRP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A035E115-0D29-4B4E-9DF3-C550BB2F6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28688"/>
            <a:ext cx="10515600" cy="762000"/>
          </a:xfrm>
        </p:spPr>
        <p:txBody>
          <a:bodyPr/>
          <a:lstStyle/>
          <a:p>
            <a:r>
              <a:rPr lang="en-US" altLang="zh-CN" dirty="0"/>
              <a:t>IMAGE_OPTIONAL_HEADER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95178402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BDA5B51-D639-4EEC-A6F2-D9659217A7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>
                <a:latin typeface="宋体" panose="02010600030101010101" pitchFamily="2" charset="-122"/>
                <a:cs typeface="Times New Roman" panose="02020603050405020304" pitchFamily="18" charset="0"/>
              </a:rPr>
              <a:t>MajorSubsystemVersion</a:t>
            </a:r>
            <a:r>
              <a:rPr lang="en-US" altLang="zh-CN" dirty="0">
                <a:latin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solidFill>
                  <a:srgbClr val="FF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WORD</a:t>
            </a:r>
            <a:r>
              <a:rPr lang="en-US" altLang="zh-CN" dirty="0">
                <a:latin typeface="宋体" panose="02010600030101010101" pitchFamily="2" charset="-122"/>
                <a:cs typeface="Times New Roman" panose="02020603050405020304" pitchFamily="18" charset="0"/>
              </a:rPr>
              <a:t>)</a:t>
            </a:r>
          </a:p>
          <a:p>
            <a:r>
              <a:rPr lang="en-US" altLang="zh-CN" dirty="0" err="1">
                <a:latin typeface="宋体" panose="02010600030101010101" pitchFamily="2" charset="-122"/>
                <a:cs typeface="Times New Roman" panose="02020603050405020304" pitchFamily="18" charset="0"/>
              </a:rPr>
              <a:t>MinorSubsystemVersion</a:t>
            </a:r>
            <a:r>
              <a:rPr lang="en-US" altLang="zh-CN" dirty="0">
                <a:latin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solidFill>
                  <a:srgbClr val="FF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WORD</a:t>
            </a:r>
            <a:r>
              <a:rPr lang="en-US" altLang="zh-CN" dirty="0">
                <a:latin typeface="宋体" panose="02010600030101010101" pitchFamily="2" charset="-122"/>
                <a:cs typeface="Times New Roman" panose="02020603050405020304" pitchFamily="18" charset="0"/>
              </a:rPr>
              <a:t>)</a:t>
            </a:r>
          </a:p>
          <a:p>
            <a:pPr lvl="1"/>
            <a:r>
              <a:rPr lang="en-US" altLang="zh-CN" dirty="0">
                <a:latin typeface="宋体" panose="02010600030101010101" pitchFamily="2" charset="-122"/>
                <a:cs typeface="Times New Roman" panose="02020603050405020304" pitchFamily="18" charset="0"/>
              </a:rPr>
              <a:t>PE</a:t>
            </a:r>
            <a:r>
              <a:rPr lang="zh-CN" altLang="en-US" dirty="0">
                <a:latin typeface="宋体" panose="02010600030101010101" pitchFamily="2" charset="-122"/>
                <a:cs typeface="Times New Roman" panose="02020603050405020304" pitchFamily="18" charset="0"/>
              </a:rPr>
              <a:t>文件所要求的子系统的版本号</a:t>
            </a:r>
            <a:endParaRPr lang="en-US" altLang="zh-CN" dirty="0">
              <a:latin typeface="宋体" panose="02010600030101010101" pitchFamily="2" charset="-122"/>
              <a:cs typeface="Times New Roman" panose="02020603050405020304" pitchFamily="18" charset="0"/>
            </a:endParaRPr>
          </a:p>
          <a:p>
            <a:pPr lvl="1"/>
            <a:r>
              <a:rPr lang="en-US" altLang="zh-CN" dirty="0">
                <a:latin typeface="宋体" panose="02010600030101010101" pitchFamily="2" charset="-122"/>
                <a:cs typeface="Times New Roman" panose="02020603050405020304" pitchFamily="18" charset="0"/>
              </a:rPr>
              <a:t>0004 0000</a:t>
            </a:r>
          </a:p>
          <a:p>
            <a:r>
              <a:rPr lang="en-US" altLang="zh-CN" dirty="0">
                <a:latin typeface="宋体" panose="02010600030101010101" pitchFamily="2" charset="-122"/>
                <a:cs typeface="Times New Roman" panose="02020603050405020304" pitchFamily="18" charset="0"/>
              </a:rPr>
              <a:t>Win32VersionValue(DWORD): </a:t>
            </a:r>
            <a:r>
              <a:rPr lang="zh-CN" altLang="en-US" dirty="0">
                <a:latin typeface="宋体" panose="02010600030101010101" pitchFamily="2" charset="-122"/>
                <a:cs typeface="Times New Roman" panose="02020603050405020304" pitchFamily="18" charset="0"/>
              </a:rPr>
              <a:t>通常被设置为</a:t>
            </a:r>
            <a:r>
              <a:rPr lang="en-US" altLang="zh-CN" dirty="0">
                <a:latin typeface="宋体" panose="02010600030101010101" pitchFamily="2" charset="-122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6A71A1D5-463E-4304-AA82-D8BA5817E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28688"/>
            <a:ext cx="10515600" cy="762000"/>
          </a:xfrm>
        </p:spPr>
        <p:txBody>
          <a:bodyPr/>
          <a:lstStyle/>
          <a:p>
            <a:r>
              <a:rPr lang="en-US" altLang="zh-CN" dirty="0"/>
              <a:t>IMAGE_OPTIONAL_HEADER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28940043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CB09715-A528-40F0-B38A-17BA809083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1027" y="1690689"/>
            <a:ext cx="10222030" cy="4955208"/>
          </a:xfrm>
        </p:spPr>
        <p:txBody>
          <a:bodyPr/>
          <a:lstStyle/>
          <a:p>
            <a:r>
              <a:rPr lang="en-US" altLang="zh-CN" dirty="0" err="1">
                <a:latin typeface="宋体" panose="02010600030101010101" pitchFamily="2" charset="-122"/>
                <a:cs typeface="Times New Roman" panose="02020603050405020304" pitchFamily="18" charset="0"/>
              </a:rPr>
              <a:t>SizeOfImage</a:t>
            </a:r>
            <a:r>
              <a:rPr lang="zh-CN" altLang="en-US" dirty="0">
                <a:latin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dirty="0">
                <a:solidFill>
                  <a:srgbClr val="FF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DWORD</a:t>
            </a:r>
            <a:r>
              <a:rPr lang="zh-CN" altLang="en-US" dirty="0">
                <a:latin typeface="宋体" panose="02010600030101010101" pitchFamily="2" charset="-122"/>
                <a:cs typeface="Times New Roman" panose="02020603050405020304" pitchFamily="18" charset="0"/>
              </a:rPr>
              <a:t>）</a:t>
            </a:r>
            <a:r>
              <a:rPr lang="en-US" altLang="zh-CN" dirty="0">
                <a:latin typeface="宋体" panose="0201060003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en-US" dirty="0">
                <a:latin typeface="宋体" panose="02010600030101010101" pitchFamily="2" charset="-122"/>
                <a:cs typeface="Times New Roman" panose="02020603050405020304" pitchFamily="18" charset="0"/>
              </a:rPr>
              <a:t>映像载入内存后的总大小，是指载入文件从</a:t>
            </a:r>
            <a:r>
              <a:rPr lang="en-US" altLang="zh-CN" dirty="0" err="1">
                <a:latin typeface="宋体" panose="02010600030101010101" pitchFamily="2" charset="-122"/>
                <a:cs typeface="Times New Roman" panose="02020603050405020304" pitchFamily="18" charset="0"/>
              </a:rPr>
              <a:t>ImageBase</a:t>
            </a:r>
            <a:r>
              <a:rPr lang="zh-CN" altLang="en-US" dirty="0">
                <a:latin typeface="宋体" panose="02010600030101010101" pitchFamily="2" charset="-122"/>
                <a:cs typeface="Times New Roman" panose="02020603050405020304" pitchFamily="18" charset="0"/>
              </a:rPr>
              <a:t>到最后一个块的大小</a:t>
            </a:r>
            <a:endParaRPr lang="en-US" altLang="zh-CN" dirty="0">
              <a:latin typeface="宋体" panose="02010600030101010101" pitchFamily="2" charset="-122"/>
              <a:cs typeface="Times New Roman" panose="02020603050405020304" pitchFamily="18" charset="0"/>
            </a:endParaRPr>
          </a:p>
          <a:p>
            <a:pPr lvl="1"/>
            <a:r>
              <a:rPr lang="en-US" altLang="zh-CN" dirty="0">
                <a:latin typeface="宋体" panose="02010600030101010101" pitchFamily="2" charset="-122"/>
                <a:cs typeface="Times New Roman" panose="02020603050405020304" pitchFamily="18" charset="0"/>
              </a:rPr>
              <a:t>00004000h</a:t>
            </a:r>
            <a:endParaRPr lang="zh-CN" altLang="en-US" dirty="0">
              <a:latin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dirty="0" err="1">
                <a:latin typeface="宋体" panose="02010600030101010101" pitchFamily="2" charset="-122"/>
                <a:cs typeface="Times New Roman" panose="02020603050405020304" pitchFamily="18" charset="0"/>
              </a:rPr>
              <a:t>SizeOfHeaders</a:t>
            </a:r>
            <a:r>
              <a:rPr lang="zh-CN" altLang="en-US" dirty="0">
                <a:latin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dirty="0">
                <a:solidFill>
                  <a:srgbClr val="FF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DWORD</a:t>
            </a:r>
            <a:r>
              <a:rPr lang="zh-CN" altLang="en-US" dirty="0">
                <a:latin typeface="宋体" panose="02010600030101010101" pitchFamily="2" charset="-122"/>
                <a:cs typeface="Times New Roman" panose="02020603050405020304" pitchFamily="18" charset="0"/>
              </a:rPr>
              <a:t>）</a:t>
            </a:r>
            <a:r>
              <a:rPr lang="en-US" altLang="zh-CN" dirty="0">
                <a:latin typeface="宋体" panose="02010600030101010101" pitchFamily="2" charset="-122"/>
                <a:cs typeface="Times New Roman" panose="02020603050405020304" pitchFamily="18" charset="0"/>
              </a:rPr>
              <a:t>: MS-DOS</a:t>
            </a:r>
            <a:r>
              <a:rPr lang="zh-CN" altLang="en-US" dirty="0">
                <a:latin typeface="宋体" panose="02010600030101010101" pitchFamily="2" charset="-122"/>
                <a:cs typeface="Times New Roman" panose="02020603050405020304" pitchFamily="18" charset="0"/>
              </a:rPr>
              <a:t>头部、</a:t>
            </a:r>
            <a:r>
              <a:rPr lang="en-US" altLang="zh-CN" dirty="0">
                <a:latin typeface="宋体" panose="02010600030101010101" pitchFamily="2" charset="-122"/>
                <a:cs typeface="Times New Roman" panose="02020603050405020304" pitchFamily="18" charset="0"/>
              </a:rPr>
              <a:t>PE</a:t>
            </a:r>
            <a:r>
              <a:rPr lang="zh-CN" altLang="en-US" dirty="0">
                <a:latin typeface="宋体" panose="02010600030101010101" pitchFamily="2" charset="-122"/>
                <a:cs typeface="Times New Roman" panose="02020603050405020304" pitchFamily="18" charset="0"/>
              </a:rPr>
              <a:t>文件头、区块表的总尺寸</a:t>
            </a:r>
            <a:endParaRPr lang="en-US" altLang="zh-CN" dirty="0">
              <a:latin typeface="宋体" panose="02010600030101010101" pitchFamily="2" charset="-122"/>
              <a:cs typeface="Times New Roman" panose="02020603050405020304" pitchFamily="18" charset="0"/>
            </a:endParaRPr>
          </a:p>
          <a:p>
            <a:pPr lvl="1"/>
            <a:r>
              <a:rPr lang="en-US" altLang="zh-CN" dirty="0">
                <a:latin typeface="宋体" panose="02010600030101010101" pitchFamily="2" charset="-122"/>
                <a:cs typeface="Times New Roman" panose="02020603050405020304" pitchFamily="18" charset="0"/>
              </a:rPr>
              <a:t>00000400h</a:t>
            </a:r>
            <a:endParaRPr lang="zh-CN" altLang="en-US" dirty="0">
              <a:latin typeface="宋体" panose="02010600030101010101" pitchFamily="2" charset="-122"/>
            </a:endParaRP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7B3ABCEC-B66E-4F4E-B609-81BA2F70E5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28688"/>
            <a:ext cx="10515600" cy="762000"/>
          </a:xfrm>
        </p:spPr>
        <p:txBody>
          <a:bodyPr/>
          <a:lstStyle/>
          <a:p>
            <a:r>
              <a:rPr lang="en-US" altLang="zh-CN" dirty="0"/>
              <a:t>IMAGE_OPTIONAL_HEADER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44369924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744BC4-A70B-4B8D-85C4-B9DEBDCFFF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25662" y="1835333"/>
            <a:ext cx="7940675" cy="4546216"/>
          </a:xfrm>
        </p:spPr>
        <p:txBody>
          <a:bodyPr/>
          <a:lstStyle/>
          <a:p>
            <a:r>
              <a:rPr lang="en-US" altLang="zh-CN" dirty="0" err="1">
                <a:latin typeface="宋体" panose="02010600030101010101" pitchFamily="2" charset="-122"/>
                <a:cs typeface="Times New Roman" panose="02020603050405020304" pitchFamily="18" charset="0"/>
              </a:rPr>
              <a:t>SizeOfStackReserve</a:t>
            </a:r>
            <a:r>
              <a:rPr lang="zh-CN" altLang="en-US" dirty="0">
                <a:latin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dirty="0">
                <a:solidFill>
                  <a:srgbClr val="FF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DWORD</a:t>
            </a:r>
            <a:r>
              <a:rPr lang="zh-CN" altLang="en-US" dirty="0">
                <a:latin typeface="宋体" panose="02010600030101010101" pitchFamily="2" charset="-122"/>
                <a:cs typeface="Times New Roman" panose="02020603050405020304" pitchFamily="18" charset="0"/>
              </a:rPr>
              <a:t>）</a:t>
            </a:r>
            <a:endParaRPr lang="en-US" altLang="zh-CN" dirty="0">
              <a:latin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dirty="0" err="1">
                <a:latin typeface="宋体" panose="02010600030101010101" pitchFamily="2" charset="-122"/>
                <a:cs typeface="Times New Roman" panose="02020603050405020304" pitchFamily="18" charset="0"/>
              </a:rPr>
              <a:t>SizeOfStackCommit</a:t>
            </a:r>
            <a:r>
              <a:rPr lang="zh-CN" altLang="en-US" dirty="0">
                <a:latin typeface="宋体" panose="02010600030101010101" pitchFamily="2" charset="-122"/>
                <a:cs typeface="Times New Roman" panose="02020603050405020304" pitchFamily="18" charset="0"/>
              </a:rPr>
              <a:t> （</a:t>
            </a:r>
            <a:r>
              <a:rPr lang="en-US" altLang="zh-CN" dirty="0">
                <a:solidFill>
                  <a:srgbClr val="FF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DWORD</a:t>
            </a:r>
            <a:r>
              <a:rPr lang="zh-CN" altLang="en-US" dirty="0">
                <a:latin typeface="宋体" panose="02010600030101010101" pitchFamily="2" charset="-122"/>
                <a:cs typeface="Times New Roman" panose="02020603050405020304" pitchFamily="18" charset="0"/>
              </a:rPr>
              <a:t>）</a:t>
            </a:r>
            <a:endParaRPr lang="en-US" altLang="zh-CN" dirty="0">
              <a:latin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dirty="0" err="1">
                <a:latin typeface="宋体" panose="02010600030101010101" pitchFamily="2" charset="-122"/>
                <a:cs typeface="Times New Roman" panose="02020603050405020304" pitchFamily="18" charset="0"/>
              </a:rPr>
              <a:t>SizeOfHeapReserve</a:t>
            </a:r>
            <a:r>
              <a:rPr lang="zh-CN" altLang="en-US" dirty="0">
                <a:latin typeface="宋体" panose="02010600030101010101" pitchFamily="2" charset="-122"/>
                <a:cs typeface="Times New Roman" panose="02020603050405020304" pitchFamily="18" charset="0"/>
              </a:rPr>
              <a:t> （</a:t>
            </a:r>
            <a:r>
              <a:rPr lang="en-US" altLang="zh-CN" dirty="0">
                <a:solidFill>
                  <a:srgbClr val="FF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DWORD</a:t>
            </a:r>
            <a:r>
              <a:rPr lang="zh-CN" altLang="en-US" dirty="0">
                <a:latin typeface="宋体" panose="02010600030101010101" pitchFamily="2" charset="-122"/>
                <a:cs typeface="Times New Roman" panose="02020603050405020304" pitchFamily="18" charset="0"/>
              </a:rPr>
              <a:t>）</a:t>
            </a:r>
            <a:endParaRPr lang="en-US" altLang="zh-CN" dirty="0">
              <a:latin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dirty="0" err="1">
                <a:latin typeface="宋体" panose="02010600030101010101" pitchFamily="2" charset="-122"/>
                <a:cs typeface="Times New Roman" panose="02020603050405020304" pitchFamily="18" charset="0"/>
              </a:rPr>
              <a:t>SizeOfHeapCommit</a:t>
            </a:r>
            <a:r>
              <a:rPr lang="zh-CN" altLang="en-US" dirty="0">
                <a:latin typeface="宋体" panose="02010600030101010101" pitchFamily="2" charset="-122"/>
                <a:cs typeface="Times New Roman" panose="02020603050405020304" pitchFamily="18" charset="0"/>
              </a:rPr>
              <a:t> （</a:t>
            </a:r>
            <a:r>
              <a:rPr lang="en-US" altLang="zh-CN" dirty="0">
                <a:solidFill>
                  <a:srgbClr val="FF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DWORD</a:t>
            </a:r>
            <a:r>
              <a:rPr lang="zh-CN" altLang="en-US" dirty="0">
                <a:latin typeface="宋体" panose="02010600030101010101" pitchFamily="2" charset="-122"/>
                <a:cs typeface="Times New Roman" panose="02020603050405020304" pitchFamily="18" charset="0"/>
              </a:rPr>
              <a:t>）</a:t>
            </a:r>
            <a:endParaRPr lang="en-US" altLang="zh-CN" dirty="0">
              <a:latin typeface="宋体" panose="02010600030101010101" pitchFamily="2" charset="-122"/>
              <a:cs typeface="Times New Roman" panose="02020603050405020304" pitchFamily="18" charset="0"/>
            </a:endParaRPr>
          </a:p>
          <a:p>
            <a:pPr lvl="1"/>
            <a:r>
              <a:rPr lang="zh-CN" altLang="en-US" dirty="0">
                <a:latin typeface="宋体" panose="02010600030101010101" pitchFamily="2" charset="-122"/>
                <a:cs typeface="Times New Roman" panose="02020603050405020304" pitchFamily="18" charset="0"/>
              </a:rPr>
              <a:t>栈、堆的设置信息</a:t>
            </a:r>
            <a:endParaRPr lang="en-US" altLang="zh-CN" dirty="0">
              <a:latin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dirty="0" err="1">
                <a:latin typeface="宋体" panose="02010600030101010101" pitchFamily="2" charset="-122"/>
                <a:cs typeface="Times New Roman" panose="02020603050405020304" pitchFamily="18" charset="0"/>
              </a:rPr>
              <a:t>LoaderFlags</a:t>
            </a:r>
            <a:r>
              <a:rPr lang="zh-CN" altLang="en-US" dirty="0">
                <a:latin typeface="宋体" panose="02010600030101010101" pitchFamily="2" charset="-122"/>
                <a:cs typeface="Times New Roman" panose="02020603050405020304" pitchFamily="18" charset="0"/>
              </a:rPr>
              <a:t> （</a:t>
            </a:r>
            <a:r>
              <a:rPr lang="en-US" altLang="zh-CN" dirty="0">
                <a:solidFill>
                  <a:srgbClr val="FF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DWORD</a:t>
            </a:r>
            <a:r>
              <a:rPr lang="zh-CN" altLang="en-US" dirty="0">
                <a:latin typeface="宋体" panose="02010600030101010101" pitchFamily="2" charset="-122"/>
                <a:cs typeface="Times New Roman" panose="02020603050405020304" pitchFamily="18" charset="0"/>
              </a:rPr>
              <a:t>） </a:t>
            </a:r>
            <a:r>
              <a:rPr lang="en-US" altLang="zh-CN" dirty="0">
                <a:latin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en-US" dirty="0">
                <a:latin typeface="宋体" panose="02010600030101010101" pitchFamily="2" charset="-122"/>
                <a:cs typeface="Times New Roman" panose="02020603050405020304" pitchFamily="18" charset="0"/>
              </a:rPr>
              <a:t>与调试有关</a:t>
            </a: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34B65909-5D72-4249-9C9C-EDCD4F83D6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28688"/>
            <a:ext cx="10515600" cy="762000"/>
          </a:xfrm>
        </p:spPr>
        <p:txBody>
          <a:bodyPr/>
          <a:lstStyle/>
          <a:p>
            <a:r>
              <a:rPr lang="en-US" altLang="zh-CN" dirty="0"/>
              <a:t>IMAGE_OPTIONAL_HEADER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46936864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35F0FA-4E08-49AE-84A4-03ACED8AB4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IMAGE_DATA_DIRECTORY </a:t>
            </a:r>
            <a:r>
              <a:rPr lang="zh-CN" altLang="en-US" dirty="0"/>
              <a:t>数据目录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B8202A5-1146-4E40-A50B-A664D53A24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0331" y="1568303"/>
            <a:ext cx="10515599" cy="1860698"/>
          </a:xfrm>
        </p:spPr>
        <p:txBody>
          <a:bodyPr>
            <a:normAutofit/>
          </a:bodyPr>
          <a:lstStyle/>
          <a:p>
            <a:r>
              <a:rPr lang="en-US" altLang="zh-CN" dirty="0" err="1">
                <a:cs typeface="Times New Roman" panose="02020603050405020304" pitchFamily="18" charset="0"/>
              </a:rPr>
              <a:t>NumberOfRvaAndSizes</a:t>
            </a:r>
            <a:r>
              <a:rPr lang="zh-CN" altLang="en-US" dirty="0">
                <a:cs typeface="Times New Roman" panose="02020603050405020304" pitchFamily="18" charset="0"/>
              </a:rPr>
              <a:t>（</a:t>
            </a:r>
            <a:r>
              <a:rPr lang="en-US" altLang="zh-CN" dirty="0">
                <a:solidFill>
                  <a:srgbClr val="FF0000"/>
                </a:solidFill>
                <a:cs typeface="Times New Roman" panose="02020603050405020304" pitchFamily="18" charset="0"/>
              </a:rPr>
              <a:t>DWORD</a:t>
            </a:r>
            <a:r>
              <a:rPr lang="zh-CN" altLang="en-US" dirty="0">
                <a:cs typeface="Times New Roman" panose="02020603050405020304" pitchFamily="18" charset="0"/>
              </a:rPr>
              <a:t>）：数据目录的项数</a:t>
            </a:r>
            <a:endParaRPr lang="en-US" altLang="zh-CN" dirty="0">
              <a:cs typeface="Times New Roman" panose="02020603050405020304" pitchFamily="18" charset="0"/>
            </a:endParaRPr>
          </a:p>
          <a:p>
            <a:r>
              <a:rPr lang="en-US" altLang="zh-CN" dirty="0" err="1">
                <a:cs typeface="Times New Roman" panose="02020603050405020304" pitchFamily="18" charset="0"/>
              </a:rPr>
              <a:t>DataDirectory</a:t>
            </a:r>
            <a:r>
              <a:rPr lang="en-US" altLang="zh-CN" dirty="0">
                <a:cs typeface="Times New Roman" panose="02020603050405020304" pitchFamily="18" charset="0"/>
              </a:rPr>
              <a:t>[16]:</a:t>
            </a:r>
            <a:r>
              <a:rPr lang="zh-CN" altLang="en-US" dirty="0">
                <a:cs typeface="Times New Roman" panose="02020603050405020304" pitchFamily="18" charset="0"/>
              </a:rPr>
              <a:t>数据目录表</a:t>
            </a:r>
            <a:endParaRPr lang="en-US" altLang="zh-CN" dirty="0">
              <a:cs typeface="Times New Roman" panose="02020603050405020304" pitchFamily="18" charset="0"/>
            </a:endParaRPr>
          </a:p>
          <a:p>
            <a:endParaRPr lang="zh-CN" altLang="en-US" dirty="0">
              <a:cs typeface="Times New Roman" panose="02020603050405020304" pitchFamily="18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C67F9AB-A601-4D06-8ACE-3CC0B7B686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7860" y="3069295"/>
            <a:ext cx="8016279" cy="3519129"/>
          </a:xfrm>
          <a:prstGeom prst="rect">
            <a:avLst/>
          </a:prstGeom>
          <a:ln>
            <a:solidFill>
              <a:srgbClr val="7030A0"/>
            </a:solidFill>
          </a:ln>
        </p:spPr>
      </p:pic>
    </p:spTree>
    <p:extLst>
      <p:ext uri="{BB962C8B-B14F-4D97-AF65-F5344CB8AC3E}">
        <p14:creationId xmlns:p14="http://schemas.microsoft.com/office/powerpoint/2010/main" val="2295925656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5C2469-84BA-446D-916F-1085385F33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IMAGE_DATA_DIRECTORY </a:t>
            </a:r>
            <a:r>
              <a:rPr lang="zh-CN" altLang="en-US" dirty="0"/>
              <a:t>数据目录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594D254-5829-4903-9C10-D0AA5062F1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3001" y="2416081"/>
            <a:ext cx="5541108" cy="2672913"/>
          </a:xfrm>
          <a:prstGeom prst="rect">
            <a:avLst/>
          </a:prstGeom>
          <a:ln>
            <a:solidFill>
              <a:srgbClr val="7030A0"/>
            </a:solidFill>
          </a:ln>
        </p:spPr>
      </p:pic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772BCC8-4BD3-427E-B098-D35933E511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83892" y="1943250"/>
            <a:ext cx="4308108" cy="3754905"/>
          </a:xfrm>
        </p:spPr>
        <p:txBody>
          <a:bodyPr/>
          <a:lstStyle/>
          <a:p>
            <a:r>
              <a:rPr lang="en-US" altLang="zh-CN" dirty="0" err="1"/>
              <a:t>VirtualAddress</a:t>
            </a:r>
            <a:r>
              <a:rPr lang="en-US" altLang="zh-CN" dirty="0"/>
              <a:t> </a:t>
            </a:r>
          </a:p>
          <a:p>
            <a:pPr lvl="1"/>
            <a:r>
              <a:rPr lang="zh-CN" altLang="en-US" dirty="0"/>
              <a:t>该目录的</a:t>
            </a:r>
            <a:r>
              <a:rPr lang="zh-CN" altLang="en-US" dirty="0">
                <a:solidFill>
                  <a:srgbClr val="FF0000"/>
                </a:solidFill>
              </a:rPr>
              <a:t>相对虚拟地址</a:t>
            </a:r>
            <a:endParaRPr lang="en-US" altLang="zh-CN" dirty="0">
              <a:solidFill>
                <a:srgbClr val="FF0000"/>
              </a:solidFill>
            </a:endParaRPr>
          </a:p>
          <a:p>
            <a:pPr lvl="1"/>
            <a:r>
              <a:rPr lang="en-US" altLang="zh-CN" dirty="0">
                <a:solidFill>
                  <a:srgbClr val="FF0000"/>
                </a:solidFill>
              </a:rPr>
              <a:t>RVA</a:t>
            </a:r>
          </a:p>
          <a:p>
            <a:r>
              <a:rPr lang="en-US" altLang="zh-CN" dirty="0"/>
              <a:t>Size</a:t>
            </a:r>
          </a:p>
          <a:p>
            <a:pPr lvl="1"/>
            <a:r>
              <a:rPr lang="zh-CN" altLang="en-US" dirty="0"/>
              <a:t>该目录的大小</a:t>
            </a:r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E05A135-B040-41C6-9AFF-401F47D765DE}"/>
              </a:ext>
            </a:extLst>
          </p:cNvPr>
          <p:cNvSpPr/>
          <p:nvPr/>
        </p:nvSpPr>
        <p:spPr>
          <a:xfrm>
            <a:off x="353226" y="6320673"/>
            <a:ext cx="9885144" cy="369332"/>
          </a:xfrm>
          <a:prstGeom prst="rect">
            <a:avLst/>
          </a:prstGeom>
          <a:ln>
            <a:solidFill>
              <a:srgbClr val="7030A0"/>
            </a:solidFill>
          </a:ln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https://docs.microsoft.com/en-us/windows/win32/api/winnt/ns-winnt-image_data_directory</a:t>
            </a:r>
          </a:p>
        </p:txBody>
      </p:sp>
    </p:spTree>
    <p:extLst>
      <p:ext uri="{BB962C8B-B14F-4D97-AF65-F5344CB8AC3E}">
        <p14:creationId xmlns:p14="http://schemas.microsoft.com/office/powerpoint/2010/main" val="1709332398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61E551-09C8-4D21-BA03-8B4B1CE169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数据目录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AD1E78B-5094-44D7-8A4D-FBBC7DA79C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定位</a:t>
            </a:r>
            <a:r>
              <a:rPr lang="en-US" altLang="zh-CN" dirty="0"/>
              <a:t>PE</a:t>
            </a:r>
            <a:r>
              <a:rPr lang="zh-CN" altLang="en-US" dirty="0"/>
              <a:t>文件的导入表、导出表、资源的时候，需要用到</a:t>
            </a:r>
            <a:r>
              <a:rPr lang="zh-CN" altLang="en-US" dirty="0">
                <a:solidFill>
                  <a:srgbClr val="FF0000"/>
                </a:solidFill>
              </a:rPr>
              <a:t>数据目录</a:t>
            </a:r>
          </a:p>
        </p:txBody>
      </p:sp>
    </p:spTree>
    <p:extLst>
      <p:ext uri="{BB962C8B-B14F-4D97-AF65-F5344CB8AC3E}">
        <p14:creationId xmlns:p14="http://schemas.microsoft.com/office/powerpoint/2010/main" val="4175463501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74F9BB17-E861-47B0-97B3-8491F9745D1B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694046" y="635001"/>
            <a:ext cx="8059554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以下哪个字段存储了</a:t>
            </a:r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PE</a:t>
            </a:r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文件头在文件中的偏移地址？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88FFDA3-4BC0-4A5F-803D-3AD568BB66DC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3352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e_magic</a:t>
            </a:r>
            <a:endParaRPr lang="zh-CN" altLang="en-US" sz="26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8631C69-378F-4501-A6C4-579EAC905901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3352800" y="36433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e_ip</a:t>
            </a:r>
            <a:endParaRPr lang="zh-CN" altLang="en-US" sz="26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242362D-9830-42FA-8F01-AC78223EE0B5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3352800" y="45005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e_cs</a:t>
            </a:r>
            <a:endParaRPr lang="zh-CN" altLang="en-US" sz="26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10D546D-EED5-41C5-A2F9-335A72E2B0A1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3352800" y="53578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e_lfanew</a:t>
            </a:r>
            <a:endParaRPr lang="zh-CN" altLang="en-US" sz="26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B617F1D8-6D62-4A0B-927E-154E81231146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26384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7F07D1F8-0D8C-4954-BCB1-FFBAA05B8951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2638425" y="37076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7C3CC680-B652-49A1-B731-7F77760E5D5E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2638425" y="45648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44BA11E9-D35E-4577-BAAE-2EA19B39B6A5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2638425" y="542210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20FB0819-9918-495A-A1AD-B9BA9574AF8B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7696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5BB5419F-901C-4431-BF19-73CB182FCFB0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-1524000" y="0"/>
            <a:chExt cx="9144000" cy="635000"/>
          </a:xfrm>
        </p:grpSpPr>
        <p:sp>
          <p:nvSpPr>
            <p:cNvPr id="16" name="TitleBackground">
              <a:extLst>
                <a:ext uri="{FF2B5EF4-FFF2-40B4-BE49-F238E27FC236}">
                  <a16:creationId xmlns:a16="http://schemas.microsoft.com/office/drawing/2014/main" id="{6B6F3D9C-828D-4321-8AFA-06474C2BC134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-152400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7" name="ColorBlock">
              <a:extLst>
                <a:ext uri="{FF2B5EF4-FFF2-40B4-BE49-F238E27FC236}">
                  <a16:creationId xmlns:a16="http://schemas.microsoft.com/office/drawing/2014/main" id="{C8834907-C6BE-4BF2-9C54-3261226A6037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-152400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8" name="TypeText">
              <a:extLst>
                <a:ext uri="{FF2B5EF4-FFF2-40B4-BE49-F238E27FC236}">
                  <a16:creationId xmlns:a16="http://schemas.microsoft.com/office/drawing/2014/main" id="{4D32F5D9-D499-4199-86E8-0C45C9F3A79E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-127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9" name="TipText">
              <a:extLst>
                <a:ext uri="{FF2B5EF4-FFF2-40B4-BE49-F238E27FC236}">
                  <a16:creationId xmlns:a16="http://schemas.microsoft.com/office/drawing/2014/main" id="{0F524608-7225-48C3-A4A0-196A9B427C45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-13970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843C6FF5-BD6D-4BAB-B634-C46E841308D6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357019325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5F21DE30-1A7A-49AF-BC59-7D229F024969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2438400" y="635001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PE</a:t>
            </a:r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文件头包括哪几部分？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149C286-DDC9-4D4F-9916-DAEC68B2D2AA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3352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Signature</a:t>
            </a:r>
            <a:endParaRPr lang="zh-CN" altLang="en-US" sz="26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8162C88-E29C-403A-B6B8-74D42C0040DC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3352800" y="36433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FileHeader</a:t>
            </a:r>
            <a:endParaRPr lang="zh-CN" altLang="en-US" sz="26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EAEA61A-1839-4AFB-88E1-60EFF7E889EE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3352800" y="45005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OptionalHeader</a:t>
            </a:r>
            <a:endParaRPr lang="zh-CN" altLang="en-US" sz="26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749D4E6-0A3D-4892-8C94-C2EC49E112B9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3352800" y="53578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DOS Header</a:t>
            </a:r>
            <a:endParaRPr lang="zh-CN" altLang="en-US" sz="26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AA27D0-E1DD-4913-975D-18DEDBEEB4AD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2638425" y="285035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C2B1DB2-037D-4F11-AD79-0C8401E8D82A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2638425" y="370760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01EE45A-8A04-424E-83EA-4DCBDA1922B8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2638425" y="456485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991AA13-318E-48E8-9478-F015AE62E399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2638425" y="5422106"/>
            <a:ext cx="514350" cy="514350"/>
          </a:xfrm>
          <a:prstGeom prst="rect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A4222F5E-3024-459E-9E38-E0F633074A3D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7696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08FBCB6A-C19E-4B22-BC46-ABC87A138727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-1524000" y="0"/>
            <a:chExt cx="9144000" cy="635000"/>
          </a:xfrm>
        </p:grpSpPr>
        <p:sp>
          <p:nvSpPr>
            <p:cNvPr id="14" name="TitleBackground">
              <a:extLst>
                <a:ext uri="{FF2B5EF4-FFF2-40B4-BE49-F238E27FC236}">
                  <a16:creationId xmlns:a16="http://schemas.microsoft.com/office/drawing/2014/main" id="{8520B3EB-AEFC-4B6C-9826-330C6BFAA82A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-152400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5" name="ColorBlock">
              <a:extLst>
                <a:ext uri="{FF2B5EF4-FFF2-40B4-BE49-F238E27FC236}">
                  <a16:creationId xmlns:a16="http://schemas.microsoft.com/office/drawing/2014/main" id="{5CC164CD-6E2A-4E60-9D0A-FAB8C0761687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-152400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6" name="TypeText">
              <a:extLst>
                <a:ext uri="{FF2B5EF4-FFF2-40B4-BE49-F238E27FC236}">
                  <a16:creationId xmlns:a16="http://schemas.microsoft.com/office/drawing/2014/main" id="{1E35C683-251F-4A91-A052-273CB84881E8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-127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多选题</a:t>
              </a:r>
            </a:p>
          </p:txBody>
        </p:sp>
        <p:sp>
          <p:nvSpPr>
            <p:cNvPr id="17" name="TipText">
              <a:extLst>
                <a:ext uri="{FF2B5EF4-FFF2-40B4-BE49-F238E27FC236}">
                  <a16:creationId xmlns:a16="http://schemas.microsoft.com/office/drawing/2014/main" id="{2241216D-8ACC-42A0-A828-86C761874463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-13970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12DEA4AC-B2F5-49C1-9AD7-3BD01E7D2466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544474326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D5D317B5-C34B-4C9C-90E9-A8F645F9C648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910614" y="744220"/>
            <a:ext cx="8370771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以下哪些数据项可以计算出程序入口点的虚拟地址</a:t>
            </a:r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VA</a:t>
            </a:r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？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FBB73D1-33DF-45A0-B645-CB558D02AC60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3352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ImageBase</a:t>
            </a:r>
            <a:endParaRPr lang="zh-CN" altLang="en-US" sz="26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440862A-22BB-47CF-8283-385B2E572842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3352800" y="36433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BaseOfCode</a:t>
            </a:r>
            <a:endParaRPr lang="zh-CN" altLang="en-US" sz="26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885F2B8-27E0-4340-A23D-5070B75983A4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3352800" y="45005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AddressOfEntryPoint</a:t>
            </a:r>
            <a:endParaRPr lang="zh-CN" altLang="en-US" sz="26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C2ED3E4-99F5-4BD8-900C-498E386B4868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3352800" y="53578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SizeOfCode</a:t>
            </a:r>
            <a:endParaRPr lang="zh-CN" altLang="en-US" sz="26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8195F93-4625-41B5-9DFA-B113ED41C092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2638425" y="285035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C4DCCEA-EE4E-4411-980F-309FF80827F4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2638425" y="3707606"/>
            <a:ext cx="514350" cy="514350"/>
          </a:xfrm>
          <a:prstGeom prst="rect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17C3413-5407-4F03-BE2F-816D3E0B0601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2638425" y="456485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C279C3A-4CD3-4128-A75A-690BE7FDC226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2638425" y="5422106"/>
            <a:ext cx="514350" cy="514350"/>
          </a:xfrm>
          <a:prstGeom prst="rect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9EE1D192-97B1-4978-9644-E8780129BDC1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7696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48834F79-A511-41BF-9BAC-F53DAFE49631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-1524000" y="0"/>
            <a:chExt cx="9144000" cy="635000"/>
          </a:xfrm>
        </p:grpSpPr>
        <p:sp>
          <p:nvSpPr>
            <p:cNvPr id="16" name="TitleBackground">
              <a:extLst>
                <a:ext uri="{FF2B5EF4-FFF2-40B4-BE49-F238E27FC236}">
                  <a16:creationId xmlns:a16="http://schemas.microsoft.com/office/drawing/2014/main" id="{C5686113-F0EC-42B8-AC67-FBDCCD447ED0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-152400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7" name="ColorBlock">
              <a:extLst>
                <a:ext uri="{FF2B5EF4-FFF2-40B4-BE49-F238E27FC236}">
                  <a16:creationId xmlns:a16="http://schemas.microsoft.com/office/drawing/2014/main" id="{F22E0E2C-101F-4834-89DC-FF4C7E367E84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-152400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8" name="TypeText">
              <a:extLst>
                <a:ext uri="{FF2B5EF4-FFF2-40B4-BE49-F238E27FC236}">
                  <a16:creationId xmlns:a16="http://schemas.microsoft.com/office/drawing/2014/main" id="{B99CAED6-3B34-413F-9632-3D7B403C828C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-127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多选题</a:t>
              </a:r>
            </a:p>
          </p:txBody>
        </p:sp>
        <p:sp>
          <p:nvSpPr>
            <p:cNvPr id="19" name="TipText">
              <a:extLst>
                <a:ext uri="{FF2B5EF4-FFF2-40B4-BE49-F238E27FC236}">
                  <a16:creationId xmlns:a16="http://schemas.microsoft.com/office/drawing/2014/main" id="{F7CAA153-D3C1-4F1D-8075-0D9D027D69D6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-13970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B23E4544-BCE5-441C-AFA9-A080F5CC89FF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608546829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44727" y="2337582"/>
            <a:ext cx="6400800" cy="1143000"/>
          </a:xfrm>
        </p:spPr>
        <p:txBody>
          <a:bodyPr>
            <a:normAutofit/>
          </a:bodyPr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节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60567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683278-5C04-4BAC-B97C-7467220ABB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节表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9285F39-41F3-4CFE-8473-852D9AC7D9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/>
              <a:t>保证程序的安全性</a:t>
            </a:r>
            <a:endParaRPr lang="en-US" altLang="zh-CN" dirty="0"/>
          </a:p>
          <a:p>
            <a:pPr lvl="1">
              <a:lnSpc>
                <a:spcPct val="150000"/>
              </a:lnSpc>
            </a:pPr>
            <a:r>
              <a:rPr lang="zh-CN" altLang="en-US" dirty="0"/>
              <a:t>把</a:t>
            </a:r>
            <a:r>
              <a:rPr lang="en-US" altLang="zh-CN" dirty="0"/>
              <a:t>code</a:t>
            </a:r>
            <a:r>
              <a:rPr lang="zh-CN" altLang="en-US" dirty="0"/>
              <a:t>和</a:t>
            </a:r>
            <a:r>
              <a:rPr lang="en-US" altLang="zh-CN" dirty="0"/>
              <a:t>data</a:t>
            </a:r>
            <a:r>
              <a:rPr lang="zh-CN" altLang="en-US" dirty="0"/>
              <a:t>放在同一个内存节中相互纠缠，很容易引发</a:t>
            </a:r>
            <a:r>
              <a:rPr lang="zh-CN" altLang="en-US" dirty="0">
                <a:solidFill>
                  <a:srgbClr val="FF0000"/>
                </a:solidFill>
              </a:rPr>
              <a:t>安全问题</a:t>
            </a:r>
            <a:endParaRPr lang="en-US" altLang="zh-CN" dirty="0">
              <a:solidFill>
                <a:srgbClr val="FF0000"/>
              </a:solidFill>
            </a:endParaRPr>
          </a:p>
          <a:p>
            <a:pPr lvl="1">
              <a:lnSpc>
                <a:spcPct val="150000"/>
              </a:lnSpc>
            </a:pPr>
            <a:r>
              <a:rPr lang="en-US" altLang="zh-CN" dirty="0"/>
              <a:t>code</a:t>
            </a:r>
            <a:r>
              <a:rPr lang="zh-CN" altLang="en-US" dirty="0"/>
              <a:t>有可能被</a:t>
            </a:r>
            <a:r>
              <a:rPr lang="en-US" altLang="zh-CN" dirty="0"/>
              <a:t>data</a:t>
            </a:r>
            <a:r>
              <a:rPr lang="zh-CN" altLang="en-US" dirty="0"/>
              <a:t>覆盖，导致崩溃</a:t>
            </a:r>
            <a:endParaRPr lang="en-US" altLang="zh-CN" dirty="0"/>
          </a:p>
          <a:p>
            <a:pPr lvl="1">
              <a:lnSpc>
                <a:spcPct val="150000"/>
              </a:lnSpc>
            </a:pPr>
            <a:r>
              <a:rPr lang="en-US" altLang="zh-CN" dirty="0"/>
              <a:t>PE</a:t>
            </a:r>
            <a:r>
              <a:rPr lang="zh-CN" altLang="en-US" dirty="0"/>
              <a:t>文件格式将内存属性相同的数据统一保存在一个被称为“节”（</a:t>
            </a:r>
            <a:r>
              <a:rPr lang="en-US" altLang="zh-CN" dirty="0"/>
              <a:t>Section</a:t>
            </a:r>
            <a:r>
              <a:rPr lang="zh-CN" altLang="en-US" dirty="0"/>
              <a:t>）的地方</a:t>
            </a:r>
          </a:p>
        </p:txBody>
      </p:sp>
    </p:spTree>
    <p:extLst>
      <p:ext uri="{BB962C8B-B14F-4D97-AF65-F5344CB8AC3E}">
        <p14:creationId xmlns:p14="http://schemas.microsoft.com/office/powerpoint/2010/main" val="1124940196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FEDA5259-D7B8-4C77-B7A9-BB46DB055114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PE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文件格式将内存属性相同的数据统一保存在节中。节表中应该记录哪些节的相关信息？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BFCFCD6F-0D63-48FB-84DB-ACE480858119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A209A32B-33AF-4911-94EC-2194B1D1A4A2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8" name="TitleBackground">
              <a:extLst>
                <a:ext uri="{FF2B5EF4-FFF2-40B4-BE49-F238E27FC236}">
                  <a16:creationId xmlns:a16="http://schemas.microsoft.com/office/drawing/2014/main" id="{43C57D6C-6EDC-47FD-8157-D3FCF731D02A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ColorBlock">
              <a:extLst>
                <a:ext uri="{FF2B5EF4-FFF2-40B4-BE49-F238E27FC236}">
                  <a16:creationId xmlns:a16="http://schemas.microsoft.com/office/drawing/2014/main" id="{08547F87-4209-4B9A-9658-2638A1C5C632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TypeText">
              <a:extLst>
                <a:ext uri="{FF2B5EF4-FFF2-40B4-BE49-F238E27FC236}">
                  <a16:creationId xmlns:a16="http://schemas.microsoft.com/office/drawing/2014/main" id="{4729CFCF-0C61-41CB-B104-535CC8EDEE99}"/>
                </a:ext>
              </a:extLst>
            </p:cNvPr>
            <p:cNvSpPr txBox="1"/>
            <p:nvPr>
              <p:custDataLst>
                <p:tags r:id="rId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主观题</a:t>
              </a:r>
            </a:p>
          </p:txBody>
        </p:sp>
        <p:sp>
          <p:nvSpPr>
            <p:cNvPr id="11" name="TipText">
              <a:extLst>
                <a:ext uri="{FF2B5EF4-FFF2-40B4-BE49-F238E27FC236}">
                  <a16:creationId xmlns:a16="http://schemas.microsoft.com/office/drawing/2014/main" id="{6ED44D25-BC8A-4277-AA89-02619B1216CB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AA6ED78C-A442-4EB3-AC0E-27AAF308B31A}"/>
              </a:ext>
            </a:extLst>
          </p:cNvPr>
          <p:cNvPicPr>
            <a:picLocks/>
          </p:cNvPicPr>
          <p:nvPr>
            <p:custDataLst>
              <p:tags r:id="rId5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960603747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C48BFB-3BE3-49C7-B99F-BA46936638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IMAGE_SECTION_HEADER(</a:t>
            </a:r>
            <a:r>
              <a:rPr lang="en-US" altLang="zh-CN" dirty="0" err="1"/>
              <a:t>winnt.h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9B3D1CD-CD2E-415F-898C-9E8584FE01FB}"/>
              </a:ext>
            </a:extLst>
          </p:cNvPr>
          <p:cNvSpPr txBox="1"/>
          <p:nvPr/>
        </p:nvSpPr>
        <p:spPr>
          <a:xfrm>
            <a:off x="121138" y="6358281"/>
            <a:ext cx="96598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https://learn.microsoft.com/en-us/windows/win32/api/winnt/ns-winnt-image_section_header</a:t>
            </a:r>
          </a:p>
        </p:txBody>
      </p:sp>
      <p:sp>
        <p:nvSpPr>
          <p:cNvPr id="9" name="内容占位符 8">
            <a:extLst>
              <a:ext uri="{FF2B5EF4-FFF2-40B4-BE49-F238E27FC236}">
                <a16:creationId xmlns:a16="http://schemas.microsoft.com/office/drawing/2014/main" id="{5B1758F6-B3EB-4C97-A558-8D1BC009D075}"/>
              </a:ext>
            </a:extLst>
          </p:cNvPr>
          <p:cNvSpPr>
            <a:spLocks noGrp="1"/>
          </p:cNvSpPr>
          <p:nvPr>
            <p:ph idx="1"/>
          </p:nvPr>
        </p:nvSpPr>
        <p:spPr>
          <a:ln>
            <a:solidFill>
              <a:srgbClr val="7030A0"/>
            </a:solidFill>
          </a:ln>
        </p:spPr>
        <p:txBody>
          <a:bodyPr>
            <a:normAutofit fontScale="32500" lnSpcReduction="20000"/>
          </a:bodyPr>
          <a:lstStyle/>
          <a:p>
            <a:pPr marL="0" indent="0">
              <a:lnSpc>
                <a:spcPct val="170000"/>
              </a:lnSpc>
              <a:spcBef>
                <a:spcPts val="0"/>
              </a:spcBef>
              <a:buNone/>
            </a:pPr>
            <a:r>
              <a:rPr lang="zh-CN" altLang="en-US" sz="3700" dirty="0"/>
              <a:t>typedef struct _IMAGE_SECTION_HEADER {</a:t>
            </a:r>
          </a:p>
          <a:p>
            <a:pPr marL="0" indent="0">
              <a:lnSpc>
                <a:spcPct val="170000"/>
              </a:lnSpc>
              <a:spcBef>
                <a:spcPts val="0"/>
              </a:spcBef>
              <a:buNone/>
            </a:pPr>
            <a:r>
              <a:rPr lang="zh-CN" altLang="en-US" sz="3700" dirty="0"/>
              <a:t>  BYTE  Name[IMAGE_SIZEOF_SHORT_NAME];</a:t>
            </a:r>
          </a:p>
          <a:p>
            <a:pPr marL="0" indent="0">
              <a:lnSpc>
                <a:spcPct val="170000"/>
              </a:lnSpc>
              <a:spcBef>
                <a:spcPts val="0"/>
              </a:spcBef>
              <a:buNone/>
            </a:pPr>
            <a:r>
              <a:rPr lang="zh-CN" altLang="en-US" sz="3700" dirty="0"/>
              <a:t>  union {</a:t>
            </a:r>
          </a:p>
          <a:p>
            <a:pPr marL="0" indent="0">
              <a:lnSpc>
                <a:spcPct val="170000"/>
              </a:lnSpc>
              <a:spcBef>
                <a:spcPts val="0"/>
              </a:spcBef>
              <a:buNone/>
            </a:pPr>
            <a:r>
              <a:rPr lang="zh-CN" altLang="en-US" sz="3700" dirty="0"/>
              <a:t>    DWORD PhysicalAddress;</a:t>
            </a:r>
          </a:p>
          <a:p>
            <a:pPr marL="0" indent="0">
              <a:lnSpc>
                <a:spcPct val="170000"/>
              </a:lnSpc>
              <a:spcBef>
                <a:spcPts val="0"/>
              </a:spcBef>
              <a:buNone/>
            </a:pPr>
            <a:r>
              <a:rPr lang="zh-CN" altLang="en-US" sz="3700" dirty="0"/>
              <a:t>    DWORD VirtualSize;</a:t>
            </a:r>
          </a:p>
          <a:p>
            <a:pPr marL="0" indent="0">
              <a:lnSpc>
                <a:spcPct val="170000"/>
              </a:lnSpc>
              <a:spcBef>
                <a:spcPts val="0"/>
              </a:spcBef>
              <a:buNone/>
            </a:pPr>
            <a:r>
              <a:rPr lang="zh-CN" altLang="en-US" sz="3700" dirty="0"/>
              <a:t>  } Misc;</a:t>
            </a:r>
          </a:p>
          <a:p>
            <a:pPr marL="0" indent="0">
              <a:lnSpc>
                <a:spcPct val="170000"/>
              </a:lnSpc>
              <a:spcBef>
                <a:spcPts val="0"/>
              </a:spcBef>
              <a:buNone/>
            </a:pPr>
            <a:r>
              <a:rPr lang="zh-CN" altLang="en-US" sz="3700" dirty="0"/>
              <a:t>  DWORD VirtualAddress;</a:t>
            </a:r>
          </a:p>
          <a:p>
            <a:pPr marL="0" indent="0">
              <a:lnSpc>
                <a:spcPct val="170000"/>
              </a:lnSpc>
              <a:spcBef>
                <a:spcPts val="0"/>
              </a:spcBef>
              <a:buNone/>
            </a:pPr>
            <a:r>
              <a:rPr lang="zh-CN" altLang="en-US" sz="3700" dirty="0"/>
              <a:t>  DWORD SizeOfRawData;</a:t>
            </a:r>
          </a:p>
          <a:p>
            <a:pPr marL="0" indent="0">
              <a:lnSpc>
                <a:spcPct val="170000"/>
              </a:lnSpc>
              <a:spcBef>
                <a:spcPts val="0"/>
              </a:spcBef>
              <a:buNone/>
            </a:pPr>
            <a:r>
              <a:rPr lang="zh-CN" altLang="en-US" sz="3700" dirty="0"/>
              <a:t>  DWORD PointerToRawData;</a:t>
            </a:r>
          </a:p>
          <a:p>
            <a:pPr marL="0" indent="0">
              <a:lnSpc>
                <a:spcPct val="170000"/>
              </a:lnSpc>
              <a:spcBef>
                <a:spcPts val="0"/>
              </a:spcBef>
              <a:buNone/>
            </a:pPr>
            <a:r>
              <a:rPr lang="zh-CN" altLang="en-US" sz="3700" dirty="0"/>
              <a:t>  DWORD PointerToRelocations;</a:t>
            </a:r>
          </a:p>
          <a:p>
            <a:pPr marL="0" indent="0">
              <a:lnSpc>
                <a:spcPct val="170000"/>
              </a:lnSpc>
              <a:spcBef>
                <a:spcPts val="0"/>
              </a:spcBef>
              <a:buNone/>
            </a:pPr>
            <a:r>
              <a:rPr lang="zh-CN" altLang="en-US" sz="3700" dirty="0"/>
              <a:t>  DWORD PointerToLinenumbers;</a:t>
            </a:r>
          </a:p>
          <a:p>
            <a:pPr marL="0" indent="0">
              <a:lnSpc>
                <a:spcPct val="170000"/>
              </a:lnSpc>
              <a:spcBef>
                <a:spcPts val="0"/>
              </a:spcBef>
              <a:buNone/>
            </a:pPr>
            <a:r>
              <a:rPr lang="zh-CN" altLang="en-US" sz="3700" dirty="0"/>
              <a:t>  WORD  NumberOfRelocations;</a:t>
            </a:r>
          </a:p>
          <a:p>
            <a:pPr marL="0" indent="0">
              <a:lnSpc>
                <a:spcPct val="170000"/>
              </a:lnSpc>
              <a:spcBef>
                <a:spcPts val="0"/>
              </a:spcBef>
              <a:buNone/>
            </a:pPr>
            <a:r>
              <a:rPr lang="zh-CN" altLang="en-US" sz="3700" dirty="0"/>
              <a:t>  WORD  NumberOfLinenumbers;</a:t>
            </a:r>
          </a:p>
          <a:p>
            <a:pPr marL="0" indent="0">
              <a:lnSpc>
                <a:spcPct val="170000"/>
              </a:lnSpc>
              <a:spcBef>
                <a:spcPts val="0"/>
              </a:spcBef>
              <a:buNone/>
            </a:pPr>
            <a:r>
              <a:rPr lang="zh-CN" altLang="en-US" sz="3700" dirty="0"/>
              <a:t>  DWORD Characteristics;</a:t>
            </a:r>
          </a:p>
          <a:p>
            <a:pPr marL="0" indent="0">
              <a:lnSpc>
                <a:spcPct val="170000"/>
              </a:lnSpc>
              <a:spcBef>
                <a:spcPts val="0"/>
              </a:spcBef>
              <a:buNone/>
            </a:pPr>
            <a:r>
              <a:rPr lang="zh-CN" altLang="en-US" sz="3700" dirty="0"/>
              <a:t>} </a:t>
            </a:r>
            <a:r>
              <a:rPr lang="zh-CN" altLang="en-US" sz="3700" dirty="0">
                <a:solidFill>
                  <a:srgbClr val="FF0000"/>
                </a:solidFill>
              </a:rPr>
              <a:t>IMAGE_SECTION_HEADER</a:t>
            </a:r>
            <a:r>
              <a:rPr lang="zh-CN" altLang="en-US" sz="3700" dirty="0"/>
              <a:t>, *PIMAGE_SECTION_HEADER;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30321796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A43D59-EE71-4EA6-B1B9-F2FA6C19AB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节表</a:t>
            </a:r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16B7A94D-084C-4C22-AB2C-EAAF62D1DC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5320" y="2635455"/>
            <a:ext cx="9301360" cy="2783568"/>
          </a:xfrm>
          <a:prstGeom prst="rect">
            <a:avLst/>
          </a:prstGeom>
          <a:ln>
            <a:solidFill>
              <a:srgbClr val="7030A0"/>
            </a:solidFill>
          </a:ln>
        </p:spPr>
      </p:pic>
    </p:spTree>
    <p:extLst>
      <p:ext uri="{BB962C8B-B14F-4D97-AF65-F5344CB8AC3E}">
        <p14:creationId xmlns:p14="http://schemas.microsoft.com/office/powerpoint/2010/main" val="35705567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E55574-143E-49AA-B005-3746EA6C3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节表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2B1B81D-8683-48EA-B320-EF7CF14EFB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altLang="zh-CN" dirty="0"/>
              <a:t>Name</a:t>
            </a:r>
            <a:r>
              <a:rPr lang="zh-CN" altLang="en-US" dirty="0"/>
              <a:t>（</a:t>
            </a:r>
            <a:r>
              <a:rPr lang="en-US" altLang="zh-CN" dirty="0">
                <a:solidFill>
                  <a:srgbClr val="FF0000"/>
                </a:solidFill>
              </a:rPr>
              <a:t>8 BYTE</a:t>
            </a:r>
            <a:r>
              <a:rPr lang="zh-CN" altLang="en-US" dirty="0"/>
              <a:t>）：块名</a:t>
            </a:r>
            <a:endParaRPr lang="en-US" altLang="zh-CN" dirty="0"/>
          </a:p>
          <a:p>
            <a:pPr lvl="1"/>
            <a:r>
              <a:rPr lang="en-US" altLang="zh-CN" sz="2000" b="0" i="0" dirty="0">
                <a:solidFill>
                  <a:srgbClr val="171717"/>
                </a:solidFill>
                <a:effectLst/>
              </a:rPr>
              <a:t>An 8-byte, </a:t>
            </a:r>
            <a:r>
              <a:rPr lang="en-US" altLang="zh-CN" sz="2000" b="0" i="0" dirty="0">
                <a:solidFill>
                  <a:srgbClr val="FF0000"/>
                </a:solidFill>
                <a:effectLst/>
              </a:rPr>
              <a:t>null-padded</a:t>
            </a:r>
            <a:r>
              <a:rPr lang="en-US" altLang="zh-CN" sz="2000" b="0" i="0" dirty="0">
                <a:solidFill>
                  <a:srgbClr val="171717"/>
                </a:solidFill>
                <a:effectLst/>
              </a:rPr>
              <a:t> UTF-8 string.</a:t>
            </a:r>
          </a:p>
          <a:p>
            <a:pPr lvl="1"/>
            <a:r>
              <a:rPr lang="en-US" altLang="zh-CN" sz="2000" b="0" i="0" dirty="0">
                <a:solidFill>
                  <a:srgbClr val="171717"/>
                </a:solidFill>
                <a:effectLst/>
              </a:rPr>
              <a:t>There is </a:t>
            </a:r>
            <a:r>
              <a:rPr lang="en-US" altLang="zh-CN" sz="2000" b="0" i="0" dirty="0">
                <a:solidFill>
                  <a:srgbClr val="0070C0"/>
                </a:solidFill>
                <a:effectLst/>
              </a:rPr>
              <a:t>no terminating null character </a:t>
            </a:r>
            <a:r>
              <a:rPr lang="en-US" altLang="zh-CN" sz="2000" b="0" i="0" dirty="0">
                <a:solidFill>
                  <a:srgbClr val="171717"/>
                </a:solidFill>
                <a:effectLst/>
              </a:rPr>
              <a:t>if the string is exactly eight characters long.</a:t>
            </a:r>
            <a:endParaRPr lang="en-US" altLang="zh-CN" sz="2000" dirty="0"/>
          </a:p>
          <a:p>
            <a:r>
              <a:rPr lang="en-US" altLang="zh-CN" dirty="0" err="1"/>
              <a:t>VirtualSize</a:t>
            </a:r>
            <a:r>
              <a:rPr lang="zh-CN" altLang="en-US" dirty="0"/>
              <a:t>（</a:t>
            </a:r>
            <a:r>
              <a:rPr lang="en-US" altLang="zh-CN" dirty="0">
                <a:solidFill>
                  <a:srgbClr val="FF0000"/>
                </a:solidFill>
              </a:rPr>
              <a:t>DWORD</a:t>
            </a:r>
            <a:r>
              <a:rPr lang="zh-CN" altLang="en-US" dirty="0"/>
              <a:t>）：在</a:t>
            </a:r>
            <a:r>
              <a:rPr lang="zh-CN" altLang="en-US" dirty="0">
                <a:solidFill>
                  <a:srgbClr val="FF0000"/>
                </a:solidFill>
              </a:rPr>
              <a:t>内存空间</a:t>
            </a:r>
            <a:r>
              <a:rPr lang="zh-CN" altLang="en-US" dirty="0"/>
              <a:t>中，节的大小</a:t>
            </a:r>
            <a:endParaRPr lang="en-US" altLang="zh-CN" dirty="0"/>
          </a:p>
          <a:p>
            <a:pPr lvl="1"/>
            <a:r>
              <a:rPr lang="en-US" altLang="zh-CN" sz="2100" dirty="0">
                <a:solidFill>
                  <a:srgbClr val="171717"/>
                </a:solidFill>
              </a:rPr>
              <a:t>The total size of the section when loaded into memory, in bytes. </a:t>
            </a:r>
          </a:p>
          <a:p>
            <a:r>
              <a:rPr lang="en-US" altLang="zh-CN" dirty="0" err="1"/>
              <a:t>VirtualAddress</a:t>
            </a:r>
            <a:r>
              <a:rPr lang="zh-CN" altLang="en-US" dirty="0"/>
              <a:t>（</a:t>
            </a:r>
            <a:r>
              <a:rPr lang="en-US" altLang="zh-CN" dirty="0">
                <a:solidFill>
                  <a:srgbClr val="FF0000"/>
                </a:solidFill>
              </a:rPr>
              <a:t>DWORD</a:t>
            </a:r>
            <a:r>
              <a:rPr lang="zh-CN" altLang="en-US" dirty="0"/>
              <a:t>）：节在</a:t>
            </a:r>
            <a:r>
              <a:rPr lang="zh-CN" altLang="en-US" dirty="0">
                <a:solidFill>
                  <a:srgbClr val="FF0000"/>
                </a:solidFill>
              </a:rPr>
              <a:t>内存空间</a:t>
            </a:r>
            <a:r>
              <a:rPr lang="zh-CN" altLang="en-US" dirty="0"/>
              <a:t>中的起始</a:t>
            </a:r>
            <a:r>
              <a:rPr lang="en-US" altLang="zh-CN" dirty="0"/>
              <a:t>RVA</a:t>
            </a:r>
          </a:p>
          <a:p>
            <a:pPr lvl="1"/>
            <a:r>
              <a:rPr lang="en-US" altLang="zh-CN" sz="2000" dirty="0">
                <a:solidFill>
                  <a:srgbClr val="171717"/>
                </a:solidFill>
              </a:rPr>
              <a:t>The address of the </a:t>
            </a:r>
            <a:r>
              <a:rPr lang="en-US" altLang="zh-CN" sz="2000" dirty="0">
                <a:solidFill>
                  <a:srgbClr val="FF0000"/>
                </a:solidFill>
              </a:rPr>
              <a:t>first byte </a:t>
            </a:r>
            <a:r>
              <a:rPr lang="en-US" altLang="zh-CN" sz="2000" dirty="0">
                <a:solidFill>
                  <a:srgbClr val="171717"/>
                </a:solidFill>
              </a:rPr>
              <a:t>of the section when loaded into memory, relative to the image base.</a:t>
            </a:r>
            <a:endParaRPr lang="zh-CN" altLang="en-US" sz="2000" dirty="0">
              <a:solidFill>
                <a:srgbClr val="17171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9971761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8D4368-2284-4DA8-8309-95C4CCECE0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节表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50438BC-D0B8-4BF3-9E1F-ACDB0A2440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56632"/>
            <a:ext cx="10515600" cy="4351338"/>
          </a:xfrm>
        </p:spPr>
        <p:txBody>
          <a:bodyPr/>
          <a:lstStyle/>
          <a:p>
            <a:r>
              <a:rPr lang="en-US" altLang="zh-CN" dirty="0" err="1"/>
              <a:t>SizeOfRawData</a:t>
            </a:r>
            <a:r>
              <a:rPr lang="zh-CN" altLang="en-US" dirty="0"/>
              <a:t>（</a:t>
            </a:r>
            <a:r>
              <a:rPr lang="en-US" altLang="zh-CN" dirty="0">
                <a:solidFill>
                  <a:srgbClr val="FF0000"/>
                </a:solidFill>
              </a:rPr>
              <a:t>DWORD</a:t>
            </a:r>
            <a:r>
              <a:rPr lang="zh-CN" altLang="en-US" dirty="0"/>
              <a:t>）：该节在</a:t>
            </a:r>
            <a:r>
              <a:rPr lang="zh-CN" altLang="en-US" dirty="0">
                <a:solidFill>
                  <a:srgbClr val="FF0000"/>
                </a:solidFill>
              </a:rPr>
              <a:t>硬盘</a:t>
            </a:r>
            <a:r>
              <a:rPr lang="zh-CN" altLang="en-US" dirty="0"/>
              <a:t>中所占的空间</a:t>
            </a:r>
            <a:endParaRPr lang="en-US" altLang="zh-CN" dirty="0"/>
          </a:p>
          <a:p>
            <a:pPr lvl="1"/>
            <a:r>
              <a:rPr lang="en-US" altLang="zh-CN" dirty="0"/>
              <a:t>The size of the initialized data </a:t>
            </a:r>
            <a:r>
              <a:rPr lang="en-US" altLang="zh-CN" dirty="0">
                <a:solidFill>
                  <a:srgbClr val="FF0000"/>
                </a:solidFill>
              </a:rPr>
              <a:t>on disk</a:t>
            </a:r>
            <a:r>
              <a:rPr lang="en-US" altLang="zh-CN" dirty="0"/>
              <a:t>, in bytes. </a:t>
            </a:r>
          </a:p>
          <a:p>
            <a:r>
              <a:rPr lang="en-US" altLang="zh-CN" dirty="0" err="1"/>
              <a:t>PointerToRawData</a:t>
            </a:r>
            <a:r>
              <a:rPr lang="zh-CN" altLang="en-US" dirty="0"/>
              <a:t>（</a:t>
            </a:r>
            <a:r>
              <a:rPr lang="en-US" altLang="zh-CN" dirty="0">
                <a:solidFill>
                  <a:srgbClr val="FF0000"/>
                </a:solidFill>
              </a:rPr>
              <a:t>DWORD</a:t>
            </a:r>
            <a:r>
              <a:rPr lang="zh-CN" altLang="en-US" dirty="0"/>
              <a:t>）：该节在</a:t>
            </a:r>
            <a:r>
              <a:rPr lang="zh-CN" altLang="en-US" dirty="0">
                <a:solidFill>
                  <a:srgbClr val="FF0000"/>
                </a:solidFill>
              </a:rPr>
              <a:t>硬盘</a:t>
            </a:r>
            <a:r>
              <a:rPr lang="zh-CN" altLang="en-US" dirty="0"/>
              <a:t>中的偏移</a:t>
            </a:r>
            <a:endParaRPr lang="en-US" altLang="zh-CN" dirty="0"/>
          </a:p>
          <a:p>
            <a:pPr lvl="1"/>
            <a:r>
              <a:rPr lang="en-US" altLang="zh-CN" dirty="0"/>
              <a:t>A file pointer to the first page within the COFF file.</a:t>
            </a:r>
          </a:p>
          <a:p>
            <a:pPr lvl="1"/>
            <a:r>
              <a:rPr lang="en-US" altLang="zh-CN" dirty="0"/>
              <a:t>This value must be a </a:t>
            </a:r>
            <a:r>
              <a:rPr lang="en-US" altLang="zh-CN" dirty="0">
                <a:solidFill>
                  <a:srgbClr val="FF0000"/>
                </a:solidFill>
              </a:rPr>
              <a:t>multiple</a:t>
            </a:r>
            <a:r>
              <a:rPr lang="en-US" altLang="zh-CN" dirty="0"/>
              <a:t> of the </a:t>
            </a:r>
            <a:r>
              <a:rPr lang="en-US" altLang="zh-CN" dirty="0" err="1">
                <a:solidFill>
                  <a:srgbClr val="FF0000"/>
                </a:solidFill>
              </a:rPr>
              <a:t>FileAlignment</a:t>
            </a:r>
            <a:r>
              <a:rPr lang="en-US" altLang="zh-CN" dirty="0"/>
              <a:t> member of the IMAGE_OPTIONAL_HEADER structure.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73436733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6E20184F-3C0A-45C1-86D9-0780088ED534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VirtualSize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是否需要与</a:t>
            </a:r>
            <a:r>
              <a:rPr lang="en-US" altLang="zh-CN" sz="2600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SizeOfRawData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一致？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0F611FE-9B00-42F0-8319-955B4E1D50C1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是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D1D6366-A342-43AF-BC52-ED38E7E2841B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不是</a:t>
            </a: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BBB71F3E-EB92-4108-9E88-F13F50700C7F}"/>
              </a:ext>
            </a:extLst>
          </p:cNvPr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F08FDBC2-8E34-4806-B0D8-FD7092FC1A08}"/>
              </a:ext>
            </a:extLst>
          </p:cNvPr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69BCCEB1-90EB-4CFF-9022-0E0B56F6EA29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9BE531BF-FAC9-4DBA-8F91-23800F34358F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12573000" y="0"/>
            <a:ext cx="3840480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7FCA7D07-74D6-4CB5-A78A-B47D99D663A3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12661900" y="6326832"/>
            <a:ext cx="3662680" cy="46166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FFFFFF"/>
                </a:solidFill>
              </a14:hiddenLine>
            </a:ext>
          </a:extLst>
        </p:spPr>
        <p:txBody>
          <a:bodyPr vert="horz" rtlCol="0" anchor="ctr">
            <a:spAutoFit/>
          </a:bodyPr>
          <a:lstStyle/>
          <a:p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可为此题添加文本、图片、公式等解析，且需将内容全部放在本区域内。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B5420E65-EEEC-4719-82B1-2A514115FE67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12827000" y="1270000"/>
            <a:ext cx="3332480" cy="1323439"/>
          </a:xfrm>
          <a:prstGeom prst="rect">
            <a:avLst/>
          </a:prstGeom>
          <a:noFill/>
        </p:spPr>
        <p:txBody>
          <a:bodyPr vert="horz" rtlCol="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171717"/>
                </a:solidFill>
                <a:effectLst/>
                <a:uLnTx/>
                <a:uFillTx/>
                <a:latin typeface="Segoe UI" panose="020B0502040204020203" pitchFamily="34" charset="0"/>
                <a:ea typeface="等线" panose="02010600030101010101" pitchFamily="2" charset="-122"/>
                <a:cs typeface="+mn-cs"/>
              </a:rPr>
              <a:t>If this value is greater than the 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171717"/>
                </a:solidFill>
                <a:effectLst/>
                <a:uLnTx/>
                <a:uFillTx/>
                <a:latin typeface="Segoe UI" panose="020B0502040204020203" pitchFamily="34" charset="0"/>
                <a:ea typeface="等线" panose="02010600030101010101" pitchFamily="2" charset="-122"/>
                <a:cs typeface="+mn-cs"/>
              </a:rPr>
              <a:t>SizeOfRawData</a:t>
            </a: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171717"/>
                </a:solidFill>
                <a:effectLst/>
                <a:uLnTx/>
                <a:uFillTx/>
                <a:latin typeface="Segoe UI" panose="020B0502040204020203" pitchFamily="34" charset="0"/>
                <a:ea typeface="等线" panose="02010600030101010101" pitchFamily="2" charset="-122"/>
                <a:cs typeface="+mn-cs"/>
              </a:rPr>
              <a:t> member, the section is filled with zeroes.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Microsoft Yahei" panose="020B0503020204020204" pitchFamily="34" charset="-122"/>
            </a:endParaRP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D7FCE28D-1D45-4B0D-B594-B72F346F490E}"/>
              </a:ext>
            </a:extLst>
          </p:cNvPr>
          <p:cNvGrpSpPr/>
          <p:nvPr>
            <p:custDataLst>
              <p:tags r:id="rId11"/>
            </p:custDataLst>
          </p:nvPr>
        </p:nvGrpSpPr>
        <p:grpSpPr>
          <a:xfrm>
            <a:off x="12585700" y="0"/>
            <a:ext cx="3815080" cy="647700"/>
            <a:chOff x="12585700" y="0"/>
            <a:chExt cx="3815080" cy="647700"/>
          </a:xfrm>
        </p:grpSpPr>
        <p:sp>
          <p:nvSpPr>
            <p:cNvPr id="23" name="RemarkBack">
              <a:extLst>
                <a:ext uri="{FF2B5EF4-FFF2-40B4-BE49-F238E27FC236}">
                  <a16:creationId xmlns:a16="http://schemas.microsoft.com/office/drawing/2014/main" id="{F2F71619-2629-453B-9B09-9213A1B4A981}"/>
                </a:ext>
              </a:extLst>
            </p:cNvPr>
            <p:cNvSpPr/>
            <p:nvPr>
              <p:custDataLst>
                <p:tags r:id="rId18"/>
              </p:custDataLst>
            </p:nvPr>
          </p:nvSpPr>
          <p:spPr>
            <a:xfrm>
              <a:off x="12585700" y="12700"/>
              <a:ext cx="381508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RemarkBlock">
              <a:extLst>
                <a:ext uri="{FF2B5EF4-FFF2-40B4-BE49-F238E27FC236}">
                  <a16:creationId xmlns:a16="http://schemas.microsoft.com/office/drawing/2014/main" id="{607D3765-FB9D-4C4F-AB9F-E0EF449BD704}"/>
                </a:ext>
              </a:extLst>
            </p:cNvPr>
            <p:cNvSpPr/>
            <p:nvPr>
              <p:custDataLst>
                <p:tags r:id="rId19"/>
              </p:custDataLst>
            </p:nvPr>
          </p:nvSpPr>
          <p:spPr>
            <a:xfrm>
              <a:off x="12585700" y="1270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RemarkTitleText">
              <a:extLst>
                <a:ext uri="{FF2B5EF4-FFF2-40B4-BE49-F238E27FC236}">
                  <a16:creationId xmlns:a16="http://schemas.microsoft.com/office/drawing/2014/main" id="{E2FB79BA-3420-4E96-9682-9A1416E9BB28}"/>
                </a:ext>
              </a:extLst>
            </p:cNvPr>
            <p:cNvSpPr txBox="1"/>
            <p:nvPr>
              <p:custDataLst>
                <p:tags r:id="rId20"/>
              </p:custDataLst>
            </p:nvPr>
          </p:nvSpPr>
          <p:spPr>
            <a:xfrm>
              <a:off x="12827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答案解析</a:t>
              </a:r>
            </a:p>
          </p:txBody>
        </p:sp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68F5FB8C-726F-440B-B42B-B7D758FC8D07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6" name="TitleBackground">
              <a:extLst>
                <a:ext uri="{FF2B5EF4-FFF2-40B4-BE49-F238E27FC236}">
                  <a16:creationId xmlns:a16="http://schemas.microsoft.com/office/drawing/2014/main" id="{A3454F5E-3DA5-45E6-8613-88E31D358E11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ColorBlock">
              <a:extLst>
                <a:ext uri="{FF2B5EF4-FFF2-40B4-BE49-F238E27FC236}">
                  <a16:creationId xmlns:a16="http://schemas.microsoft.com/office/drawing/2014/main" id="{A12857F1-5773-4B0C-A44E-92D7B8A1DA17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TypeText">
              <a:extLst>
                <a:ext uri="{FF2B5EF4-FFF2-40B4-BE49-F238E27FC236}">
                  <a16:creationId xmlns:a16="http://schemas.microsoft.com/office/drawing/2014/main" id="{D7768D51-2B0A-4D8B-9342-5CF266F81994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9" name="TipText">
              <a:extLst>
                <a:ext uri="{FF2B5EF4-FFF2-40B4-BE49-F238E27FC236}">
                  <a16:creationId xmlns:a16="http://schemas.microsoft.com/office/drawing/2014/main" id="{BC44FB79-1DC1-4BDD-BCCB-2DF5D850E0B7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C79C85EE-1125-4B74-89C6-01BFD9F7AA92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22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324154115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BB0BCD-6D53-4B11-A00C-16F3FA1E4E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节表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E513468-5A27-499D-A26E-1069B0040B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>
                <a:cs typeface="Times New Roman" panose="02020603050405020304" pitchFamily="18" charset="0"/>
              </a:rPr>
              <a:t>PointerToReLocations</a:t>
            </a:r>
            <a:r>
              <a:rPr lang="zh-CN" altLang="en-US" dirty="0"/>
              <a:t> （</a:t>
            </a:r>
            <a:r>
              <a:rPr lang="en-US" altLang="zh-CN" dirty="0">
                <a:solidFill>
                  <a:srgbClr val="FF0000"/>
                </a:solidFill>
              </a:rPr>
              <a:t>DWORD</a:t>
            </a:r>
            <a:r>
              <a:rPr lang="zh-CN" altLang="en-US" dirty="0"/>
              <a:t>） </a:t>
            </a:r>
            <a:r>
              <a:rPr lang="zh-CN" altLang="en-US" sz="2800" dirty="0">
                <a:cs typeface="Times New Roman" panose="02020603050405020304" pitchFamily="18" charset="0"/>
              </a:rPr>
              <a:t>: 在EXE文件中无意义</a:t>
            </a:r>
            <a:endParaRPr lang="en-US" altLang="zh-CN" sz="2800" dirty="0">
              <a:cs typeface="Times New Roman" panose="02020603050405020304" pitchFamily="18" charset="0"/>
            </a:endParaRPr>
          </a:p>
          <a:p>
            <a:r>
              <a:rPr lang="zh-CN" altLang="en-US" sz="2800" dirty="0">
                <a:cs typeface="Times New Roman" panose="02020603050405020304" pitchFamily="18" charset="0"/>
              </a:rPr>
              <a:t>PointerToLinenumbers</a:t>
            </a:r>
            <a:r>
              <a:rPr lang="zh-CN" altLang="en-US" dirty="0"/>
              <a:t> （</a:t>
            </a:r>
            <a:r>
              <a:rPr lang="en-US" altLang="zh-CN" dirty="0">
                <a:solidFill>
                  <a:srgbClr val="FF0000"/>
                </a:solidFill>
              </a:rPr>
              <a:t>DWORD</a:t>
            </a:r>
            <a:r>
              <a:rPr lang="zh-CN" altLang="en-US" dirty="0"/>
              <a:t>） </a:t>
            </a:r>
            <a:r>
              <a:rPr lang="zh-CN" altLang="en-US" sz="2800" dirty="0">
                <a:cs typeface="Times New Roman" panose="02020603050405020304" pitchFamily="18" charset="0"/>
              </a:rPr>
              <a:t>: 行号表在文件中的偏移量</a:t>
            </a:r>
            <a:endParaRPr lang="en-US" altLang="zh-CN" sz="2800" dirty="0">
              <a:cs typeface="Times New Roman" panose="02020603050405020304" pitchFamily="18" charset="0"/>
            </a:endParaRPr>
          </a:p>
          <a:p>
            <a:r>
              <a:rPr lang="zh-CN" altLang="en-US" sz="2800" dirty="0">
                <a:cs typeface="Times New Roman" panose="02020603050405020304" pitchFamily="18" charset="0"/>
              </a:rPr>
              <a:t>NumberOfReLocations</a:t>
            </a:r>
            <a:r>
              <a:rPr lang="zh-CN" altLang="en-US" dirty="0"/>
              <a:t> （</a:t>
            </a:r>
            <a:r>
              <a:rPr lang="en-US" altLang="zh-CN" dirty="0">
                <a:solidFill>
                  <a:srgbClr val="FF0000"/>
                </a:solidFill>
              </a:rPr>
              <a:t>WORD</a:t>
            </a:r>
            <a:r>
              <a:rPr lang="zh-CN" altLang="en-US" dirty="0"/>
              <a:t>） </a:t>
            </a:r>
            <a:r>
              <a:rPr lang="zh-CN" altLang="en-US" sz="2800" dirty="0">
                <a:cs typeface="Times New Roman" panose="02020603050405020304" pitchFamily="18" charset="0"/>
              </a:rPr>
              <a:t>: 在EXE文件中无意义</a:t>
            </a:r>
          </a:p>
          <a:p>
            <a:r>
              <a:rPr lang="zh-CN" altLang="en-US" sz="2800" dirty="0">
                <a:cs typeface="Times New Roman" panose="02020603050405020304" pitchFamily="18" charset="0"/>
              </a:rPr>
              <a:t>NumberOfLinenumbers</a:t>
            </a:r>
            <a:r>
              <a:rPr lang="zh-CN" altLang="en-US" dirty="0"/>
              <a:t> （</a:t>
            </a:r>
            <a:r>
              <a:rPr lang="en-US" altLang="zh-CN" dirty="0">
                <a:solidFill>
                  <a:srgbClr val="FF0000"/>
                </a:solidFill>
              </a:rPr>
              <a:t>WORD</a:t>
            </a:r>
            <a:r>
              <a:rPr lang="zh-CN" altLang="en-US" dirty="0"/>
              <a:t>） </a:t>
            </a:r>
            <a:r>
              <a:rPr lang="zh-CN" altLang="en-US" sz="2800" dirty="0">
                <a:cs typeface="Times New Roman" panose="02020603050405020304" pitchFamily="18" charset="0"/>
              </a:rPr>
              <a:t>: 该块在行号表中的行号数目</a:t>
            </a:r>
          </a:p>
          <a:p>
            <a:pPr lvl="1"/>
            <a:endParaRPr lang="zh-CN" altLang="en-US" dirty="0">
              <a:solidFill>
                <a:srgbClr val="0A487D"/>
              </a:solidFill>
              <a:latin typeface="思源黑体 CN Normal" panose="020B0400000000000000" pitchFamily="34" charset="-122"/>
              <a:ea typeface="思源黑体 CN Normal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07292067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5BC39-6771-426D-BA6C-5504F373AE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节的内存属性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0EC8CF6-0D19-47E9-BB94-0B902F9BBD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Characteristics</a:t>
            </a:r>
            <a:r>
              <a:rPr lang="zh-CN" altLang="en-US" dirty="0"/>
              <a:t>（</a:t>
            </a:r>
            <a:r>
              <a:rPr lang="en-US" altLang="zh-CN" dirty="0"/>
              <a:t>DWORD</a:t>
            </a:r>
            <a:r>
              <a:rPr lang="zh-CN" altLang="en-US" dirty="0"/>
              <a:t>）：块属性</a:t>
            </a:r>
            <a:endParaRPr lang="en-US" altLang="zh-CN" dirty="0"/>
          </a:p>
          <a:p>
            <a:pPr lvl="1"/>
            <a:r>
              <a:rPr lang="en-US" altLang="zh-CN" dirty="0"/>
              <a:t>IMAGE_SCN_MEM_</a:t>
            </a:r>
            <a:r>
              <a:rPr lang="en-US" altLang="zh-CN" dirty="0">
                <a:solidFill>
                  <a:srgbClr val="FF0000"/>
                </a:solidFill>
              </a:rPr>
              <a:t>EXECUTE</a:t>
            </a:r>
          </a:p>
          <a:p>
            <a:pPr lvl="2">
              <a:lnSpc>
                <a:spcPct val="100000"/>
              </a:lnSpc>
            </a:pPr>
            <a:r>
              <a:rPr lang="en-US" altLang="zh-CN" sz="2800" dirty="0">
                <a:solidFill>
                  <a:srgbClr val="FF0000"/>
                </a:solidFill>
              </a:rPr>
              <a:t>2</a:t>
            </a:r>
            <a:r>
              <a:rPr lang="en-US" altLang="zh-CN" sz="2800" dirty="0"/>
              <a:t>0000000h</a:t>
            </a:r>
            <a:r>
              <a:rPr lang="zh-CN" altLang="en-US" sz="2800" dirty="0"/>
              <a:t>，</a:t>
            </a:r>
            <a:r>
              <a:rPr lang="zh-CN" altLang="en-US" sz="2800" dirty="0">
                <a:solidFill>
                  <a:srgbClr val="FF0000"/>
                </a:solidFill>
              </a:rPr>
              <a:t>可执行</a:t>
            </a:r>
            <a:endParaRPr lang="en-US" altLang="zh-CN" sz="2800" dirty="0">
              <a:solidFill>
                <a:srgbClr val="FF0000"/>
              </a:solidFill>
            </a:endParaRPr>
          </a:p>
          <a:p>
            <a:pPr lvl="1"/>
            <a:r>
              <a:rPr lang="en-US" altLang="zh-CN" dirty="0"/>
              <a:t>IMAGE_SCN_MEM_</a:t>
            </a:r>
            <a:r>
              <a:rPr lang="en-US" altLang="zh-CN" dirty="0">
                <a:solidFill>
                  <a:srgbClr val="FF0000"/>
                </a:solidFill>
              </a:rPr>
              <a:t>READ</a:t>
            </a:r>
          </a:p>
          <a:p>
            <a:pPr lvl="2">
              <a:lnSpc>
                <a:spcPct val="100000"/>
              </a:lnSpc>
            </a:pPr>
            <a:r>
              <a:rPr lang="en-US" altLang="zh-CN" sz="2800" dirty="0">
                <a:solidFill>
                  <a:srgbClr val="FF0000"/>
                </a:solidFill>
              </a:rPr>
              <a:t>4</a:t>
            </a:r>
            <a:r>
              <a:rPr lang="en-US" altLang="zh-CN" sz="2800" dirty="0"/>
              <a:t>0000000h</a:t>
            </a:r>
            <a:r>
              <a:rPr lang="zh-CN" altLang="en-US" sz="2800" dirty="0"/>
              <a:t>，</a:t>
            </a:r>
            <a:r>
              <a:rPr lang="zh-CN" altLang="en-US" sz="2800" dirty="0">
                <a:solidFill>
                  <a:srgbClr val="FF0000"/>
                </a:solidFill>
              </a:rPr>
              <a:t>可读</a:t>
            </a:r>
            <a:endParaRPr lang="en-US" altLang="zh-CN" sz="2800" dirty="0">
              <a:solidFill>
                <a:srgbClr val="FF0000"/>
              </a:solidFill>
            </a:endParaRPr>
          </a:p>
          <a:p>
            <a:pPr lvl="1"/>
            <a:r>
              <a:rPr lang="en-US" altLang="zh-CN" dirty="0"/>
              <a:t>IMAGE_SCN_MEM_</a:t>
            </a:r>
            <a:r>
              <a:rPr lang="en-US" altLang="zh-CN" dirty="0">
                <a:solidFill>
                  <a:srgbClr val="FF0000"/>
                </a:solidFill>
              </a:rPr>
              <a:t>WRITE</a:t>
            </a:r>
          </a:p>
          <a:p>
            <a:pPr lvl="2"/>
            <a:r>
              <a:rPr lang="en-US" altLang="zh-CN" sz="2800" dirty="0">
                <a:solidFill>
                  <a:srgbClr val="FF0000"/>
                </a:solidFill>
              </a:rPr>
              <a:t>8</a:t>
            </a:r>
            <a:r>
              <a:rPr lang="en-US" altLang="zh-CN" sz="2800" dirty="0"/>
              <a:t>0000000h</a:t>
            </a:r>
            <a:r>
              <a:rPr lang="zh-CN" altLang="en-US" sz="2800" dirty="0"/>
              <a:t>，</a:t>
            </a:r>
            <a:r>
              <a:rPr lang="zh-CN" altLang="en-US" sz="2800" dirty="0">
                <a:solidFill>
                  <a:srgbClr val="FF0000"/>
                </a:solidFill>
              </a:rPr>
              <a:t>可写</a:t>
            </a:r>
            <a:endParaRPr lang="en-US" altLang="zh-CN" sz="2800" dirty="0">
              <a:solidFill>
                <a:srgbClr val="FF0000"/>
              </a:solidFill>
            </a:endParaRPr>
          </a:p>
          <a:p>
            <a:pPr lvl="1"/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1583395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F3790151-F623-490B-B2CD-5DA91BB0126D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661962" y="744220"/>
            <a:ext cx="8868076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.text</a:t>
            </a:r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节的属性值是</a:t>
            </a:r>
            <a:r>
              <a:rPr lang="en-US" altLang="zh-CN" sz="2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60000020h</a:t>
            </a:r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，则</a:t>
            </a:r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.text</a:t>
            </a:r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节的内存属性是？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26B0482-6CA8-4AA0-983A-892E0279DF75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3352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可执行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B909585-7E65-4617-9DDF-6E04933F0844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3352800" y="36433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可读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BBF43B3-C4E8-42A3-AAA8-BB70BAD05094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3352800" y="45005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可写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A33159D-7685-45A8-B590-D15EDBB20DEE}"/>
              </a:ext>
            </a:extLst>
          </p:cNvPr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2638425" y="285035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5A1567C-B88E-4401-9910-B5D079C5E368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2638425" y="370760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BA1401C-0011-4219-B5F6-637434C232D8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2638425" y="4564856"/>
            <a:ext cx="514350" cy="514350"/>
          </a:xfrm>
          <a:prstGeom prst="rect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FCB1B972-FDA2-4A95-95FE-5E36A42E49CD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7696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0D17E5CB-B4A0-4F22-8214-0D19332018B8}"/>
              </a:ext>
            </a:extLst>
          </p:cNvPr>
          <p:cNvGrpSpPr/>
          <p:nvPr>
            <p:custDataLst>
              <p:tags r:id="rId10"/>
            </p:custDataLst>
          </p:nvPr>
        </p:nvGrpSpPr>
        <p:grpSpPr>
          <a:xfrm>
            <a:off x="0" y="0"/>
            <a:ext cx="9144000" cy="635000"/>
            <a:chOff x="-1524000" y="0"/>
            <a:chExt cx="9144000" cy="635000"/>
          </a:xfrm>
        </p:grpSpPr>
        <p:sp>
          <p:nvSpPr>
            <p:cNvPr id="16" name="TitleBackground">
              <a:extLst>
                <a:ext uri="{FF2B5EF4-FFF2-40B4-BE49-F238E27FC236}">
                  <a16:creationId xmlns:a16="http://schemas.microsoft.com/office/drawing/2014/main" id="{133D9642-18F6-438E-B21F-80D480207ACF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>
            <a:xfrm>
              <a:off x="-152400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7" name="ColorBlock">
              <a:extLst>
                <a:ext uri="{FF2B5EF4-FFF2-40B4-BE49-F238E27FC236}">
                  <a16:creationId xmlns:a16="http://schemas.microsoft.com/office/drawing/2014/main" id="{9DB71038-CC50-4AB6-8228-A34087BC7500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-152400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8" name="TypeText">
              <a:extLst>
                <a:ext uri="{FF2B5EF4-FFF2-40B4-BE49-F238E27FC236}">
                  <a16:creationId xmlns:a16="http://schemas.microsoft.com/office/drawing/2014/main" id="{955FABA8-CFB3-4E1D-ABE6-A7C575A4D94D}"/>
                </a:ext>
              </a:extLst>
            </p:cNvPr>
            <p:cNvSpPr txBox="1"/>
            <p:nvPr>
              <p:custDataLst>
                <p:tags r:id="rId14"/>
              </p:custDataLst>
            </p:nvPr>
          </p:nvSpPr>
          <p:spPr>
            <a:xfrm>
              <a:off x="-127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多选题</a:t>
              </a:r>
            </a:p>
          </p:txBody>
        </p:sp>
        <p:sp>
          <p:nvSpPr>
            <p:cNvPr id="19" name="TipText">
              <a:extLst>
                <a:ext uri="{FF2B5EF4-FFF2-40B4-BE49-F238E27FC236}">
                  <a16:creationId xmlns:a16="http://schemas.microsoft.com/office/drawing/2014/main" id="{D35DAFBB-CFE2-4F85-BB84-74D907358F26}"/>
                </a:ext>
              </a:extLst>
            </p:cNvPr>
            <p:cNvSpPr txBox="1"/>
            <p:nvPr>
              <p:custDataLst>
                <p:tags r:id="rId15"/>
              </p:custDataLst>
            </p:nvPr>
          </p:nvSpPr>
          <p:spPr>
            <a:xfrm>
              <a:off x="-13970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4879A688-8950-478C-973B-976E82E8415D}"/>
              </a:ext>
            </a:extLst>
          </p:cNvPr>
          <p:cNvPicPr>
            <a:picLocks/>
          </p:cNvPicPr>
          <p:nvPr>
            <p:custDataLst>
              <p:tags r:id="rId11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507236067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F3790151-F623-490B-B2CD-5DA91BB0126D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642711" y="727685"/>
            <a:ext cx="8906577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.</a:t>
            </a:r>
            <a:r>
              <a:rPr lang="en-US" altLang="zh-CN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rdata</a:t>
            </a:r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节的属性值是</a:t>
            </a:r>
            <a:r>
              <a:rPr lang="en-US" altLang="zh-CN" sz="2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40000040h</a:t>
            </a:r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，则</a:t>
            </a:r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.</a:t>
            </a:r>
            <a:r>
              <a:rPr lang="en-US" altLang="zh-CN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rdata</a:t>
            </a:r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节的内存属性是？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26B0482-6CA8-4AA0-983A-892E0279DF75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3352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可执行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B909585-7E65-4617-9DDF-6E04933F0844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3352800" y="36433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可读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BBF43B3-C4E8-42A3-AAA8-BB70BAD05094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3352800" y="45005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可写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A33159D-7685-45A8-B590-D15EDBB20DEE}"/>
              </a:ext>
            </a:extLst>
          </p:cNvPr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2638425" y="2850356"/>
            <a:ext cx="514350" cy="514350"/>
          </a:xfrm>
          <a:prstGeom prst="rect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5A1567C-B88E-4401-9910-B5D079C5E368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2638425" y="370760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BA1401C-0011-4219-B5F6-637434C232D8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2638425" y="4564856"/>
            <a:ext cx="514350" cy="514350"/>
          </a:xfrm>
          <a:prstGeom prst="rect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FCB1B972-FDA2-4A95-95FE-5E36A42E49CD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7696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0D17E5CB-B4A0-4F22-8214-0D19332018B8}"/>
              </a:ext>
            </a:extLst>
          </p:cNvPr>
          <p:cNvGrpSpPr/>
          <p:nvPr>
            <p:custDataLst>
              <p:tags r:id="rId10"/>
            </p:custDataLst>
          </p:nvPr>
        </p:nvGrpSpPr>
        <p:grpSpPr>
          <a:xfrm>
            <a:off x="0" y="0"/>
            <a:ext cx="9144000" cy="635000"/>
            <a:chOff x="-1524000" y="0"/>
            <a:chExt cx="9144000" cy="635000"/>
          </a:xfrm>
        </p:grpSpPr>
        <p:sp>
          <p:nvSpPr>
            <p:cNvPr id="16" name="TitleBackground">
              <a:extLst>
                <a:ext uri="{FF2B5EF4-FFF2-40B4-BE49-F238E27FC236}">
                  <a16:creationId xmlns:a16="http://schemas.microsoft.com/office/drawing/2014/main" id="{133D9642-18F6-438E-B21F-80D480207ACF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>
            <a:xfrm>
              <a:off x="-152400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7" name="ColorBlock">
              <a:extLst>
                <a:ext uri="{FF2B5EF4-FFF2-40B4-BE49-F238E27FC236}">
                  <a16:creationId xmlns:a16="http://schemas.microsoft.com/office/drawing/2014/main" id="{9DB71038-CC50-4AB6-8228-A34087BC7500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-152400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8" name="TypeText">
              <a:extLst>
                <a:ext uri="{FF2B5EF4-FFF2-40B4-BE49-F238E27FC236}">
                  <a16:creationId xmlns:a16="http://schemas.microsoft.com/office/drawing/2014/main" id="{955FABA8-CFB3-4E1D-ABE6-A7C575A4D94D}"/>
                </a:ext>
              </a:extLst>
            </p:cNvPr>
            <p:cNvSpPr txBox="1"/>
            <p:nvPr>
              <p:custDataLst>
                <p:tags r:id="rId14"/>
              </p:custDataLst>
            </p:nvPr>
          </p:nvSpPr>
          <p:spPr>
            <a:xfrm>
              <a:off x="-127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多选题</a:t>
              </a:r>
            </a:p>
          </p:txBody>
        </p:sp>
        <p:sp>
          <p:nvSpPr>
            <p:cNvPr id="19" name="TipText">
              <a:extLst>
                <a:ext uri="{FF2B5EF4-FFF2-40B4-BE49-F238E27FC236}">
                  <a16:creationId xmlns:a16="http://schemas.microsoft.com/office/drawing/2014/main" id="{D35DAFBB-CFE2-4F85-BB84-74D907358F26}"/>
                </a:ext>
              </a:extLst>
            </p:cNvPr>
            <p:cNvSpPr txBox="1"/>
            <p:nvPr>
              <p:custDataLst>
                <p:tags r:id="rId15"/>
              </p:custDataLst>
            </p:nvPr>
          </p:nvSpPr>
          <p:spPr>
            <a:xfrm>
              <a:off x="-13970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4879A688-8950-478C-973B-976E82E8415D}"/>
              </a:ext>
            </a:extLst>
          </p:cNvPr>
          <p:cNvPicPr>
            <a:picLocks/>
          </p:cNvPicPr>
          <p:nvPr>
            <p:custDataLst>
              <p:tags r:id="rId11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612601648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F3790151-F623-490B-B2CD-5DA91BB0126D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350745" y="770171"/>
            <a:ext cx="9490509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.data</a:t>
            </a:r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节的属性值是</a:t>
            </a:r>
            <a:r>
              <a:rPr lang="en-US" altLang="zh-CN" sz="2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0C0000040h</a:t>
            </a:r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，则</a:t>
            </a:r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.data</a:t>
            </a:r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节的内存属性是？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26B0482-6CA8-4AA0-983A-892E0279DF75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3352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可执行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B909585-7E65-4617-9DDF-6E04933F0844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3352800" y="36433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可读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BBF43B3-C4E8-42A3-AAA8-BB70BAD05094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3352800" y="45005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可写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A33159D-7685-45A8-B590-D15EDBB20DEE}"/>
              </a:ext>
            </a:extLst>
          </p:cNvPr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2638425" y="2850356"/>
            <a:ext cx="514350" cy="514350"/>
          </a:xfrm>
          <a:prstGeom prst="rect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5A1567C-B88E-4401-9910-B5D079C5E368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2638425" y="370760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BA1401C-0011-4219-B5F6-637434C232D8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2638425" y="456485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FCB1B972-FDA2-4A95-95FE-5E36A42E49CD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7696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0D17E5CB-B4A0-4F22-8214-0D19332018B8}"/>
              </a:ext>
            </a:extLst>
          </p:cNvPr>
          <p:cNvGrpSpPr/>
          <p:nvPr>
            <p:custDataLst>
              <p:tags r:id="rId10"/>
            </p:custDataLst>
          </p:nvPr>
        </p:nvGrpSpPr>
        <p:grpSpPr>
          <a:xfrm>
            <a:off x="0" y="0"/>
            <a:ext cx="9144000" cy="635000"/>
            <a:chOff x="-1524000" y="0"/>
            <a:chExt cx="9144000" cy="635000"/>
          </a:xfrm>
        </p:grpSpPr>
        <p:sp>
          <p:nvSpPr>
            <p:cNvPr id="16" name="TitleBackground">
              <a:extLst>
                <a:ext uri="{FF2B5EF4-FFF2-40B4-BE49-F238E27FC236}">
                  <a16:creationId xmlns:a16="http://schemas.microsoft.com/office/drawing/2014/main" id="{133D9642-18F6-438E-B21F-80D480207ACF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>
            <a:xfrm>
              <a:off x="-152400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ColorBlock">
              <a:extLst>
                <a:ext uri="{FF2B5EF4-FFF2-40B4-BE49-F238E27FC236}">
                  <a16:creationId xmlns:a16="http://schemas.microsoft.com/office/drawing/2014/main" id="{9DB71038-CC50-4AB6-8228-A34087BC7500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-152400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TypeText">
              <a:extLst>
                <a:ext uri="{FF2B5EF4-FFF2-40B4-BE49-F238E27FC236}">
                  <a16:creationId xmlns:a16="http://schemas.microsoft.com/office/drawing/2014/main" id="{955FABA8-CFB3-4E1D-ABE6-A7C575A4D94D}"/>
                </a:ext>
              </a:extLst>
            </p:cNvPr>
            <p:cNvSpPr txBox="1"/>
            <p:nvPr>
              <p:custDataLst>
                <p:tags r:id="rId14"/>
              </p:custDataLst>
            </p:nvPr>
          </p:nvSpPr>
          <p:spPr>
            <a:xfrm>
              <a:off x="-127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多选题</a:t>
              </a:r>
            </a:p>
          </p:txBody>
        </p:sp>
        <p:sp>
          <p:nvSpPr>
            <p:cNvPr id="19" name="TipText">
              <a:extLst>
                <a:ext uri="{FF2B5EF4-FFF2-40B4-BE49-F238E27FC236}">
                  <a16:creationId xmlns:a16="http://schemas.microsoft.com/office/drawing/2014/main" id="{D35DAFBB-CFE2-4F85-BB84-74D907358F26}"/>
                </a:ext>
              </a:extLst>
            </p:cNvPr>
            <p:cNvSpPr txBox="1"/>
            <p:nvPr>
              <p:custDataLst>
                <p:tags r:id="rId15"/>
              </p:custDataLst>
            </p:nvPr>
          </p:nvSpPr>
          <p:spPr>
            <a:xfrm>
              <a:off x="1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4879A688-8950-478C-973B-976E82E8415D}"/>
              </a:ext>
            </a:extLst>
          </p:cNvPr>
          <p:cNvPicPr>
            <a:picLocks/>
          </p:cNvPicPr>
          <p:nvPr>
            <p:custDataLst>
              <p:tags r:id="rId11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277216333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B27BF6-798D-4426-B7D7-EA7E07908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节的内容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FC04DE1-EF55-4B91-9380-D90BD40FAC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altLang="zh-CN" dirty="0"/>
              <a:t>IMAGE_SCN_CNT_</a:t>
            </a:r>
            <a:r>
              <a:rPr lang="en-US" altLang="zh-CN" dirty="0">
                <a:solidFill>
                  <a:srgbClr val="0070C0"/>
                </a:solidFill>
              </a:rPr>
              <a:t>CODE</a:t>
            </a:r>
          </a:p>
          <a:p>
            <a:pPr lvl="2">
              <a:lnSpc>
                <a:spcPct val="100000"/>
              </a:lnSpc>
            </a:pPr>
            <a:r>
              <a:rPr lang="en-US" altLang="zh-CN" sz="2800" dirty="0"/>
              <a:t>00000020h</a:t>
            </a:r>
            <a:r>
              <a:rPr lang="zh-CN" altLang="en-US" sz="2800" dirty="0"/>
              <a:t>，包含</a:t>
            </a:r>
            <a:r>
              <a:rPr lang="zh-CN" altLang="en-US" sz="2800" dirty="0">
                <a:solidFill>
                  <a:srgbClr val="FF0000"/>
                </a:solidFill>
              </a:rPr>
              <a:t>可执行代码</a:t>
            </a:r>
            <a:endParaRPr lang="en-US" altLang="zh-CN" sz="2800" dirty="0">
              <a:solidFill>
                <a:srgbClr val="FF0000"/>
              </a:solidFill>
            </a:endParaRPr>
          </a:p>
          <a:p>
            <a:pPr lvl="1"/>
            <a:r>
              <a:rPr lang="en-US" altLang="zh-CN" dirty="0"/>
              <a:t>IMAGE_SCN_CNT_</a:t>
            </a:r>
            <a:r>
              <a:rPr lang="en-US" altLang="zh-CN" dirty="0">
                <a:solidFill>
                  <a:srgbClr val="0070C0"/>
                </a:solidFill>
              </a:rPr>
              <a:t>INITIALIZED_DATA</a:t>
            </a:r>
          </a:p>
          <a:p>
            <a:pPr lvl="2">
              <a:lnSpc>
                <a:spcPct val="100000"/>
              </a:lnSpc>
            </a:pPr>
            <a:r>
              <a:rPr lang="en-US" altLang="zh-CN" sz="2800" dirty="0"/>
              <a:t>00000040h</a:t>
            </a:r>
            <a:r>
              <a:rPr lang="zh-CN" altLang="en-US" sz="2800" dirty="0"/>
              <a:t>，包含</a:t>
            </a:r>
            <a:r>
              <a:rPr lang="zh-CN" altLang="en-US" sz="2800" dirty="0">
                <a:solidFill>
                  <a:srgbClr val="FF0000"/>
                </a:solidFill>
              </a:rPr>
              <a:t>已初始化数据</a:t>
            </a:r>
            <a:endParaRPr lang="en-US" altLang="zh-CN" sz="2800" dirty="0">
              <a:solidFill>
                <a:srgbClr val="FF0000"/>
              </a:solidFill>
            </a:endParaRPr>
          </a:p>
          <a:p>
            <a:pPr lvl="1"/>
            <a:r>
              <a:rPr lang="en-US" altLang="zh-CN" dirty="0"/>
              <a:t>IMAGE_SCN_CNT_</a:t>
            </a:r>
            <a:r>
              <a:rPr lang="en-US" altLang="zh-CN" dirty="0">
                <a:solidFill>
                  <a:srgbClr val="0070C0"/>
                </a:solidFill>
              </a:rPr>
              <a:t>UNINITIALIZED_DATA</a:t>
            </a:r>
          </a:p>
          <a:p>
            <a:pPr lvl="2"/>
            <a:r>
              <a:rPr lang="en-US" altLang="zh-CN" sz="2800" dirty="0"/>
              <a:t>00000080h</a:t>
            </a:r>
            <a:r>
              <a:rPr lang="zh-CN" altLang="en-US" sz="2800" dirty="0"/>
              <a:t>，包含</a:t>
            </a:r>
            <a:r>
              <a:rPr lang="zh-CN" altLang="en-US" sz="2800" dirty="0">
                <a:solidFill>
                  <a:srgbClr val="FF0000"/>
                </a:solidFill>
              </a:rPr>
              <a:t>未初始化数据</a:t>
            </a:r>
            <a:endParaRPr lang="en-US" altLang="zh-CN" sz="2800" dirty="0">
              <a:solidFill>
                <a:srgbClr val="FF0000"/>
              </a:solidFill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68078268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F3790151-F623-490B-B2CD-5DA91BB0126D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797752" y="703262"/>
            <a:ext cx="8596496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.text</a:t>
            </a:r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节的属性值是</a:t>
            </a:r>
            <a:r>
              <a:rPr lang="en-US" altLang="zh-CN" sz="2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60000020h</a:t>
            </a:r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，则</a:t>
            </a:r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.text</a:t>
            </a:r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节的内容是？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26B0482-6CA8-4AA0-983A-892E0279DF75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3352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代码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B909585-7E65-4617-9DDF-6E04933F0844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3352800" y="36433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已初始化数据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BBF43B3-C4E8-42A3-AAA8-BB70BAD05094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3352800" y="45005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未初始化数据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A33159D-7685-45A8-B590-D15EDBB20DEE}"/>
              </a:ext>
            </a:extLst>
          </p:cNvPr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2638425" y="285035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5A1567C-B88E-4401-9910-B5D079C5E368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2638425" y="3707606"/>
            <a:ext cx="514350" cy="514350"/>
          </a:xfrm>
          <a:prstGeom prst="rect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BA1401C-0011-4219-B5F6-637434C232D8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2638425" y="4564856"/>
            <a:ext cx="514350" cy="514350"/>
          </a:xfrm>
          <a:prstGeom prst="rect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FCB1B972-FDA2-4A95-95FE-5E36A42E49CD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7696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0D17E5CB-B4A0-4F22-8214-0D19332018B8}"/>
              </a:ext>
            </a:extLst>
          </p:cNvPr>
          <p:cNvGrpSpPr/>
          <p:nvPr>
            <p:custDataLst>
              <p:tags r:id="rId10"/>
            </p:custDataLst>
          </p:nvPr>
        </p:nvGrpSpPr>
        <p:grpSpPr>
          <a:xfrm>
            <a:off x="0" y="0"/>
            <a:ext cx="9144000" cy="635000"/>
            <a:chOff x="-1524000" y="0"/>
            <a:chExt cx="9144000" cy="635000"/>
          </a:xfrm>
        </p:grpSpPr>
        <p:sp>
          <p:nvSpPr>
            <p:cNvPr id="16" name="TitleBackground">
              <a:extLst>
                <a:ext uri="{FF2B5EF4-FFF2-40B4-BE49-F238E27FC236}">
                  <a16:creationId xmlns:a16="http://schemas.microsoft.com/office/drawing/2014/main" id="{133D9642-18F6-438E-B21F-80D480207ACF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>
            <a:xfrm>
              <a:off x="-152400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7" name="ColorBlock">
              <a:extLst>
                <a:ext uri="{FF2B5EF4-FFF2-40B4-BE49-F238E27FC236}">
                  <a16:creationId xmlns:a16="http://schemas.microsoft.com/office/drawing/2014/main" id="{9DB71038-CC50-4AB6-8228-A34087BC7500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-152400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8" name="TypeText">
              <a:extLst>
                <a:ext uri="{FF2B5EF4-FFF2-40B4-BE49-F238E27FC236}">
                  <a16:creationId xmlns:a16="http://schemas.microsoft.com/office/drawing/2014/main" id="{955FABA8-CFB3-4E1D-ABE6-A7C575A4D94D}"/>
                </a:ext>
              </a:extLst>
            </p:cNvPr>
            <p:cNvSpPr txBox="1"/>
            <p:nvPr>
              <p:custDataLst>
                <p:tags r:id="rId14"/>
              </p:custDataLst>
            </p:nvPr>
          </p:nvSpPr>
          <p:spPr>
            <a:xfrm>
              <a:off x="-127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多选题</a:t>
              </a:r>
            </a:p>
          </p:txBody>
        </p:sp>
        <p:sp>
          <p:nvSpPr>
            <p:cNvPr id="19" name="TipText">
              <a:extLst>
                <a:ext uri="{FF2B5EF4-FFF2-40B4-BE49-F238E27FC236}">
                  <a16:creationId xmlns:a16="http://schemas.microsoft.com/office/drawing/2014/main" id="{D35DAFBB-CFE2-4F85-BB84-74D907358F26}"/>
                </a:ext>
              </a:extLst>
            </p:cNvPr>
            <p:cNvSpPr txBox="1"/>
            <p:nvPr>
              <p:custDataLst>
                <p:tags r:id="rId15"/>
              </p:custDataLst>
            </p:nvPr>
          </p:nvSpPr>
          <p:spPr>
            <a:xfrm>
              <a:off x="-13970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4879A688-8950-478C-973B-976E82E8415D}"/>
              </a:ext>
            </a:extLst>
          </p:cNvPr>
          <p:cNvPicPr>
            <a:picLocks/>
          </p:cNvPicPr>
          <p:nvPr>
            <p:custDataLst>
              <p:tags r:id="rId11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641440016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F3790151-F623-490B-B2CD-5DA91BB0126D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825591" y="750095"/>
            <a:ext cx="8540817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.</a:t>
            </a:r>
            <a:r>
              <a:rPr lang="en-US" altLang="zh-CN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rdata</a:t>
            </a:r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节的属性值是</a:t>
            </a:r>
            <a:r>
              <a:rPr lang="en-US" altLang="zh-CN" sz="2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40000040h</a:t>
            </a:r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，则</a:t>
            </a:r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.</a:t>
            </a:r>
            <a:r>
              <a:rPr lang="en-US" altLang="zh-CN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rdata</a:t>
            </a:r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节的内容是？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26B0482-6CA8-4AA0-983A-892E0279DF75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3352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代码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B909585-7E65-4617-9DDF-6E04933F0844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3352800" y="36433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已初始化数据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BBF43B3-C4E8-42A3-AAA8-BB70BAD05094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3352800" y="45005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未初始化数据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A33159D-7685-45A8-B590-D15EDBB20DEE}"/>
              </a:ext>
            </a:extLst>
          </p:cNvPr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2638425" y="2850356"/>
            <a:ext cx="514350" cy="514350"/>
          </a:xfrm>
          <a:prstGeom prst="rect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5A1567C-B88E-4401-9910-B5D079C5E368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2638425" y="370760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BA1401C-0011-4219-B5F6-637434C232D8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2638425" y="4564856"/>
            <a:ext cx="514350" cy="514350"/>
          </a:xfrm>
          <a:prstGeom prst="rect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FCB1B972-FDA2-4A95-95FE-5E36A42E49CD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7696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0D17E5CB-B4A0-4F22-8214-0D19332018B8}"/>
              </a:ext>
            </a:extLst>
          </p:cNvPr>
          <p:cNvGrpSpPr/>
          <p:nvPr>
            <p:custDataLst>
              <p:tags r:id="rId10"/>
            </p:custDataLst>
          </p:nvPr>
        </p:nvGrpSpPr>
        <p:grpSpPr>
          <a:xfrm>
            <a:off x="0" y="0"/>
            <a:ext cx="9144000" cy="635000"/>
            <a:chOff x="-1524000" y="0"/>
            <a:chExt cx="9144000" cy="635000"/>
          </a:xfrm>
        </p:grpSpPr>
        <p:sp>
          <p:nvSpPr>
            <p:cNvPr id="16" name="TitleBackground">
              <a:extLst>
                <a:ext uri="{FF2B5EF4-FFF2-40B4-BE49-F238E27FC236}">
                  <a16:creationId xmlns:a16="http://schemas.microsoft.com/office/drawing/2014/main" id="{133D9642-18F6-438E-B21F-80D480207ACF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>
            <a:xfrm>
              <a:off x="-152400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7" name="ColorBlock">
              <a:extLst>
                <a:ext uri="{FF2B5EF4-FFF2-40B4-BE49-F238E27FC236}">
                  <a16:creationId xmlns:a16="http://schemas.microsoft.com/office/drawing/2014/main" id="{9DB71038-CC50-4AB6-8228-A34087BC7500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-152400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8" name="TypeText">
              <a:extLst>
                <a:ext uri="{FF2B5EF4-FFF2-40B4-BE49-F238E27FC236}">
                  <a16:creationId xmlns:a16="http://schemas.microsoft.com/office/drawing/2014/main" id="{955FABA8-CFB3-4E1D-ABE6-A7C575A4D94D}"/>
                </a:ext>
              </a:extLst>
            </p:cNvPr>
            <p:cNvSpPr txBox="1"/>
            <p:nvPr>
              <p:custDataLst>
                <p:tags r:id="rId14"/>
              </p:custDataLst>
            </p:nvPr>
          </p:nvSpPr>
          <p:spPr>
            <a:xfrm>
              <a:off x="-127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多选题</a:t>
              </a:r>
            </a:p>
          </p:txBody>
        </p:sp>
        <p:sp>
          <p:nvSpPr>
            <p:cNvPr id="19" name="TipText">
              <a:extLst>
                <a:ext uri="{FF2B5EF4-FFF2-40B4-BE49-F238E27FC236}">
                  <a16:creationId xmlns:a16="http://schemas.microsoft.com/office/drawing/2014/main" id="{D35DAFBB-CFE2-4F85-BB84-74D907358F26}"/>
                </a:ext>
              </a:extLst>
            </p:cNvPr>
            <p:cNvSpPr txBox="1"/>
            <p:nvPr>
              <p:custDataLst>
                <p:tags r:id="rId15"/>
              </p:custDataLst>
            </p:nvPr>
          </p:nvSpPr>
          <p:spPr>
            <a:xfrm>
              <a:off x="-13970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4879A688-8950-478C-973B-976E82E8415D}"/>
              </a:ext>
            </a:extLst>
          </p:cNvPr>
          <p:cNvPicPr>
            <a:picLocks/>
          </p:cNvPicPr>
          <p:nvPr>
            <p:custDataLst>
              <p:tags r:id="rId11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095600433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F3790151-F623-490B-B2CD-5DA91BB0126D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674795" y="635001"/>
            <a:ext cx="9076623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.data</a:t>
            </a:r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节的属性值是</a:t>
            </a:r>
            <a:r>
              <a:rPr lang="en-US" altLang="zh-CN" sz="2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0C0000040h</a:t>
            </a:r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，则</a:t>
            </a:r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.data</a:t>
            </a:r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节的内存属性是？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26B0482-6CA8-4AA0-983A-892E0279DF75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3349993" y="2786063"/>
            <a:ext cx="6403607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代码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B909585-7E65-4617-9DDF-6E04933F0844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3349993" y="3643313"/>
            <a:ext cx="6403607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已初始化数据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BBF43B3-C4E8-42A3-AAA8-BB70BAD05094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3349993" y="4500563"/>
            <a:ext cx="6403607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未初始化数据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A33159D-7685-45A8-B590-D15EDBB20DEE}"/>
              </a:ext>
            </a:extLst>
          </p:cNvPr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2638199" y="2850356"/>
            <a:ext cx="514576" cy="514350"/>
          </a:xfrm>
          <a:prstGeom prst="rect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5A1567C-B88E-4401-9910-B5D079C5E368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2638199" y="3707606"/>
            <a:ext cx="514576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BA1401C-0011-4219-B5F6-637434C232D8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2638199" y="4564856"/>
            <a:ext cx="514576" cy="514350"/>
          </a:xfrm>
          <a:prstGeom prst="rect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FCB1B972-FDA2-4A95-95FE-5E36A42E49CD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7695523" y="6215063"/>
            <a:ext cx="1543727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0D17E5CB-B4A0-4F22-8214-0D19332018B8}"/>
              </a:ext>
            </a:extLst>
          </p:cNvPr>
          <p:cNvGrpSpPr/>
          <p:nvPr>
            <p:custDataLst>
              <p:tags r:id="rId10"/>
            </p:custDataLst>
          </p:nvPr>
        </p:nvGrpSpPr>
        <p:grpSpPr>
          <a:xfrm>
            <a:off x="0" y="0"/>
            <a:ext cx="9148010" cy="635000"/>
            <a:chOff x="-1519992" y="0"/>
            <a:chExt cx="9144000" cy="635000"/>
          </a:xfrm>
        </p:grpSpPr>
        <p:sp>
          <p:nvSpPr>
            <p:cNvPr id="16" name="TitleBackground">
              <a:extLst>
                <a:ext uri="{FF2B5EF4-FFF2-40B4-BE49-F238E27FC236}">
                  <a16:creationId xmlns:a16="http://schemas.microsoft.com/office/drawing/2014/main" id="{133D9642-18F6-438E-B21F-80D480207ACF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>
            <a:xfrm>
              <a:off x="-1519992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7" name="ColorBlock">
              <a:extLst>
                <a:ext uri="{FF2B5EF4-FFF2-40B4-BE49-F238E27FC236}">
                  <a16:creationId xmlns:a16="http://schemas.microsoft.com/office/drawing/2014/main" id="{9DB71038-CC50-4AB6-8228-A34087BC7500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-1519992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8" name="TypeText">
              <a:extLst>
                <a:ext uri="{FF2B5EF4-FFF2-40B4-BE49-F238E27FC236}">
                  <a16:creationId xmlns:a16="http://schemas.microsoft.com/office/drawing/2014/main" id="{955FABA8-CFB3-4E1D-ABE6-A7C575A4D94D}"/>
                </a:ext>
              </a:extLst>
            </p:cNvPr>
            <p:cNvSpPr txBox="1"/>
            <p:nvPr>
              <p:custDataLst>
                <p:tags r:id="rId14"/>
              </p:custDataLst>
            </p:nvPr>
          </p:nvSpPr>
          <p:spPr>
            <a:xfrm>
              <a:off x="-1266103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多选题</a:t>
              </a:r>
            </a:p>
          </p:txBody>
        </p:sp>
        <p:sp>
          <p:nvSpPr>
            <p:cNvPr id="19" name="TipText">
              <a:extLst>
                <a:ext uri="{FF2B5EF4-FFF2-40B4-BE49-F238E27FC236}">
                  <a16:creationId xmlns:a16="http://schemas.microsoft.com/office/drawing/2014/main" id="{D35DAFBB-CFE2-4F85-BB84-74D907358F26}"/>
                </a:ext>
              </a:extLst>
            </p:cNvPr>
            <p:cNvSpPr txBox="1"/>
            <p:nvPr>
              <p:custDataLst>
                <p:tags r:id="rId15"/>
              </p:custDataLst>
            </p:nvPr>
          </p:nvSpPr>
          <p:spPr>
            <a:xfrm>
              <a:off x="-10624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C3A430BF-1ABE-4FB5-8156-86819917E02C}"/>
              </a:ext>
            </a:extLst>
          </p:cNvPr>
          <p:cNvPicPr>
            <a:picLocks/>
          </p:cNvPicPr>
          <p:nvPr>
            <p:custDataLst>
              <p:tags r:id="rId11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821610881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D41FB5-1367-4D1B-B665-65DBD19F21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常见的节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B53C2D7-9DE6-4BFA-8CF4-2670FB53A6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.text</a:t>
            </a:r>
            <a:r>
              <a:rPr lang="zh-CN" altLang="en-US" dirty="0"/>
              <a:t>，</a:t>
            </a:r>
            <a:r>
              <a:rPr lang="zh-CN" altLang="en-US" dirty="0">
                <a:solidFill>
                  <a:srgbClr val="FF0000"/>
                </a:solidFill>
              </a:rPr>
              <a:t>代码节</a:t>
            </a:r>
            <a:r>
              <a:rPr lang="zh-CN" altLang="en-US" dirty="0"/>
              <a:t>，链接器把所有目标文件的</a:t>
            </a:r>
            <a:r>
              <a:rPr lang="en-US" altLang="zh-CN" dirty="0"/>
              <a:t>.text</a:t>
            </a:r>
            <a:r>
              <a:rPr lang="zh-CN" altLang="en-US" dirty="0"/>
              <a:t>节连接成一个大的</a:t>
            </a:r>
            <a:r>
              <a:rPr lang="en-US" altLang="zh-CN" dirty="0"/>
              <a:t>.text</a:t>
            </a:r>
            <a:r>
              <a:rPr lang="zh-CN" altLang="en-US" dirty="0"/>
              <a:t>节</a:t>
            </a:r>
            <a:endParaRPr lang="en-US" altLang="zh-CN" dirty="0"/>
          </a:p>
          <a:p>
            <a:r>
              <a:rPr lang="en-US" altLang="zh-CN" dirty="0"/>
              <a:t>.data</a:t>
            </a:r>
            <a:r>
              <a:rPr lang="zh-CN" altLang="en-US" dirty="0"/>
              <a:t>，读、写数据节，</a:t>
            </a:r>
            <a:r>
              <a:rPr lang="zh-CN" altLang="en-US" dirty="0">
                <a:solidFill>
                  <a:srgbClr val="FF0000"/>
                </a:solidFill>
              </a:rPr>
              <a:t>全局标量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/>
              <a:t>.</a:t>
            </a:r>
            <a:r>
              <a:rPr lang="en-US" altLang="zh-CN" dirty="0" err="1"/>
              <a:t>rdata</a:t>
            </a:r>
            <a:r>
              <a:rPr lang="zh-CN" altLang="en-US" dirty="0"/>
              <a:t>，只读数据节，调试目录、</a:t>
            </a:r>
            <a:r>
              <a:rPr lang="zh-CN" altLang="en-US" dirty="0">
                <a:solidFill>
                  <a:srgbClr val="FF0000"/>
                </a:solidFill>
              </a:rPr>
              <a:t>字符串</a:t>
            </a:r>
            <a:r>
              <a:rPr lang="zh-CN" altLang="en-US" dirty="0"/>
              <a:t>等</a:t>
            </a: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24922977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784A6C-C1D7-4FA1-AA77-16C05EB8AA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常见的节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1731E57-8EA7-42B5-89C2-F1C43AA1E6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.</a:t>
            </a:r>
            <a:r>
              <a:rPr lang="en-US" altLang="zh-CN" dirty="0" err="1"/>
              <a:t>idata</a:t>
            </a:r>
            <a:r>
              <a:rPr lang="zh-CN" altLang="en-US" dirty="0"/>
              <a:t>，导入表</a:t>
            </a:r>
            <a:endParaRPr lang="en-US" altLang="zh-CN" dirty="0"/>
          </a:p>
          <a:p>
            <a:r>
              <a:rPr lang="en-US" altLang="zh-CN" dirty="0"/>
              <a:t>.</a:t>
            </a:r>
            <a:r>
              <a:rPr lang="en-US" altLang="zh-CN" dirty="0" err="1"/>
              <a:t>edata</a:t>
            </a:r>
            <a:r>
              <a:rPr lang="zh-CN" altLang="en-US" dirty="0"/>
              <a:t>，导出表</a:t>
            </a:r>
            <a:endParaRPr lang="en-US" altLang="zh-CN" dirty="0"/>
          </a:p>
          <a:p>
            <a:r>
              <a:rPr lang="en-US" altLang="zh-CN" dirty="0"/>
              <a:t>.</a:t>
            </a:r>
            <a:r>
              <a:rPr lang="en-US" altLang="zh-CN" dirty="0" err="1"/>
              <a:t>rsrc</a:t>
            </a:r>
            <a:r>
              <a:rPr lang="zh-CN" altLang="en-US" dirty="0"/>
              <a:t>，资源数据，</a:t>
            </a:r>
            <a:r>
              <a:rPr lang="zh-CN" altLang="en-US" dirty="0">
                <a:solidFill>
                  <a:srgbClr val="FF0000"/>
                </a:solidFill>
              </a:rPr>
              <a:t>菜单、图标、位图</a:t>
            </a:r>
            <a:r>
              <a:rPr lang="zh-CN" altLang="en-US" dirty="0"/>
              <a:t>等</a:t>
            </a:r>
            <a:endParaRPr lang="en-US" altLang="zh-CN" dirty="0"/>
          </a:p>
          <a:p>
            <a:r>
              <a:rPr lang="en-US" altLang="zh-CN" dirty="0"/>
              <a:t>.</a:t>
            </a:r>
            <a:r>
              <a:rPr lang="en-US" altLang="zh-CN" dirty="0" err="1"/>
              <a:t>bss</a:t>
            </a:r>
            <a:r>
              <a:rPr lang="zh-CN" altLang="en-US" dirty="0"/>
              <a:t>，未初始化数据，被</a:t>
            </a:r>
            <a:r>
              <a:rPr lang="en-US" altLang="zh-CN" dirty="0"/>
              <a:t>.data</a:t>
            </a:r>
            <a:r>
              <a:rPr lang="zh-CN" altLang="en-US" dirty="0"/>
              <a:t>取代，增加</a:t>
            </a:r>
            <a:r>
              <a:rPr lang="en-US" altLang="zh-CN" dirty="0" err="1"/>
              <a:t>VirtualSize</a:t>
            </a:r>
            <a:r>
              <a:rPr lang="zh-CN" altLang="en-US" dirty="0"/>
              <a:t>到足够放下未初始化数据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429354164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0DE476-9F40-4742-B4FF-796042383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节的对齐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0E62DD-B3EA-498A-A46F-B3681645A2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0299" y="1640348"/>
            <a:ext cx="8285565" cy="4779703"/>
          </a:xfrm>
        </p:spPr>
        <p:txBody>
          <a:bodyPr>
            <a:normAutofit/>
          </a:bodyPr>
          <a:lstStyle/>
          <a:p>
            <a:r>
              <a:rPr lang="zh-CN" altLang="en-US" sz="3200" dirty="0"/>
              <a:t>硬盘上的对齐</a:t>
            </a:r>
            <a:endParaRPr lang="en-US" altLang="zh-CN" sz="3200" dirty="0"/>
          </a:p>
          <a:p>
            <a:pPr lvl="1"/>
            <a:r>
              <a:rPr lang="en-US" altLang="zh-CN" sz="2800" dirty="0" err="1"/>
              <a:t>FileAlignment</a:t>
            </a:r>
            <a:endParaRPr lang="en-US" altLang="zh-CN" sz="2800" dirty="0"/>
          </a:p>
          <a:p>
            <a:pPr lvl="1"/>
            <a:r>
              <a:rPr lang="en-US" altLang="zh-CN" sz="2800" dirty="0">
                <a:solidFill>
                  <a:srgbClr val="FF0000"/>
                </a:solidFill>
              </a:rPr>
              <a:t>200</a:t>
            </a:r>
            <a:r>
              <a:rPr lang="en-US" altLang="zh-CN" sz="2800" dirty="0"/>
              <a:t>h</a:t>
            </a:r>
            <a:r>
              <a:rPr lang="zh-CN" altLang="en-US" sz="2800" dirty="0"/>
              <a:t>，扇区对齐，节间隙</a:t>
            </a:r>
            <a:endParaRPr lang="en-US" altLang="zh-CN" sz="2800" dirty="0"/>
          </a:p>
          <a:p>
            <a:r>
              <a:rPr lang="zh-CN" altLang="en-US" sz="3200" dirty="0"/>
              <a:t>内存上的对齐</a:t>
            </a:r>
            <a:endParaRPr lang="en-US" altLang="zh-CN" sz="3200" dirty="0"/>
          </a:p>
          <a:p>
            <a:pPr lvl="1"/>
            <a:r>
              <a:rPr lang="en-US" altLang="zh-CN" sz="2800" dirty="0" err="1"/>
              <a:t>SectionAlignment</a:t>
            </a:r>
            <a:endParaRPr lang="en-US" altLang="zh-CN" sz="2800" dirty="0"/>
          </a:p>
          <a:p>
            <a:pPr lvl="1"/>
            <a:r>
              <a:rPr lang="en-US" altLang="zh-CN" sz="2800" dirty="0">
                <a:solidFill>
                  <a:srgbClr val="FF0000"/>
                </a:solidFill>
              </a:rPr>
              <a:t>1000</a:t>
            </a:r>
            <a:r>
              <a:rPr lang="en-US" altLang="zh-CN" sz="2800" dirty="0"/>
              <a:t>h</a:t>
            </a:r>
            <a:r>
              <a:rPr lang="zh-CN" altLang="en-US" sz="2800" dirty="0"/>
              <a:t>，内存页对齐（</a:t>
            </a:r>
            <a:r>
              <a:rPr lang="en-US" altLang="zh-CN" sz="2800" dirty="0"/>
              <a:t>64</a:t>
            </a:r>
            <a:r>
              <a:rPr lang="zh-CN" altLang="en-US" sz="2800" dirty="0"/>
              <a:t>位系统，</a:t>
            </a:r>
            <a:r>
              <a:rPr lang="en-US" altLang="zh-CN" sz="2800" dirty="0"/>
              <a:t>8KB</a:t>
            </a:r>
            <a:r>
              <a:rPr lang="zh-CN" altLang="en-US" sz="2800" dirty="0"/>
              <a:t>内存页）</a:t>
            </a:r>
          </a:p>
        </p:txBody>
      </p:sp>
    </p:spTree>
    <p:extLst>
      <p:ext uri="{BB962C8B-B14F-4D97-AF65-F5344CB8AC3E}">
        <p14:creationId xmlns:p14="http://schemas.microsoft.com/office/powerpoint/2010/main" val="2589922583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6070A5-346D-4BB3-85C3-85B90B6046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文件偏移与虚拟内存地址转换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1F96AB4-A6C2-4013-93F4-6CCD396B54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Image</a:t>
            </a:r>
            <a:r>
              <a:rPr lang="zh-CN" altLang="en-US" dirty="0"/>
              <a:t>（映像）</a:t>
            </a:r>
            <a:endParaRPr lang="en-US" altLang="zh-CN" dirty="0"/>
          </a:p>
          <a:p>
            <a:r>
              <a:rPr lang="en-US" altLang="zh-CN" dirty="0"/>
              <a:t>PE</a:t>
            </a:r>
            <a:r>
              <a:rPr lang="zh-CN" altLang="en-US" dirty="0"/>
              <a:t>文件加载到内存时，不会原封不动地加载</a:t>
            </a:r>
            <a:endParaRPr lang="en-US" altLang="zh-CN" dirty="0"/>
          </a:p>
          <a:p>
            <a:pPr lvl="1"/>
            <a:r>
              <a:rPr lang="zh-CN" altLang="en-US" dirty="0"/>
              <a:t>根据节表的定义加载</a:t>
            </a:r>
            <a:endParaRPr lang="en-US" altLang="zh-CN" dirty="0"/>
          </a:p>
          <a:p>
            <a:r>
              <a:rPr lang="en-US" altLang="zh-CN" dirty="0"/>
              <a:t>PE</a:t>
            </a:r>
            <a:r>
              <a:rPr lang="zh-CN" altLang="en-US" dirty="0"/>
              <a:t>文件与内存中的</a:t>
            </a:r>
            <a:r>
              <a:rPr lang="en-US" altLang="zh-CN" dirty="0"/>
              <a:t>Image</a:t>
            </a:r>
            <a:r>
              <a:rPr lang="zh-CN" altLang="en-US" dirty="0"/>
              <a:t>具有</a:t>
            </a:r>
            <a:r>
              <a:rPr lang="zh-CN" altLang="en-US" dirty="0">
                <a:solidFill>
                  <a:srgbClr val="FF0000"/>
                </a:solidFill>
              </a:rPr>
              <a:t>不同的形态</a:t>
            </a:r>
          </a:p>
        </p:txBody>
      </p:sp>
    </p:spTree>
    <p:extLst>
      <p:ext uri="{BB962C8B-B14F-4D97-AF65-F5344CB8AC3E}">
        <p14:creationId xmlns:p14="http://schemas.microsoft.com/office/powerpoint/2010/main" val="2492817671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A23B0F-21B6-4C05-B0C2-D6FD23104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文件偏移与虚拟内存地址转换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08FF05B-594F-4BF4-9654-B5774A1528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9262" y="2124808"/>
            <a:ext cx="6299200" cy="4140200"/>
          </a:xfrm>
          <a:prstGeom prst="rect">
            <a:avLst/>
          </a:prstGeom>
          <a:ln>
            <a:solidFill>
              <a:srgbClr val="7030A0"/>
            </a:solidFill>
          </a:ln>
        </p:spPr>
      </p:pic>
    </p:spTree>
    <p:extLst>
      <p:ext uri="{BB962C8B-B14F-4D97-AF65-F5344CB8AC3E}">
        <p14:creationId xmlns:p14="http://schemas.microsoft.com/office/powerpoint/2010/main" val="434042516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8981EA-71B8-4807-A1E2-D22CF595B9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文件偏移与虚拟内存地址转换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DBA35D0-4350-497C-B658-C7150AA5B8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文件被映射到内存中时，</a:t>
            </a:r>
            <a:r>
              <a:rPr lang="zh-CN" altLang="en-US" dirty="0">
                <a:solidFill>
                  <a:srgbClr val="0070C0"/>
                </a:solidFill>
              </a:rPr>
              <a:t>MS-DOS头部、</a:t>
            </a:r>
            <a:r>
              <a:rPr lang="en-US" altLang="zh-CN" dirty="0">
                <a:solidFill>
                  <a:srgbClr val="0070C0"/>
                </a:solidFill>
              </a:rPr>
              <a:t>PE</a:t>
            </a:r>
            <a:r>
              <a:rPr lang="zh-CN" altLang="en-US" dirty="0">
                <a:solidFill>
                  <a:srgbClr val="0070C0"/>
                </a:solidFill>
              </a:rPr>
              <a:t>文件头</a:t>
            </a:r>
            <a:r>
              <a:rPr lang="zh-CN" altLang="en-US" dirty="0"/>
              <a:t>和</a:t>
            </a:r>
            <a:r>
              <a:rPr lang="zh-CN" altLang="en-US" dirty="0">
                <a:solidFill>
                  <a:srgbClr val="0070C0"/>
                </a:solidFill>
              </a:rPr>
              <a:t>节表</a:t>
            </a:r>
            <a:r>
              <a:rPr lang="zh-CN" altLang="en-US" dirty="0"/>
              <a:t>的偏移位置与大小均</a:t>
            </a:r>
            <a:r>
              <a:rPr lang="zh-CN" altLang="en-US" dirty="0">
                <a:solidFill>
                  <a:srgbClr val="FF0000"/>
                </a:solidFill>
              </a:rPr>
              <a:t>没有变化</a:t>
            </a:r>
            <a:endParaRPr lang="en-US" altLang="zh-CN" dirty="0">
              <a:solidFill>
                <a:srgbClr val="FF0000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各</a:t>
            </a:r>
            <a:r>
              <a:rPr lang="zh-CN" altLang="en-US" dirty="0">
                <a:solidFill>
                  <a:srgbClr val="0070C0"/>
                </a:solidFill>
              </a:rPr>
              <a:t>节</a:t>
            </a:r>
            <a:r>
              <a:rPr lang="zh-CN" altLang="en-US" dirty="0"/>
              <a:t>被映射到内存中后，其偏移位置就发生了</a:t>
            </a:r>
            <a:r>
              <a:rPr lang="zh-CN" altLang="en-US" dirty="0">
                <a:solidFill>
                  <a:srgbClr val="FF0000"/>
                </a:solidFill>
              </a:rPr>
              <a:t>变化</a:t>
            </a:r>
            <a:endParaRPr lang="en-US" altLang="zh-CN" dirty="0">
              <a:solidFill>
                <a:srgbClr val="FF0000"/>
              </a:solidFill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36362795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75EF88-60D1-44AB-88BB-71A79428CF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文件偏移与虚拟内存地址转换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FA7B637-6A53-48AD-A2D2-1B2CBB5672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99415" y="1989139"/>
            <a:ext cx="8917757" cy="4092575"/>
          </a:xfrm>
        </p:spPr>
        <p:txBody>
          <a:bodyPr/>
          <a:lstStyle/>
          <a:p>
            <a:r>
              <a:rPr lang="en-US" altLang="zh-CN" dirty="0"/>
              <a:t>RVA to RAW</a:t>
            </a:r>
          </a:p>
          <a:p>
            <a:pPr lvl="1"/>
            <a:r>
              <a:rPr lang="en-US" altLang="zh-CN" dirty="0">
                <a:solidFill>
                  <a:srgbClr val="FF0000"/>
                </a:solidFill>
              </a:rPr>
              <a:t>RAW</a:t>
            </a:r>
            <a:r>
              <a:rPr lang="en-US" altLang="zh-CN" dirty="0"/>
              <a:t> – </a:t>
            </a:r>
            <a:r>
              <a:rPr lang="en-US" altLang="zh-CN" dirty="0" err="1"/>
              <a:t>PointerToRawData</a:t>
            </a:r>
            <a:r>
              <a:rPr lang="en-US" altLang="zh-CN" dirty="0"/>
              <a:t> = </a:t>
            </a:r>
            <a:r>
              <a:rPr lang="en-US" altLang="zh-CN" dirty="0">
                <a:solidFill>
                  <a:srgbClr val="FF0000"/>
                </a:solidFill>
              </a:rPr>
              <a:t>RVA</a:t>
            </a:r>
            <a:r>
              <a:rPr lang="en-US" altLang="zh-CN" dirty="0"/>
              <a:t> – </a:t>
            </a:r>
            <a:r>
              <a:rPr lang="en-US" altLang="zh-CN" dirty="0" err="1"/>
              <a:t>VirtualAddress</a:t>
            </a:r>
            <a:endParaRPr lang="en-US" altLang="zh-CN" dirty="0"/>
          </a:p>
          <a:p>
            <a:pPr lvl="1"/>
            <a:r>
              <a:rPr lang="en-US" altLang="zh-CN" dirty="0">
                <a:solidFill>
                  <a:srgbClr val="FF0000"/>
                </a:solidFill>
              </a:rPr>
              <a:t>RAW</a:t>
            </a:r>
            <a:r>
              <a:rPr lang="en-US" altLang="zh-CN" dirty="0"/>
              <a:t> = </a:t>
            </a:r>
            <a:r>
              <a:rPr lang="en-US" altLang="zh-CN" dirty="0">
                <a:solidFill>
                  <a:srgbClr val="FF0000"/>
                </a:solidFill>
              </a:rPr>
              <a:t>RVA</a:t>
            </a:r>
            <a:r>
              <a:rPr lang="en-US" altLang="zh-CN" dirty="0"/>
              <a:t> – </a:t>
            </a:r>
            <a:r>
              <a:rPr lang="en-US" altLang="zh-CN" dirty="0" err="1"/>
              <a:t>VirtualAddress</a:t>
            </a:r>
            <a:r>
              <a:rPr lang="en-US" altLang="zh-CN" dirty="0"/>
              <a:t> + </a:t>
            </a:r>
            <a:r>
              <a:rPr lang="en-US" altLang="zh-CN" dirty="0" err="1"/>
              <a:t>PointerToRawData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2031023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1867E7E1-8757-47E4-9BB8-891D92FB0ACE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219200" y="635001"/>
            <a:ext cx="9753600" cy="1260880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Microsoft Yahei" panose="020B0503020204020204" pitchFamily="34" charset="-122"/>
              </a:rPr>
              <a:t>PE</a:t>
            </a:r>
            <a:r>
              <a:rPr lang="zh-CN" altLang="en-US" sz="26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Microsoft Yahei" panose="020B0503020204020204" pitchFamily="34" charset="-122"/>
              </a:rPr>
              <a:t>文件在内存中的映射未知如图所示，</a:t>
            </a:r>
            <a:r>
              <a:rPr lang="en-US" altLang="zh-CN" sz="26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 </a:t>
            </a:r>
            <a:r>
              <a:rPr lang="zh-CN" altLang="en-US" sz="26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相对内存地址</a:t>
            </a:r>
            <a:r>
              <a:rPr lang="en-US" altLang="zh-CN" sz="26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RVA=2123h</a:t>
            </a:r>
            <a:r>
              <a:rPr lang="zh-CN" altLang="en-US" sz="26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的数据在</a:t>
            </a:r>
            <a:r>
              <a:rPr lang="en-US" altLang="zh-CN" sz="26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PE</a:t>
            </a:r>
            <a:r>
              <a:rPr lang="zh-CN" altLang="en-US" sz="26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文件中的</a:t>
            </a:r>
            <a:r>
              <a:rPr lang="en-US" altLang="zh-CN" sz="26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Offset</a:t>
            </a:r>
            <a:r>
              <a:rPr lang="zh-CN" altLang="en-US" sz="26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是？</a:t>
            </a:r>
            <a:r>
              <a:rPr lang="en-US" altLang="zh-CN" sz="26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 </a:t>
            </a:r>
            <a:endParaRPr lang="zh-CN" altLang="en-US" sz="260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sym typeface="Microsoft Yahei" panose="020B0503020204020204" pitchFamily="34" charset="-122"/>
            </a:endParaRP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34F54246-3F78-4E5E-B095-A6138068FEAB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B161C6F-7AB5-48C0-8C88-1D922D7726E9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0" y="5727383"/>
            <a:ext cx="12192000" cy="487680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rtlCol="0" anchor="ctr" anchorCtr="1">
            <a:noAutofit/>
          </a:bodyPr>
          <a:lstStyle/>
          <a:p>
            <a:r>
              <a:rPr lang="zh-CN" altLang="en-US" sz="16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正常使用主观题需</a:t>
            </a:r>
            <a:r>
              <a:rPr lang="en-US" altLang="zh-CN" sz="16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2.0</a:t>
            </a:r>
            <a:r>
              <a:rPr lang="zh-CN" altLang="en-US" sz="16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以上版本雨课堂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CDA02222-8C3A-4470-8A6F-E072EE1FD0C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665415" y="2061779"/>
            <a:ext cx="4861169" cy="3195043"/>
          </a:xfrm>
          <a:prstGeom prst="rect">
            <a:avLst/>
          </a:prstGeom>
        </p:spPr>
      </p:pic>
      <p:grpSp>
        <p:nvGrpSpPr>
          <p:cNvPr id="10" name="组合 9">
            <a:extLst>
              <a:ext uri="{FF2B5EF4-FFF2-40B4-BE49-F238E27FC236}">
                <a16:creationId xmlns:a16="http://schemas.microsoft.com/office/drawing/2014/main" id="{3463700B-3820-4636-96CE-E37B0BDD1BA3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6" name="TitleBackground">
              <a:extLst>
                <a:ext uri="{FF2B5EF4-FFF2-40B4-BE49-F238E27FC236}">
                  <a16:creationId xmlns:a16="http://schemas.microsoft.com/office/drawing/2014/main" id="{E6C77CCC-D665-4F10-8625-846ACFC07D45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ColorBlock">
              <a:extLst>
                <a:ext uri="{FF2B5EF4-FFF2-40B4-BE49-F238E27FC236}">
                  <a16:creationId xmlns:a16="http://schemas.microsoft.com/office/drawing/2014/main" id="{801972E0-F602-45FA-8AFD-D38FB316538C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TypeText">
              <a:extLst>
                <a:ext uri="{FF2B5EF4-FFF2-40B4-BE49-F238E27FC236}">
                  <a16:creationId xmlns:a16="http://schemas.microsoft.com/office/drawing/2014/main" id="{154376E1-3EAF-4101-A9A1-8A902908A790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主观题</a:t>
              </a:r>
            </a:p>
          </p:txBody>
        </p:sp>
        <p:sp>
          <p:nvSpPr>
            <p:cNvPr id="9" name="TipText">
              <a:extLst>
                <a:ext uri="{FF2B5EF4-FFF2-40B4-BE49-F238E27FC236}">
                  <a16:creationId xmlns:a16="http://schemas.microsoft.com/office/drawing/2014/main" id="{2095A5BA-15EC-4932-AAAF-86AE4F2DAF83}"/>
                </a:ext>
              </a:extLst>
            </p:cNvPr>
            <p:cNvSpPr txBox="1"/>
            <p:nvPr>
              <p:custDataLst>
                <p:tags r:id="rId10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65F01572-3D5E-473C-97E0-5ACDC5073527}"/>
              </a:ext>
            </a:extLst>
          </p:cNvPr>
          <p:cNvPicPr>
            <a:picLocks/>
          </p:cNvPicPr>
          <p:nvPr>
            <p:custDataLst>
              <p:tags r:id="rId6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830666755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2045D8-AB11-4CA1-B8B4-0F31F05D8E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9494"/>
            <a:ext cx="10515600" cy="762000"/>
          </a:xfrm>
        </p:spPr>
        <p:txBody>
          <a:bodyPr>
            <a:normAutofit/>
          </a:bodyPr>
          <a:lstStyle/>
          <a:p>
            <a:r>
              <a:rPr lang="en-US" altLang="zh-CN" dirty="0"/>
              <a:t>RVA to</a:t>
            </a:r>
            <a:r>
              <a:rPr lang="zh-CN" altLang="en-US" dirty="0"/>
              <a:t> </a:t>
            </a:r>
            <a:r>
              <a:rPr lang="en-US" altLang="zh-CN" dirty="0"/>
              <a:t>RAW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886F792-2451-4D22-B749-AA919D2EC6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7567" y="2093132"/>
            <a:ext cx="9096866" cy="4092575"/>
          </a:xfrm>
        </p:spPr>
        <p:txBody>
          <a:bodyPr>
            <a:normAutofit lnSpcReduction="10000"/>
          </a:bodyPr>
          <a:lstStyle/>
          <a:p>
            <a:r>
              <a:rPr lang="en-US" altLang="zh-CN" dirty="0"/>
              <a:t>RVA=2123h</a:t>
            </a:r>
            <a:r>
              <a:rPr lang="zh-CN" altLang="en-US" dirty="0"/>
              <a:t>在</a:t>
            </a:r>
            <a:r>
              <a:rPr lang="en-US" altLang="zh-CN" dirty="0"/>
              <a:t>.</a:t>
            </a:r>
            <a:r>
              <a:rPr lang="en-US" altLang="zh-CN" dirty="0" err="1"/>
              <a:t>rdata</a:t>
            </a:r>
            <a:r>
              <a:rPr lang="zh-CN" altLang="en-US" dirty="0"/>
              <a:t>节</a:t>
            </a:r>
            <a:endParaRPr lang="en-US" altLang="zh-CN" dirty="0"/>
          </a:p>
          <a:p>
            <a:pPr lvl="1"/>
            <a:r>
              <a:rPr lang="en-US" altLang="zh-CN" dirty="0"/>
              <a:t>.</a:t>
            </a:r>
            <a:r>
              <a:rPr lang="en-US" altLang="zh-CN" dirty="0" err="1"/>
              <a:t>rdata</a:t>
            </a:r>
            <a:r>
              <a:rPr lang="zh-CN" altLang="en-US" dirty="0"/>
              <a:t>节的相对内存地址范围是</a:t>
            </a:r>
            <a:r>
              <a:rPr lang="en-US" altLang="zh-CN" dirty="0"/>
              <a:t>2000h</a:t>
            </a:r>
            <a:r>
              <a:rPr lang="zh-CN" altLang="en-US" dirty="0"/>
              <a:t>到</a:t>
            </a:r>
            <a:r>
              <a:rPr lang="en-US" altLang="zh-CN" dirty="0"/>
              <a:t>3000h</a:t>
            </a:r>
          </a:p>
          <a:p>
            <a:r>
              <a:rPr lang="en-US" altLang="zh-CN" dirty="0" err="1"/>
              <a:t>VirtualAddress</a:t>
            </a:r>
            <a:r>
              <a:rPr lang="en-US" altLang="zh-CN" dirty="0"/>
              <a:t> = 2000h</a:t>
            </a:r>
          </a:p>
          <a:p>
            <a:r>
              <a:rPr lang="en-US" altLang="zh-CN" dirty="0" err="1"/>
              <a:t>PointerToRawData</a:t>
            </a:r>
            <a:r>
              <a:rPr lang="en-US" altLang="zh-CN" dirty="0"/>
              <a:t>=600h</a:t>
            </a:r>
          </a:p>
          <a:p>
            <a:r>
              <a:rPr lang="en-US" altLang="zh-CN" dirty="0"/>
              <a:t>RAW=2123h</a:t>
            </a:r>
            <a:r>
              <a:rPr lang="zh-CN" altLang="en-US" dirty="0">
                <a:solidFill>
                  <a:srgbClr val="FF0000"/>
                </a:solidFill>
              </a:rPr>
              <a:t>（</a:t>
            </a:r>
            <a:r>
              <a:rPr lang="en-US" altLang="zh-CN" dirty="0">
                <a:solidFill>
                  <a:srgbClr val="FF0000"/>
                </a:solidFill>
              </a:rPr>
              <a:t>RVA</a:t>
            </a:r>
            <a:r>
              <a:rPr lang="zh-CN" altLang="en-US" dirty="0">
                <a:solidFill>
                  <a:srgbClr val="FF0000"/>
                </a:solidFill>
              </a:rPr>
              <a:t>）</a:t>
            </a:r>
            <a:r>
              <a:rPr lang="en-US" altLang="zh-CN" dirty="0"/>
              <a:t>- 2000h</a:t>
            </a:r>
            <a:r>
              <a:rPr lang="zh-CN" altLang="en-US" dirty="0">
                <a:solidFill>
                  <a:srgbClr val="FF0000"/>
                </a:solidFill>
              </a:rPr>
              <a:t>（</a:t>
            </a:r>
            <a:r>
              <a:rPr lang="en-US" altLang="zh-CN" dirty="0" err="1">
                <a:solidFill>
                  <a:srgbClr val="FF0000"/>
                </a:solidFill>
              </a:rPr>
              <a:t>VirtualAddress</a:t>
            </a:r>
            <a:r>
              <a:rPr lang="zh-CN" altLang="en-US" dirty="0">
                <a:solidFill>
                  <a:srgbClr val="FF0000"/>
                </a:solidFill>
              </a:rPr>
              <a:t>）</a:t>
            </a:r>
            <a:r>
              <a:rPr lang="en-US" altLang="zh-CN" dirty="0"/>
              <a:t>+600h</a:t>
            </a:r>
            <a:r>
              <a:rPr lang="zh-CN" altLang="en-US" dirty="0">
                <a:solidFill>
                  <a:srgbClr val="FF0000"/>
                </a:solidFill>
              </a:rPr>
              <a:t>（</a:t>
            </a:r>
            <a:r>
              <a:rPr lang="en-US" altLang="zh-CN" dirty="0" err="1">
                <a:solidFill>
                  <a:srgbClr val="FF0000"/>
                </a:solidFill>
              </a:rPr>
              <a:t>PointerToRawData</a:t>
            </a:r>
            <a:r>
              <a:rPr lang="zh-CN" altLang="en-US" dirty="0">
                <a:solidFill>
                  <a:srgbClr val="FF0000"/>
                </a:solidFill>
              </a:rPr>
              <a:t>）</a:t>
            </a:r>
            <a:r>
              <a:rPr lang="en-US" altLang="zh-CN" dirty="0"/>
              <a:t>=</a:t>
            </a:r>
            <a:r>
              <a:rPr lang="en-US" altLang="zh-CN" b="1" dirty="0">
                <a:solidFill>
                  <a:srgbClr val="0070C0"/>
                </a:solidFill>
              </a:rPr>
              <a:t>723</a:t>
            </a:r>
            <a:r>
              <a:rPr lang="en-US" altLang="zh-CN" dirty="0"/>
              <a:t>h</a:t>
            </a:r>
          </a:p>
        </p:txBody>
      </p:sp>
    </p:spTree>
    <p:extLst>
      <p:ext uri="{BB962C8B-B14F-4D97-AF65-F5344CB8AC3E}">
        <p14:creationId xmlns:p14="http://schemas.microsoft.com/office/powerpoint/2010/main" val="836776205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5ADECF-277F-4ABF-82E0-CD6B980131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RVA to RAW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D324670-6CF4-4523-817D-C385AEC639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RVA</a:t>
            </a:r>
            <a:r>
              <a:rPr lang="zh-CN" altLang="en-US" dirty="0"/>
              <a:t>与</a:t>
            </a:r>
            <a:r>
              <a:rPr lang="en-US" altLang="zh-CN" dirty="0"/>
              <a:t>RAW</a:t>
            </a:r>
            <a:r>
              <a:rPr lang="zh-CN" altLang="en-US" dirty="0"/>
              <a:t>（文件偏移）间的相互变换时</a:t>
            </a:r>
            <a:r>
              <a:rPr lang="en-US" altLang="zh-CN" dirty="0"/>
              <a:t>PE</a:t>
            </a:r>
            <a:r>
              <a:rPr lang="zh-CN" altLang="en-US" dirty="0"/>
              <a:t>头的最基本内容，需要熟悉并掌握。</a:t>
            </a:r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63709189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44727" y="2337582"/>
            <a:ext cx="6400800" cy="1143000"/>
          </a:xfrm>
        </p:spPr>
        <p:txBody>
          <a:bodyPr/>
          <a:lstStyle/>
          <a:p>
            <a:pPr algn="ctr"/>
            <a:r>
              <a:rPr lang="zh-CN" altLang="en-US" dirty="0"/>
              <a:t>导入表 </a:t>
            </a:r>
            <a:r>
              <a:rPr lang="en-US" altLang="zh-CN" dirty="0"/>
              <a:t>IAT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1432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A96A914D-8CC7-4E77-87F3-F9054F29AF01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思考题：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C++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编程中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include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的函数代码是否存储在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.text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代码节中？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956EF348-C30F-433A-9523-DF7E1294220B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DDBBD266-8C44-4D68-8427-C2405E81C551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7" name="TitleBackground">
              <a:extLst>
                <a:ext uri="{FF2B5EF4-FFF2-40B4-BE49-F238E27FC236}">
                  <a16:creationId xmlns:a16="http://schemas.microsoft.com/office/drawing/2014/main" id="{C68EE076-5600-4E37-BAB6-7BBBB0309EA3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ColorBlock">
              <a:extLst>
                <a:ext uri="{FF2B5EF4-FFF2-40B4-BE49-F238E27FC236}">
                  <a16:creationId xmlns:a16="http://schemas.microsoft.com/office/drawing/2014/main" id="{2BAA64D7-EF3A-4D77-840B-36AE7879E499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TypeText">
              <a:extLst>
                <a:ext uri="{FF2B5EF4-FFF2-40B4-BE49-F238E27FC236}">
                  <a16:creationId xmlns:a16="http://schemas.microsoft.com/office/drawing/2014/main" id="{2C5F43BF-5932-4547-B7ED-F1BD9E8A2DB2}"/>
                </a:ext>
              </a:extLst>
            </p:cNvPr>
            <p:cNvSpPr txBox="1"/>
            <p:nvPr>
              <p:custDataLst>
                <p:tags r:id="rId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主观题</a:t>
              </a:r>
            </a:p>
          </p:txBody>
        </p:sp>
        <p:sp>
          <p:nvSpPr>
            <p:cNvPr id="10" name="TipText">
              <a:extLst>
                <a:ext uri="{FF2B5EF4-FFF2-40B4-BE49-F238E27FC236}">
                  <a16:creationId xmlns:a16="http://schemas.microsoft.com/office/drawing/2014/main" id="{7D14E4B7-C641-4424-ACEB-7238FB670295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4" name="图片 3">
            <a:extLst>
              <a:ext uri="{FF2B5EF4-FFF2-40B4-BE49-F238E27FC236}">
                <a16:creationId xmlns:a16="http://schemas.microsoft.com/office/drawing/2014/main" id="{D0F9CF22-A908-4FBA-A18B-0F75A0CED1E0}"/>
              </a:ext>
            </a:extLst>
          </p:cNvPr>
          <p:cNvPicPr>
            <a:picLocks/>
          </p:cNvPicPr>
          <p:nvPr>
            <p:custDataLst>
              <p:tags r:id="rId5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223817076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F18CE9-6410-4895-806E-C49E3B2804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hello.exe</a:t>
            </a:r>
            <a:endParaRPr lang="zh-CN" altLang="en-US" dirty="0"/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EF8C4C57-053F-4C80-9B8D-DB6E3B7F2E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84265" y="1733631"/>
            <a:ext cx="7940675" cy="1215099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9E3B85A9-25A6-4EEC-B175-1210F784AB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4136" y="2948730"/>
            <a:ext cx="5493032" cy="2349621"/>
          </a:xfrm>
          <a:prstGeom prst="rect">
            <a:avLst/>
          </a:prstGeom>
        </p:spPr>
      </p:pic>
      <p:sp>
        <p:nvSpPr>
          <p:cNvPr id="6" name="椭圆 5">
            <a:extLst>
              <a:ext uri="{FF2B5EF4-FFF2-40B4-BE49-F238E27FC236}">
                <a16:creationId xmlns:a16="http://schemas.microsoft.com/office/drawing/2014/main" id="{AFF9BF86-5047-4BB0-8AE6-BE159F8A13A6}"/>
              </a:ext>
            </a:extLst>
          </p:cNvPr>
          <p:cNvSpPr/>
          <p:nvPr/>
        </p:nvSpPr>
        <p:spPr>
          <a:xfrm>
            <a:off x="2125662" y="2074393"/>
            <a:ext cx="2017336" cy="58446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C38BE4CF-1C86-4F39-9727-19376CEA851E}"/>
              </a:ext>
            </a:extLst>
          </p:cNvPr>
          <p:cNvSpPr/>
          <p:nvPr/>
        </p:nvSpPr>
        <p:spPr>
          <a:xfrm>
            <a:off x="3134330" y="3269628"/>
            <a:ext cx="2017336" cy="58446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64B05BD6-9ACB-4054-B2EF-A704F6A2F9AA}"/>
              </a:ext>
            </a:extLst>
          </p:cNvPr>
          <p:cNvSpPr/>
          <p:nvPr/>
        </p:nvSpPr>
        <p:spPr>
          <a:xfrm>
            <a:off x="3134330" y="4753564"/>
            <a:ext cx="2017336" cy="58446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787B8DF-6F2D-4E38-A3B2-9073F76DB34A}"/>
              </a:ext>
            </a:extLst>
          </p:cNvPr>
          <p:cNvSpPr/>
          <p:nvPr/>
        </p:nvSpPr>
        <p:spPr>
          <a:xfrm>
            <a:off x="2751879" y="5434583"/>
            <a:ext cx="700544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为什么不直接使用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call 75524F20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调用函数？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endParaRPr lang="zh-CN" altLang="en-US" sz="2800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42128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AFA673-E3FD-4522-80B8-D63F2AB0B4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JMP-jump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9DCD760-74D8-4284-BD8E-0AD6BA918A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02343"/>
          </a:xfrm>
        </p:spPr>
        <p:txBody>
          <a:bodyPr>
            <a:normAutofit fontScale="70000" lnSpcReduction="20000"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近跳转（</a:t>
            </a:r>
            <a:r>
              <a:rPr lang="en-US" altLang="zh-CN" b="1" dirty="0">
                <a:solidFill>
                  <a:srgbClr val="FF0000"/>
                </a:solidFill>
              </a:rPr>
              <a:t>Near jump</a:t>
            </a:r>
            <a:r>
              <a:rPr lang="zh-CN" altLang="en-US" b="1" dirty="0">
                <a:solidFill>
                  <a:srgbClr val="FF0000"/>
                </a:solidFill>
              </a:rPr>
              <a:t>）</a:t>
            </a:r>
            <a:endParaRPr lang="en-US" altLang="zh-CN" b="1" dirty="0">
              <a:solidFill>
                <a:srgbClr val="FF0000"/>
              </a:solidFill>
            </a:endParaRPr>
          </a:p>
          <a:p>
            <a:pPr lvl="1"/>
            <a:r>
              <a:rPr lang="en-US" altLang="zh-CN" dirty="0"/>
              <a:t>A jump to an instruction within the current </a:t>
            </a:r>
            <a:r>
              <a:rPr lang="en-US" altLang="zh-CN" dirty="0">
                <a:solidFill>
                  <a:srgbClr val="FF0000"/>
                </a:solidFill>
              </a:rPr>
              <a:t>code segment </a:t>
            </a:r>
            <a:r>
              <a:rPr lang="en-US" altLang="zh-CN" dirty="0"/>
              <a:t>(the segment currently pointed to by the CS register)</a:t>
            </a:r>
          </a:p>
          <a:p>
            <a:pPr lvl="1"/>
            <a:r>
              <a:rPr lang="en-US" altLang="zh-CN" dirty="0">
                <a:solidFill>
                  <a:srgbClr val="FF0000"/>
                </a:solidFill>
              </a:rPr>
              <a:t>E9</a:t>
            </a:r>
            <a:r>
              <a:rPr lang="en-US" altLang="zh-CN" dirty="0"/>
              <a:t> </a:t>
            </a:r>
            <a:r>
              <a:rPr lang="en-US" altLang="zh-CN" dirty="0">
                <a:sym typeface="Wingdings" panose="05000000000000000000" pitchFamily="2" charset="2"/>
              </a:rPr>
              <a:t> JMP rel32/rel16 </a:t>
            </a:r>
            <a:r>
              <a:rPr lang="zh-CN" altLang="en-US" dirty="0">
                <a:sym typeface="Wingdings" panose="05000000000000000000" pitchFamily="2" charset="2"/>
              </a:rPr>
              <a:t>（长度</a:t>
            </a:r>
            <a:r>
              <a:rPr lang="en-US" altLang="zh-CN" dirty="0">
                <a:sym typeface="Wingdings" panose="05000000000000000000" pitchFamily="2" charset="2"/>
              </a:rPr>
              <a:t>5</a:t>
            </a:r>
            <a:r>
              <a:rPr lang="zh-CN" altLang="en-US" dirty="0">
                <a:sym typeface="Wingdings" panose="05000000000000000000" pitchFamily="2" charset="2"/>
              </a:rPr>
              <a:t>字节）</a:t>
            </a:r>
            <a:endParaRPr lang="en-US" altLang="zh-CN" dirty="0"/>
          </a:p>
          <a:p>
            <a:r>
              <a:rPr lang="zh-CN" altLang="en-US" b="1" dirty="0">
                <a:solidFill>
                  <a:srgbClr val="FF0000"/>
                </a:solidFill>
              </a:rPr>
              <a:t>短跳转 （</a:t>
            </a:r>
            <a:r>
              <a:rPr lang="en-US" altLang="zh-CN" b="1" dirty="0">
                <a:solidFill>
                  <a:srgbClr val="FF0000"/>
                </a:solidFill>
              </a:rPr>
              <a:t>Short jump</a:t>
            </a:r>
            <a:r>
              <a:rPr lang="zh-CN" altLang="en-US" b="1" dirty="0">
                <a:solidFill>
                  <a:srgbClr val="FF0000"/>
                </a:solidFill>
              </a:rPr>
              <a:t>）</a:t>
            </a:r>
            <a:endParaRPr lang="en-US" altLang="zh-CN" b="1" dirty="0">
              <a:solidFill>
                <a:srgbClr val="FF0000"/>
              </a:solidFill>
            </a:endParaRPr>
          </a:p>
          <a:p>
            <a:pPr lvl="1"/>
            <a:r>
              <a:rPr lang="en-US" altLang="zh-CN" dirty="0"/>
              <a:t>A near jump where the jump range is limited to </a:t>
            </a:r>
            <a:r>
              <a:rPr lang="en-US" altLang="zh-CN" dirty="0">
                <a:solidFill>
                  <a:srgbClr val="FF0000"/>
                </a:solidFill>
              </a:rPr>
              <a:t>–128 to +127 </a:t>
            </a:r>
            <a:r>
              <a:rPr lang="en-US" altLang="zh-CN" dirty="0"/>
              <a:t>from the current EIP value.</a:t>
            </a:r>
          </a:p>
          <a:p>
            <a:pPr lvl="1"/>
            <a:r>
              <a:rPr lang="en-US" altLang="zh-CN" dirty="0">
                <a:solidFill>
                  <a:srgbClr val="FF0000"/>
                </a:solidFill>
              </a:rPr>
              <a:t>EB</a:t>
            </a:r>
            <a:r>
              <a:rPr lang="en-US" altLang="zh-CN" dirty="0"/>
              <a:t> </a:t>
            </a:r>
            <a:r>
              <a:rPr lang="en-US" altLang="zh-CN" dirty="0">
                <a:sym typeface="Wingdings" panose="05000000000000000000" pitchFamily="2" charset="2"/>
              </a:rPr>
              <a:t> JMP rel8 </a:t>
            </a:r>
            <a:r>
              <a:rPr lang="zh-CN" altLang="en-US" dirty="0">
                <a:sym typeface="Wingdings" panose="05000000000000000000" pitchFamily="2" charset="2"/>
              </a:rPr>
              <a:t>（长度</a:t>
            </a:r>
            <a:r>
              <a:rPr lang="en-US" altLang="zh-CN" dirty="0">
                <a:sym typeface="Wingdings" panose="05000000000000000000" pitchFamily="2" charset="2"/>
              </a:rPr>
              <a:t>2</a:t>
            </a:r>
            <a:r>
              <a:rPr lang="zh-CN" altLang="en-US" dirty="0">
                <a:sym typeface="Wingdings" panose="05000000000000000000" pitchFamily="2" charset="2"/>
              </a:rPr>
              <a:t>字节）</a:t>
            </a:r>
            <a:endParaRPr lang="en-US" altLang="zh-CN" dirty="0"/>
          </a:p>
          <a:p>
            <a:r>
              <a:rPr lang="zh-CN" altLang="en-US" b="1" dirty="0">
                <a:solidFill>
                  <a:srgbClr val="FF0000"/>
                </a:solidFill>
              </a:rPr>
              <a:t>远跳转（</a:t>
            </a:r>
            <a:r>
              <a:rPr lang="en-US" altLang="zh-CN" b="1" dirty="0">
                <a:solidFill>
                  <a:srgbClr val="FF0000"/>
                </a:solidFill>
              </a:rPr>
              <a:t>Far jump</a:t>
            </a:r>
            <a:r>
              <a:rPr lang="zh-CN" altLang="en-US" b="1" dirty="0">
                <a:solidFill>
                  <a:srgbClr val="FF0000"/>
                </a:solidFill>
              </a:rPr>
              <a:t>）</a:t>
            </a:r>
            <a:endParaRPr lang="en-US" altLang="zh-CN" b="1" dirty="0">
              <a:solidFill>
                <a:srgbClr val="FF0000"/>
              </a:solidFill>
            </a:endParaRPr>
          </a:p>
          <a:p>
            <a:pPr lvl="1"/>
            <a:r>
              <a:rPr lang="en-US" altLang="zh-CN" dirty="0"/>
              <a:t>A jump to an instruction located in a </a:t>
            </a:r>
            <a:r>
              <a:rPr lang="en-US" altLang="zh-CN" dirty="0">
                <a:solidFill>
                  <a:srgbClr val="FF0000"/>
                </a:solidFill>
              </a:rPr>
              <a:t>different segment </a:t>
            </a:r>
            <a:r>
              <a:rPr lang="en-US" altLang="zh-CN" dirty="0"/>
              <a:t>than the current code segment but at the same privilege level, sometimes referred to as an intersegment jump.</a:t>
            </a:r>
          </a:p>
          <a:p>
            <a:pPr lvl="1"/>
            <a:r>
              <a:rPr lang="en-US" altLang="zh-CN" dirty="0">
                <a:solidFill>
                  <a:srgbClr val="FF0000"/>
                </a:solidFill>
              </a:rPr>
              <a:t>FF 25 </a:t>
            </a:r>
            <a:r>
              <a:rPr lang="en-US" altLang="zh-CN" dirty="0">
                <a:sym typeface="Wingdings" panose="05000000000000000000" pitchFamily="2" charset="2"/>
              </a:rPr>
              <a:t> JMP m16:32  </a:t>
            </a:r>
            <a:r>
              <a:rPr lang="zh-CN" altLang="en-US" dirty="0">
                <a:sym typeface="Wingdings" panose="05000000000000000000" pitchFamily="2" charset="2"/>
              </a:rPr>
              <a:t>（长度</a:t>
            </a:r>
            <a:r>
              <a:rPr lang="en-US" altLang="zh-CN" dirty="0">
                <a:sym typeface="Wingdings" panose="05000000000000000000" pitchFamily="2" charset="2"/>
              </a:rPr>
              <a:t>6</a:t>
            </a:r>
            <a:r>
              <a:rPr lang="zh-CN" altLang="en-US" dirty="0">
                <a:sym typeface="Wingdings" panose="05000000000000000000" pitchFamily="2" charset="2"/>
              </a:rPr>
              <a:t>字节）</a:t>
            </a:r>
            <a:br>
              <a:rPr lang="en-US" altLang="zh-CN" dirty="0">
                <a:sym typeface="Wingdings" panose="05000000000000000000" pitchFamily="2" charset="2"/>
              </a:rPr>
            </a:br>
            <a:r>
              <a:rPr lang="en-US" altLang="zh-CN" dirty="0">
                <a:solidFill>
                  <a:srgbClr val="FF0000"/>
                </a:solidFill>
                <a:sym typeface="Wingdings" panose="05000000000000000000" pitchFamily="2" charset="2"/>
              </a:rPr>
              <a:t>JMP DWORD PTR </a:t>
            </a:r>
            <a:r>
              <a:rPr lang="en-US" altLang="zh-CN" b="1" dirty="0">
                <a:solidFill>
                  <a:srgbClr val="FF0000"/>
                </a:solidFill>
                <a:sym typeface="Wingdings" panose="05000000000000000000" pitchFamily="2" charset="2"/>
              </a:rPr>
              <a:t>DS</a:t>
            </a:r>
            <a:r>
              <a:rPr lang="en-US" altLang="zh-CN" dirty="0">
                <a:solidFill>
                  <a:srgbClr val="FF0000"/>
                </a:solidFill>
                <a:sym typeface="Wingdings" panose="05000000000000000000" pitchFamily="2" charset="2"/>
              </a:rPr>
              <a:t>:[&lt;&amp;kernel32.ExitProcess&gt;]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1226726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EB84E7-20BD-4D45-8B44-6D1E1EDF2B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导入表</a:t>
            </a:r>
            <a:r>
              <a:rPr lang="en-US" altLang="zh-CN" dirty="0"/>
              <a:t>IAT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6F2D41F-D90E-4DA9-9B7A-CC5EE956E7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操作系统的版本不同</a:t>
            </a:r>
            <a:endParaRPr lang="en-US" altLang="zh-CN" dirty="0"/>
          </a:p>
          <a:p>
            <a:r>
              <a:rPr lang="en-US" altLang="zh-CN" dirty="0"/>
              <a:t>kernel32.dll</a:t>
            </a:r>
            <a:r>
              <a:rPr lang="zh-CN" altLang="en-US" dirty="0"/>
              <a:t>的版本不同</a:t>
            </a:r>
            <a:endParaRPr lang="en-US" altLang="zh-CN" dirty="0"/>
          </a:p>
          <a:p>
            <a:r>
              <a:rPr lang="en-US" altLang="zh-CN" dirty="0"/>
              <a:t>DLL</a:t>
            </a:r>
            <a:r>
              <a:rPr lang="zh-CN" altLang="en-US" dirty="0"/>
              <a:t>重定位</a:t>
            </a:r>
            <a:endParaRPr lang="en-US" altLang="zh-CN" dirty="0"/>
          </a:p>
          <a:p>
            <a:pPr lvl="1"/>
            <a:r>
              <a:rPr lang="en-US" altLang="zh-CN" dirty="0" err="1">
                <a:solidFill>
                  <a:srgbClr val="FF0000"/>
                </a:solidFill>
              </a:rPr>
              <a:t>ImageBase</a:t>
            </a:r>
            <a:r>
              <a:rPr lang="zh-CN" altLang="en-US" dirty="0"/>
              <a:t>值在不同程序内存空间中是不一样的</a:t>
            </a:r>
          </a:p>
        </p:txBody>
      </p:sp>
    </p:spTree>
    <p:extLst>
      <p:ext uri="{BB962C8B-B14F-4D97-AF65-F5344CB8AC3E}">
        <p14:creationId xmlns:p14="http://schemas.microsoft.com/office/powerpoint/2010/main" val="2812243991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CE53B9D9-4BAC-479D-9991-8FD6AA548DD1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为什么需要导入表（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Import Table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），系统函数、库函数的内存地址在编译和链接的时候是不是已经确定了？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D075E0E7-8D4A-4208-9C1B-339B7A08504B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2E5010F-8FA3-42A3-9A75-BB378DFE6529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12573000" y="0"/>
            <a:ext cx="3840480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5F6D763-48F0-4277-B777-027CEA1D9C7C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2661900" y="6326832"/>
            <a:ext cx="3662680" cy="46166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FFFFFF"/>
                </a:solidFill>
              </a14:hiddenLine>
            </a:ext>
          </a:extLst>
        </p:spPr>
        <p:txBody>
          <a:bodyPr vert="horz" rtlCol="0" anchor="ctr">
            <a:spAutoFit/>
          </a:bodyPr>
          <a:lstStyle/>
          <a:p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可为此题添加文本、图片、公式等解析，且需将内容全部放在本区域内。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FAFADBB9-79CD-4AA7-AE1F-32C9B54EC781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2827000" y="1270000"/>
            <a:ext cx="3332480" cy="1631216"/>
          </a:xfrm>
          <a:prstGeom prst="rect">
            <a:avLst/>
          </a:prstGeom>
          <a:noFill/>
        </p:spPr>
        <p:txBody>
          <a:bodyPr vert="horz" rtlCol="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编译和链接只是创建了一个</a:t>
            </a: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Import Table</a:t>
            </a: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给操作系统，程序执行的时候，操作系统根据</a:t>
            </a: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Import Table</a:t>
            </a: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动态写入真正的函数内存地址。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Microsoft Yahei" panose="020B0503020204020204" pitchFamily="34" charset="-122"/>
            </a:endParaRP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FCACFF56-D67F-4604-893B-6696759C9CAF}"/>
              </a:ext>
            </a:extLst>
          </p:cNvPr>
          <p:cNvGrpSpPr/>
          <p:nvPr>
            <p:custDataLst>
              <p:tags r:id="rId7"/>
            </p:custDataLst>
          </p:nvPr>
        </p:nvGrpSpPr>
        <p:grpSpPr>
          <a:xfrm>
            <a:off x="12585700" y="0"/>
            <a:ext cx="3815080" cy="647700"/>
            <a:chOff x="12585700" y="0"/>
            <a:chExt cx="3815080" cy="647700"/>
          </a:xfrm>
        </p:grpSpPr>
        <p:sp>
          <p:nvSpPr>
            <p:cNvPr id="14" name="RemarkBack">
              <a:extLst>
                <a:ext uri="{FF2B5EF4-FFF2-40B4-BE49-F238E27FC236}">
                  <a16:creationId xmlns:a16="http://schemas.microsoft.com/office/drawing/2014/main" id="{C2C563AB-6E22-4909-A668-F202BB6CE2FB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12585700" y="12700"/>
              <a:ext cx="381508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RemarkBlock">
              <a:extLst>
                <a:ext uri="{FF2B5EF4-FFF2-40B4-BE49-F238E27FC236}">
                  <a16:creationId xmlns:a16="http://schemas.microsoft.com/office/drawing/2014/main" id="{2664D186-48BF-4DBB-974B-E7DACD6DDC4D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12585700" y="1270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RemarkTitleText">
              <a:extLst>
                <a:ext uri="{FF2B5EF4-FFF2-40B4-BE49-F238E27FC236}">
                  <a16:creationId xmlns:a16="http://schemas.microsoft.com/office/drawing/2014/main" id="{5C4E8042-DFBE-41FD-97EF-FFCBFDB15AE7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12827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答案解析</a:t>
              </a: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5A6A3AD2-2E28-468C-8A36-300626C38F8E}"/>
              </a:ext>
            </a:extLst>
          </p:cNvPr>
          <p:cNvGrpSpPr/>
          <p:nvPr>
            <p:custDataLst>
              <p:tags r:id="rId8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8" name="TitleBackground">
              <a:extLst>
                <a:ext uri="{FF2B5EF4-FFF2-40B4-BE49-F238E27FC236}">
                  <a16:creationId xmlns:a16="http://schemas.microsoft.com/office/drawing/2014/main" id="{98E2560E-BAFB-4011-BC12-D6A72DAAB767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ColorBlock">
              <a:extLst>
                <a:ext uri="{FF2B5EF4-FFF2-40B4-BE49-F238E27FC236}">
                  <a16:creationId xmlns:a16="http://schemas.microsoft.com/office/drawing/2014/main" id="{134B9572-452F-49B9-B74F-07390082F2B0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TypeText">
              <a:extLst>
                <a:ext uri="{FF2B5EF4-FFF2-40B4-BE49-F238E27FC236}">
                  <a16:creationId xmlns:a16="http://schemas.microsoft.com/office/drawing/2014/main" id="{8074182A-99EB-4CFB-A506-E3A45621A115}"/>
                </a:ext>
              </a:extLst>
            </p:cNvPr>
            <p:cNvSpPr txBox="1"/>
            <p:nvPr>
              <p:custDataLst>
                <p:tags r:id="rId12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主观题</a:t>
              </a:r>
            </a:p>
          </p:txBody>
        </p:sp>
        <p:sp>
          <p:nvSpPr>
            <p:cNvPr id="11" name="TipText">
              <a:extLst>
                <a:ext uri="{FF2B5EF4-FFF2-40B4-BE49-F238E27FC236}">
                  <a16:creationId xmlns:a16="http://schemas.microsoft.com/office/drawing/2014/main" id="{A4F3D56E-B52B-48DA-9F9D-B31C93A1F667}"/>
                </a:ext>
              </a:extLst>
            </p:cNvPr>
            <p:cNvSpPr txBox="1"/>
            <p:nvPr>
              <p:custDataLst>
                <p:tags r:id="rId13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283D87A5-D479-49D6-A7F1-8659C7F07155}"/>
              </a:ext>
            </a:extLst>
          </p:cNvPr>
          <p:cNvPicPr>
            <a:picLocks/>
          </p:cNvPicPr>
          <p:nvPr>
            <p:custDataLst>
              <p:tags r:id="rId9"/>
            </p:custDataLst>
          </p:nvPr>
        </p:nvPicPr>
        <p:blipFill>
          <a:blip r:embed="rId18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124128397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E6F077-EFF1-4534-9065-32B08F073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导入表 </a:t>
            </a:r>
            <a:r>
              <a:rPr lang="en-US" altLang="zh-CN" dirty="0"/>
              <a:t>IAT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B874402-38E2-46C3-A11F-7D75BAA19F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indent="-228600" fontAlgn="auto">
              <a:spcBef>
                <a:spcPts val="1000"/>
              </a:spcBef>
              <a:spcAft>
                <a:spcPts val="0"/>
              </a:spcAft>
              <a:buClrTx/>
              <a:defRPr/>
            </a:pPr>
            <a:r>
              <a:rPr lang="zh-CN" altLang="en-US" sz="2800" dirty="0">
                <a:solidFill>
                  <a:sysClr val="windowText" lastClr="000000"/>
                </a:solidFill>
                <a:latin typeface="宋体" panose="02010600030101010101" pitchFamily="2" charset="-122"/>
                <a:cs typeface="华文宋体" panose="02010600040101010101" charset="-122"/>
              </a:rPr>
              <a:t>导入表 </a:t>
            </a:r>
            <a:r>
              <a:rPr lang="en-US" altLang="zh-CN" sz="2800" dirty="0">
                <a:solidFill>
                  <a:sysClr val="windowText" lastClr="000000"/>
                </a:solidFill>
                <a:latin typeface="宋体" panose="02010600030101010101" pitchFamily="2" charset="-122"/>
                <a:cs typeface="华文宋体" panose="02010600040101010101" charset="-122"/>
              </a:rPr>
              <a:t>Import Address Table</a:t>
            </a:r>
            <a:r>
              <a:rPr lang="zh-CN" altLang="en-US" sz="2800" dirty="0">
                <a:solidFill>
                  <a:sysClr val="windowText" lastClr="000000"/>
                </a:solidFill>
                <a:latin typeface="宋体" panose="02010600030101010101" pitchFamily="2" charset="-122"/>
                <a:cs typeface="华文宋体" panose="02010600040101010101" charset="-122"/>
              </a:rPr>
              <a:t>（</a:t>
            </a:r>
            <a:r>
              <a:rPr lang="en-US" altLang="zh-CN" sz="2800" b="1" dirty="0">
                <a:solidFill>
                  <a:sysClr val="windowText" lastClr="000000"/>
                </a:solidFill>
                <a:latin typeface="宋体" panose="02010600030101010101" pitchFamily="2" charset="-122"/>
                <a:cs typeface="华文宋体" panose="02010600040101010101" charset="-122"/>
              </a:rPr>
              <a:t>IAT</a:t>
            </a:r>
            <a:r>
              <a:rPr lang="zh-CN" altLang="en-US" sz="2800" dirty="0">
                <a:solidFill>
                  <a:sysClr val="windowText" lastClr="000000"/>
                </a:solidFill>
                <a:latin typeface="宋体" panose="02010600030101010101" pitchFamily="2" charset="-122"/>
                <a:cs typeface="华文宋体" panose="02010600040101010101" charset="-122"/>
              </a:rPr>
              <a:t>）</a:t>
            </a:r>
            <a:endParaRPr lang="en-US" altLang="zh-CN" sz="2800" dirty="0">
              <a:solidFill>
                <a:sysClr val="windowText" lastClr="000000"/>
              </a:solidFill>
              <a:latin typeface="宋体" panose="02010600030101010101" pitchFamily="2" charset="-122"/>
              <a:cs typeface="华文宋体" panose="02010600040101010101" charset="-122"/>
            </a:endParaRPr>
          </a:p>
          <a:p>
            <a:pPr marL="228600" indent="-228600" fontAlgn="auto">
              <a:spcBef>
                <a:spcPts val="1000"/>
              </a:spcBef>
              <a:spcAft>
                <a:spcPts val="0"/>
              </a:spcAft>
              <a:buClrTx/>
              <a:defRPr/>
            </a:pPr>
            <a:r>
              <a:rPr lang="en-US" altLang="zh-CN" sz="2800" dirty="0">
                <a:solidFill>
                  <a:sysClr val="windowText" lastClr="000000"/>
                </a:solidFill>
                <a:latin typeface="宋体" panose="02010600030101010101" pitchFamily="2" charset="-122"/>
                <a:cs typeface="华文宋体" panose="02010600040101010101" charset="-122"/>
              </a:rPr>
              <a:t> </a:t>
            </a:r>
            <a:r>
              <a:rPr lang="zh-CN" altLang="en-US" sz="2800" dirty="0">
                <a:solidFill>
                  <a:sysClr val="windowText" lastClr="000000"/>
                </a:solidFill>
                <a:latin typeface="宋体" panose="02010600030101010101" pitchFamily="2" charset="-122"/>
                <a:cs typeface="华文宋体" panose="02010600040101010101" charset="-122"/>
              </a:rPr>
              <a:t>学习</a:t>
            </a:r>
            <a:r>
              <a:rPr lang="en-US" altLang="zh-CN" sz="2800" dirty="0">
                <a:solidFill>
                  <a:sysClr val="windowText" lastClr="000000"/>
                </a:solidFill>
                <a:latin typeface="宋体" panose="02010600030101010101" pitchFamily="2" charset="-122"/>
                <a:cs typeface="华文宋体" panose="02010600040101010101" charset="-122"/>
              </a:rPr>
              <a:t>PE</a:t>
            </a:r>
            <a:r>
              <a:rPr lang="zh-CN" altLang="en-US" sz="2800" dirty="0">
                <a:solidFill>
                  <a:sysClr val="windowText" lastClr="000000"/>
                </a:solidFill>
                <a:latin typeface="宋体" panose="02010600030101010101" pitchFamily="2" charset="-122"/>
                <a:cs typeface="华文宋体" panose="02010600040101010101" charset="-122"/>
              </a:rPr>
              <a:t>文件结构，最难过的一关就是</a:t>
            </a:r>
            <a:r>
              <a:rPr lang="en-US" altLang="zh-CN" sz="2800" b="1" dirty="0">
                <a:solidFill>
                  <a:sysClr val="windowText" lastClr="000000"/>
                </a:solidFill>
                <a:latin typeface="宋体" panose="02010600030101010101" pitchFamily="2" charset="-122"/>
                <a:cs typeface="华文宋体" panose="02010600040101010101" charset="-122"/>
              </a:rPr>
              <a:t>IAT</a:t>
            </a:r>
          </a:p>
          <a:p>
            <a:pPr marL="228600" indent="-228600" fontAlgn="auto">
              <a:spcBef>
                <a:spcPts val="1000"/>
              </a:spcBef>
              <a:spcAft>
                <a:spcPts val="0"/>
              </a:spcAft>
              <a:buClrTx/>
              <a:defRPr/>
            </a:pPr>
            <a:r>
              <a:rPr lang="en-US" altLang="zh-CN" sz="2800" dirty="0">
                <a:solidFill>
                  <a:sysClr val="windowText" lastClr="000000"/>
                </a:solidFill>
                <a:latin typeface="宋体" panose="02010600030101010101" pitchFamily="2" charset="-122"/>
                <a:cs typeface="华文宋体" panose="02010600040101010101" charset="-122"/>
              </a:rPr>
              <a:t>IAT</a:t>
            </a:r>
            <a:r>
              <a:rPr lang="zh-CN" altLang="en-US" sz="2800" dirty="0">
                <a:solidFill>
                  <a:sysClr val="windowText" lastClr="000000"/>
                </a:solidFill>
                <a:latin typeface="宋体" panose="02010600030101010101" pitchFamily="2" charset="-122"/>
                <a:cs typeface="华文宋体" panose="02010600040101010101" charset="-122"/>
              </a:rPr>
              <a:t>中的内容与</a:t>
            </a:r>
            <a:r>
              <a:rPr lang="en-US" altLang="zh-CN" sz="2800" dirty="0">
                <a:solidFill>
                  <a:sysClr val="windowText" lastClr="000000"/>
                </a:solidFill>
                <a:latin typeface="宋体" panose="02010600030101010101" pitchFamily="2" charset="-122"/>
                <a:cs typeface="华文宋体" panose="02010600040101010101" charset="-122"/>
              </a:rPr>
              <a:t>Windows</a:t>
            </a:r>
            <a:r>
              <a:rPr lang="zh-CN" altLang="en-US" sz="2800" dirty="0">
                <a:solidFill>
                  <a:sysClr val="windowText" lastClr="000000"/>
                </a:solidFill>
                <a:latin typeface="宋体" panose="02010600030101010101" pitchFamily="2" charset="-122"/>
                <a:cs typeface="华文宋体" panose="02010600040101010101" charset="-122"/>
              </a:rPr>
              <a:t>操作系统的核心进程、内存、</a:t>
            </a:r>
            <a:r>
              <a:rPr lang="en-US" altLang="zh-CN" sz="2800" dirty="0">
                <a:solidFill>
                  <a:sysClr val="windowText" lastClr="000000"/>
                </a:solidFill>
                <a:latin typeface="宋体" panose="02010600030101010101" pitchFamily="2" charset="-122"/>
                <a:cs typeface="华文宋体" panose="02010600040101010101" charset="-122"/>
              </a:rPr>
              <a:t>DLL</a:t>
            </a:r>
            <a:r>
              <a:rPr lang="zh-CN" altLang="en-US" sz="2800" dirty="0">
                <a:solidFill>
                  <a:sysClr val="windowText" lastClr="000000"/>
                </a:solidFill>
                <a:latin typeface="宋体" panose="02010600030101010101" pitchFamily="2" charset="-122"/>
                <a:cs typeface="华文宋体" panose="02010600040101010101" charset="-122"/>
              </a:rPr>
              <a:t>结构等有关</a:t>
            </a:r>
            <a:endParaRPr lang="en-US" altLang="zh-CN" sz="2800" dirty="0">
              <a:solidFill>
                <a:sysClr val="windowText" lastClr="000000"/>
              </a:solidFill>
              <a:latin typeface="宋体" panose="02010600030101010101" pitchFamily="2" charset="-122"/>
              <a:cs typeface="华文宋体" panose="02010600040101010101" charset="-122"/>
            </a:endParaRPr>
          </a:p>
          <a:p>
            <a:pPr marL="628650" lvl="1" indent="-228600" fontAlgn="auto">
              <a:spcBef>
                <a:spcPts val="1000"/>
              </a:spcBef>
              <a:spcAft>
                <a:spcPts val="0"/>
              </a:spcAft>
              <a:buClrTx/>
              <a:defRPr/>
            </a:pPr>
            <a:r>
              <a:rPr lang="zh-CN" altLang="en-US" sz="2400" dirty="0">
                <a:solidFill>
                  <a:srgbClr val="FF0000"/>
                </a:solidFill>
                <a:latin typeface="宋体" panose="02010600030101010101" pitchFamily="2" charset="-122"/>
                <a:cs typeface="华文宋体" panose="02010600040101010101" charset="-122"/>
              </a:rPr>
              <a:t>“理解了</a:t>
            </a:r>
            <a:r>
              <a:rPr lang="en-US" altLang="zh-CN" sz="2400" dirty="0">
                <a:solidFill>
                  <a:srgbClr val="FF0000"/>
                </a:solidFill>
                <a:latin typeface="宋体" panose="02010600030101010101" pitchFamily="2" charset="-122"/>
                <a:cs typeface="华文宋体" panose="02010600040101010101" charset="-122"/>
              </a:rPr>
              <a:t>IAT</a:t>
            </a:r>
            <a:r>
              <a:rPr lang="zh-CN" altLang="en-US" sz="2400" dirty="0">
                <a:solidFill>
                  <a:srgbClr val="FF0000"/>
                </a:solidFill>
                <a:latin typeface="宋体" panose="02010600030101010101" pitchFamily="2" charset="-122"/>
                <a:cs typeface="华文宋体" panose="02010600040101010101" charset="-122"/>
              </a:rPr>
              <a:t>，就掌握了</a:t>
            </a:r>
            <a:r>
              <a:rPr lang="en-US" altLang="zh-CN" sz="2400" dirty="0">
                <a:solidFill>
                  <a:srgbClr val="FF0000"/>
                </a:solidFill>
                <a:latin typeface="宋体" panose="02010600030101010101" pitchFamily="2" charset="-122"/>
                <a:cs typeface="华文宋体" panose="02010600040101010101" charset="-122"/>
              </a:rPr>
              <a:t>Windows</a:t>
            </a:r>
            <a:r>
              <a:rPr lang="zh-CN" altLang="en-US" sz="2400" dirty="0">
                <a:solidFill>
                  <a:srgbClr val="FF0000"/>
                </a:solidFill>
                <a:latin typeface="宋体" panose="02010600030101010101" pitchFamily="2" charset="-122"/>
                <a:cs typeface="华文宋体" panose="02010600040101010101" charset="-122"/>
              </a:rPr>
              <a:t>操作系统的根基”</a:t>
            </a:r>
            <a:endParaRPr lang="en-US" altLang="zh-CN" sz="2400" dirty="0">
              <a:solidFill>
                <a:srgbClr val="FF0000"/>
              </a:solidFill>
              <a:latin typeface="宋体" panose="02010600030101010101" pitchFamily="2" charset="-122"/>
              <a:cs typeface="华文宋体" panose="02010600040101010101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02835024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5F1D8C-6796-4B2C-B93E-0D81DEF98D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导入表</a:t>
            </a:r>
            <a:r>
              <a:rPr lang="en-US" altLang="zh-CN" dirty="0"/>
              <a:t>IAT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3594FC9-4921-4043-B0A4-6EE3697BA9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IAT</a:t>
            </a:r>
            <a:r>
              <a:rPr lang="zh-CN" altLang="en-US" dirty="0"/>
              <a:t>是一种表结构</a:t>
            </a:r>
            <a:endParaRPr lang="en-US" altLang="zh-CN" dirty="0"/>
          </a:p>
          <a:p>
            <a:r>
              <a:rPr lang="zh-CN" altLang="en-US" dirty="0"/>
              <a:t>标记程序需要使用哪些</a:t>
            </a:r>
            <a:r>
              <a:rPr lang="zh-CN" altLang="en-US" dirty="0">
                <a:solidFill>
                  <a:srgbClr val="FF0000"/>
                </a:solidFill>
              </a:rPr>
              <a:t>库</a:t>
            </a:r>
            <a:r>
              <a:rPr lang="zh-CN" altLang="en-US" dirty="0"/>
              <a:t>中的哪些</a:t>
            </a:r>
            <a:r>
              <a:rPr lang="zh-CN" altLang="en-US" dirty="0">
                <a:solidFill>
                  <a:srgbClr val="FF0000"/>
                </a:solidFill>
              </a:rPr>
              <a:t>函数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>
                <a:solidFill>
                  <a:srgbClr val="FF0000"/>
                </a:solidFill>
              </a:rPr>
              <a:t>IMAGE_IMPORT_DESCRIPTOR</a:t>
            </a:r>
            <a:r>
              <a:rPr lang="zh-CN" altLang="en-US" dirty="0">
                <a:solidFill>
                  <a:srgbClr val="FF0000"/>
                </a:solidFill>
              </a:rPr>
              <a:t>（</a:t>
            </a:r>
            <a:r>
              <a:rPr lang="en-US" altLang="zh-CN" dirty="0">
                <a:solidFill>
                  <a:srgbClr val="FF0000"/>
                </a:solidFill>
              </a:rPr>
              <a:t>IID</a:t>
            </a:r>
            <a:r>
              <a:rPr lang="zh-CN" altLang="en-US" dirty="0">
                <a:solidFill>
                  <a:srgbClr val="FF0000"/>
                </a:solidFill>
              </a:rPr>
              <a:t>）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>
                <a:solidFill>
                  <a:srgbClr val="FF0000"/>
                </a:solidFill>
              </a:rPr>
              <a:t>IMAGE_IMPORT_BY_NAME</a:t>
            </a:r>
          </a:p>
          <a:p>
            <a:endParaRPr lang="en-US" altLang="zh-CN" dirty="0">
              <a:solidFill>
                <a:srgbClr val="FF0000"/>
              </a:solidFill>
            </a:endParaRPr>
          </a:p>
          <a:p>
            <a:endParaRPr lang="en-US" altLang="zh-CN" dirty="0">
              <a:solidFill>
                <a:srgbClr val="FF0000"/>
              </a:solidFill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43273347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912691-39A7-4F2B-8F7D-2154616AB6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1" y="696913"/>
            <a:ext cx="9143999" cy="868363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IMAGE_IMPORT_DESCRIPTOR</a:t>
            </a:r>
            <a:r>
              <a:rPr lang="zh-CN" altLang="en-US" dirty="0"/>
              <a:t>（</a:t>
            </a:r>
            <a:r>
              <a:rPr lang="en-US" altLang="zh-CN" dirty="0"/>
              <a:t>IID</a:t>
            </a:r>
            <a:r>
              <a:rPr lang="zh-CN" altLang="en-US" dirty="0"/>
              <a:t>）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2CC290F-EB7D-492A-93FD-610C32C79A16}"/>
              </a:ext>
            </a:extLst>
          </p:cNvPr>
          <p:cNvSpPr txBox="1"/>
          <p:nvPr/>
        </p:nvSpPr>
        <p:spPr>
          <a:xfrm>
            <a:off x="1524001" y="1646755"/>
            <a:ext cx="91439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IMAGE_IMPORT_DESCRIPTOR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结构体中记录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PE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文件要导入哪些</a:t>
            </a: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库文件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1CFC73C-2E0F-4504-ADF3-9A574C7297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42881"/>
            <a:ext cx="10515600" cy="3630882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altLang="zh-CN" sz="1400" dirty="0"/>
              <a:t>typedef struct _IMAGE_IMPORT_DESCRIPTOR {</a:t>
            </a:r>
          </a:p>
          <a:p>
            <a:pPr marL="0" indent="0">
              <a:buNone/>
            </a:pPr>
            <a:r>
              <a:rPr lang="en-US" altLang="zh-CN" sz="1400" dirty="0"/>
              <a:t>    union {</a:t>
            </a:r>
          </a:p>
          <a:p>
            <a:pPr marL="0" indent="0">
              <a:buNone/>
            </a:pPr>
            <a:r>
              <a:rPr lang="en-US" altLang="zh-CN" sz="1400" dirty="0"/>
              <a:t>        DWORD   Characteristics;</a:t>
            </a:r>
          </a:p>
          <a:p>
            <a:pPr marL="0" indent="0">
              <a:buNone/>
            </a:pPr>
            <a:r>
              <a:rPr lang="en-US" altLang="zh-CN" sz="1400" dirty="0"/>
              <a:t>        DWORD   </a:t>
            </a:r>
            <a:r>
              <a:rPr lang="en-US" altLang="zh-CN" sz="1400" dirty="0" err="1"/>
              <a:t>OriginalFirstThunk</a:t>
            </a:r>
            <a:r>
              <a:rPr lang="en-US" altLang="zh-CN" sz="1400" dirty="0"/>
              <a:t>;</a:t>
            </a:r>
          </a:p>
          <a:p>
            <a:pPr marL="0" indent="0">
              <a:buNone/>
            </a:pPr>
            <a:r>
              <a:rPr lang="en-US" altLang="zh-CN" sz="1400" dirty="0"/>
              <a:t>    } DUMMYUNIONNAME;</a:t>
            </a:r>
          </a:p>
          <a:p>
            <a:pPr marL="0" indent="0">
              <a:buNone/>
            </a:pPr>
            <a:r>
              <a:rPr lang="en-US" altLang="zh-CN" sz="1400" dirty="0"/>
              <a:t>    DWORD   </a:t>
            </a:r>
            <a:r>
              <a:rPr lang="en-US" altLang="zh-CN" sz="1400" dirty="0" err="1"/>
              <a:t>TimeDateStamp</a:t>
            </a:r>
            <a:r>
              <a:rPr lang="en-US" altLang="zh-CN" sz="1400" dirty="0"/>
              <a:t>;</a:t>
            </a:r>
          </a:p>
          <a:p>
            <a:pPr marL="0" indent="0">
              <a:buNone/>
            </a:pPr>
            <a:r>
              <a:rPr lang="en-US" altLang="zh-CN" sz="1400" dirty="0"/>
              <a:t>    DWORD   </a:t>
            </a:r>
            <a:r>
              <a:rPr lang="en-US" altLang="zh-CN" sz="1400" dirty="0" err="1"/>
              <a:t>ForwarderChain</a:t>
            </a:r>
            <a:r>
              <a:rPr lang="en-US" altLang="zh-CN" sz="1400" dirty="0"/>
              <a:t>;</a:t>
            </a:r>
          </a:p>
          <a:p>
            <a:pPr marL="0" indent="0">
              <a:buNone/>
            </a:pPr>
            <a:r>
              <a:rPr lang="en-US" altLang="zh-CN" sz="1400" dirty="0"/>
              <a:t>    DWORD   Name;</a:t>
            </a:r>
          </a:p>
          <a:p>
            <a:pPr marL="0" indent="0">
              <a:buNone/>
            </a:pPr>
            <a:r>
              <a:rPr lang="en-US" altLang="zh-CN" sz="1400" dirty="0"/>
              <a:t>    DWORD   </a:t>
            </a:r>
            <a:r>
              <a:rPr lang="en-US" altLang="zh-CN" sz="1400" dirty="0" err="1"/>
              <a:t>FirstThunk</a:t>
            </a:r>
            <a:r>
              <a:rPr lang="en-US" altLang="zh-CN" sz="1400" dirty="0"/>
              <a:t>;</a:t>
            </a:r>
          </a:p>
          <a:p>
            <a:pPr marL="0" indent="0">
              <a:buNone/>
            </a:pPr>
            <a:r>
              <a:rPr lang="en-US" altLang="zh-CN" sz="1400" dirty="0"/>
              <a:t>} IMAGE_IMPORT_DESCRIPTOR;</a:t>
            </a:r>
          </a:p>
          <a:p>
            <a:pPr marL="0" indent="0">
              <a:buNone/>
            </a:pPr>
            <a:r>
              <a:rPr lang="en-US" altLang="zh-CN" sz="1400" dirty="0"/>
              <a:t>typedef IMAGE_IMPORT_DESCRIPTOR UNALIGNED *PIMAGE_IMPORT_DESCRIPTOR;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91329705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524758-4904-4DBA-82B3-6E6722D18A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1" y="981076"/>
            <a:ext cx="9143999" cy="868363"/>
          </a:xfrm>
        </p:spPr>
        <p:txBody>
          <a:bodyPr>
            <a:normAutofit/>
          </a:bodyPr>
          <a:lstStyle/>
          <a:p>
            <a:r>
              <a:rPr lang="en-US" altLang="zh-CN" dirty="0"/>
              <a:t>IMAGE_IMPORT_DESCRIPTOR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28D8A8F-D973-4F82-AC34-E260631D19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97263"/>
            <a:ext cx="10515600" cy="4351338"/>
          </a:xfrm>
        </p:spPr>
        <p:txBody>
          <a:bodyPr/>
          <a:lstStyle/>
          <a:p>
            <a:r>
              <a:rPr lang="en-US" altLang="zh-CN" dirty="0"/>
              <a:t>PE</a:t>
            </a:r>
            <a:r>
              <a:rPr lang="zh-CN" altLang="en-US" dirty="0"/>
              <a:t>程序往往需要导入</a:t>
            </a:r>
            <a:r>
              <a:rPr lang="zh-CN" altLang="en-US" dirty="0">
                <a:solidFill>
                  <a:srgbClr val="FF0000"/>
                </a:solidFill>
              </a:rPr>
              <a:t>多个库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/>
              <a:t>导入多少个库，就存在多少个</a:t>
            </a:r>
            <a:r>
              <a:rPr lang="en-US" altLang="zh-CN" dirty="0"/>
              <a:t>IMAGE_IMPORT_DESCRIPTOR</a:t>
            </a:r>
            <a:r>
              <a:rPr lang="zh-CN" altLang="en-US" dirty="0"/>
              <a:t>结构体</a:t>
            </a:r>
            <a:endParaRPr lang="en-US" altLang="zh-CN" dirty="0"/>
          </a:p>
          <a:p>
            <a:r>
              <a:rPr lang="zh-CN" altLang="en-US" dirty="0"/>
              <a:t>多个结构体组成</a:t>
            </a:r>
            <a:r>
              <a:rPr lang="zh-CN" altLang="en-US" dirty="0">
                <a:solidFill>
                  <a:srgbClr val="FF0000"/>
                </a:solidFill>
              </a:rPr>
              <a:t>数组</a:t>
            </a:r>
            <a:r>
              <a:rPr lang="zh-CN" altLang="en-US" dirty="0"/>
              <a:t>，以</a:t>
            </a:r>
            <a:r>
              <a:rPr lang="en-US" altLang="zh-CN" dirty="0"/>
              <a:t>NULL</a:t>
            </a:r>
            <a:r>
              <a:rPr lang="zh-CN" altLang="en-US" dirty="0"/>
              <a:t>结构体结束</a:t>
            </a:r>
          </a:p>
        </p:txBody>
      </p:sp>
    </p:spTree>
    <p:extLst>
      <p:ext uri="{BB962C8B-B14F-4D97-AF65-F5344CB8AC3E}">
        <p14:creationId xmlns:p14="http://schemas.microsoft.com/office/powerpoint/2010/main" val="703496731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7CCCFA-76E0-409D-9F1B-754371BAA0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1" y="981076"/>
            <a:ext cx="9143999" cy="868363"/>
          </a:xfrm>
        </p:spPr>
        <p:txBody>
          <a:bodyPr>
            <a:normAutofit/>
          </a:bodyPr>
          <a:lstStyle/>
          <a:p>
            <a:r>
              <a:rPr lang="en-US" altLang="zh-CN" dirty="0"/>
              <a:t>IMAGE_IMPORT_DESCRIPTOR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5E3C1B4-A900-4C3B-94ED-5B6D99C6A1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35764"/>
            <a:ext cx="10515600" cy="4351338"/>
          </a:xfrm>
        </p:spPr>
        <p:txBody>
          <a:bodyPr/>
          <a:lstStyle/>
          <a:p>
            <a:r>
              <a:rPr lang="en-US" altLang="zh-CN" dirty="0"/>
              <a:t>Name</a:t>
            </a:r>
            <a:r>
              <a:rPr lang="zh-CN" altLang="en-US" dirty="0"/>
              <a:t> （</a:t>
            </a:r>
            <a:r>
              <a:rPr lang="en-US" altLang="zh-CN" dirty="0">
                <a:solidFill>
                  <a:srgbClr val="FF0000"/>
                </a:solidFill>
              </a:rPr>
              <a:t>DWORD</a:t>
            </a:r>
            <a:r>
              <a:rPr lang="zh-CN" altLang="en-US" dirty="0"/>
              <a:t>），库文件名字符串的地址（</a:t>
            </a:r>
            <a:r>
              <a:rPr lang="en-US" altLang="zh-CN" dirty="0"/>
              <a:t>RVA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en-US" altLang="zh-CN" dirty="0"/>
              <a:t>OriginalFirstThunk</a:t>
            </a:r>
            <a:r>
              <a:rPr lang="zh-CN" altLang="en-US" dirty="0"/>
              <a:t>（</a:t>
            </a:r>
            <a:r>
              <a:rPr lang="en-US" altLang="zh-CN" dirty="0">
                <a:solidFill>
                  <a:srgbClr val="FF0000"/>
                </a:solidFill>
              </a:rPr>
              <a:t>DWORD</a:t>
            </a:r>
            <a:r>
              <a:rPr lang="zh-CN" altLang="en-US" dirty="0"/>
              <a:t>），</a:t>
            </a:r>
            <a:r>
              <a:rPr lang="en-US" altLang="zh-CN" dirty="0">
                <a:solidFill>
                  <a:srgbClr val="FF0000"/>
                </a:solidFill>
              </a:rPr>
              <a:t>INT(Import Name Table)</a:t>
            </a:r>
            <a:r>
              <a:rPr lang="zh-CN" altLang="en-US" dirty="0"/>
              <a:t>的地址（</a:t>
            </a:r>
            <a:r>
              <a:rPr lang="en-US" altLang="zh-CN" dirty="0"/>
              <a:t>RVA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en-US" altLang="zh-CN" dirty="0"/>
              <a:t>FirstThunk</a:t>
            </a:r>
            <a:r>
              <a:rPr lang="zh-CN" altLang="en-US" dirty="0"/>
              <a:t> （</a:t>
            </a:r>
            <a:r>
              <a:rPr lang="en-US" altLang="zh-CN" dirty="0">
                <a:solidFill>
                  <a:srgbClr val="FF0000"/>
                </a:solidFill>
              </a:rPr>
              <a:t>DWORD</a:t>
            </a:r>
            <a:r>
              <a:rPr lang="zh-CN" altLang="en-US" dirty="0"/>
              <a:t>），</a:t>
            </a:r>
            <a:r>
              <a:rPr lang="en-US" altLang="zh-CN" dirty="0">
                <a:solidFill>
                  <a:srgbClr val="FF0000"/>
                </a:solidFill>
              </a:rPr>
              <a:t>IAT(Import Address Table)</a:t>
            </a:r>
            <a:r>
              <a:rPr lang="zh-CN" altLang="en-US" dirty="0"/>
              <a:t>的地址（</a:t>
            </a:r>
            <a:r>
              <a:rPr lang="en-US" altLang="zh-CN" dirty="0"/>
              <a:t>RVA</a:t>
            </a:r>
            <a:r>
              <a:rPr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2723059455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3BA8D5-8365-4B52-97A1-F75324F29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1" y="981076"/>
            <a:ext cx="9143999" cy="868363"/>
          </a:xfrm>
        </p:spPr>
        <p:txBody>
          <a:bodyPr>
            <a:normAutofit/>
          </a:bodyPr>
          <a:lstStyle/>
          <a:p>
            <a:r>
              <a:rPr lang="en-US" altLang="zh-CN" dirty="0"/>
              <a:t>IMAGE_IMPORT_DESCRIPTOR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FEBBBBB-9818-419C-A028-7CCAF79686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Table</a:t>
            </a:r>
          </a:p>
          <a:p>
            <a:pPr lvl="1"/>
            <a:r>
              <a:rPr lang="zh-CN" altLang="en-US" dirty="0"/>
              <a:t>在</a:t>
            </a:r>
            <a:r>
              <a:rPr lang="en-US" altLang="zh-CN" dirty="0"/>
              <a:t>PE</a:t>
            </a:r>
            <a:r>
              <a:rPr lang="zh-CN" altLang="en-US" dirty="0"/>
              <a:t>头中，</a:t>
            </a:r>
            <a:r>
              <a:rPr lang="en-US" altLang="zh-CN" dirty="0"/>
              <a:t>Table</a:t>
            </a:r>
            <a:r>
              <a:rPr lang="zh-CN" altLang="en-US" dirty="0"/>
              <a:t>即指</a:t>
            </a:r>
            <a:r>
              <a:rPr lang="zh-CN" altLang="en-US" dirty="0">
                <a:solidFill>
                  <a:srgbClr val="FF0000"/>
                </a:solidFill>
              </a:rPr>
              <a:t>数组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/>
              <a:t>INT</a:t>
            </a:r>
            <a:r>
              <a:rPr lang="zh-CN" altLang="en-US" dirty="0"/>
              <a:t>与</a:t>
            </a:r>
            <a:r>
              <a:rPr lang="en-US" altLang="zh-CN" dirty="0"/>
              <a:t>IAT</a:t>
            </a:r>
            <a:r>
              <a:rPr lang="zh-CN" altLang="en-US" dirty="0"/>
              <a:t>是</a:t>
            </a:r>
            <a:r>
              <a:rPr lang="en-US" altLang="zh-CN" dirty="0">
                <a:solidFill>
                  <a:srgbClr val="FF0000"/>
                </a:solidFill>
              </a:rPr>
              <a:t>DWORD</a:t>
            </a:r>
            <a:r>
              <a:rPr lang="zh-CN" altLang="en-US" dirty="0"/>
              <a:t>数组，以</a:t>
            </a:r>
            <a:r>
              <a:rPr lang="en-US" altLang="zh-CN" dirty="0"/>
              <a:t>NULL</a:t>
            </a:r>
            <a:r>
              <a:rPr lang="zh-CN" altLang="en-US" dirty="0"/>
              <a:t>结束</a:t>
            </a:r>
            <a:endParaRPr lang="en-US" altLang="zh-CN" dirty="0"/>
          </a:p>
          <a:p>
            <a:r>
              <a:rPr lang="en-US" altLang="zh-CN" dirty="0"/>
              <a:t>INT</a:t>
            </a:r>
            <a:r>
              <a:rPr lang="zh-CN" altLang="en-US" dirty="0"/>
              <a:t>与</a:t>
            </a:r>
            <a:r>
              <a:rPr lang="en-US" altLang="zh-CN" dirty="0"/>
              <a:t>IAT</a:t>
            </a:r>
            <a:r>
              <a:rPr lang="zh-CN" altLang="en-US" dirty="0"/>
              <a:t>的各元素指向相同地址</a:t>
            </a:r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14116661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F5997A-AF6A-45C0-AA25-F319195395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28688"/>
            <a:ext cx="12192000" cy="762000"/>
          </a:xfrm>
        </p:spPr>
        <p:txBody>
          <a:bodyPr>
            <a:noAutofit/>
          </a:bodyPr>
          <a:lstStyle/>
          <a:p>
            <a:r>
              <a:rPr lang="en-US" altLang="zh-CN" sz="3600" dirty="0"/>
              <a:t>INT</a:t>
            </a:r>
            <a:r>
              <a:rPr lang="zh-CN" altLang="en-US" sz="3600" dirty="0"/>
              <a:t>（</a:t>
            </a:r>
            <a:r>
              <a:rPr lang="en-US" altLang="zh-CN" sz="3600" dirty="0"/>
              <a:t>Import Name Table</a:t>
            </a:r>
            <a:r>
              <a:rPr lang="zh-CN" altLang="en-US" sz="3600" dirty="0"/>
              <a:t>）</a:t>
            </a:r>
            <a:r>
              <a:rPr lang="en-US" altLang="zh-CN" sz="3600" dirty="0"/>
              <a:t>, IAT</a:t>
            </a:r>
            <a:r>
              <a:rPr lang="zh-CN" altLang="en-US" sz="3600" dirty="0"/>
              <a:t>（</a:t>
            </a:r>
            <a:r>
              <a:rPr lang="en-US" altLang="zh-CN" sz="3600" dirty="0"/>
              <a:t>Import Address Table</a:t>
            </a:r>
            <a:r>
              <a:rPr lang="zh-CN" altLang="en-US" sz="3600" dirty="0"/>
              <a:t>）</a:t>
            </a:r>
          </a:p>
        </p:txBody>
      </p:sp>
      <p:pic>
        <p:nvPicPr>
          <p:cNvPr id="7" name="内容占位符 6">
            <a:extLst>
              <a:ext uri="{FF2B5EF4-FFF2-40B4-BE49-F238E27FC236}">
                <a16:creationId xmlns:a16="http://schemas.microsoft.com/office/drawing/2014/main" id="{1103D5A7-8D2E-46F0-A0C2-47A02394D9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15013" y="2506602"/>
            <a:ext cx="6978650" cy="2895600"/>
          </a:xfrm>
          <a:ln>
            <a:solidFill>
              <a:srgbClr val="7030A0"/>
            </a:solidFill>
          </a:ln>
        </p:spPr>
      </p:pic>
    </p:spTree>
    <p:extLst>
      <p:ext uri="{BB962C8B-B14F-4D97-AF65-F5344CB8AC3E}">
        <p14:creationId xmlns:p14="http://schemas.microsoft.com/office/powerpoint/2010/main" val="2984214692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748A91-BC62-42C7-852B-FF2B23519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1" y="691907"/>
            <a:ext cx="9143999" cy="868363"/>
          </a:xfrm>
        </p:spPr>
        <p:txBody>
          <a:bodyPr>
            <a:normAutofit/>
          </a:bodyPr>
          <a:lstStyle/>
          <a:p>
            <a:r>
              <a:rPr lang="en-US" altLang="zh-CN" dirty="0"/>
              <a:t>IMAGE_IMPORT_BY_NAME</a:t>
            </a:r>
            <a:endParaRPr lang="zh-CN" altLang="en-US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225BEEA-E8B4-4441-9A62-651881B9286D}"/>
              </a:ext>
            </a:extLst>
          </p:cNvPr>
          <p:cNvSpPr/>
          <p:nvPr/>
        </p:nvSpPr>
        <p:spPr>
          <a:xfrm>
            <a:off x="1890363" y="3528471"/>
            <a:ext cx="8580827" cy="25327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rgbClr val="222226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Hint </a:t>
            </a:r>
            <a:r>
              <a:rPr lang="zh-CN" altLang="en-US" dirty="0">
                <a:solidFill>
                  <a:srgbClr val="222226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是函数在</a:t>
            </a:r>
            <a:r>
              <a:rPr lang="en-US" altLang="zh-CN" dirty="0">
                <a:solidFill>
                  <a:srgbClr val="222226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DLL</a:t>
            </a:r>
            <a:r>
              <a:rPr lang="zh-CN" altLang="en-US" dirty="0">
                <a:solidFill>
                  <a:srgbClr val="222226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引出表中的索引号。</a:t>
            </a:r>
            <a:endParaRPr lang="en-US" altLang="zh-CN" dirty="0">
              <a:solidFill>
                <a:srgbClr val="222226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rgbClr val="222226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PE</a:t>
            </a:r>
            <a:r>
              <a:rPr lang="zh-CN" altLang="en-US" dirty="0">
                <a:solidFill>
                  <a:srgbClr val="222226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装载器用</a:t>
            </a:r>
            <a:r>
              <a:rPr lang="en-US" altLang="zh-CN" dirty="0">
                <a:solidFill>
                  <a:srgbClr val="222226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Hint</a:t>
            </a:r>
            <a:r>
              <a:rPr lang="zh-CN" altLang="en-US" dirty="0">
                <a:solidFill>
                  <a:srgbClr val="222226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lang="en-US" altLang="zh-CN" dirty="0">
                <a:solidFill>
                  <a:srgbClr val="222226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DLL</a:t>
            </a:r>
            <a:r>
              <a:rPr lang="zh-CN" altLang="en-US" dirty="0">
                <a:solidFill>
                  <a:srgbClr val="222226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的引出表里快速查询函数</a:t>
            </a:r>
            <a:endParaRPr lang="en-US" altLang="zh-CN" dirty="0">
              <a:solidFill>
                <a:srgbClr val="222226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222226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该值不是必须的，一些连接器将此值设为</a:t>
            </a:r>
            <a:r>
              <a:rPr lang="en-US" altLang="zh-CN" dirty="0">
                <a:solidFill>
                  <a:srgbClr val="222226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en-US" dirty="0">
                <a:solidFill>
                  <a:srgbClr val="222226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en-US" altLang="zh-CN" dirty="0">
              <a:solidFill>
                <a:srgbClr val="222226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rgbClr val="222226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Name </a:t>
            </a:r>
            <a:r>
              <a:rPr lang="zh-CN" altLang="en-US" dirty="0">
                <a:solidFill>
                  <a:srgbClr val="222226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引入函数的函数名</a:t>
            </a:r>
            <a:endParaRPr lang="en-US" altLang="zh-CN" dirty="0">
              <a:solidFill>
                <a:srgbClr val="222226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222226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函数名是一个</a:t>
            </a:r>
            <a:r>
              <a:rPr lang="en-US" altLang="zh-CN" dirty="0">
                <a:solidFill>
                  <a:srgbClr val="222226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ASCII</a:t>
            </a:r>
            <a:r>
              <a:rPr lang="zh-CN" altLang="en-US" dirty="0">
                <a:solidFill>
                  <a:srgbClr val="222226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字符串。</a:t>
            </a:r>
            <a:endParaRPr lang="en-US" altLang="zh-CN" dirty="0">
              <a:solidFill>
                <a:srgbClr val="222226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是可变尺寸域</a:t>
            </a:r>
            <a:r>
              <a:rPr lang="zh-CN" altLang="en-US" dirty="0">
                <a:solidFill>
                  <a:srgbClr val="222226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，以</a:t>
            </a:r>
            <a:r>
              <a:rPr lang="en-US" altLang="zh-CN" dirty="0">
                <a:solidFill>
                  <a:srgbClr val="222226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NULL</a:t>
            </a:r>
            <a:r>
              <a:rPr lang="zh-CN" altLang="en-US" dirty="0">
                <a:solidFill>
                  <a:srgbClr val="222226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结尾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B66CA5F-2ABF-425A-A2ED-5CF3AD3572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41246" y="1726154"/>
            <a:ext cx="6512169" cy="170284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1200" dirty="0"/>
              <a:t>typedef struct _IMAGE_IMPORT_BY_NAME {</a:t>
            </a:r>
          </a:p>
          <a:p>
            <a:pPr marL="0" indent="0">
              <a:buNone/>
            </a:pPr>
            <a:r>
              <a:rPr lang="en-US" altLang="zh-CN" sz="1200" dirty="0"/>
              <a:t>    WORD    Hint;</a:t>
            </a:r>
          </a:p>
          <a:p>
            <a:pPr marL="0" indent="0">
              <a:buNone/>
            </a:pPr>
            <a:r>
              <a:rPr lang="en-US" altLang="zh-CN" sz="1200" dirty="0"/>
              <a:t>    CHAR   </a:t>
            </a:r>
            <a:r>
              <a:rPr lang="en-US" altLang="zh-CN" sz="1200" dirty="0">
                <a:solidFill>
                  <a:srgbClr val="FF0000"/>
                </a:solidFill>
              </a:rPr>
              <a:t>Name[1]</a:t>
            </a:r>
            <a:r>
              <a:rPr lang="en-US" altLang="zh-CN" sz="1200" dirty="0"/>
              <a:t>;</a:t>
            </a:r>
          </a:p>
          <a:p>
            <a:pPr marL="0" indent="0">
              <a:buNone/>
            </a:pPr>
            <a:r>
              <a:rPr lang="en-US" altLang="zh-CN" sz="1200" dirty="0"/>
              <a:t>} IMAGE_IMPORT_BY_NAME, *PIMAGE_IMPORT_BY_NAME;</a:t>
            </a:r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899597308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F113BC-1FAD-4768-B104-AC4FD97893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PE</a:t>
            </a:r>
            <a:r>
              <a:rPr lang="zh-CN" altLang="en-US" dirty="0"/>
              <a:t>装载器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9D86DB2-7CBE-44CA-ACDA-DB4584C258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1. </a:t>
            </a:r>
            <a:r>
              <a:rPr lang="zh-CN" altLang="en-US" dirty="0"/>
              <a:t>读取</a:t>
            </a:r>
            <a:r>
              <a:rPr lang="en-US" altLang="zh-CN" dirty="0"/>
              <a:t>IID</a:t>
            </a:r>
            <a:r>
              <a:rPr lang="zh-CN" altLang="en-US" dirty="0"/>
              <a:t>的</a:t>
            </a:r>
            <a:r>
              <a:rPr lang="en-US" altLang="zh-CN" dirty="0"/>
              <a:t>name</a:t>
            </a:r>
            <a:r>
              <a:rPr lang="zh-CN" altLang="en-US" dirty="0"/>
              <a:t>成员，获取库名称字符串，例如“</a:t>
            </a:r>
            <a:r>
              <a:rPr lang="en-US" altLang="zh-CN" dirty="0"/>
              <a:t>kernel32.dll</a:t>
            </a:r>
            <a:r>
              <a:rPr lang="zh-CN" altLang="en-US" dirty="0"/>
              <a:t>”</a:t>
            </a:r>
            <a:endParaRPr lang="en-US" altLang="zh-CN" dirty="0"/>
          </a:p>
          <a:p>
            <a:r>
              <a:rPr lang="en-US" altLang="zh-CN" dirty="0"/>
              <a:t>2. </a:t>
            </a:r>
            <a:r>
              <a:rPr lang="zh-CN" altLang="en-US" dirty="0"/>
              <a:t>装载相应的库，类似</a:t>
            </a:r>
            <a:r>
              <a:rPr lang="en-US" altLang="zh-CN" dirty="0" err="1"/>
              <a:t>LoadLibrary</a:t>
            </a:r>
            <a:r>
              <a:rPr lang="zh-CN" altLang="en-US" dirty="0"/>
              <a:t>（“</a:t>
            </a:r>
            <a:r>
              <a:rPr lang="en-US" altLang="zh-CN" dirty="0"/>
              <a:t>kernel32.dll</a:t>
            </a:r>
            <a:r>
              <a:rPr lang="zh-CN" altLang="en-US" dirty="0"/>
              <a:t>”）</a:t>
            </a:r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92987620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F113BC-1FAD-4768-B104-AC4FD97893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PE</a:t>
            </a:r>
            <a:r>
              <a:rPr lang="zh-CN" altLang="en-US" dirty="0"/>
              <a:t>装载器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9D86DB2-7CBE-44CA-ACDA-DB4584C258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3. </a:t>
            </a:r>
            <a:r>
              <a:rPr lang="zh-CN" altLang="en-US" dirty="0"/>
              <a:t>读取</a:t>
            </a:r>
            <a:r>
              <a:rPr lang="en-US" altLang="zh-CN" dirty="0"/>
              <a:t>IID</a:t>
            </a:r>
            <a:r>
              <a:rPr lang="zh-CN" altLang="en-US" dirty="0"/>
              <a:t>的</a:t>
            </a:r>
            <a:r>
              <a:rPr lang="en-US" altLang="zh-CN" dirty="0" err="1"/>
              <a:t>OriginalFirstThunk</a:t>
            </a:r>
            <a:r>
              <a:rPr lang="zh-CN" altLang="en-US" dirty="0"/>
              <a:t>成员，获取</a:t>
            </a:r>
            <a:r>
              <a:rPr lang="en-US" altLang="zh-CN" dirty="0">
                <a:solidFill>
                  <a:srgbClr val="FF0000"/>
                </a:solidFill>
              </a:rPr>
              <a:t>INT</a:t>
            </a:r>
            <a:r>
              <a:rPr lang="zh-CN" altLang="en-US" dirty="0"/>
              <a:t>地址</a:t>
            </a:r>
            <a:endParaRPr lang="en-US" altLang="zh-CN" dirty="0"/>
          </a:p>
          <a:p>
            <a:r>
              <a:rPr lang="en-US" altLang="zh-CN" dirty="0"/>
              <a:t>4. </a:t>
            </a:r>
            <a:r>
              <a:rPr lang="zh-CN" altLang="en-US" dirty="0"/>
              <a:t>读取</a:t>
            </a:r>
            <a:r>
              <a:rPr lang="en-US" altLang="zh-CN" dirty="0"/>
              <a:t>INT</a:t>
            </a:r>
            <a:r>
              <a:rPr lang="zh-CN" altLang="en-US" dirty="0"/>
              <a:t>，逐一获得</a:t>
            </a:r>
            <a:r>
              <a:rPr lang="en-US" altLang="zh-CN" dirty="0">
                <a:solidFill>
                  <a:srgbClr val="FF0000"/>
                </a:solidFill>
              </a:rPr>
              <a:t>IMAGE_IMPORT_BY_NAME</a:t>
            </a:r>
            <a:r>
              <a:rPr lang="zh-CN" altLang="en-US" dirty="0"/>
              <a:t>的地址（</a:t>
            </a:r>
            <a:r>
              <a:rPr lang="en-US" altLang="zh-CN" dirty="0"/>
              <a:t>RVA</a:t>
            </a:r>
            <a:r>
              <a:rPr lang="zh-CN" altLang="en-US" dirty="0"/>
              <a:t>）</a:t>
            </a: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23096549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F113BC-1FAD-4768-B104-AC4FD97893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PE</a:t>
            </a:r>
            <a:r>
              <a:rPr lang="zh-CN" altLang="en-US" dirty="0"/>
              <a:t>装载器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9D86DB2-7CBE-44CA-ACDA-DB4584C258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5. </a:t>
            </a:r>
            <a:r>
              <a:rPr lang="zh-CN" altLang="en-US" dirty="0"/>
              <a:t>使用</a:t>
            </a:r>
            <a:r>
              <a:rPr lang="en-US" altLang="zh-CN" dirty="0">
                <a:solidFill>
                  <a:srgbClr val="FF0000"/>
                </a:solidFill>
              </a:rPr>
              <a:t>IMAGE_IMPORT_BY_NAME</a:t>
            </a:r>
            <a:r>
              <a:rPr lang="zh-CN" altLang="en-US" dirty="0"/>
              <a:t>的</a:t>
            </a:r>
            <a:r>
              <a:rPr lang="en-US" altLang="zh-CN" dirty="0"/>
              <a:t>Hint</a:t>
            </a:r>
            <a:r>
              <a:rPr lang="zh-CN" altLang="en-US" dirty="0"/>
              <a:t>或者</a:t>
            </a:r>
            <a:r>
              <a:rPr lang="en-US" altLang="zh-CN" dirty="0"/>
              <a:t>Name</a:t>
            </a:r>
            <a:r>
              <a:rPr lang="zh-CN" altLang="en-US" dirty="0"/>
              <a:t>项，获得函数的起始地址</a:t>
            </a:r>
            <a:endParaRPr lang="en-US" altLang="zh-CN" dirty="0"/>
          </a:p>
          <a:p>
            <a:pPr lvl="1"/>
            <a:r>
              <a:rPr lang="zh-CN" altLang="en-US" dirty="0"/>
              <a:t>类似</a:t>
            </a:r>
            <a:r>
              <a:rPr lang="en-US" altLang="zh-CN" dirty="0" err="1"/>
              <a:t>GetProcAddress</a:t>
            </a:r>
            <a:r>
              <a:rPr lang="zh-CN" altLang="en-US" dirty="0"/>
              <a:t>（“</a:t>
            </a:r>
            <a:r>
              <a:rPr lang="en-US" altLang="zh-CN" dirty="0" err="1"/>
              <a:t>ExitProcess</a:t>
            </a:r>
            <a:r>
              <a:rPr lang="zh-CN" altLang="en-US" dirty="0"/>
              <a:t>”）</a:t>
            </a:r>
            <a:endParaRPr lang="en-US" altLang="zh-CN" dirty="0"/>
          </a:p>
          <a:p>
            <a:r>
              <a:rPr lang="en-US" altLang="zh-CN" dirty="0"/>
              <a:t>6. </a:t>
            </a:r>
            <a:r>
              <a:rPr lang="zh-CN" altLang="en-US" dirty="0"/>
              <a:t>读取</a:t>
            </a:r>
            <a:r>
              <a:rPr lang="en-US" altLang="zh-CN" dirty="0"/>
              <a:t>IID</a:t>
            </a:r>
            <a:r>
              <a:rPr lang="zh-CN" altLang="en-US" dirty="0"/>
              <a:t>的</a:t>
            </a:r>
            <a:r>
              <a:rPr lang="en-US" altLang="zh-CN" dirty="0" err="1">
                <a:solidFill>
                  <a:srgbClr val="FF0000"/>
                </a:solidFill>
              </a:rPr>
              <a:t>FirstThunk</a:t>
            </a:r>
            <a:r>
              <a:rPr lang="zh-CN" altLang="en-US" dirty="0"/>
              <a:t>成员，获得</a:t>
            </a:r>
            <a:r>
              <a:rPr lang="en-US" altLang="zh-CN" dirty="0"/>
              <a:t>IAT</a:t>
            </a:r>
            <a:r>
              <a:rPr lang="zh-CN" altLang="en-US" dirty="0"/>
              <a:t>地址</a:t>
            </a: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73483867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F113BC-1FAD-4768-B104-AC4FD97893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PE</a:t>
            </a:r>
            <a:r>
              <a:rPr lang="zh-CN" altLang="en-US" dirty="0"/>
              <a:t>装载器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9D86DB2-7CBE-44CA-ACDA-DB4584C258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7. </a:t>
            </a:r>
            <a:r>
              <a:rPr lang="zh-CN" altLang="en-US" dirty="0"/>
              <a:t>将第</a:t>
            </a:r>
            <a:r>
              <a:rPr lang="en-US" altLang="zh-CN" dirty="0"/>
              <a:t>5</a:t>
            </a:r>
            <a:r>
              <a:rPr lang="zh-CN" altLang="en-US" dirty="0"/>
              <a:t>步获得的函数地址写入</a:t>
            </a:r>
            <a:r>
              <a:rPr lang="en-US" altLang="zh-CN" dirty="0"/>
              <a:t>IAT</a:t>
            </a:r>
            <a:r>
              <a:rPr lang="zh-CN" altLang="en-US" dirty="0"/>
              <a:t>数组相应位置</a:t>
            </a:r>
            <a:endParaRPr lang="en-US" altLang="zh-CN" dirty="0"/>
          </a:p>
          <a:p>
            <a:r>
              <a:rPr lang="en-US" altLang="zh-CN" dirty="0"/>
              <a:t>8. </a:t>
            </a:r>
            <a:r>
              <a:rPr lang="zh-CN" altLang="en-US" dirty="0"/>
              <a:t>重复步骤</a:t>
            </a:r>
            <a:r>
              <a:rPr lang="en-US" altLang="zh-CN" dirty="0"/>
              <a:t>4</a:t>
            </a:r>
            <a:r>
              <a:rPr lang="zh-CN" altLang="en-US" dirty="0"/>
              <a:t>到</a:t>
            </a:r>
            <a:r>
              <a:rPr lang="en-US" altLang="zh-CN" dirty="0"/>
              <a:t>7</a:t>
            </a:r>
            <a:r>
              <a:rPr lang="zh-CN" altLang="en-US" dirty="0"/>
              <a:t>，直到</a:t>
            </a:r>
            <a:r>
              <a:rPr lang="en-US" altLang="zh-CN" dirty="0"/>
              <a:t>INT</a:t>
            </a:r>
            <a:r>
              <a:rPr lang="zh-CN" altLang="en-US" dirty="0"/>
              <a:t>结束</a:t>
            </a:r>
          </a:p>
        </p:txBody>
      </p:sp>
    </p:spTree>
    <p:extLst>
      <p:ext uri="{BB962C8B-B14F-4D97-AF65-F5344CB8AC3E}">
        <p14:creationId xmlns:p14="http://schemas.microsoft.com/office/powerpoint/2010/main" val="2754706016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E170144-F8F8-4FA0-B0B7-D7687BA38F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PE</a:t>
            </a:r>
            <a:r>
              <a:rPr lang="zh-CN" altLang="en-US" dirty="0"/>
              <a:t>文件加载后的</a:t>
            </a:r>
            <a:r>
              <a:rPr lang="en-US" altLang="zh-CN" dirty="0"/>
              <a:t>IAT</a:t>
            </a:r>
            <a:endParaRPr lang="zh-CN" alt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3520D72A-A3A4-4932-9BEC-B0DD4D9BA5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251" y="2582985"/>
            <a:ext cx="9640721" cy="2859759"/>
          </a:xfrm>
          <a:prstGeom prst="rect">
            <a:avLst/>
          </a:prstGeom>
          <a:ln>
            <a:solidFill>
              <a:srgbClr val="7030A0"/>
            </a:solidFill>
          </a:ln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BB62DB79-325F-46EF-A6B3-7C0968996B78}"/>
              </a:ext>
            </a:extLst>
          </p:cNvPr>
          <p:cNvSpPr/>
          <p:nvPr/>
        </p:nvSpPr>
        <p:spPr>
          <a:xfrm>
            <a:off x="7913463" y="2855952"/>
            <a:ext cx="732731" cy="179852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4092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6838B34A-D77A-435D-A932-987D3ACB66F1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743012" y="719930"/>
            <a:ext cx="8705976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下面哪个结构的数据，在</a:t>
            </a:r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PE</a:t>
            </a:r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文件装载到内存中会产生变化？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9B52A38-A7C5-457C-BF97-588D45A1E595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3352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Import Name Table(INT)</a:t>
            </a:r>
            <a:endParaRPr lang="zh-CN" altLang="en-US" sz="26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87C708A-F0E2-4920-8605-C95DBA99F4D2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3352800" y="36433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Import Address Table(IAT)</a:t>
            </a:r>
            <a:endParaRPr lang="zh-CN" altLang="en-US" sz="26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D757EA4-50D0-4884-9626-C6F0A46B374C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3352800" y="45005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IMAGE_IMPORT_DESCRIPTOR(IID)</a:t>
            </a:r>
            <a:endParaRPr lang="zh-CN" altLang="en-US" sz="26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EFFD32D-D2E0-4290-B803-5C2E32732A67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3352800" y="53578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IMAGE_IMPORT_BY_NAME</a:t>
            </a:r>
            <a:endParaRPr lang="zh-CN" altLang="en-US" sz="26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7C5A3AC8-7ABC-4B96-9104-5AFCC3F1AC07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26384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597921A2-C31B-4710-B1DA-2613971D4741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2638425" y="370760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85872E95-8D24-40E1-8359-9539EB842361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2638425" y="45648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7875F2DA-32F5-4C82-8F23-1DA97825B25C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2638425" y="54221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98F5608C-8EAC-4CEC-8F95-CE7220F2E4D0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7696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F4EFE750-B21E-4A79-B6C3-00CE115C7098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-1524000" y="0"/>
            <a:chExt cx="9144000" cy="635000"/>
          </a:xfrm>
        </p:grpSpPr>
        <p:sp>
          <p:nvSpPr>
            <p:cNvPr id="16" name="TitleBackground">
              <a:extLst>
                <a:ext uri="{FF2B5EF4-FFF2-40B4-BE49-F238E27FC236}">
                  <a16:creationId xmlns:a16="http://schemas.microsoft.com/office/drawing/2014/main" id="{C22D1209-9DB3-471B-9431-6B104791DF33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-152400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7" name="ColorBlock">
              <a:extLst>
                <a:ext uri="{FF2B5EF4-FFF2-40B4-BE49-F238E27FC236}">
                  <a16:creationId xmlns:a16="http://schemas.microsoft.com/office/drawing/2014/main" id="{786668D5-070E-4103-ABBD-4528F70A695C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-152400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8" name="TypeText">
              <a:extLst>
                <a:ext uri="{FF2B5EF4-FFF2-40B4-BE49-F238E27FC236}">
                  <a16:creationId xmlns:a16="http://schemas.microsoft.com/office/drawing/2014/main" id="{4CD6D5B2-B149-41F5-A80F-6A36518D4C60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-127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9" name="TipText">
              <a:extLst>
                <a:ext uri="{FF2B5EF4-FFF2-40B4-BE49-F238E27FC236}">
                  <a16:creationId xmlns:a16="http://schemas.microsoft.com/office/drawing/2014/main" id="{D6117536-15D1-4F54-838B-3D0370346F0C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-13970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0F215D5A-A03B-4F3F-96F5-E9B6DDEB1C78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236968868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7D4BA1F6-0687-4ACB-A7FC-008C2F8C6425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2514600" y="600076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库函数的内存地址存储在哪个结构中？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7A85D4E-5EB9-4D02-9828-09B31F2A8238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3352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INT</a:t>
            </a:r>
            <a:endParaRPr lang="zh-CN" altLang="en-US" sz="26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D0C4F1E-F216-42EE-B2F1-DD11E69B08F8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3352800" y="36433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IAT</a:t>
            </a:r>
            <a:endParaRPr lang="zh-CN" altLang="en-US" sz="26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B1E0CD3-9DCD-434E-A99B-3FCC8F307E64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3352800" y="45005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IMAGE_IMPORT_DESCRIPTOR(IID)</a:t>
            </a:r>
            <a:endParaRPr lang="zh-CN" altLang="en-US" sz="26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CCC7527-7EA2-4690-BCC9-A0296CBB34AE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3352800" y="53578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IMAGE_IMPORT_BY_NAME</a:t>
            </a:r>
            <a:endParaRPr lang="zh-CN" altLang="en-US" sz="26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C2CAAFEB-33C4-41F5-A98B-9EFB0AE5293D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26384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6920ECF7-DC3D-4B6A-9FC6-8E43F8A8283E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2638425" y="370760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6F7B25EE-02A9-43FF-BA90-BAF505225DC1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2638425" y="45648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FA9A1036-D2E6-4A8B-9386-61FC7F23E168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2638425" y="54221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903BD594-759D-4C47-ABB9-4950E1FF7555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7696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301502B0-6821-4A2A-91BD-CC59BCD8268C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-1524000" y="0"/>
            <a:chExt cx="9144000" cy="635000"/>
          </a:xfrm>
        </p:grpSpPr>
        <p:sp>
          <p:nvSpPr>
            <p:cNvPr id="14" name="TitleBackground">
              <a:extLst>
                <a:ext uri="{FF2B5EF4-FFF2-40B4-BE49-F238E27FC236}">
                  <a16:creationId xmlns:a16="http://schemas.microsoft.com/office/drawing/2014/main" id="{23236266-A1AB-4E34-9197-C0BE47188716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-152400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5" name="ColorBlock">
              <a:extLst>
                <a:ext uri="{FF2B5EF4-FFF2-40B4-BE49-F238E27FC236}">
                  <a16:creationId xmlns:a16="http://schemas.microsoft.com/office/drawing/2014/main" id="{046F05C5-1500-47C5-962D-BC62D4A6626F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-152400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6" name="TypeText">
              <a:extLst>
                <a:ext uri="{FF2B5EF4-FFF2-40B4-BE49-F238E27FC236}">
                  <a16:creationId xmlns:a16="http://schemas.microsoft.com/office/drawing/2014/main" id="{5EF9CAAE-7B78-4EE6-B07E-F99CE4DAC9BB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-127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7" name="TipText">
              <a:extLst>
                <a:ext uri="{FF2B5EF4-FFF2-40B4-BE49-F238E27FC236}">
                  <a16:creationId xmlns:a16="http://schemas.microsoft.com/office/drawing/2014/main" id="{F657AEF7-7A3D-4BDD-AC97-D152C28E6356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-13970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B277ACB2-A927-4782-B905-7A274D028AFC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8157643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AE05801A-0374-4457-8B7B-D74C044362EF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2438400" y="635001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函数名字符串存储在哪个数据结构中？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DE81BBA-EE44-44AA-91FC-AD5E1A2962E0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3352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IAT</a:t>
            </a:r>
            <a:endParaRPr lang="zh-CN" altLang="en-US" sz="26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1EE326F-696A-457F-83E1-79B60756A76E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3352800" y="36433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INT</a:t>
            </a:r>
            <a:endParaRPr lang="zh-CN" altLang="en-US" sz="26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654E52C-C485-4321-827A-29C7BE4D49ED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3352800" y="45005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IMAGE_IMPORT_DESCRIPTOR(IID)</a:t>
            </a:r>
            <a:endParaRPr lang="zh-CN" altLang="en-US" sz="26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0B40A72-9E41-4F2C-AB27-CB265D65C567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3352800" y="53578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IMAGE_IMPORT_BY_NAME</a:t>
            </a:r>
            <a:endParaRPr lang="zh-CN" altLang="en-US" sz="26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FBE612BA-3CF2-41A2-BC78-629501A5694B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26384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DAD233EC-7C86-408B-BDE7-E1FFEBB61018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2638425" y="37076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9F0E50C6-2084-4B47-8172-D08090C1B742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2638425" y="45648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2362FDAD-28F3-403B-B426-AB2ACF22AB39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2638425" y="542210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148FA8D3-E2C3-4816-887C-FE42AD348E86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7696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09F91C92-EB28-4CFC-9533-AC53B9CA9298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-1524000" y="0"/>
            <a:chExt cx="9144000" cy="635000"/>
          </a:xfrm>
        </p:grpSpPr>
        <p:sp>
          <p:nvSpPr>
            <p:cNvPr id="14" name="TitleBackground">
              <a:extLst>
                <a:ext uri="{FF2B5EF4-FFF2-40B4-BE49-F238E27FC236}">
                  <a16:creationId xmlns:a16="http://schemas.microsoft.com/office/drawing/2014/main" id="{EC7A5C02-795B-46BC-86FA-AFC705DFC16F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-152400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5" name="ColorBlock">
              <a:extLst>
                <a:ext uri="{FF2B5EF4-FFF2-40B4-BE49-F238E27FC236}">
                  <a16:creationId xmlns:a16="http://schemas.microsoft.com/office/drawing/2014/main" id="{A22D050A-0E8A-4665-B0FF-FB15EB56C1B1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-152400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6" name="TypeText">
              <a:extLst>
                <a:ext uri="{FF2B5EF4-FFF2-40B4-BE49-F238E27FC236}">
                  <a16:creationId xmlns:a16="http://schemas.microsoft.com/office/drawing/2014/main" id="{319BFE8B-B4C6-43B6-ADFB-C6967CF2D956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-127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7" name="TipText">
              <a:extLst>
                <a:ext uri="{FF2B5EF4-FFF2-40B4-BE49-F238E27FC236}">
                  <a16:creationId xmlns:a16="http://schemas.microsoft.com/office/drawing/2014/main" id="{54BB8D19-96EA-4A8D-8435-A7DB4B1E9439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-13970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E13B3B48-58C8-4740-ACAD-216EDCA56573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990469435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C55D3A40-CB0E-4734-A1C7-D2FEDD9A8DEF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Windows</a:t>
            </a:r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装载</a:t>
            </a:r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PE</a:t>
            </a:r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文件时，将库函数的内存地址动态地写入</a:t>
            </a:r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PE</a:t>
            </a:r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文件的导入表。</a:t>
            </a:r>
            <a:r>
              <a:rPr lang="zh-CN" altLang="en-US" sz="2600" dirty="0">
                <a:solidFill>
                  <a:srgbClr val="639EF4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 </a:t>
            </a:r>
            <a:r>
              <a:rPr lang="zh-CN" altLang="en-US" sz="2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下面</a:t>
            </a:r>
            <a:r>
              <a:rPr lang="en-US" altLang="zh-CN" sz="2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4</a:t>
            </a:r>
            <a:r>
              <a:rPr lang="zh-CN" altLang="en-US" sz="2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个数据结构的访问顺序是：</a:t>
            </a:r>
            <a:r>
              <a:rPr lang="en-US" altLang="zh-CN" sz="2600" dirty="0">
                <a:solidFill>
                  <a:srgbClr val="639EF4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[</a:t>
            </a:r>
            <a:r>
              <a:rPr lang="zh-CN" altLang="en-US" sz="2600" dirty="0">
                <a:solidFill>
                  <a:srgbClr val="639EF4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填空</a:t>
            </a:r>
            <a:r>
              <a:rPr lang="en-US" altLang="zh-CN" sz="2600" dirty="0">
                <a:solidFill>
                  <a:srgbClr val="639EF4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1]</a:t>
            </a:r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 </a:t>
            </a:r>
            <a:r>
              <a:rPr lang="zh-CN" altLang="en-US" sz="2600" dirty="0">
                <a:solidFill>
                  <a:srgbClr val="639EF4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 </a:t>
            </a:r>
            <a:r>
              <a:rPr lang="en-US" altLang="zh-CN" sz="2600" dirty="0">
                <a:solidFill>
                  <a:srgbClr val="639EF4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[</a:t>
            </a:r>
            <a:r>
              <a:rPr lang="zh-CN" altLang="en-US" sz="2600" dirty="0">
                <a:solidFill>
                  <a:srgbClr val="639EF4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填空</a:t>
            </a:r>
            <a:r>
              <a:rPr lang="en-US" altLang="zh-CN" sz="2600" dirty="0">
                <a:solidFill>
                  <a:srgbClr val="639EF4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2]</a:t>
            </a:r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 </a:t>
            </a:r>
            <a:r>
              <a:rPr lang="zh-CN" altLang="en-US" sz="2600" dirty="0">
                <a:solidFill>
                  <a:srgbClr val="639EF4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 </a:t>
            </a:r>
            <a:r>
              <a:rPr lang="en-US" altLang="zh-CN" sz="2600" dirty="0">
                <a:solidFill>
                  <a:srgbClr val="639EF4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[</a:t>
            </a:r>
            <a:r>
              <a:rPr lang="zh-CN" altLang="en-US" sz="2600" dirty="0">
                <a:solidFill>
                  <a:srgbClr val="639EF4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填空</a:t>
            </a:r>
            <a:r>
              <a:rPr lang="en-US" altLang="zh-CN" sz="2600" dirty="0">
                <a:solidFill>
                  <a:srgbClr val="639EF4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3]</a:t>
            </a:r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 </a:t>
            </a:r>
            <a:r>
              <a:rPr lang="zh-CN" altLang="en-US" sz="2600" dirty="0">
                <a:solidFill>
                  <a:srgbClr val="639EF4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 </a:t>
            </a:r>
            <a:r>
              <a:rPr lang="en-US" altLang="zh-CN" sz="2600" dirty="0">
                <a:solidFill>
                  <a:srgbClr val="639EF4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[</a:t>
            </a:r>
            <a:r>
              <a:rPr lang="zh-CN" altLang="en-US" sz="2600" dirty="0">
                <a:solidFill>
                  <a:srgbClr val="639EF4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填空</a:t>
            </a:r>
            <a:r>
              <a:rPr lang="en-US" altLang="zh-CN" sz="2600" dirty="0">
                <a:solidFill>
                  <a:srgbClr val="639EF4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4]</a:t>
            </a:r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 </a:t>
            </a:r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（填写</a:t>
            </a:r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A</a:t>
            </a:r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、</a:t>
            </a:r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B</a:t>
            </a:r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、</a:t>
            </a:r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C</a:t>
            </a:r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、</a:t>
            </a:r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D</a:t>
            </a:r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）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C0DDFE09-C00B-4D27-B410-EFEAA0A5ACC0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3905AC9-5F3C-4A4A-BF58-A442EEFCF1C9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0" y="5727383"/>
            <a:ext cx="12192000" cy="487680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rtlCol="0" anchor="ctr" anchorCtr="1">
            <a:noAutofit/>
          </a:bodyPr>
          <a:lstStyle/>
          <a:p>
            <a:r>
              <a:rPr lang="zh-CN" altLang="en-US" sz="16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正常使用填空题需</a:t>
            </a:r>
            <a:r>
              <a:rPr lang="en-US" altLang="zh-CN" sz="16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3.0</a:t>
            </a:r>
            <a:r>
              <a:rPr lang="zh-CN" altLang="en-US" sz="16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以上版本雨课堂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47023C5-9D10-4B67-B74E-3436ECAEAA8F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3352800" y="2645410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IAT</a:t>
            </a:r>
            <a:endParaRPr lang="zh-CN" altLang="en-US" sz="26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8BF15EB-667E-4E5D-A386-FA4FB7D8741E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3352800" y="3502660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INT</a:t>
            </a:r>
            <a:endParaRPr lang="zh-CN" altLang="en-US" sz="26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0921FCC-E5E8-4C5A-96FC-707B99D88D8D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3352800" y="4359910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IMAGE_IMPORT_DESCRIPTOR(IID)</a:t>
            </a:r>
            <a:endParaRPr lang="zh-CN" altLang="en-US" sz="26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96BE01D7-1FF3-422B-B06F-1247472E7629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3352800" y="5217160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IMAGE_IMPORT_BY_NAME</a:t>
            </a:r>
            <a:endParaRPr lang="zh-CN" altLang="en-US" sz="26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0E1B0405-825E-4C45-AE15-A9784763B23B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2638425" y="2709703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A</a:t>
            </a:r>
            <a:endParaRPr lang="zh-CN" altLang="en-US" sz="1600" dirty="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A78122F9-1549-43F0-9E58-884E65465F31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2638425" y="3566953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2FFD7AA8-8039-44E5-A938-41475B6427CB}"/>
              </a:ext>
            </a:extLst>
          </p:cNvPr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2638425" y="4424203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CBAE3256-BB8C-49D3-89B1-958265187970}"/>
              </a:ext>
            </a:extLst>
          </p:cNvPr>
          <p:cNvSpPr>
            <a:spLocks noChangeAspect="1"/>
          </p:cNvSpPr>
          <p:nvPr>
            <p:custDataLst>
              <p:tags r:id="rId12"/>
            </p:custDataLst>
          </p:nvPr>
        </p:nvSpPr>
        <p:spPr>
          <a:xfrm>
            <a:off x="2638425" y="5345748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D</a:t>
            </a:r>
            <a:endParaRPr lang="zh-CN" altLang="en-US" sz="1600" dirty="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858FEC48-3D77-4460-AAEA-B4E0516ED777}"/>
              </a:ext>
            </a:extLst>
          </p:cNvPr>
          <p:cNvGrpSpPr/>
          <p:nvPr>
            <p:custDataLst>
              <p:tags r:id="rId13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6" name="TitleBackground">
              <a:extLst>
                <a:ext uri="{FF2B5EF4-FFF2-40B4-BE49-F238E27FC236}">
                  <a16:creationId xmlns:a16="http://schemas.microsoft.com/office/drawing/2014/main" id="{FFA99352-C94F-4F4F-BA69-95DEBFE20316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ColorBlock">
              <a:extLst>
                <a:ext uri="{FF2B5EF4-FFF2-40B4-BE49-F238E27FC236}">
                  <a16:creationId xmlns:a16="http://schemas.microsoft.com/office/drawing/2014/main" id="{50D81CFA-2312-42DE-9612-F3B39765E31D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TypeText">
              <a:extLst>
                <a:ext uri="{FF2B5EF4-FFF2-40B4-BE49-F238E27FC236}">
                  <a16:creationId xmlns:a16="http://schemas.microsoft.com/office/drawing/2014/main" id="{4DB66DC8-6FC7-4632-9607-34C7AA53749A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填空题</a:t>
              </a:r>
            </a:p>
          </p:txBody>
        </p:sp>
        <p:sp>
          <p:nvSpPr>
            <p:cNvPr id="9" name="TipText">
              <a:extLst>
                <a:ext uri="{FF2B5EF4-FFF2-40B4-BE49-F238E27FC236}">
                  <a16:creationId xmlns:a16="http://schemas.microsoft.com/office/drawing/2014/main" id="{5512F0A5-B06B-41CD-AA3A-54125299F487}"/>
                </a:ext>
              </a:extLst>
            </p:cNvPr>
            <p:cNvSpPr txBox="1"/>
            <p:nvPr>
              <p:custDataLst>
                <p:tags r:id="rId18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20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46EB717D-34E6-4ED2-80BE-3A2E1BD2DD89}"/>
              </a:ext>
            </a:extLst>
          </p:cNvPr>
          <p:cNvPicPr>
            <a:picLocks/>
          </p:cNvPicPr>
          <p:nvPr>
            <p:custDataLst>
              <p:tags r:id="rId14"/>
            </p:custDataLst>
          </p:nvPr>
        </p:nvPicPr>
        <p:blipFill>
          <a:blip r:embed="rId20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828543496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0CAD46AD-F340-437F-9506-1B88F2AD18C9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Microsoft Yahei" panose="020B0503020204020204" pitchFamily="34" charset="-122"/>
              </a:rPr>
              <a:t>导入表有哪些安全问题？如何进行安全加固？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A4DF43C8-64AA-4A15-8EB8-091713FD9CD1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4620D51-C4BE-40BE-B0AF-5A965953F5CC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0" y="5727383"/>
            <a:ext cx="12192000" cy="487680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rtlCol="0" anchor="ctr" anchorCtr="1">
            <a:noAutofit/>
          </a:bodyPr>
          <a:lstStyle/>
          <a:p>
            <a:r>
              <a:rPr lang="zh-CN" altLang="en-US" sz="16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正常使用主观题需</a:t>
            </a:r>
            <a:r>
              <a:rPr lang="en-US" altLang="zh-CN" sz="16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2.0</a:t>
            </a:r>
            <a:r>
              <a:rPr lang="zh-CN" altLang="en-US" sz="16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以上版本雨课堂</a:t>
            </a: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CAE0DBED-45C1-4DE2-B8E9-844540B8A038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6" name="TitleBackground">
              <a:extLst>
                <a:ext uri="{FF2B5EF4-FFF2-40B4-BE49-F238E27FC236}">
                  <a16:creationId xmlns:a16="http://schemas.microsoft.com/office/drawing/2014/main" id="{E629C328-07BD-4114-8575-3B1B388B5745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ColorBlock">
              <a:extLst>
                <a:ext uri="{FF2B5EF4-FFF2-40B4-BE49-F238E27FC236}">
                  <a16:creationId xmlns:a16="http://schemas.microsoft.com/office/drawing/2014/main" id="{9CEDA7B9-54F6-4112-91BC-33C440398479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TypeText">
              <a:extLst>
                <a:ext uri="{FF2B5EF4-FFF2-40B4-BE49-F238E27FC236}">
                  <a16:creationId xmlns:a16="http://schemas.microsoft.com/office/drawing/2014/main" id="{8200F6EB-A00C-4B3A-9507-0C66AF86EB4C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主观题</a:t>
              </a:r>
            </a:p>
          </p:txBody>
        </p:sp>
        <p:sp>
          <p:nvSpPr>
            <p:cNvPr id="9" name="TipText">
              <a:extLst>
                <a:ext uri="{FF2B5EF4-FFF2-40B4-BE49-F238E27FC236}">
                  <a16:creationId xmlns:a16="http://schemas.microsoft.com/office/drawing/2014/main" id="{99FC1499-D0E5-45EF-AAB9-2AAFCB987E03}"/>
                </a:ext>
              </a:extLst>
            </p:cNvPr>
            <p:cNvSpPr txBox="1"/>
            <p:nvPr>
              <p:custDataLst>
                <p:tags r:id="rId10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73531682-23DF-46A4-BA5B-B7338539C4AA}"/>
              </a:ext>
            </a:extLst>
          </p:cNvPr>
          <p:cNvPicPr>
            <a:picLocks/>
          </p:cNvPicPr>
          <p:nvPr>
            <p:custDataLst>
              <p:tags r:id="rId6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63877530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44727" y="2337582"/>
            <a:ext cx="6400800" cy="1143000"/>
          </a:xfrm>
        </p:spPr>
        <p:txBody>
          <a:bodyPr/>
          <a:lstStyle/>
          <a:p>
            <a:pPr algn="ctr"/>
            <a:r>
              <a:rPr lang="zh-CN" altLang="en-US" dirty="0"/>
              <a:t>导出表 </a:t>
            </a:r>
            <a:r>
              <a:rPr lang="en-US" altLang="zh-CN" dirty="0"/>
              <a:t>EAT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1323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A3FDA1B5-862A-410F-82D3-49147968D33E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思考题：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Windows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操作系统如何确定哪个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DLL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的哪个函数在内存中的地址？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9144B78E-D935-45AE-9B35-F761594DB04E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38253D25-BB58-4B2B-9D26-22C73729661D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7" name="TitleBackground">
              <a:extLst>
                <a:ext uri="{FF2B5EF4-FFF2-40B4-BE49-F238E27FC236}">
                  <a16:creationId xmlns:a16="http://schemas.microsoft.com/office/drawing/2014/main" id="{D4010904-78B1-47A3-A85A-5D265C5DFEEA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ColorBlock">
              <a:extLst>
                <a:ext uri="{FF2B5EF4-FFF2-40B4-BE49-F238E27FC236}">
                  <a16:creationId xmlns:a16="http://schemas.microsoft.com/office/drawing/2014/main" id="{BD53B7E3-4C43-45CC-B73B-7F6F42266AF5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TypeText">
              <a:extLst>
                <a:ext uri="{FF2B5EF4-FFF2-40B4-BE49-F238E27FC236}">
                  <a16:creationId xmlns:a16="http://schemas.microsoft.com/office/drawing/2014/main" id="{76BED9A6-BD03-475D-BD08-DAD2470939ED}"/>
                </a:ext>
              </a:extLst>
            </p:cNvPr>
            <p:cNvSpPr txBox="1"/>
            <p:nvPr>
              <p:custDataLst>
                <p:tags r:id="rId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主观题</a:t>
              </a:r>
            </a:p>
          </p:txBody>
        </p:sp>
        <p:sp>
          <p:nvSpPr>
            <p:cNvPr id="10" name="TipText">
              <a:extLst>
                <a:ext uri="{FF2B5EF4-FFF2-40B4-BE49-F238E27FC236}">
                  <a16:creationId xmlns:a16="http://schemas.microsoft.com/office/drawing/2014/main" id="{5C17D925-FF14-4EEF-B57B-94E8862ED801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4" name="图片 3">
            <a:extLst>
              <a:ext uri="{FF2B5EF4-FFF2-40B4-BE49-F238E27FC236}">
                <a16:creationId xmlns:a16="http://schemas.microsoft.com/office/drawing/2014/main" id="{169CC22B-1DD5-4F12-9C60-58C4490C27D3}"/>
              </a:ext>
            </a:extLst>
          </p:cNvPr>
          <p:cNvPicPr>
            <a:picLocks/>
          </p:cNvPicPr>
          <p:nvPr>
            <p:custDataLst>
              <p:tags r:id="rId5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239344533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C8FAAB-B65D-4BE9-9574-FF09DE2EDC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DLL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E0D5BE4-A5C3-4DC2-9866-BAB9344B7E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35189" y="1687481"/>
            <a:ext cx="7940675" cy="4092575"/>
          </a:xfrm>
        </p:spPr>
        <p:txBody>
          <a:bodyPr/>
          <a:lstStyle/>
          <a:p>
            <a:r>
              <a:rPr lang="en-US" altLang="zh-CN" dirty="0"/>
              <a:t>Windows</a:t>
            </a:r>
            <a:r>
              <a:rPr lang="zh-CN" altLang="en-US" dirty="0"/>
              <a:t>操作系统提供了数量庞大的</a:t>
            </a:r>
            <a:r>
              <a:rPr lang="zh-CN" altLang="en-US" dirty="0">
                <a:solidFill>
                  <a:srgbClr val="FF0000"/>
                </a:solidFill>
              </a:rPr>
              <a:t>库函数</a:t>
            </a:r>
            <a:endParaRPr lang="en-US" altLang="zh-CN" dirty="0">
              <a:solidFill>
                <a:srgbClr val="FF0000"/>
              </a:solidFill>
            </a:endParaRPr>
          </a:p>
          <a:p>
            <a:pPr lvl="1"/>
            <a:r>
              <a:rPr lang="zh-CN" altLang="en-US" dirty="0"/>
              <a:t>进程、内存、窗口、消息、文件、网络等</a:t>
            </a:r>
            <a:endParaRPr lang="en-US" altLang="zh-CN" dirty="0"/>
          </a:p>
          <a:p>
            <a:r>
              <a:rPr lang="zh-CN" altLang="en-US" dirty="0"/>
              <a:t>同时运行多个程序时，每个进程都包含相同的库，严重浪费内存</a:t>
            </a:r>
            <a:endParaRPr lang="en-US" altLang="zh-CN" dirty="0"/>
          </a:p>
          <a:p>
            <a:r>
              <a:rPr lang="en-US" altLang="zh-CN" dirty="0"/>
              <a:t>Dynamic Link </a:t>
            </a:r>
            <a:r>
              <a:rPr lang="en-US" altLang="zh-CN" dirty="0" err="1"/>
              <a:t>Libary</a:t>
            </a:r>
            <a:r>
              <a:rPr lang="en-US" altLang="zh-CN" dirty="0"/>
              <a:t>(DLL)</a:t>
            </a:r>
            <a:r>
              <a:rPr lang="zh-CN" altLang="en-US" dirty="0"/>
              <a:t>，内存映射</a:t>
            </a:r>
          </a:p>
        </p:txBody>
      </p:sp>
    </p:spTree>
    <p:extLst>
      <p:ext uri="{BB962C8B-B14F-4D97-AF65-F5344CB8AC3E}">
        <p14:creationId xmlns:p14="http://schemas.microsoft.com/office/powerpoint/2010/main" val="1846959133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2AABA8-C9E9-41D3-BE6E-A7F86D1CF5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1" y="981076"/>
            <a:ext cx="9143999" cy="868363"/>
          </a:xfrm>
        </p:spPr>
        <p:txBody>
          <a:bodyPr>
            <a:normAutofit/>
          </a:bodyPr>
          <a:lstStyle/>
          <a:p>
            <a:r>
              <a:rPr lang="en-US" altLang="zh-CN" dirty="0"/>
              <a:t>IMAGE_EXPORT_DIRECTORY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6DD3160-5EF5-427B-8072-8AB8592F4D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07130"/>
            <a:ext cx="10515600" cy="4351338"/>
          </a:xfrm>
        </p:spPr>
        <p:txBody>
          <a:bodyPr/>
          <a:lstStyle/>
          <a:p>
            <a:r>
              <a:rPr lang="zh-CN" altLang="en-US" dirty="0"/>
              <a:t>导出表是</a:t>
            </a:r>
            <a:r>
              <a:rPr lang="en-US" altLang="zh-CN" dirty="0"/>
              <a:t>DLL</a:t>
            </a:r>
            <a:r>
              <a:rPr lang="zh-CN" altLang="en-US" dirty="0"/>
              <a:t>的核心机制</a:t>
            </a:r>
            <a:endParaRPr lang="en-US" altLang="zh-CN" dirty="0"/>
          </a:p>
          <a:p>
            <a:pPr lvl="1"/>
            <a:r>
              <a:rPr lang="zh-CN" altLang="en-US" dirty="0"/>
              <a:t>不同程序可以调用库文件中提供的函数</a:t>
            </a:r>
            <a:endParaRPr lang="en-US" altLang="zh-CN" dirty="0"/>
          </a:p>
          <a:p>
            <a:pPr lvl="1"/>
            <a:r>
              <a:rPr lang="zh-CN" altLang="en-US" dirty="0"/>
              <a:t>通过</a:t>
            </a:r>
            <a:r>
              <a:rPr lang="en-US" altLang="zh-CN" dirty="0"/>
              <a:t>EAT</a:t>
            </a:r>
            <a:r>
              <a:rPr lang="zh-CN" altLang="en-US" dirty="0"/>
              <a:t>，得到库文件导出</a:t>
            </a:r>
            <a:r>
              <a:rPr lang="zh-CN" altLang="en-US" dirty="0">
                <a:solidFill>
                  <a:srgbClr val="FF0000"/>
                </a:solidFill>
              </a:rPr>
              <a:t>函数的入口地址</a:t>
            </a:r>
            <a:endParaRPr lang="en-US" altLang="zh-CN" dirty="0">
              <a:solidFill>
                <a:srgbClr val="FF0000"/>
              </a:solidFill>
            </a:endParaRPr>
          </a:p>
          <a:p>
            <a:pPr lvl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95597040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71C2AD-236C-45BD-9988-5312F04A9E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1" y="981076"/>
            <a:ext cx="9143999" cy="868363"/>
          </a:xfrm>
        </p:spPr>
        <p:txBody>
          <a:bodyPr>
            <a:normAutofit/>
          </a:bodyPr>
          <a:lstStyle/>
          <a:p>
            <a:r>
              <a:rPr lang="en-US" altLang="zh-CN" dirty="0"/>
              <a:t>IMAGE_EXPORT_DIRECTORY</a:t>
            </a:r>
            <a:endParaRPr lang="zh-CN" altLang="en-US" dirty="0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9CA90D3-852A-4AD5-8E2D-C872436B2F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40898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sz="1400" dirty="0"/>
              <a:t>typedef struct _IMAGE_EXPORT_DIRECTORY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400" dirty="0"/>
              <a:t>    DWORD   Characteristics;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400" dirty="0"/>
              <a:t>    DWORD   </a:t>
            </a:r>
            <a:r>
              <a:rPr lang="en-US" altLang="zh-CN" sz="1400" dirty="0" err="1"/>
              <a:t>TimeDateStamp</a:t>
            </a:r>
            <a:r>
              <a:rPr lang="en-US" altLang="zh-CN" sz="1400" dirty="0"/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400" dirty="0"/>
              <a:t>    WORD    </a:t>
            </a:r>
            <a:r>
              <a:rPr lang="en-US" altLang="zh-CN" sz="1400" dirty="0" err="1"/>
              <a:t>MajorVersion</a:t>
            </a:r>
            <a:r>
              <a:rPr lang="en-US" altLang="zh-CN" sz="1400" dirty="0"/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400" dirty="0"/>
              <a:t>    WORD    </a:t>
            </a:r>
            <a:r>
              <a:rPr lang="en-US" altLang="zh-CN" sz="1400" dirty="0" err="1"/>
              <a:t>MinorVersion</a:t>
            </a:r>
            <a:r>
              <a:rPr lang="en-US" altLang="zh-CN" sz="1400" dirty="0"/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400" dirty="0"/>
              <a:t>    DWORD   Name;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400" dirty="0"/>
              <a:t>    DWORD   Base;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400" dirty="0"/>
              <a:t>    DWORD   </a:t>
            </a:r>
            <a:r>
              <a:rPr lang="en-US" altLang="zh-CN" sz="1400" dirty="0" err="1"/>
              <a:t>NumberOfFunctions</a:t>
            </a:r>
            <a:r>
              <a:rPr lang="en-US" altLang="zh-CN" sz="1400" dirty="0"/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400" dirty="0"/>
              <a:t>    DWORD   </a:t>
            </a:r>
            <a:r>
              <a:rPr lang="en-US" altLang="zh-CN" sz="1400" dirty="0" err="1"/>
              <a:t>NumberOfNames</a:t>
            </a:r>
            <a:r>
              <a:rPr lang="en-US" altLang="zh-CN" sz="1400" dirty="0"/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400" dirty="0"/>
              <a:t>    DWORD   </a:t>
            </a:r>
            <a:r>
              <a:rPr lang="en-US" altLang="zh-CN" sz="1400" dirty="0" err="1">
                <a:solidFill>
                  <a:srgbClr val="FF0000"/>
                </a:solidFill>
              </a:rPr>
              <a:t>AddressOfFunctions</a:t>
            </a:r>
            <a:r>
              <a:rPr lang="en-US" altLang="zh-CN" sz="1400" dirty="0">
                <a:solidFill>
                  <a:srgbClr val="FF0000"/>
                </a:solidFill>
              </a:rPr>
              <a:t>;</a:t>
            </a:r>
            <a:r>
              <a:rPr lang="en-US" altLang="zh-CN" sz="1400" dirty="0"/>
              <a:t>     // </a:t>
            </a:r>
            <a:r>
              <a:rPr lang="en-US" altLang="zh-CN" sz="1400" dirty="0">
                <a:solidFill>
                  <a:srgbClr val="FF0000"/>
                </a:solidFill>
              </a:rPr>
              <a:t>RVA</a:t>
            </a:r>
            <a:r>
              <a:rPr lang="en-US" altLang="zh-CN" sz="1400" dirty="0"/>
              <a:t> from base of image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400" dirty="0"/>
              <a:t>    DWORD   </a:t>
            </a:r>
            <a:r>
              <a:rPr lang="en-US" altLang="zh-CN" sz="1400" dirty="0" err="1">
                <a:solidFill>
                  <a:srgbClr val="FF0000"/>
                </a:solidFill>
              </a:rPr>
              <a:t>AddressOfNames</a:t>
            </a:r>
            <a:r>
              <a:rPr lang="en-US" altLang="zh-CN" sz="1400" dirty="0">
                <a:solidFill>
                  <a:srgbClr val="FF0000"/>
                </a:solidFill>
              </a:rPr>
              <a:t>; </a:t>
            </a:r>
            <a:r>
              <a:rPr lang="en-US" altLang="zh-CN" sz="1400" dirty="0"/>
              <a:t>        // </a:t>
            </a:r>
            <a:r>
              <a:rPr lang="en-US" altLang="zh-CN" sz="1400" dirty="0">
                <a:solidFill>
                  <a:srgbClr val="FF0000"/>
                </a:solidFill>
              </a:rPr>
              <a:t>RVA</a:t>
            </a:r>
            <a:r>
              <a:rPr lang="en-US" altLang="zh-CN" sz="1400" dirty="0"/>
              <a:t> from base of image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400" dirty="0"/>
              <a:t>    DWORD   </a:t>
            </a:r>
            <a:r>
              <a:rPr lang="en-US" altLang="zh-CN" sz="1400" dirty="0" err="1">
                <a:solidFill>
                  <a:srgbClr val="FF0000"/>
                </a:solidFill>
              </a:rPr>
              <a:t>AddressOfNameOrdinals</a:t>
            </a:r>
            <a:r>
              <a:rPr lang="en-US" altLang="zh-CN" sz="1400" dirty="0">
                <a:solidFill>
                  <a:srgbClr val="FF0000"/>
                </a:solidFill>
              </a:rPr>
              <a:t>;</a:t>
            </a:r>
            <a:r>
              <a:rPr lang="en-US" altLang="zh-CN" sz="1400" dirty="0"/>
              <a:t>  // </a:t>
            </a:r>
            <a:r>
              <a:rPr lang="en-US" altLang="zh-CN" sz="1400" dirty="0">
                <a:solidFill>
                  <a:srgbClr val="FF0000"/>
                </a:solidFill>
              </a:rPr>
              <a:t>RVA</a:t>
            </a:r>
            <a:r>
              <a:rPr lang="en-US" altLang="zh-CN" sz="1400" dirty="0"/>
              <a:t> from base of image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400" dirty="0"/>
              <a:t>} IMAGE_EXPORT_DIRECTORY, *PIMAGE_EXPORT_DIRECTORY;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08401897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205F4B-F68E-4B74-B769-3172C96EC3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981076"/>
            <a:ext cx="9144000" cy="868363"/>
          </a:xfrm>
        </p:spPr>
        <p:txBody>
          <a:bodyPr>
            <a:normAutofit/>
          </a:bodyPr>
          <a:lstStyle/>
          <a:p>
            <a:r>
              <a:rPr lang="en-US" altLang="zh-CN" dirty="0"/>
              <a:t>IMAGE_EXPORT_DIRECTORY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A05447E-90F2-42F7-9D3E-375BF9C4C0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25662" y="2076352"/>
            <a:ext cx="7940675" cy="4092575"/>
          </a:xfrm>
        </p:spPr>
        <p:txBody>
          <a:bodyPr>
            <a:normAutofit lnSpcReduction="10000"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Name</a:t>
            </a:r>
          </a:p>
          <a:p>
            <a:pPr lvl="1"/>
            <a:r>
              <a:rPr lang="zh-CN" altLang="en-US" dirty="0"/>
              <a:t>库文件名字符串地址</a:t>
            </a:r>
            <a:endParaRPr lang="en-US" altLang="zh-CN" dirty="0"/>
          </a:p>
          <a:p>
            <a:r>
              <a:rPr lang="en-US" altLang="zh-CN" dirty="0" err="1">
                <a:solidFill>
                  <a:srgbClr val="FF0000"/>
                </a:solidFill>
              </a:rPr>
              <a:t>NumberOfFunctions</a:t>
            </a:r>
            <a:endParaRPr lang="en-US" altLang="zh-CN" dirty="0">
              <a:solidFill>
                <a:srgbClr val="FF0000"/>
              </a:solidFill>
            </a:endParaRPr>
          </a:p>
          <a:p>
            <a:pPr lvl="1"/>
            <a:r>
              <a:rPr lang="zh-CN" altLang="en-US" dirty="0"/>
              <a:t>实际</a:t>
            </a:r>
            <a:r>
              <a:rPr lang="en-US" altLang="zh-CN" dirty="0"/>
              <a:t>Export</a:t>
            </a:r>
            <a:r>
              <a:rPr lang="zh-CN" altLang="en-US" dirty="0"/>
              <a:t>函数的个数</a:t>
            </a:r>
            <a:endParaRPr lang="en-US" altLang="zh-CN" dirty="0"/>
          </a:p>
          <a:p>
            <a:r>
              <a:rPr lang="en-US" altLang="zh-CN" dirty="0" err="1">
                <a:solidFill>
                  <a:srgbClr val="FF0000"/>
                </a:solidFill>
              </a:rPr>
              <a:t>NumberOfNames</a:t>
            </a:r>
            <a:endParaRPr lang="en-US" altLang="zh-CN" dirty="0">
              <a:solidFill>
                <a:srgbClr val="FF0000"/>
              </a:solidFill>
            </a:endParaRPr>
          </a:p>
          <a:p>
            <a:pPr lvl="1"/>
            <a:r>
              <a:rPr lang="en-US" altLang="zh-CN" dirty="0"/>
              <a:t>Export</a:t>
            </a:r>
            <a:r>
              <a:rPr lang="zh-CN" altLang="en-US" dirty="0"/>
              <a:t>函数中具有名字的函数个数</a:t>
            </a: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71417583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205F4B-F68E-4B74-B769-3172C96EC3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841796"/>
            <a:ext cx="9144000" cy="868363"/>
          </a:xfrm>
        </p:spPr>
        <p:txBody>
          <a:bodyPr>
            <a:normAutofit/>
          </a:bodyPr>
          <a:lstStyle/>
          <a:p>
            <a:r>
              <a:rPr lang="en-US" altLang="zh-CN" dirty="0"/>
              <a:t>IMAGE_EXPORT_DIRECTORY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A05447E-90F2-42F7-9D3E-375BF9C4C0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25662" y="1973406"/>
            <a:ext cx="7940675" cy="4092575"/>
          </a:xfrm>
        </p:spPr>
        <p:txBody>
          <a:bodyPr>
            <a:normAutofit lnSpcReduction="10000"/>
          </a:bodyPr>
          <a:lstStyle/>
          <a:p>
            <a:r>
              <a:rPr lang="en-US" altLang="zh-CN" dirty="0" err="1">
                <a:solidFill>
                  <a:srgbClr val="FF0000"/>
                </a:solidFill>
              </a:rPr>
              <a:t>AddressOfFunctions</a:t>
            </a:r>
            <a:endParaRPr lang="en-US" altLang="zh-CN" dirty="0">
              <a:solidFill>
                <a:srgbClr val="FF0000"/>
              </a:solidFill>
            </a:endParaRPr>
          </a:p>
          <a:p>
            <a:pPr lvl="1"/>
            <a:r>
              <a:rPr lang="en-US" altLang="zh-CN" dirty="0"/>
              <a:t>Export</a:t>
            </a:r>
            <a:r>
              <a:rPr lang="zh-CN" altLang="en-US" dirty="0"/>
              <a:t>函数地址数组</a:t>
            </a:r>
            <a:endParaRPr lang="en-US" altLang="zh-CN" dirty="0"/>
          </a:p>
          <a:p>
            <a:r>
              <a:rPr lang="en-US" altLang="zh-CN" dirty="0" err="1">
                <a:solidFill>
                  <a:srgbClr val="FF0000"/>
                </a:solidFill>
              </a:rPr>
              <a:t>AddressOfNames</a:t>
            </a:r>
            <a:endParaRPr lang="en-US" altLang="zh-CN" dirty="0">
              <a:solidFill>
                <a:srgbClr val="FF0000"/>
              </a:solidFill>
            </a:endParaRPr>
          </a:p>
          <a:p>
            <a:pPr lvl="1"/>
            <a:r>
              <a:rPr lang="zh-CN" altLang="en-US" dirty="0"/>
              <a:t>函数名称地址数组</a:t>
            </a:r>
            <a:endParaRPr lang="en-US" altLang="zh-CN" dirty="0"/>
          </a:p>
          <a:p>
            <a:r>
              <a:rPr lang="en-US" altLang="zh-CN" dirty="0" err="1">
                <a:solidFill>
                  <a:srgbClr val="FF0000"/>
                </a:solidFill>
              </a:rPr>
              <a:t>AddressOfNameOrdinals</a:t>
            </a:r>
            <a:endParaRPr lang="en-US" altLang="zh-CN" dirty="0">
              <a:solidFill>
                <a:srgbClr val="FF0000"/>
              </a:solidFill>
            </a:endParaRPr>
          </a:p>
          <a:p>
            <a:pPr lvl="1"/>
            <a:r>
              <a:rPr lang="en-US" altLang="zh-CN" dirty="0"/>
              <a:t>Ordinal</a:t>
            </a:r>
            <a:r>
              <a:rPr lang="zh-CN" altLang="en-US" dirty="0"/>
              <a:t>地址数组</a:t>
            </a: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54238651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FA30DA-B170-49BC-B111-9870D41E42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导出表</a:t>
            </a:r>
          </a:p>
        </p:txBody>
      </p:sp>
      <p:pic>
        <p:nvPicPr>
          <p:cNvPr id="8" name="内容占位符 7">
            <a:extLst>
              <a:ext uri="{FF2B5EF4-FFF2-40B4-BE49-F238E27FC236}">
                <a16:creationId xmlns:a16="http://schemas.microsoft.com/office/drawing/2014/main" id="{9DDC45DF-7F2B-4CCF-99DB-03FDA3EE7F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25211" y="2414954"/>
            <a:ext cx="7186284" cy="3431748"/>
          </a:xfrm>
          <a:ln>
            <a:solidFill>
              <a:srgbClr val="7030A0"/>
            </a:solidFill>
          </a:ln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82AB4435-AFD2-4173-9D3F-37B88FE2FD80}"/>
              </a:ext>
            </a:extLst>
          </p:cNvPr>
          <p:cNvSpPr/>
          <p:nvPr/>
        </p:nvSpPr>
        <p:spPr>
          <a:xfrm>
            <a:off x="2227385" y="3929972"/>
            <a:ext cx="2353130" cy="109278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6041BA1-311B-4B3E-8790-A2B7BCF2516A}"/>
              </a:ext>
            </a:extLst>
          </p:cNvPr>
          <p:cNvSpPr/>
          <p:nvPr/>
        </p:nvSpPr>
        <p:spPr>
          <a:xfrm>
            <a:off x="5037014" y="4387418"/>
            <a:ext cx="3966437" cy="127067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1032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BFD887-AB0D-40B9-A658-CCB9DDA3D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 err="1"/>
              <a:t>GetProcAddress</a:t>
            </a:r>
            <a:r>
              <a:rPr lang="en-US" altLang="zh-CN" dirty="0"/>
              <a:t>()</a:t>
            </a:r>
            <a:r>
              <a:rPr lang="zh-CN" altLang="en-US" dirty="0"/>
              <a:t>操作原理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4C669BE-B7A1-4C0E-8340-B0959E1010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从库中获得函数地址的</a:t>
            </a:r>
            <a:r>
              <a:rPr lang="en-US" altLang="zh-CN" dirty="0"/>
              <a:t>API</a:t>
            </a:r>
            <a:r>
              <a:rPr lang="zh-CN" altLang="en-US" dirty="0"/>
              <a:t>为</a:t>
            </a:r>
            <a:r>
              <a:rPr lang="en-US" altLang="zh-CN" dirty="0" err="1"/>
              <a:t>GetProcAddress</a:t>
            </a:r>
            <a:r>
              <a:rPr lang="en-US" altLang="zh-CN" dirty="0"/>
              <a:t>()</a:t>
            </a:r>
            <a:r>
              <a:rPr lang="zh-CN" altLang="en-US" dirty="0"/>
              <a:t>函数</a:t>
            </a:r>
            <a:endParaRPr lang="en-US" altLang="zh-CN" dirty="0"/>
          </a:p>
          <a:p>
            <a:pPr lvl="1"/>
            <a:r>
              <a:rPr lang="zh-CN" altLang="en-US" dirty="0"/>
              <a:t>如何通过</a:t>
            </a:r>
            <a:r>
              <a:rPr lang="en-US" altLang="zh-CN" dirty="0">
                <a:solidFill>
                  <a:srgbClr val="FF0000"/>
                </a:solidFill>
              </a:rPr>
              <a:t>EAT</a:t>
            </a:r>
            <a:r>
              <a:rPr lang="zh-CN" altLang="en-US" dirty="0"/>
              <a:t>获得函数地址？</a:t>
            </a:r>
          </a:p>
        </p:txBody>
      </p:sp>
    </p:spTree>
    <p:extLst>
      <p:ext uri="{BB962C8B-B14F-4D97-AF65-F5344CB8AC3E}">
        <p14:creationId xmlns:p14="http://schemas.microsoft.com/office/powerpoint/2010/main" val="3175390281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BFD887-AB0D-40B9-A658-CCB9DDA3D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 err="1"/>
              <a:t>GetProcAddress</a:t>
            </a:r>
            <a:r>
              <a:rPr lang="en-US" altLang="zh-CN" dirty="0"/>
              <a:t>()</a:t>
            </a:r>
            <a:r>
              <a:rPr lang="zh-CN" altLang="en-US" dirty="0"/>
              <a:t>操作原理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4C669BE-B7A1-4C0E-8340-B0959E1010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79962"/>
            <a:ext cx="10515600" cy="4351338"/>
          </a:xfrm>
        </p:spPr>
        <p:txBody>
          <a:bodyPr/>
          <a:lstStyle/>
          <a:p>
            <a:r>
              <a:rPr lang="en-US" altLang="zh-CN" dirty="0"/>
              <a:t>1. </a:t>
            </a:r>
            <a:r>
              <a:rPr lang="en-US" altLang="zh-CN" dirty="0" err="1">
                <a:solidFill>
                  <a:srgbClr val="FF0000"/>
                </a:solidFill>
              </a:rPr>
              <a:t>AddressOfName</a:t>
            </a:r>
            <a:r>
              <a:rPr lang="zh-CN" altLang="en-US" dirty="0"/>
              <a:t>定位“函数名称数组”</a:t>
            </a:r>
            <a:endParaRPr lang="en-US" altLang="zh-CN" dirty="0"/>
          </a:p>
          <a:p>
            <a:r>
              <a:rPr lang="en-US" altLang="zh-CN" dirty="0"/>
              <a:t>2. </a:t>
            </a:r>
            <a:r>
              <a:rPr lang="zh-CN" altLang="en-US" dirty="0"/>
              <a:t>在“</a:t>
            </a:r>
            <a:r>
              <a:rPr lang="zh-CN" altLang="en-US" dirty="0">
                <a:solidFill>
                  <a:srgbClr val="0070C0"/>
                </a:solidFill>
              </a:rPr>
              <a:t>函数名称数组</a:t>
            </a:r>
            <a:r>
              <a:rPr lang="zh-CN" altLang="en-US" dirty="0"/>
              <a:t>”中，通过比较字符串（</a:t>
            </a:r>
            <a:r>
              <a:rPr lang="en-US" altLang="zh-CN" dirty="0" err="1"/>
              <a:t>strcmp</a:t>
            </a:r>
            <a:r>
              <a:rPr lang="zh-CN" altLang="en-US" dirty="0"/>
              <a:t>），查找指定的函数名称</a:t>
            </a:r>
            <a:endParaRPr lang="en-US" altLang="zh-CN" dirty="0"/>
          </a:p>
          <a:p>
            <a:pPr lvl="1"/>
            <a:r>
              <a:rPr lang="zh-CN" altLang="en-US" dirty="0"/>
              <a:t>此时的数组索引称为</a:t>
            </a:r>
            <a:r>
              <a:rPr lang="en-US" altLang="zh-CN" dirty="0" err="1">
                <a:solidFill>
                  <a:srgbClr val="FF0000"/>
                </a:solidFill>
              </a:rPr>
              <a:t>name_index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/>
              <a:t>3. </a:t>
            </a:r>
            <a:r>
              <a:rPr lang="zh-CN" altLang="en-US" dirty="0"/>
              <a:t>利用</a:t>
            </a:r>
            <a:r>
              <a:rPr lang="en-US" altLang="zh-CN" dirty="0" err="1"/>
              <a:t>AddressOfNameOridinals</a:t>
            </a:r>
            <a:r>
              <a:rPr lang="zh-CN" altLang="en-US" dirty="0"/>
              <a:t>成员，定位</a:t>
            </a:r>
            <a:r>
              <a:rPr lang="en-US" altLang="zh-CN" dirty="0">
                <a:solidFill>
                  <a:srgbClr val="0070C0"/>
                </a:solidFill>
              </a:rPr>
              <a:t>ordinal</a:t>
            </a:r>
            <a:r>
              <a:rPr lang="zh-CN" altLang="en-US" dirty="0">
                <a:solidFill>
                  <a:srgbClr val="0070C0"/>
                </a:solidFill>
              </a:rPr>
              <a:t>数组</a:t>
            </a:r>
          </a:p>
        </p:txBody>
      </p:sp>
    </p:spTree>
    <p:extLst>
      <p:ext uri="{BB962C8B-B14F-4D97-AF65-F5344CB8AC3E}">
        <p14:creationId xmlns:p14="http://schemas.microsoft.com/office/powerpoint/2010/main" val="3744517392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BFD887-AB0D-40B9-A658-CCB9DDA3D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 err="1"/>
              <a:t>GetProcAddress</a:t>
            </a:r>
            <a:r>
              <a:rPr lang="en-US" altLang="zh-CN" dirty="0"/>
              <a:t>()</a:t>
            </a:r>
            <a:r>
              <a:rPr lang="zh-CN" altLang="en-US" dirty="0"/>
              <a:t>操作原理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4C669BE-B7A1-4C0E-8340-B0959E1010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35189" y="1659201"/>
            <a:ext cx="7940675" cy="4092575"/>
          </a:xfrm>
        </p:spPr>
        <p:txBody>
          <a:bodyPr>
            <a:normAutofit lnSpcReduction="10000"/>
          </a:bodyPr>
          <a:lstStyle/>
          <a:p>
            <a:r>
              <a:rPr lang="en-US" altLang="zh-CN" dirty="0"/>
              <a:t>4. </a:t>
            </a:r>
            <a:r>
              <a:rPr lang="zh-CN" altLang="en-US" dirty="0"/>
              <a:t>在</a:t>
            </a:r>
            <a:r>
              <a:rPr lang="en-US" altLang="zh-CN" dirty="0">
                <a:solidFill>
                  <a:srgbClr val="0070C0"/>
                </a:solidFill>
              </a:rPr>
              <a:t>ordinal</a:t>
            </a:r>
            <a:r>
              <a:rPr lang="zh-CN" altLang="en-US" dirty="0">
                <a:solidFill>
                  <a:srgbClr val="0070C0"/>
                </a:solidFill>
              </a:rPr>
              <a:t>数组</a:t>
            </a:r>
            <a:r>
              <a:rPr lang="zh-CN" altLang="en-US" dirty="0"/>
              <a:t>中，通过</a:t>
            </a:r>
            <a:r>
              <a:rPr lang="en-US" altLang="zh-CN" dirty="0" err="1"/>
              <a:t>name_index</a:t>
            </a:r>
            <a:r>
              <a:rPr lang="zh-CN" altLang="en-US" dirty="0"/>
              <a:t>查找相应的</a:t>
            </a:r>
            <a:r>
              <a:rPr lang="en-US" altLang="zh-CN" dirty="0">
                <a:solidFill>
                  <a:srgbClr val="FF0000"/>
                </a:solidFill>
              </a:rPr>
              <a:t>ordinal</a:t>
            </a:r>
            <a:r>
              <a:rPr lang="zh-CN" altLang="en-US" dirty="0"/>
              <a:t>值</a:t>
            </a:r>
            <a:endParaRPr lang="en-US" altLang="zh-CN" dirty="0"/>
          </a:p>
          <a:p>
            <a:r>
              <a:rPr lang="en-US" altLang="zh-CN" dirty="0"/>
              <a:t>5. </a:t>
            </a:r>
            <a:r>
              <a:rPr lang="en-US" altLang="zh-CN" dirty="0" err="1"/>
              <a:t>AddressOfFunctions</a:t>
            </a:r>
            <a:r>
              <a:rPr lang="zh-CN" altLang="en-US" dirty="0"/>
              <a:t>，定位“</a:t>
            </a:r>
            <a:r>
              <a:rPr lang="zh-CN" altLang="en-US" dirty="0">
                <a:solidFill>
                  <a:srgbClr val="0070C0"/>
                </a:solidFill>
              </a:rPr>
              <a:t>函数地址数组</a:t>
            </a:r>
            <a:r>
              <a:rPr lang="zh-CN" altLang="en-US" dirty="0"/>
              <a:t>”（</a:t>
            </a:r>
            <a:r>
              <a:rPr lang="en-US" altLang="zh-CN" dirty="0"/>
              <a:t>EAT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zh-CN" altLang="en-US" dirty="0"/>
              <a:t>在“函数地址数组”中，利用</a:t>
            </a:r>
            <a:r>
              <a:rPr lang="en-US" altLang="zh-CN" dirty="0"/>
              <a:t>ordinal</a:t>
            </a:r>
            <a:r>
              <a:rPr lang="zh-CN" altLang="en-US" dirty="0"/>
              <a:t>值作为索引，获得指定函数的起始地址</a:t>
            </a:r>
          </a:p>
        </p:txBody>
      </p:sp>
    </p:spTree>
    <p:extLst>
      <p:ext uri="{BB962C8B-B14F-4D97-AF65-F5344CB8AC3E}">
        <p14:creationId xmlns:p14="http://schemas.microsoft.com/office/powerpoint/2010/main" val="2242178062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73125C-7260-4165-8F08-40DA46E2C5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导出表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AFB7E63-9891-4CBA-82F9-4A959C097F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如果函数是以</a:t>
            </a:r>
            <a:r>
              <a:rPr lang="zh-CN" altLang="en-US" dirty="0">
                <a:solidFill>
                  <a:srgbClr val="FF0000"/>
                </a:solidFill>
              </a:rPr>
              <a:t>序号</a:t>
            </a:r>
            <a:r>
              <a:rPr lang="zh-CN" altLang="en-US" dirty="0"/>
              <a:t>导出的，那么查找的时候直接用序号减去</a:t>
            </a:r>
            <a:r>
              <a:rPr lang="en-US" altLang="zh-CN" dirty="0"/>
              <a:t>Base</a:t>
            </a:r>
            <a:r>
              <a:rPr lang="zh-CN" altLang="en-US" dirty="0"/>
              <a:t>，得到的值就是函数在</a:t>
            </a:r>
            <a:r>
              <a:rPr lang="en-US" altLang="zh-CN" dirty="0" err="1">
                <a:solidFill>
                  <a:srgbClr val="FF0000"/>
                </a:solidFill>
              </a:rPr>
              <a:t>AddressOfFunctions</a:t>
            </a:r>
            <a:r>
              <a:rPr lang="zh-CN" altLang="en-US" dirty="0"/>
              <a:t>中的下标</a:t>
            </a:r>
            <a:endParaRPr lang="en-US" altLang="zh-CN" dirty="0"/>
          </a:p>
          <a:p>
            <a:pPr lvl="1"/>
            <a:r>
              <a:rPr lang="en-US" altLang="zh-CN" b="1" i="0" dirty="0">
                <a:solidFill>
                  <a:schemeClr val="accent1"/>
                </a:solidFill>
                <a:effectLst/>
              </a:rPr>
              <a:t>Base</a:t>
            </a:r>
            <a:r>
              <a:rPr lang="en-US" altLang="zh-CN" b="0" i="0" dirty="0">
                <a:solidFill>
                  <a:schemeClr val="accent1"/>
                </a:solidFill>
                <a:effectLst/>
              </a:rPr>
              <a:t>: the number used to subtract from the ordinal number to get the index into the </a:t>
            </a:r>
            <a:r>
              <a:rPr lang="en-US" altLang="zh-CN" b="0" i="0" dirty="0" err="1">
                <a:solidFill>
                  <a:schemeClr val="accent1"/>
                </a:solidFill>
                <a:effectLst/>
              </a:rPr>
              <a:t>AddressOfFunctions</a:t>
            </a:r>
            <a:r>
              <a:rPr lang="en-US" altLang="zh-CN" b="0" i="0" dirty="0">
                <a:solidFill>
                  <a:schemeClr val="accent1"/>
                </a:solidFill>
                <a:effectLst/>
              </a:rPr>
              <a:t> array.</a:t>
            </a:r>
          </a:p>
          <a:p>
            <a:pPr lvl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85287379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D4D3C39B-F719-49E3-A459-2E96190D9C1B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2438400" y="635001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IMAGE_EXPORT_DIRECTORY</a:t>
            </a:r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结构的哪个成员指向</a:t>
            </a:r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DLL</a:t>
            </a:r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的“</a:t>
            </a:r>
            <a:r>
              <a:rPr lang="zh-CN" altLang="en-US" sz="2800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函数名称数组”？</a:t>
            </a:r>
            <a:endParaRPr lang="zh-CN" altLang="en-US" sz="26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20B90D1-32A2-43A4-B4D3-B3E543F477A4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3352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AddressOfNames</a:t>
            </a:r>
            <a:endParaRPr lang="zh-CN" altLang="en-US" sz="26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5CD8081-1E7F-4A8C-80D5-A0B457A2479D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3352800" y="36433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AddressOfFunctions</a:t>
            </a:r>
            <a:endParaRPr lang="zh-CN" altLang="en-US" sz="26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0AF1477-509D-4F46-B840-801F1E9EF7FC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3352800" y="45005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AddressOfNameOrdinals</a:t>
            </a:r>
            <a:endParaRPr lang="zh-CN" altLang="en-US" sz="26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AFCBE96-014C-4629-8928-B19AFDDBB364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3352800" y="53578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NumberOfNames</a:t>
            </a:r>
            <a:endParaRPr lang="zh-CN" altLang="en-US" sz="26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34B06EF8-C5C6-4957-AA93-604558A3093A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2638425" y="285035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3A8D8977-7F6F-4886-99AD-82858840F070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2638425" y="37076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5C0F61F2-23B2-470B-A096-4587BC0C1AC9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2638425" y="45648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C9391E5F-2DA8-4F3C-94A6-4F8DDB0029B6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2638425" y="54221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CD8E7DC0-39F7-4205-B132-A0ECDE724F27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7696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AE666071-A3CB-428B-B22B-76BFF99309A2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-1524000" y="0"/>
            <a:chExt cx="9144000" cy="635000"/>
          </a:xfrm>
        </p:grpSpPr>
        <p:sp>
          <p:nvSpPr>
            <p:cNvPr id="14" name="TitleBackground">
              <a:extLst>
                <a:ext uri="{FF2B5EF4-FFF2-40B4-BE49-F238E27FC236}">
                  <a16:creationId xmlns:a16="http://schemas.microsoft.com/office/drawing/2014/main" id="{DF101BD6-4FE3-4FAC-83FF-16F5EE610DF5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-152400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5" name="ColorBlock">
              <a:extLst>
                <a:ext uri="{FF2B5EF4-FFF2-40B4-BE49-F238E27FC236}">
                  <a16:creationId xmlns:a16="http://schemas.microsoft.com/office/drawing/2014/main" id="{33F0E064-9B5A-4F0F-BE8E-09E4A7CBCFA0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-152400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6" name="TypeText">
              <a:extLst>
                <a:ext uri="{FF2B5EF4-FFF2-40B4-BE49-F238E27FC236}">
                  <a16:creationId xmlns:a16="http://schemas.microsoft.com/office/drawing/2014/main" id="{4F1CFE75-E6BC-4CB0-AED6-F4E20CBE80D0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-127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7" name="TipText">
              <a:extLst>
                <a:ext uri="{FF2B5EF4-FFF2-40B4-BE49-F238E27FC236}">
                  <a16:creationId xmlns:a16="http://schemas.microsoft.com/office/drawing/2014/main" id="{E1CD4D64-EFBA-4A5A-85BF-55ADC0CE2BD4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-13970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1C663B46-5E99-4A87-8D47-A823BA038257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063040395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D4D3C39B-F719-49E3-A459-2E96190D9C1B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2438400" y="635001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IMAGE_EXPORT_DIRECTORY</a:t>
            </a:r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结构的哪个成员指向</a:t>
            </a:r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DLL</a:t>
            </a:r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的“</a:t>
            </a:r>
            <a:r>
              <a:rPr lang="zh-CN" altLang="en-US" sz="2800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函数地址数组”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EAT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）？</a:t>
            </a:r>
            <a:endParaRPr lang="zh-CN" altLang="en-US" sz="26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20B90D1-32A2-43A4-B4D3-B3E543F477A4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3352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AddressOfNames</a:t>
            </a:r>
            <a:endParaRPr lang="zh-CN" altLang="en-US" sz="26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5CD8081-1E7F-4A8C-80D5-A0B457A2479D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3352800" y="36433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AddressOfFunctions</a:t>
            </a:r>
            <a:endParaRPr lang="zh-CN" altLang="en-US" sz="26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0AF1477-509D-4F46-B840-801F1E9EF7FC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3352800" y="45005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AddressOfNameOrdinals</a:t>
            </a:r>
            <a:endParaRPr lang="zh-CN" altLang="en-US" sz="26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AFCBE96-014C-4629-8928-B19AFDDBB364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3352800" y="53578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NumberOfNames</a:t>
            </a:r>
            <a:endParaRPr lang="zh-CN" altLang="en-US" sz="26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34B06EF8-C5C6-4957-AA93-604558A3093A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2638425" y="28503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3A8D8977-7F6F-4886-99AD-82858840F070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2638425" y="370760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5C0F61F2-23B2-470B-A096-4587BC0C1AC9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2638425" y="45648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C9391E5F-2DA8-4F3C-94A6-4F8DDB0029B6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2638425" y="54221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CD8E7DC0-39F7-4205-B132-A0ECDE724F27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7696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AE666071-A3CB-428B-B22B-76BFF99309A2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-1524000" y="0"/>
            <a:chExt cx="9144000" cy="635000"/>
          </a:xfrm>
        </p:grpSpPr>
        <p:sp>
          <p:nvSpPr>
            <p:cNvPr id="14" name="TitleBackground">
              <a:extLst>
                <a:ext uri="{FF2B5EF4-FFF2-40B4-BE49-F238E27FC236}">
                  <a16:creationId xmlns:a16="http://schemas.microsoft.com/office/drawing/2014/main" id="{DF101BD6-4FE3-4FAC-83FF-16F5EE610DF5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-152400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5" name="ColorBlock">
              <a:extLst>
                <a:ext uri="{FF2B5EF4-FFF2-40B4-BE49-F238E27FC236}">
                  <a16:creationId xmlns:a16="http://schemas.microsoft.com/office/drawing/2014/main" id="{33F0E064-9B5A-4F0F-BE8E-09E4A7CBCFA0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-152400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6" name="TypeText">
              <a:extLst>
                <a:ext uri="{FF2B5EF4-FFF2-40B4-BE49-F238E27FC236}">
                  <a16:creationId xmlns:a16="http://schemas.microsoft.com/office/drawing/2014/main" id="{4F1CFE75-E6BC-4CB0-AED6-F4E20CBE80D0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-127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7" name="TipText">
              <a:extLst>
                <a:ext uri="{FF2B5EF4-FFF2-40B4-BE49-F238E27FC236}">
                  <a16:creationId xmlns:a16="http://schemas.microsoft.com/office/drawing/2014/main" id="{E1CD4D64-EFBA-4A5A-85BF-55ADC0CE2BD4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-13970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1C663B46-5E99-4A87-8D47-A823BA038257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55528618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C8FEEAC0-1E2A-48D7-9DE1-4F31C5940435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736956" y="1078714"/>
            <a:ext cx="8718087" cy="4455474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给定库函数的函数名，定位该函数的起始地址的过程中，访问</a:t>
            </a:r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IMAGE_EXPORT_DIRECTORY</a:t>
            </a:r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结构成员的顺序是</a:t>
            </a:r>
            <a:r>
              <a:rPr lang="zh-CN" altLang="en-US" sz="2600" dirty="0">
                <a:solidFill>
                  <a:srgbClr val="639EF4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 </a:t>
            </a:r>
            <a:r>
              <a:rPr lang="en-US" altLang="zh-CN" sz="2600" dirty="0">
                <a:solidFill>
                  <a:srgbClr val="639EF4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[</a:t>
            </a:r>
            <a:r>
              <a:rPr lang="zh-CN" altLang="en-US" sz="2600" dirty="0">
                <a:solidFill>
                  <a:srgbClr val="639EF4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填空</a:t>
            </a:r>
            <a:r>
              <a:rPr lang="en-US" altLang="zh-CN" sz="2600" dirty="0">
                <a:solidFill>
                  <a:srgbClr val="639EF4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1]</a:t>
            </a:r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 </a:t>
            </a:r>
            <a:r>
              <a:rPr lang="zh-CN" altLang="en-US" sz="2600" dirty="0">
                <a:solidFill>
                  <a:srgbClr val="639EF4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 </a:t>
            </a:r>
            <a:r>
              <a:rPr lang="en-US" altLang="zh-CN" sz="2600" dirty="0">
                <a:solidFill>
                  <a:srgbClr val="639EF4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[</a:t>
            </a:r>
            <a:r>
              <a:rPr lang="zh-CN" altLang="en-US" sz="2600" dirty="0">
                <a:solidFill>
                  <a:srgbClr val="639EF4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填空</a:t>
            </a:r>
            <a:r>
              <a:rPr lang="en-US" altLang="zh-CN" sz="2600" dirty="0">
                <a:solidFill>
                  <a:srgbClr val="639EF4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2]</a:t>
            </a:r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 </a:t>
            </a:r>
            <a:r>
              <a:rPr lang="zh-CN" altLang="en-US" sz="2600" dirty="0">
                <a:solidFill>
                  <a:srgbClr val="639EF4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 </a:t>
            </a:r>
            <a:r>
              <a:rPr lang="en-US" altLang="zh-CN" sz="2600" dirty="0">
                <a:solidFill>
                  <a:srgbClr val="639EF4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[</a:t>
            </a:r>
            <a:r>
              <a:rPr lang="zh-CN" altLang="en-US" sz="2600" dirty="0">
                <a:solidFill>
                  <a:srgbClr val="639EF4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填空</a:t>
            </a:r>
            <a:r>
              <a:rPr lang="en-US" altLang="zh-CN" sz="2600" dirty="0">
                <a:solidFill>
                  <a:srgbClr val="639EF4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3]</a:t>
            </a:r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 (</a:t>
            </a:r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直接填写</a:t>
            </a:r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A</a:t>
            </a:r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、</a:t>
            </a:r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B</a:t>
            </a:r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、</a:t>
            </a:r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C)</a:t>
            </a:r>
          </a:p>
          <a:p>
            <a:pPr marL="514350" indent="-514350">
              <a:lnSpc>
                <a:spcPct val="150000"/>
              </a:lnSpc>
              <a:buAutoNum type="alphaUcPeriod"/>
            </a:pPr>
            <a:r>
              <a:rPr lang="en-US" altLang="zh-CN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AddressOfFunctions</a:t>
            </a:r>
            <a:endParaRPr lang="en-US" altLang="zh-CN" sz="26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  <a:p>
            <a:pPr marL="514350" indent="-514350">
              <a:lnSpc>
                <a:spcPct val="150000"/>
              </a:lnSpc>
              <a:buAutoNum type="alphaUcPeriod"/>
            </a:pPr>
            <a:r>
              <a:rPr lang="en-US" altLang="zh-CN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AddressOfNames</a:t>
            </a:r>
            <a:endParaRPr lang="en-US" altLang="zh-CN" sz="26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  <a:p>
            <a:pPr marL="514350" indent="-514350">
              <a:lnSpc>
                <a:spcPct val="150000"/>
              </a:lnSpc>
              <a:buAutoNum type="alphaUcPeriod"/>
            </a:pPr>
            <a:r>
              <a:rPr lang="en-US" altLang="zh-CN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AddressOfOrdinals</a:t>
            </a:r>
            <a:endParaRPr lang="zh-CN" altLang="en-US" sz="26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036703FA-42C5-42D2-9235-B9E0921B1732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7696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作答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F5A250B-DC96-4953-8B53-34086B570C7A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1524000" y="5849303"/>
            <a:ext cx="9144000" cy="365760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rtlCol="0" anchor="ctr" anchorCtr="1">
            <a:noAutofit/>
          </a:bodyPr>
          <a:lstStyle/>
          <a:p>
            <a:r>
              <a:rPr lang="zh-CN" altLang="en-US" sz="1200">
                <a:solidFill>
                  <a:srgbClr val="F84F4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正常使用填空题需</a:t>
            </a:r>
            <a:r>
              <a:rPr lang="en-US" altLang="zh-CN" sz="1200">
                <a:solidFill>
                  <a:srgbClr val="F84F4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3.0</a:t>
            </a:r>
            <a:r>
              <a:rPr lang="zh-CN" altLang="en-US" sz="1200">
                <a:solidFill>
                  <a:srgbClr val="F84F4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以上版本雨课堂</a:t>
            </a: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38478D70-8335-4E34-BDD3-F6C0AF62BDA2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0" y="0"/>
            <a:ext cx="9144000" cy="635000"/>
            <a:chOff x="-1524000" y="0"/>
            <a:chExt cx="9144000" cy="635000"/>
          </a:xfrm>
        </p:grpSpPr>
        <p:sp>
          <p:nvSpPr>
            <p:cNvPr id="6" name="TitleBackground">
              <a:extLst>
                <a:ext uri="{FF2B5EF4-FFF2-40B4-BE49-F238E27FC236}">
                  <a16:creationId xmlns:a16="http://schemas.microsoft.com/office/drawing/2014/main" id="{D5A1BA72-C8C7-469B-B9D5-5C3DDCE9B5C1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-152400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7" name="ColorBlock">
              <a:extLst>
                <a:ext uri="{FF2B5EF4-FFF2-40B4-BE49-F238E27FC236}">
                  <a16:creationId xmlns:a16="http://schemas.microsoft.com/office/drawing/2014/main" id="{8E6F7F9B-F272-4AE5-95CD-4952BA557E57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-152400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8" name="TypeText">
              <a:extLst>
                <a:ext uri="{FF2B5EF4-FFF2-40B4-BE49-F238E27FC236}">
                  <a16:creationId xmlns:a16="http://schemas.microsoft.com/office/drawing/2014/main" id="{787BA43B-80C8-4A66-84F5-5CB6B5F5137E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-127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填空题</a:t>
              </a:r>
            </a:p>
          </p:txBody>
        </p:sp>
        <p:sp>
          <p:nvSpPr>
            <p:cNvPr id="9" name="TipText">
              <a:extLst>
                <a:ext uri="{FF2B5EF4-FFF2-40B4-BE49-F238E27FC236}">
                  <a16:creationId xmlns:a16="http://schemas.microsoft.com/office/drawing/2014/main" id="{952F23F9-F3CB-434B-873D-BDF15EB5DC6D}"/>
                </a:ext>
              </a:extLst>
            </p:cNvPr>
            <p:cNvSpPr txBox="1"/>
            <p:nvPr>
              <p:custDataLst>
                <p:tags r:id="rId10"/>
              </p:custDataLst>
            </p:nvPr>
          </p:nvSpPr>
          <p:spPr>
            <a:xfrm>
              <a:off x="-13970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30</a:t>
              </a:r>
              <a:r>
                <a:rPr lang="zh-CN" altLang="en-US" sz="2000">
                  <a:solidFill>
                    <a:srgbClr val="80808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A7733AFD-A8E0-42D0-8991-5C8C413C11D1}"/>
              </a:ext>
            </a:extLst>
          </p:cNvPr>
          <p:cNvPicPr>
            <a:picLocks/>
          </p:cNvPicPr>
          <p:nvPr>
            <p:custDataLst>
              <p:tags r:id="rId6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398732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3969D0-D159-47F9-957C-49963E18CC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本章知识点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CB8B89F-D60A-42C3-84D9-4CFC30452A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9585" y="1825625"/>
            <a:ext cx="5644487" cy="4351338"/>
          </a:xfrm>
        </p:spPr>
        <p:txBody>
          <a:bodyPr>
            <a:normAutofit fontScale="850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zh-CN" altLang="en-US" dirty="0">
                <a:latin typeface="宋体" panose="02010600030101010101" pitchFamily="2" charset="-122"/>
              </a:rPr>
              <a:t>可执行文件</a:t>
            </a:r>
            <a:endParaRPr lang="en-US" altLang="zh-CN" dirty="0">
              <a:latin typeface="宋体" panose="02010600030101010101" pitchFamily="2" charset="-122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altLang="zh-CN" dirty="0">
                <a:latin typeface="宋体" panose="02010600030101010101" pitchFamily="2" charset="-122"/>
              </a:rPr>
              <a:t>PE</a:t>
            </a:r>
            <a:r>
              <a:rPr lang="zh-CN" altLang="en-US" dirty="0">
                <a:latin typeface="宋体" panose="02010600030101010101" pitchFamily="2" charset="-122"/>
              </a:rPr>
              <a:t>文件基本概念</a:t>
            </a:r>
            <a:endParaRPr lang="en-US" altLang="zh-CN" dirty="0">
              <a:latin typeface="宋体" panose="02010600030101010101" pitchFamily="2" charset="-122"/>
            </a:endParaRPr>
          </a:p>
          <a:p>
            <a:pPr lvl="1"/>
            <a:r>
              <a:rPr lang="zh-CN" altLang="en-US" dirty="0">
                <a:solidFill>
                  <a:srgbClr val="FF0000"/>
                </a:solidFill>
                <a:latin typeface="宋体" panose="02010600030101010101" pitchFamily="2" charset="-122"/>
              </a:rPr>
              <a:t>难点：虚拟地址空间、相对虚拟地址</a:t>
            </a:r>
            <a:endParaRPr lang="en-US" altLang="zh-CN" dirty="0">
              <a:solidFill>
                <a:srgbClr val="FF0000"/>
              </a:solidFill>
              <a:latin typeface="宋体" panose="02010600030101010101" pitchFamily="2" charset="-122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altLang="zh-CN" dirty="0">
                <a:latin typeface="宋体" panose="02010600030101010101" pitchFamily="2" charset="-122"/>
              </a:rPr>
              <a:t>DOS</a:t>
            </a:r>
            <a:r>
              <a:rPr lang="zh-CN" altLang="en-US" dirty="0">
                <a:latin typeface="宋体" panose="02010600030101010101" pitchFamily="2" charset="-122"/>
              </a:rPr>
              <a:t>文件头</a:t>
            </a:r>
            <a:endParaRPr lang="en-US" altLang="zh-CN" dirty="0">
              <a:latin typeface="宋体" panose="02010600030101010101" pitchFamily="2" charset="-122"/>
            </a:endParaRPr>
          </a:p>
          <a:p>
            <a:pPr lvl="1"/>
            <a:r>
              <a:rPr lang="zh-CN" altLang="en-US" dirty="0">
                <a:solidFill>
                  <a:srgbClr val="FF0000"/>
                </a:solidFill>
                <a:latin typeface="宋体" panose="02010600030101010101" pitchFamily="2" charset="-122"/>
              </a:rPr>
              <a:t>重点：</a:t>
            </a:r>
            <a:r>
              <a:rPr lang="en-US" altLang="zh-CN" dirty="0">
                <a:solidFill>
                  <a:srgbClr val="FF0000"/>
                </a:solidFill>
                <a:latin typeface="宋体" panose="02010600030101010101" pitchFamily="2" charset="-122"/>
              </a:rPr>
              <a:t>MZ</a:t>
            </a:r>
            <a:r>
              <a:rPr lang="zh-CN" altLang="en-US" dirty="0">
                <a:solidFill>
                  <a:srgbClr val="FF0000"/>
                </a:solidFill>
                <a:latin typeface="宋体" panose="02010600030101010101" pitchFamily="2" charset="-122"/>
              </a:rPr>
              <a:t>头、定位</a:t>
            </a:r>
            <a:r>
              <a:rPr lang="en-US" altLang="zh-CN" dirty="0">
                <a:solidFill>
                  <a:srgbClr val="FF0000"/>
                </a:solidFill>
                <a:latin typeface="宋体" panose="02010600030101010101" pitchFamily="2" charset="-122"/>
              </a:rPr>
              <a:t>PE</a:t>
            </a:r>
            <a:r>
              <a:rPr lang="zh-CN" altLang="en-US" dirty="0">
                <a:solidFill>
                  <a:srgbClr val="FF0000"/>
                </a:solidFill>
                <a:latin typeface="宋体" panose="02010600030101010101" pitchFamily="2" charset="-122"/>
              </a:rPr>
              <a:t>头</a:t>
            </a:r>
            <a:endParaRPr lang="en-US" altLang="zh-CN" dirty="0">
              <a:solidFill>
                <a:srgbClr val="FF0000"/>
              </a:solidFill>
              <a:latin typeface="宋体" panose="02010600030101010101" pitchFamily="2" charset="-122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altLang="zh-CN" dirty="0">
                <a:latin typeface="宋体" panose="02010600030101010101" pitchFamily="2" charset="-122"/>
              </a:rPr>
              <a:t>PE</a:t>
            </a:r>
            <a:r>
              <a:rPr lang="zh-CN" altLang="en-US" dirty="0">
                <a:latin typeface="宋体" panose="02010600030101010101" pitchFamily="2" charset="-122"/>
              </a:rPr>
              <a:t>文件头</a:t>
            </a:r>
            <a:endParaRPr lang="en-US" altLang="zh-CN" dirty="0">
              <a:latin typeface="宋体" panose="02010600030101010101" pitchFamily="2" charset="-122"/>
            </a:endParaRPr>
          </a:p>
          <a:p>
            <a:pPr lvl="1"/>
            <a:r>
              <a:rPr lang="zh-CN" altLang="en-US" dirty="0">
                <a:solidFill>
                  <a:srgbClr val="FF0000"/>
                </a:solidFill>
                <a:latin typeface="宋体" panose="02010600030101010101" pitchFamily="2" charset="-122"/>
              </a:rPr>
              <a:t>重点：</a:t>
            </a:r>
            <a:r>
              <a:rPr lang="en-US" altLang="zh-CN" dirty="0" err="1">
                <a:solidFill>
                  <a:srgbClr val="FF0000"/>
                </a:solidFill>
                <a:latin typeface="宋体" panose="02010600030101010101" pitchFamily="2" charset="-122"/>
              </a:rPr>
              <a:t>AddressOfEntryPoint</a:t>
            </a:r>
            <a:r>
              <a:rPr lang="zh-CN" altLang="en-US" dirty="0">
                <a:solidFill>
                  <a:srgbClr val="FF0000"/>
                </a:solidFill>
                <a:latin typeface="宋体" panose="02010600030101010101" pitchFamily="2" charset="-122"/>
              </a:rPr>
              <a:t>、</a:t>
            </a:r>
            <a:r>
              <a:rPr lang="en-US" altLang="zh-CN" dirty="0" err="1">
                <a:solidFill>
                  <a:srgbClr val="FF0000"/>
                </a:solidFill>
                <a:latin typeface="宋体" panose="02010600030101010101" pitchFamily="2" charset="-122"/>
              </a:rPr>
              <a:t>ImageBase</a:t>
            </a:r>
            <a:r>
              <a:rPr lang="zh-CN" altLang="en-US" dirty="0">
                <a:solidFill>
                  <a:srgbClr val="FF0000"/>
                </a:solidFill>
                <a:latin typeface="宋体" panose="02010600030101010101" pitchFamily="2" charset="-122"/>
              </a:rPr>
              <a:t>、数据目录</a:t>
            </a:r>
            <a:endParaRPr lang="en-US" altLang="zh-CN" dirty="0">
              <a:solidFill>
                <a:srgbClr val="FF0000"/>
              </a:solidFill>
              <a:latin typeface="宋体" panose="02010600030101010101" pitchFamily="2" charset="-122"/>
            </a:endParaRPr>
          </a:p>
          <a:p>
            <a:pPr lvl="1"/>
            <a:endParaRPr lang="en-US" altLang="zh-CN" dirty="0">
              <a:latin typeface="宋体" panose="02010600030101010101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543E63B-68FB-02D8-13BB-70822027302D}"/>
              </a:ext>
            </a:extLst>
          </p:cNvPr>
          <p:cNvSpPr txBox="1"/>
          <p:nvPr/>
        </p:nvSpPr>
        <p:spPr>
          <a:xfrm>
            <a:off x="5964072" y="1825625"/>
            <a:ext cx="6093724" cy="39253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 defTabSz="914400">
              <a:lnSpc>
                <a:spcPct val="130000"/>
              </a:lnSpc>
              <a:spcBef>
                <a:spcPts val="1000"/>
              </a:spcBef>
              <a:buFont typeface="+mj-lt"/>
              <a:buAutoNum type="arabicPeriod" startAt="5"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节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685800" lvl="1" indent="-228600" defTabSz="914400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难点：文件偏移</a:t>
            </a:r>
            <a:r>
              <a:rPr lang="en-US" altLang="zh-CN" sz="20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RAW</a:t>
            </a:r>
            <a:r>
              <a:rPr lang="zh-CN" altLang="en-US" sz="20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到内存地址</a:t>
            </a:r>
            <a:r>
              <a:rPr lang="en-US" altLang="zh-CN" sz="20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RVA</a:t>
            </a:r>
            <a:r>
              <a:rPr lang="zh-CN" altLang="en-US" sz="20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的转换方法</a:t>
            </a:r>
            <a:endParaRPr lang="en-US" altLang="zh-CN" sz="2000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514350" indent="-514350" defTabSz="914400">
              <a:lnSpc>
                <a:spcPct val="130000"/>
              </a:lnSpc>
              <a:spcBef>
                <a:spcPts val="1000"/>
              </a:spcBef>
              <a:buFont typeface="+mj-lt"/>
              <a:buAutoNum type="arabicPeriod" startAt="5"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导入表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685800" lvl="1" indent="-228600" defTabSz="914400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难点：</a:t>
            </a:r>
            <a:r>
              <a:rPr lang="en-US" altLang="zh-CN" sz="20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INT</a:t>
            </a:r>
            <a:r>
              <a:rPr lang="zh-CN" altLang="en-US" sz="20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0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Import Name Table</a:t>
            </a:r>
            <a:r>
              <a:rPr lang="zh-CN" altLang="en-US" sz="20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）与</a:t>
            </a:r>
            <a:r>
              <a:rPr lang="en-US" altLang="zh-CN" sz="20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IAT</a:t>
            </a:r>
            <a:r>
              <a:rPr lang="zh-CN" altLang="en-US" sz="20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0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Import Address Table</a:t>
            </a:r>
            <a:r>
              <a:rPr lang="zh-CN" altLang="en-US" sz="20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endParaRPr lang="en-US" altLang="zh-CN" sz="2000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514350" indent="-514350" defTabSz="914400">
              <a:lnSpc>
                <a:spcPct val="130000"/>
              </a:lnSpc>
              <a:spcBef>
                <a:spcPts val="1000"/>
              </a:spcBef>
              <a:buFont typeface="+mj-lt"/>
              <a:buAutoNum type="arabicPeriod" startAt="5"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导出表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685800" lvl="1" indent="-228600" defTabSz="914400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难点：</a:t>
            </a:r>
            <a:r>
              <a:rPr lang="en-US" altLang="zh-CN" sz="2000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AddressOfNames</a:t>
            </a:r>
            <a:r>
              <a:rPr lang="en-US" altLang="zh-CN" sz="20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sz="2000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AddressOfNameOrdinals</a:t>
            </a:r>
            <a:r>
              <a:rPr lang="zh-CN" altLang="en-US" sz="20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000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AddressOfFunctions</a:t>
            </a:r>
            <a:endParaRPr lang="en-US" altLang="zh-CN" sz="2000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89228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882802"/>
            <a:ext cx="12192000" cy="1405305"/>
          </a:xfrm>
        </p:spPr>
        <p:txBody>
          <a:bodyPr>
            <a:normAutofit fontScale="900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4400" b="1" i="0" dirty="0">
                <a:solidFill>
                  <a:schemeClr val="tx1"/>
                </a:solidFill>
                <a:ea typeface="宋体" panose="02010600030101010101" pitchFamily="2" charset="-122"/>
              </a:rPr>
              <a:t>汇编语言与逆向技术</a:t>
            </a:r>
            <a:br>
              <a:rPr lang="en-US" i="0" dirty="0">
                <a:solidFill>
                  <a:schemeClr val="tx1"/>
                </a:solidFill>
                <a:ea typeface="宋体" panose="02010600030101010101" pitchFamily="2" charset="-122"/>
              </a:rPr>
            </a:br>
            <a:r>
              <a:rPr lang="zh-CN" altLang="en-US" sz="3600" b="1" dirty="0">
                <a:solidFill>
                  <a:srgbClr val="7030A0"/>
                </a:solidFill>
              </a:rPr>
              <a:t>第</a:t>
            </a:r>
            <a:r>
              <a:rPr lang="en-US" altLang="zh-CN" sz="3600" b="1">
                <a:solidFill>
                  <a:srgbClr val="7030A0"/>
                </a:solidFill>
              </a:rPr>
              <a:t>9</a:t>
            </a:r>
            <a:r>
              <a:rPr lang="zh-CN" altLang="en-US" sz="3600" b="1">
                <a:solidFill>
                  <a:srgbClr val="7030A0"/>
                </a:solidFill>
              </a:rPr>
              <a:t>章 </a:t>
            </a:r>
            <a:r>
              <a:rPr lang="en-US" altLang="zh-CN" sz="3600" b="1" dirty="0">
                <a:solidFill>
                  <a:srgbClr val="7030A0"/>
                </a:solidFill>
              </a:rPr>
              <a:t>PE</a:t>
            </a:r>
            <a:r>
              <a:rPr lang="zh-CN" altLang="en-US" sz="3600" b="1" dirty="0">
                <a:solidFill>
                  <a:srgbClr val="7030A0"/>
                </a:solidFill>
              </a:rPr>
              <a:t>文件结构</a:t>
            </a:r>
            <a:endParaRPr lang="en-US" sz="2800" b="1" dirty="0">
              <a:solidFill>
                <a:srgbClr val="7030A0"/>
              </a:solidFill>
              <a:ea typeface="宋体" panose="02010600030101010101" pitchFamily="2" charset="-122"/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 bwMode="auto">
          <a:xfrm>
            <a:off x="0" y="3626471"/>
            <a:ext cx="12192000" cy="13012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4300" b="1" i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defTabSz="914400"/>
            <a:r>
              <a:rPr lang="zh-CN" altLang="en-US" sz="3600" b="0" i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王志、李旭昇、过辰锴、邓琮弋</a:t>
            </a:r>
            <a:r>
              <a:rPr lang="en-US" altLang="zh-CN" sz="3600" b="0" i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</a:p>
          <a:p>
            <a:pPr algn="ctr" defTabSz="914400"/>
            <a:r>
              <a:rPr lang="en-US" altLang="zh-CN" sz="2400" b="0" i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zwang</a:t>
            </a:r>
            <a:r>
              <a:rPr lang="en-US" altLang="zh-CN" sz="2400" b="0" i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@nankai.edu.cn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 bwMode="auto">
          <a:xfrm>
            <a:off x="0" y="5179843"/>
            <a:ext cx="12192000" cy="16781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4300" b="1" i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defTabSz="914400">
              <a:lnSpc>
                <a:spcPct val="150000"/>
              </a:lnSpc>
            </a:pPr>
            <a:r>
              <a:rPr lang="zh-CN" altLang="en-US" sz="2400" i="0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南开大学 网络空间安全学院</a:t>
            </a:r>
            <a:endParaRPr lang="en-US" altLang="zh-CN" sz="2400" i="0" dirty="0">
              <a:solidFill>
                <a:srgbClr val="7030A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ctr" defTabSz="914400">
              <a:lnSpc>
                <a:spcPct val="150000"/>
              </a:lnSpc>
            </a:pPr>
            <a:r>
              <a:rPr lang="en-US" altLang="zh-CN" sz="2400" i="0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2025-2026</a:t>
            </a:r>
            <a:r>
              <a:rPr lang="zh-CN" altLang="en-US" sz="2400" i="0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学年</a:t>
            </a:r>
            <a:endParaRPr lang="en-US" altLang="zh-CN" sz="2400" i="0" dirty="0">
              <a:solidFill>
                <a:srgbClr val="7030A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8414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SCORE" val="10.0"/>
  <p:tag name="PROBLEMHASREMARK" val="True"/>
  <p:tag name="PROBLEMREMARK" val="可执行程序除了CPU指令序列，还需要包括操作系统相关的内容。因为程序中包含了操作系统相关内容，导致Windows上的程序不能运行在Linux上，Linux系统上的程序不能运行在Windows系统上。"/>
  <p:tag name="PROBLEMVOICEALLOWED" val="Fals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ShortAnswer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Board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p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0.0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FillBlank"/>
  <p:tag name="PROBLEMBLANKKEYWORD" val="填空"/>
  <p:tag name="PROBLEMSCORE" val="10.0"/>
  <p:tag name="PROBLEMBLANK" val="[{&quot;num&quot;:1,&quot;caseSensitive&quot;:false,&quot;fuzzyMatch&quot;:false,&quot;Score&quot;:5.0,&quot;answers&quot;:[&quot;PE&quot;]},{&quot;num&quot;:2,&quot;caseSensitive&quot;:false,&quot;fuzzyMatch&quot;:false,&quot;Score&quot;:5.0,&quot;answers&quot;:[&quot;ELF&quot;]}]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FillBlank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FillBlank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SCORE" val="10.0"/>
  <p:tag name="PROBLEMVOICEALLOWED" val="Fals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ShortAnswer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MA"/>
  <p:tag name="PROBLEMSCORE_HALF" val="0.0"/>
  <p:tag name="PROBLEMSCORE" val="2.0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MA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MA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SCORE" val="10.0"/>
  <p:tag name="PROBLEMVOICEALLOWED" val="False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ShortAnswer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SCORE" val="10.0"/>
  <p:tag name="PROBLEMVOICEALLOWED" val="False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ShortAnswer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SCORE" val="10.0"/>
  <p:tag name="PROBLEMHASREMARK" val="True"/>
  <p:tag name="PROBLEMREMARK" val="一个进程中的虚拟地址空间通常有多个PE文件结构，包括dll文件、操作系统内核文件等"/>
  <p:tag name="PROBLEMVOICEALLOWED" val="False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ShortAnswer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Board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p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SCORE" val="10.0"/>
  <p:tag name="PROBLEMVOICEALLOWED" val="False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ShortAnswer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SCORE" val="10.0"/>
  <p:tag name="PROBLEMVOICEALLOWED" val="False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ShortAnswer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0.0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SCORE" val="10.0"/>
  <p:tag name="PROBLEMVOICEALLOWED" val="False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ShortAnswer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" val="PRODUCTVERSIONTIP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SCORE" val="10.0"/>
  <p:tag name="PROBLEMVOICEALLOWED" val="False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ShortAnswer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0.0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FillBlank"/>
  <p:tag name="PROBLEMBLANKKEYWORD" val="填空"/>
  <p:tag name="PROBLEMSCORE" val="1.0"/>
  <p:tag name="PROBLEMBLANK" val="[{&quot;num&quot;:1,&quot;caseSensitive&quot;:false,&quot;fuzzyMatch&quot;:false,&quot;Score&quot;:1.0,&quot;answers&quot;:[&quot;4D 5A&quot;,&quot;MZ&quot;,&quot;4d 5a&quot;,&quot;5a4dh&quot;]}]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FillBlank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FillBlank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SCORE" val="10.0"/>
  <p:tag name="PROBLEMVOICEALLOWED" val="False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ShortAnswer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SCORE" val="10.0"/>
  <p:tag name="PROBLEMVOICEALLOWED" val="False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ShortAnswer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" val="PRODUCTVERSIONTIP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0.0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MA"/>
  <p:tag name="PROBLEMSCORE_HALF" val="0.0"/>
  <p:tag name="PROBLEMSCORE" val="10.0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MA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MA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MA"/>
  <p:tag name="PROBLEMSCORE_HALF" val="0.0"/>
  <p:tag name="PROBLEMSCORE" val="10.0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MA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MA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SCORE" val="10.0"/>
  <p:tag name="PROBLEMVOICEALLOWED" val="False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ShortAnswer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  <p:tag name="PROBLEMHASREMARK" val="True"/>
  <p:tag name="PROBLEMREMARK" val="If this value is greater than the SizeOfRawData member, the section is filled with zeroes.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Board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p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MA"/>
  <p:tag name="PROBLEMSCORE_HALF" val="0.0"/>
  <p:tag name="PROBLEMSCORE" val="10.0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MA"/>
</p:tagLst>
</file>

<file path=ppt/tags/tag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MA"/>
</p:tagLst>
</file>

<file path=ppt/tags/tag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MA"/>
  <p:tag name="PROBLEMSCORE_HALF" val="0.0"/>
  <p:tag name="PROBLEMSCORE" val="10.0"/>
</p:tagLst>
</file>

<file path=ppt/tags/tag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MA"/>
</p:tagLst>
</file>

<file path=ppt/tags/tag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MA"/>
</p:tagLst>
</file>

<file path=ppt/tags/tag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MA"/>
  <p:tag name="PROBLEMSCORE_HALF" val="0.0"/>
  <p:tag name="PROBLEMSCORE" val="10.0"/>
</p:tagLst>
</file>

<file path=ppt/tags/tag3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3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3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3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MA"/>
</p:tagLst>
</file>

<file path=ppt/tags/tag3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MA"/>
</p:tagLst>
</file>

<file path=ppt/tags/tag3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MA"/>
  <p:tag name="PROBLEMSCORE_HALF" val="0.0"/>
  <p:tag name="PROBLEMSCORE" val="10.0"/>
</p:tagLst>
</file>

<file path=ppt/tags/tag3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3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3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3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MA"/>
</p:tagLst>
</file>

<file path=ppt/tags/tag3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MA"/>
</p:tagLst>
</file>

<file path=ppt/tags/tag3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MA"/>
  <p:tag name="PROBLEMSCORE_HALF" val="0.0"/>
  <p:tag name="PROBLEMSCORE" val="10.0"/>
</p:tagLst>
</file>

<file path=ppt/tags/tag3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3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3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3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MA"/>
</p:tagLst>
</file>

<file path=ppt/tags/tag3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MA"/>
</p:tagLst>
</file>

<file path=ppt/tags/tag3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MA"/>
  <p:tag name="PROBLEMSCORE_HALF" val="0.0"/>
  <p:tag name="PROBLEMSCORE" val="10.0"/>
</p:tagLst>
</file>

<file path=ppt/tags/tag3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3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3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3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MA"/>
</p:tagLst>
</file>

<file path=ppt/tags/tag3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MA"/>
</p:tagLst>
</file>

<file path=ppt/tags/tag3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SCORE" val="10.0"/>
  <p:tag name="PROBLEMVOICEALLOWED" val="False"/>
</p:tagLst>
</file>

<file path=ppt/tags/tag3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ShortAnswer"/>
</p:tagLst>
</file>

<file path=ppt/tags/tag3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" val="PRODUCTVERSIONTIP"/>
</p:tagLst>
</file>

<file path=ppt/tags/tag3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4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SCORE" val="10.0"/>
  <p:tag name="PROBLEMVOICEALLOWED" val="False"/>
</p:tagLst>
</file>

<file path=ppt/tags/tag4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4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ShortAnswer"/>
</p:tagLst>
</file>

<file path=ppt/tags/tag4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4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SCORE" val="10.0"/>
  <p:tag name="PROBLEMHASREMARK" val="True"/>
  <p:tag name="PROBLEMREMARK" val="编译和链接只是创建了一个Import Table给操作系统，程序执行的时候，操作系统根据Import Table动态写入真正的函数内存地址。"/>
  <p:tag name="PROBLEMVOICEALLOWED" val="False"/>
</p:tagLst>
</file>

<file path=ppt/tags/tag4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4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ShortAnswer"/>
</p:tagLst>
</file>

<file path=ppt/tags/tag4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Board"/>
</p:tagLst>
</file>

<file path=ppt/tags/tag4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p"/>
</p:tagLst>
</file>

<file path=ppt/tags/tag4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"/>
</p:tagLst>
</file>

<file path=ppt/tags/tag4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4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4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4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4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4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0.0"/>
</p:tagLst>
</file>

<file path=ppt/tags/tag4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4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4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4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4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0.0"/>
</p:tagLst>
</file>

<file path=ppt/tags/tag4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4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4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4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4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0.0"/>
</p:tagLst>
</file>

<file path=ppt/tags/tag4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4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4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4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4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FillBlank"/>
  <p:tag name="PROBLEMBLANKKEYWORD" val="填空"/>
  <p:tag name="PROBLEMSCORE" val="20.0"/>
  <p:tag name="PROBLEMBLANK" val="[{&quot;num&quot;:1,&quot;caseSensitive&quot;:false,&quot;fuzzyMatch&quot;:false,&quot;Score&quot;:5.0,&quot;answers&quot;:[&quot;C&quot;]},{&quot;num&quot;:2,&quot;caseSensitive&quot;:false,&quot;fuzzyMatch&quot;:false,&quot;Score&quot;:5.0,&quot;answers&quot;:[&quot;B&quot;]},{&quot;num&quot;:3,&quot;caseSensitive&quot;:false,&quot;fuzzyMatch&quot;:false,&quot;Score&quot;:5.0,&quot;answers&quot;:[&quot;D&quot;]},{&quot;num&quot;:4,&quot;caseSensitive&quot;:false,&quot;fuzzyMatch&quot;:false,&quot;Score&quot;:5.0,&quot;answers&quot;:[&quot;A&quot;]}]"/>
</p:tagLst>
</file>

<file path=ppt/tags/tag4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4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FillBlank"/>
</p:tagLst>
</file>

<file path=ppt/tags/tag4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3" val="PRODUCTVERSIONTIP3"/>
</p:tagLst>
</file>

<file path=ppt/tags/tag4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FillBlank"/>
</p:tagLst>
</file>

<file path=ppt/tags/tag4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SCORE" val="10.0"/>
  <p:tag name="PROBLEMVOICEALLOWED" val="False"/>
</p:tagLst>
</file>

<file path=ppt/tags/tag4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5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ShortAnswer"/>
</p:tagLst>
</file>

<file path=ppt/tags/tag5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" val="PRODUCTVERSIONTIP"/>
</p:tagLst>
</file>

<file path=ppt/tags/tag5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5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SCORE" val="10.0"/>
  <p:tag name="PROBLEMVOICEALLOWED" val="False"/>
</p:tagLst>
</file>

<file path=ppt/tags/tag5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5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ShortAnswer"/>
</p:tagLst>
</file>

<file path=ppt/tags/tag5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5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0.0"/>
</p:tagLst>
</file>

<file path=ppt/tags/tag5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5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5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5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5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5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5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5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0.0"/>
</p:tagLst>
</file>

<file path=ppt/tags/tag5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5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5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5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5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5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5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5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FillBlank"/>
  <p:tag name="PROBLEMBLANKKEYWORD" val="填空"/>
  <p:tag name="PROBLEMSCORE" val="30.0"/>
  <p:tag name="PROBLEMBLANK" val="[{&quot;num&quot;:1,&quot;caseSensitive&quot;:false,&quot;fuzzyMatch&quot;:false,&quot;Score&quot;:10.0,&quot;answers&quot;:[&quot;B&quot;]},{&quot;num&quot;:2,&quot;caseSensitive&quot;:false,&quot;fuzzyMatch&quot;:false,&quot;Score&quot;:10.0,&quot;answers&quot;:[&quot;C&quot;]},{&quot;num&quot;:3,&quot;caseSensitive&quot;:false,&quot;fuzzyMatch&quot;:false,&quot;Score&quot;:10.0,&quot;answers&quot;:[&quot;A&quot;]}]"/>
</p:tagLst>
</file>

<file path=ppt/tags/tag5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5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FillBlank"/>
</p:tagLst>
</file>

<file path=ppt/tags/tag5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3" val="PRODUCTVERSIONTIP3"/>
</p:tagLst>
</file>

<file path=ppt/tags/tag5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FillBlank"/>
</p:tagLst>
</file>

<file path=ppt/tags/tag5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heme/theme1.xml><?xml version="1.0" encoding="utf-8"?>
<a:theme xmlns:a="http://schemas.openxmlformats.org/drawingml/2006/main" name="2_400TGp_globalcity_light_ani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1418</TotalTime>
  <Words>5247</Words>
  <Application>Microsoft Office PowerPoint</Application>
  <PresentationFormat>宽屏</PresentationFormat>
  <Paragraphs>791</Paragraphs>
  <Slides>149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149</vt:i4>
      </vt:variant>
    </vt:vector>
  </HeadingPairs>
  <TitlesOfParts>
    <vt:vector size="160" baseType="lpstr">
      <vt:lpstr>DengXian</vt:lpstr>
      <vt:lpstr>思源黑体 CN Normal</vt:lpstr>
      <vt:lpstr>宋体</vt:lpstr>
      <vt:lpstr>Microsoft Yahei</vt:lpstr>
      <vt:lpstr>Arial</vt:lpstr>
      <vt:lpstr>Calibri</vt:lpstr>
      <vt:lpstr>Courier New</vt:lpstr>
      <vt:lpstr>Segoe UI</vt:lpstr>
      <vt:lpstr>Times New Roman</vt:lpstr>
      <vt:lpstr>2_400TGp_globalcity_light_ani</vt:lpstr>
      <vt:lpstr>Visio</vt:lpstr>
      <vt:lpstr>汇编语言与逆向技术 第9章 PE文件结构</vt:lpstr>
      <vt:lpstr>本章知识点</vt:lpstr>
      <vt:lpstr>可执行文件</vt:lpstr>
      <vt:lpstr>PowerPoint 演示文稿</vt:lpstr>
      <vt:lpstr>PowerPoint 演示文稿</vt:lpstr>
      <vt:lpstr>可执行文件</vt:lpstr>
      <vt:lpstr>PowerPoint 演示文稿</vt:lpstr>
      <vt:lpstr>可执行文件格式</vt:lpstr>
      <vt:lpstr>PowerPoint 演示文稿</vt:lpstr>
      <vt:lpstr>Windows系统可执行文件</vt:lpstr>
      <vt:lpstr>.com文件</vt:lpstr>
      <vt:lpstr>.exe、.dll、.sys可执行文件</vt:lpstr>
      <vt:lpstr>PE结构的二进制文件</vt:lpstr>
      <vt:lpstr>Linux系统可执行文件</vt:lpstr>
      <vt:lpstr>Linux系统可执行文件</vt:lpstr>
      <vt:lpstr>PowerPoint 演示文稿</vt:lpstr>
      <vt:lpstr>PowerPoint 演示文稿</vt:lpstr>
      <vt:lpstr>PowerPoint 演示文稿</vt:lpstr>
      <vt:lpstr>PE文件基本概念</vt:lpstr>
      <vt:lpstr>PE文件结构</vt:lpstr>
      <vt:lpstr>PE文件结构</vt:lpstr>
      <vt:lpstr>节</vt:lpstr>
      <vt:lpstr>PowerPoint 演示文稿</vt:lpstr>
      <vt:lpstr>PowerPoint 演示文稿</vt:lpstr>
      <vt:lpstr>PowerPoint 演示文稿</vt:lpstr>
      <vt:lpstr>虚拟内存地址空间</vt:lpstr>
      <vt:lpstr>虚拟地址</vt:lpstr>
      <vt:lpstr>PowerPoint 演示文稿</vt:lpstr>
      <vt:lpstr>模块</vt:lpstr>
      <vt:lpstr>模块</vt:lpstr>
      <vt:lpstr>模块</vt:lpstr>
      <vt:lpstr>模块句柄</vt:lpstr>
      <vt:lpstr>PowerPoint 演示文稿</vt:lpstr>
      <vt:lpstr>相对虚拟地址</vt:lpstr>
      <vt:lpstr>相对虚拟地址</vt:lpstr>
      <vt:lpstr>相对虚拟地址</vt:lpstr>
      <vt:lpstr>相对虚拟地址</vt:lpstr>
      <vt:lpstr>文件偏移地址</vt:lpstr>
      <vt:lpstr>PE文件</vt:lpstr>
      <vt:lpstr>PowerPoint 演示文稿</vt:lpstr>
      <vt:lpstr>PowerPoint 演示文稿</vt:lpstr>
      <vt:lpstr>PowerPoint 演示文稿</vt:lpstr>
      <vt:lpstr>DOS文件头</vt:lpstr>
      <vt:lpstr>PowerPoint 演示文稿</vt:lpstr>
      <vt:lpstr>DOS文件头</vt:lpstr>
      <vt:lpstr>IMAGE_ DOS _HEADER</vt:lpstr>
      <vt:lpstr>DOS文件头</vt:lpstr>
      <vt:lpstr>PowerPoint 演示文稿</vt:lpstr>
      <vt:lpstr>PowerPoint 演示文稿</vt:lpstr>
      <vt:lpstr>PowerPoint 演示文稿</vt:lpstr>
      <vt:lpstr>PE文件头</vt:lpstr>
      <vt:lpstr>PE文件头</vt:lpstr>
      <vt:lpstr>PE文件头</vt:lpstr>
      <vt:lpstr>PE文件头</vt:lpstr>
      <vt:lpstr>Signature</vt:lpstr>
      <vt:lpstr>FileHeader</vt:lpstr>
      <vt:lpstr>FileHeader</vt:lpstr>
      <vt:lpstr>Machine</vt:lpstr>
      <vt:lpstr>NumberOfSections</vt:lpstr>
      <vt:lpstr>TimeDateStamp</vt:lpstr>
      <vt:lpstr>文件属性字段（Characteristics）</vt:lpstr>
      <vt:lpstr>PowerPoint 演示文稿</vt:lpstr>
      <vt:lpstr>PowerPoint 演示文稿</vt:lpstr>
      <vt:lpstr>IMAGE _OPTIONAL_HEADER</vt:lpstr>
      <vt:lpstr>IMAGE_OPTIONAL_HEADER</vt:lpstr>
      <vt:lpstr>IMAGE_OPTIONAL_HEADER</vt:lpstr>
      <vt:lpstr>IMAGE_OPTIONAL_HEADER</vt:lpstr>
      <vt:lpstr>IMAGE_OPTIONAL_HEADER</vt:lpstr>
      <vt:lpstr>IMAGE_OPTIONAL_HEADER</vt:lpstr>
      <vt:lpstr>IMAGE_OPTIONAL_HEADER</vt:lpstr>
      <vt:lpstr>IMAGE_OPTIONAL_HEADER</vt:lpstr>
      <vt:lpstr>IMAGE_OPTIONAL_HEADER</vt:lpstr>
      <vt:lpstr>IMAGE_OPTIONAL_HEADER</vt:lpstr>
      <vt:lpstr>IMAGE_OPTIONAL_HEADER</vt:lpstr>
      <vt:lpstr>IMAGE_OPTIONAL_HEADER</vt:lpstr>
      <vt:lpstr>IMAGE_DATA_DIRECTORY 数据目录</vt:lpstr>
      <vt:lpstr>IMAGE_DATA_DIRECTORY 数据目录</vt:lpstr>
      <vt:lpstr>数据目录</vt:lpstr>
      <vt:lpstr>PowerPoint 演示文稿</vt:lpstr>
      <vt:lpstr>PowerPoint 演示文稿</vt:lpstr>
      <vt:lpstr>PowerPoint 演示文稿</vt:lpstr>
      <vt:lpstr>节</vt:lpstr>
      <vt:lpstr>节表</vt:lpstr>
      <vt:lpstr>PowerPoint 演示文稿</vt:lpstr>
      <vt:lpstr>IMAGE_SECTION_HEADER(winnt.h)</vt:lpstr>
      <vt:lpstr>节表</vt:lpstr>
      <vt:lpstr>节表</vt:lpstr>
      <vt:lpstr>节表</vt:lpstr>
      <vt:lpstr>PowerPoint 演示文稿</vt:lpstr>
      <vt:lpstr>节表</vt:lpstr>
      <vt:lpstr>节的内存属性</vt:lpstr>
      <vt:lpstr>PowerPoint 演示文稿</vt:lpstr>
      <vt:lpstr>PowerPoint 演示文稿</vt:lpstr>
      <vt:lpstr>PowerPoint 演示文稿</vt:lpstr>
      <vt:lpstr>节的内容</vt:lpstr>
      <vt:lpstr>PowerPoint 演示文稿</vt:lpstr>
      <vt:lpstr>PowerPoint 演示文稿</vt:lpstr>
      <vt:lpstr>PowerPoint 演示文稿</vt:lpstr>
      <vt:lpstr>常见的节</vt:lpstr>
      <vt:lpstr>常见的节</vt:lpstr>
      <vt:lpstr>节的对齐</vt:lpstr>
      <vt:lpstr>文件偏移与虚拟内存地址转换</vt:lpstr>
      <vt:lpstr>文件偏移与虚拟内存地址转换</vt:lpstr>
      <vt:lpstr>文件偏移与虚拟内存地址转换</vt:lpstr>
      <vt:lpstr>文件偏移与虚拟内存地址转换</vt:lpstr>
      <vt:lpstr>PowerPoint 演示文稿</vt:lpstr>
      <vt:lpstr>RVA to RAW</vt:lpstr>
      <vt:lpstr>RVA to RAW</vt:lpstr>
      <vt:lpstr>导入表 IAT</vt:lpstr>
      <vt:lpstr>PowerPoint 演示文稿</vt:lpstr>
      <vt:lpstr>hello.exe</vt:lpstr>
      <vt:lpstr>JMP-jump</vt:lpstr>
      <vt:lpstr>导入表IAT</vt:lpstr>
      <vt:lpstr>PowerPoint 演示文稿</vt:lpstr>
      <vt:lpstr>导入表 IAT</vt:lpstr>
      <vt:lpstr>导入表IAT</vt:lpstr>
      <vt:lpstr>IMAGE_IMPORT_DESCRIPTOR（IID）</vt:lpstr>
      <vt:lpstr>IMAGE_IMPORT_DESCRIPTOR</vt:lpstr>
      <vt:lpstr>IMAGE_IMPORT_DESCRIPTOR</vt:lpstr>
      <vt:lpstr>IMAGE_IMPORT_DESCRIPTOR</vt:lpstr>
      <vt:lpstr>INT（Import Name Table）, IAT（Import Address Table）</vt:lpstr>
      <vt:lpstr>IMAGE_IMPORT_BY_NAME</vt:lpstr>
      <vt:lpstr>PE装载器</vt:lpstr>
      <vt:lpstr>PE装载器</vt:lpstr>
      <vt:lpstr>PE装载器</vt:lpstr>
      <vt:lpstr>PE装载器</vt:lpstr>
      <vt:lpstr>PE文件加载后的IAT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导出表 EAT</vt:lpstr>
      <vt:lpstr>PowerPoint 演示文稿</vt:lpstr>
      <vt:lpstr>DLL</vt:lpstr>
      <vt:lpstr>IMAGE_EXPORT_DIRECTORY</vt:lpstr>
      <vt:lpstr>IMAGE_EXPORT_DIRECTORY</vt:lpstr>
      <vt:lpstr>IMAGE_EXPORT_DIRECTORY</vt:lpstr>
      <vt:lpstr>IMAGE_EXPORT_DIRECTORY</vt:lpstr>
      <vt:lpstr>导出表</vt:lpstr>
      <vt:lpstr>GetProcAddress()操作原理</vt:lpstr>
      <vt:lpstr>GetProcAddress()操作原理</vt:lpstr>
      <vt:lpstr>GetProcAddress()操作原理</vt:lpstr>
      <vt:lpstr>导出表</vt:lpstr>
      <vt:lpstr>PowerPoint 演示文稿</vt:lpstr>
      <vt:lpstr>PowerPoint 演示文稿</vt:lpstr>
      <vt:lpstr>PowerPoint 演示文稿</vt:lpstr>
      <vt:lpstr>本章知识点</vt:lpstr>
      <vt:lpstr>汇编语言与逆向技术 第9章 PE文件结构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汇编与逆向技术基础  第6章 PE文件结构</dc:title>
  <dc:creator>zwang</dc:creator>
  <cp:lastModifiedBy>志 王</cp:lastModifiedBy>
  <cp:revision>247</cp:revision>
  <dcterms:created xsi:type="dcterms:W3CDTF">2020-04-06T07:26:55Z</dcterms:created>
  <dcterms:modified xsi:type="dcterms:W3CDTF">2025-11-13T12:00:42Z</dcterms:modified>
</cp:coreProperties>
</file>