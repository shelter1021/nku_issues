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7"/>
  </p:notesMasterIdLst>
  <p:sldIdLst>
    <p:sldId id="828" r:id="rId2"/>
    <p:sldId id="822" r:id="rId3"/>
    <p:sldId id="821" r:id="rId4"/>
    <p:sldId id="823" r:id="rId5"/>
    <p:sldId id="774" r:id="rId6"/>
    <p:sldId id="826" r:id="rId7"/>
    <p:sldId id="356" r:id="rId8"/>
    <p:sldId id="656" r:id="rId9"/>
    <p:sldId id="814" r:id="rId10"/>
    <p:sldId id="682" r:id="rId11"/>
    <p:sldId id="683" r:id="rId12"/>
    <p:sldId id="763" r:id="rId13"/>
    <p:sldId id="764" r:id="rId14"/>
    <p:sldId id="815" r:id="rId15"/>
    <p:sldId id="765" r:id="rId16"/>
    <p:sldId id="766" r:id="rId17"/>
    <p:sldId id="767" r:id="rId18"/>
    <p:sldId id="768" r:id="rId19"/>
    <p:sldId id="769" r:id="rId20"/>
    <p:sldId id="770" r:id="rId21"/>
    <p:sldId id="771" r:id="rId22"/>
    <p:sldId id="772" r:id="rId23"/>
    <p:sldId id="775" r:id="rId24"/>
    <p:sldId id="816" r:id="rId25"/>
    <p:sldId id="776" r:id="rId26"/>
    <p:sldId id="777" r:id="rId27"/>
    <p:sldId id="781" r:id="rId28"/>
    <p:sldId id="778" r:id="rId29"/>
    <p:sldId id="779" r:id="rId30"/>
    <p:sldId id="782" r:id="rId31"/>
    <p:sldId id="780" r:id="rId32"/>
    <p:sldId id="783" r:id="rId33"/>
    <p:sldId id="824" r:id="rId34"/>
    <p:sldId id="784" r:id="rId35"/>
    <p:sldId id="785" r:id="rId36"/>
    <p:sldId id="786" r:id="rId37"/>
    <p:sldId id="787" r:id="rId38"/>
    <p:sldId id="788" r:id="rId39"/>
    <p:sldId id="789" r:id="rId40"/>
    <p:sldId id="790" r:id="rId41"/>
    <p:sldId id="791" r:id="rId42"/>
    <p:sldId id="792" r:id="rId43"/>
    <p:sldId id="793" r:id="rId44"/>
    <p:sldId id="794" r:id="rId45"/>
    <p:sldId id="795" r:id="rId46"/>
    <p:sldId id="796" r:id="rId47"/>
    <p:sldId id="797" r:id="rId48"/>
    <p:sldId id="798" r:id="rId49"/>
    <p:sldId id="800" r:id="rId50"/>
    <p:sldId id="817" r:id="rId51"/>
    <p:sldId id="799" r:id="rId52"/>
    <p:sldId id="801" r:id="rId53"/>
    <p:sldId id="802" r:id="rId54"/>
    <p:sldId id="803" r:id="rId55"/>
    <p:sldId id="804" r:id="rId56"/>
    <p:sldId id="805" r:id="rId57"/>
    <p:sldId id="818" r:id="rId58"/>
    <p:sldId id="806" r:id="rId59"/>
    <p:sldId id="807" r:id="rId60"/>
    <p:sldId id="808" r:id="rId61"/>
    <p:sldId id="809" r:id="rId62"/>
    <p:sldId id="810" r:id="rId63"/>
    <p:sldId id="811" r:id="rId64"/>
    <p:sldId id="827" r:id="rId65"/>
    <p:sldId id="829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0607" autoAdjust="0"/>
  </p:normalViewPr>
  <p:slideViewPr>
    <p:cSldViewPr snapToGrid="0" snapToObjects="1" showGuides="1">
      <p:cViewPr varScale="1">
        <p:scale>
          <a:sx n="77" d="100"/>
          <a:sy n="77" d="100"/>
        </p:scale>
        <p:origin x="267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2025/12/19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C764DE79-268F-4C1A-8933-263129D2AF90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4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32" descr="7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/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baike.baidu.com/l/IyBioEf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6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image" Target="../media/image6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6.png"/><Relationship Id="rId5" Type="http://schemas.openxmlformats.org/officeDocument/2006/relationships/tags" Target="../tags/tag64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6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7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6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6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93.xml"/><Relationship Id="rId10" Type="http://schemas.openxmlformats.org/officeDocument/2006/relationships/tags" Target="../tags/tag98.xml"/><Relationship Id="rId4" Type="http://schemas.openxmlformats.org/officeDocument/2006/relationships/tags" Target="../tags/tag92.xml"/><Relationship Id="rId9" Type="http://schemas.openxmlformats.org/officeDocument/2006/relationships/tags" Target="../tags/tag9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13</a:t>
            </a:r>
            <a:r>
              <a:rPr lang="zh-CN" altLang="en-US" sz="3600" b="1" dirty="0">
                <a:solidFill>
                  <a:srgbClr val="7030A0"/>
                </a:solidFill>
              </a:rPr>
              <a:t>章 软件知识产权保护技术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软件知识产权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软件知识产权就是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软件开发者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对自己的智力劳动成果所依法享有的权利，是一种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无形财产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国务院根据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</a:rPr>
              <a:t>中华人民共和国著作权法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制定了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</a:rPr>
              <a:t>计算机软件保护条例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，软件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</a:rPr>
              <a:t>著作权保护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的主要依据是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计算机软件保护条例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》</a:t>
            </a:r>
          </a:p>
          <a:p>
            <a:pPr lvl="1"/>
            <a:r>
              <a:rPr lang="zh-CN" altLang="en-US" dirty="0"/>
              <a:t>计算机软件著作权的权利自软件开发完成之日起产生，保护期为</a:t>
            </a:r>
            <a:r>
              <a:rPr lang="en-US" altLang="zh-CN" dirty="0"/>
              <a:t>50</a:t>
            </a:r>
            <a:r>
              <a:rPr lang="zh-CN" altLang="en-US" dirty="0"/>
              <a:t>年</a:t>
            </a:r>
            <a:endParaRPr lang="en-US" altLang="zh-CN" dirty="0"/>
          </a:p>
          <a:p>
            <a:r>
              <a:rPr lang="zh-CN" altLang="en-US" dirty="0"/>
              <a:t>职务作品的著作权由所在</a:t>
            </a:r>
            <a:r>
              <a:rPr lang="zh-CN" altLang="en-US" dirty="0">
                <a:solidFill>
                  <a:srgbClr val="FF0000"/>
                </a:solidFill>
              </a:rPr>
              <a:t>单位</a:t>
            </a:r>
            <a:r>
              <a:rPr lang="zh-CN" altLang="en-US" dirty="0"/>
              <a:t>享有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我们遇到过哪些侵害软件知识产权的行为？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软件盗版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  <a:hlinkClick r:id="rId2"/>
              </a:rPr>
              <a:t>http://baike.baidu.com/l/IyBioEfV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软件盗版行为是指任何未经软件著作权人许可，擅自对软件进行复制、传播，或以其他方式超出许可范围传播、销售和使用的行为。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有哪些保护软件知识产权的技术？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88903"/>
            <a:ext cx="10515600" cy="762000"/>
          </a:xfrm>
        </p:spPr>
        <p:txBody>
          <a:bodyPr>
            <a:normAutofit/>
          </a:bodyPr>
          <a:lstStyle/>
          <a:p>
            <a:r>
              <a:rPr lang="zh-CN" altLang="en-US" b="0" i="0" dirty="0">
                <a:effectLst/>
                <a:latin typeface="PingFang SC"/>
              </a:rPr>
              <a:t>为了不让玩家玩盗版游戏</a:t>
            </a:r>
            <a:r>
              <a:rPr lang="en-US" altLang="zh-CN" b="0" i="0" dirty="0">
                <a:effectLst/>
                <a:latin typeface="PingFang SC"/>
              </a:rPr>
              <a:t>,</a:t>
            </a:r>
            <a:r>
              <a:rPr lang="zh-CN" altLang="en-US" b="0" i="0" dirty="0">
                <a:effectLst/>
                <a:latin typeface="PingFang SC"/>
              </a:rPr>
              <a:t>厂商的手段？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43000" y="1745001"/>
            <a:ext cx="10515601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目前并没有完美的防盗版机制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https://www.bilibili.com/video/BV1dY4y1W77h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154" y="2704305"/>
            <a:ext cx="7209692" cy="4027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5169" y="1848503"/>
            <a:ext cx="9534769" cy="42748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序列号保护</a:t>
            </a:r>
            <a:endParaRPr lang="en-US" altLang="zh-CN" dirty="0"/>
          </a:p>
          <a:p>
            <a:r>
              <a:rPr lang="zh-CN" altLang="en-US" dirty="0"/>
              <a:t>警告窗口</a:t>
            </a:r>
            <a:endParaRPr lang="en-US" altLang="zh-CN" dirty="0"/>
          </a:p>
          <a:p>
            <a:r>
              <a:rPr lang="zh-CN" altLang="en-US" dirty="0"/>
              <a:t>时间限制</a:t>
            </a:r>
            <a:endParaRPr lang="en-US" altLang="zh-CN" dirty="0"/>
          </a:p>
          <a:p>
            <a:r>
              <a:rPr lang="zh-CN" altLang="en-US" dirty="0"/>
              <a:t>菜单功能限制</a:t>
            </a:r>
            <a:endParaRPr lang="en-US" altLang="zh-CN" dirty="0"/>
          </a:p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重点：各种保护技术的实现机理与脆弱性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序列号保护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哪些软件使用了序列号技术？序列号技术的实现机理。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共享软件（</a:t>
            </a:r>
            <a:r>
              <a:rPr lang="en-US" altLang="zh-CN" dirty="0"/>
              <a:t>shareware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使用时间和功能上的限制</a:t>
            </a:r>
            <a:endParaRPr lang="en-US" altLang="zh-CN" dirty="0"/>
          </a:p>
          <a:p>
            <a:pPr lvl="1"/>
            <a:r>
              <a:rPr lang="zh-CN" altLang="en-US" dirty="0"/>
              <a:t>注册用户</a:t>
            </a:r>
            <a:endParaRPr lang="en-US" altLang="zh-CN" dirty="0"/>
          </a:p>
          <a:p>
            <a:pPr lvl="1"/>
            <a:r>
              <a:rPr lang="zh-CN" altLang="en-US" dirty="0"/>
              <a:t>获得</a:t>
            </a:r>
            <a:r>
              <a:rPr lang="zh-CN" altLang="en-US" dirty="0">
                <a:solidFill>
                  <a:srgbClr val="FF0000"/>
                </a:solidFill>
              </a:rPr>
              <a:t>序列号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输入注册信息和序列号，软件取消各种限制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序列号的验证</a:t>
            </a:r>
            <a:endParaRPr lang="en-US" altLang="zh-CN" dirty="0"/>
          </a:p>
          <a:p>
            <a:pPr lvl="1"/>
            <a:r>
              <a:rPr lang="zh-CN" altLang="en-US" dirty="0"/>
              <a:t>验证用户名和序列号之间的</a:t>
            </a:r>
            <a:r>
              <a:rPr lang="zh-CN" altLang="en-US" dirty="0">
                <a:solidFill>
                  <a:srgbClr val="FF0000"/>
                </a:solidFill>
              </a:rPr>
              <a:t>数学映射关系</a:t>
            </a:r>
          </a:p>
          <a:p>
            <a:pPr lvl="1"/>
            <a:r>
              <a:rPr lang="zh-CN" altLang="en-US" dirty="0"/>
              <a:t>映射关系是由软件公司设计</a:t>
            </a:r>
          </a:p>
          <a:p>
            <a:pPr lvl="1"/>
            <a:r>
              <a:rPr lang="zh-CN" altLang="en-US" dirty="0"/>
              <a:t>映射关系越复杂，越不容易被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破解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序列号检查的</a:t>
            </a:r>
            <a:r>
              <a:rPr lang="en-US" altLang="zh-CN" dirty="0"/>
              <a:t>4</a:t>
            </a:r>
            <a:r>
              <a:rPr lang="zh-CN" altLang="en-US" dirty="0"/>
              <a:t>种基本方法：</a:t>
            </a:r>
          </a:p>
          <a:p>
            <a:pPr lvl="1"/>
            <a:r>
              <a:rPr lang="zh-CN" altLang="en-US" sz="2400" dirty="0"/>
              <a:t>将</a:t>
            </a:r>
            <a:r>
              <a:rPr lang="zh-CN" altLang="en-US" sz="2400" dirty="0">
                <a:solidFill>
                  <a:srgbClr val="FF0000"/>
                </a:solidFill>
              </a:rPr>
              <a:t>用户名</a:t>
            </a:r>
            <a:r>
              <a:rPr lang="zh-CN" altLang="en-US" sz="2400" dirty="0"/>
              <a:t>等信息作为自变量，通过函数</a:t>
            </a:r>
            <a:r>
              <a:rPr lang="en-US" altLang="zh-CN" sz="2400" i="1" dirty="0"/>
              <a:t>F</a:t>
            </a:r>
            <a:r>
              <a:rPr lang="zh-CN" altLang="en-US" sz="2400" dirty="0"/>
              <a:t>变换之后得到</a:t>
            </a:r>
            <a:r>
              <a:rPr lang="zh-CN" altLang="en-US" sz="2400" dirty="0">
                <a:solidFill>
                  <a:srgbClr val="FF0000"/>
                </a:solidFill>
              </a:rPr>
              <a:t>注册码</a:t>
            </a:r>
          </a:p>
          <a:p>
            <a:pPr lvl="1"/>
            <a:r>
              <a:rPr lang="zh-CN" altLang="en-US" sz="2400" dirty="0"/>
              <a:t>通过</a:t>
            </a:r>
            <a:r>
              <a:rPr lang="zh-CN" altLang="en-US" sz="2400" dirty="0">
                <a:solidFill>
                  <a:srgbClr val="FF0000"/>
                </a:solidFill>
              </a:rPr>
              <a:t>注册码</a:t>
            </a:r>
            <a:r>
              <a:rPr lang="zh-CN" altLang="en-US" sz="2400" dirty="0"/>
              <a:t>验证</a:t>
            </a:r>
            <a:r>
              <a:rPr lang="zh-CN" altLang="en-US" sz="2400" dirty="0">
                <a:solidFill>
                  <a:srgbClr val="FF0000"/>
                </a:solidFill>
              </a:rPr>
              <a:t>用户名</a:t>
            </a:r>
            <a:r>
              <a:rPr lang="zh-CN" altLang="en-US" sz="2400" dirty="0"/>
              <a:t>的正确性</a:t>
            </a:r>
          </a:p>
          <a:p>
            <a:pPr lvl="1"/>
            <a:r>
              <a:rPr lang="zh-CN" altLang="en-US" sz="2400" dirty="0"/>
              <a:t>通过</a:t>
            </a:r>
            <a:r>
              <a:rPr lang="zh-CN" altLang="en-US" sz="2400" dirty="0">
                <a:solidFill>
                  <a:srgbClr val="FF0000"/>
                </a:solidFill>
              </a:rPr>
              <a:t>对等函数</a:t>
            </a:r>
            <a:r>
              <a:rPr lang="zh-CN" altLang="en-US" sz="2400" dirty="0"/>
              <a:t>检查注册码</a:t>
            </a:r>
          </a:p>
          <a:p>
            <a:pPr lvl="1"/>
            <a:r>
              <a:rPr lang="zh-CN" altLang="en-US" sz="2400" dirty="0"/>
              <a:t>同时将</a:t>
            </a:r>
            <a:r>
              <a:rPr lang="zh-CN" altLang="en-US" sz="2400" dirty="0">
                <a:solidFill>
                  <a:srgbClr val="FF0000"/>
                </a:solidFill>
              </a:rPr>
              <a:t>用户名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注册码</a:t>
            </a:r>
            <a:r>
              <a:rPr lang="zh-CN" altLang="en-US" sz="2400" dirty="0"/>
              <a:t>作为自变量</a:t>
            </a:r>
            <a:r>
              <a:rPr lang="en-US" altLang="zh-CN" sz="2400" dirty="0"/>
              <a:t>(</a:t>
            </a:r>
            <a:r>
              <a:rPr lang="zh-CN" altLang="en-US" sz="2400" dirty="0"/>
              <a:t>即采用二元函数</a:t>
            </a:r>
            <a:r>
              <a:rPr lang="en-US" altLang="zh-CN" sz="2400" dirty="0"/>
              <a:t>)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通过用户名生成序列号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将用户名作为自变量，通过函数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变换之后得到注册码</a:t>
            </a:r>
            <a:endParaRPr lang="en-US" altLang="zh-CN" dirty="0"/>
          </a:p>
          <a:p>
            <a:pPr lvl="1"/>
            <a:r>
              <a:rPr lang="zh-CN" altLang="en-US" dirty="0"/>
              <a:t>将计算出的</a:t>
            </a:r>
            <a:r>
              <a:rPr lang="zh-CN" altLang="en-US" dirty="0">
                <a:solidFill>
                  <a:srgbClr val="FF0000"/>
                </a:solidFill>
              </a:rPr>
              <a:t>注册码</a:t>
            </a:r>
            <a:r>
              <a:rPr lang="zh-CN" altLang="en-US" dirty="0"/>
              <a:t>和用户输入的注册码进行比较，以确定用户是否为合法用户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序列号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>
                <a:solidFill>
                  <a:srgbClr val="FF0000"/>
                </a:solidFill>
              </a:rPr>
              <a:t>（用户名）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序列号保护有哪些脆弱性？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通过用户名生成序列号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序列号是以</a:t>
            </a:r>
            <a:r>
              <a:rPr lang="zh-CN" altLang="en-US" dirty="0">
                <a:solidFill>
                  <a:srgbClr val="FF0000"/>
                </a:solidFill>
              </a:rPr>
              <a:t>明文</a:t>
            </a:r>
            <a:r>
              <a:rPr lang="zh-CN" altLang="en-US" dirty="0"/>
              <a:t>形式存储在内存中</a:t>
            </a:r>
          </a:p>
          <a:p>
            <a:r>
              <a:rPr lang="zh-CN" altLang="en-US" dirty="0"/>
              <a:t>序列号很容易被逆向分析出来，</a:t>
            </a:r>
            <a:r>
              <a:rPr lang="zh-CN" altLang="en-US" dirty="0">
                <a:solidFill>
                  <a:srgbClr val="FF0000"/>
                </a:solidFill>
              </a:rPr>
              <a:t>不安全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注册码泄漏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注册机</a:t>
            </a:r>
            <a:r>
              <a:rPr lang="zh-CN" altLang="en-US" dirty="0"/>
              <a:t>：映射函数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的泄漏，构造</a:t>
            </a:r>
            <a:r>
              <a:rPr lang="zh-CN" altLang="en-US" dirty="0">
                <a:solidFill>
                  <a:srgbClr val="FF0000"/>
                </a:solidFill>
              </a:rPr>
              <a:t>注册机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破解版</a:t>
            </a:r>
            <a:r>
              <a:rPr lang="zh-CN" altLang="en-US" dirty="0"/>
              <a:t>：修改注册码的比较指令，通过注册码检查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981076"/>
            <a:ext cx="9144000" cy="8683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通过注册码验证用户名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173971"/>
            <a:ext cx="10515600" cy="4002992"/>
          </a:xfrm>
        </p:spPr>
        <p:txBody>
          <a:bodyPr/>
          <a:lstStyle/>
          <a:p>
            <a:r>
              <a:rPr lang="zh-CN" altLang="en-US" b="1" dirty="0"/>
              <a:t>生成</a:t>
            </a:r>
            <a:r>
              <a:rPr lang="zh-CN" altLang="en-US" dirty="0"/>
              <a:t>注册码的公式：序列号</a:t>
            </a:r>
            <a:r>
              <a:rPr lang="en-US" altLang="zh-CN" dirty="0"/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（</a:t>
            </a:r>
            <a:r>
              <a:rPr lang="zh-CN" altLang="en-US" b="1" dirty="0"/>
              <a:t>用户名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b="1" dirty="0"/>
              <a:t>检查</a:t>
            </a:r>
            <a:r>
              <a:rPr lang="zh-CN" altLang="en-US" dirty="0"/>
              <a:t>注册码，是利用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的逆变换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endParaRPr lang="zh-CN" altLang="en-US" baseline="30000" dirty="0">
              <a:solidFill>
                <a:srgbClr val="FF0000"/>
              </a:solidFill>
            </a:endParaRPr>
          </a:p>
          <a:p>
            <a:r>
              <a:rPr lang="zh-CN" altLang="en-US" dirty="0"/>
              <a:t>用户名</a:t>
            </a:r>
            <a:r>
              <a:rPr lang="en-US" altLang="zh-CN" dirty="0"/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 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r>
              <a:rPr lang="zh-CN" altLang="en-US" dirty="0"/>
              <a:t>（序列号）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4000" cy="8683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通过注册码验证用户名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更加安全</a:t>
            </a:r>
            <a:endParaRPr lang="en-US" altLang="zh-CN" dirty="0"/>
          </a:p>
          <a:p>
            <a:pPr lvl="1"/>
            <a:r>
              <a:rPr lang="zh-CN" altLang="en-US" dirty="0"/>
              <a:t>生成注册码的函数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dirty="0"/>
              <a:t> </a:t>
            </a:r>
            <a:r>
              <a:rPr lang="zh-CN" altLang="en-US" dirty="0"/>
              <a:t>没有直接出现在软件代码中</a:t>
            </a:r>
          </a:p>
          <a:p>
            <a:pPr lvl="1"/>
            <a:r>
              <a:rPr lang="zh-CN" altLang="en-US" dirty="0"/>
              <a:t>注册码的</a:t>
            </a:r>
            <a:r>
              <a:rPr lang="zh-CN" altLang="en-US" dirty="0">
                <a:solidFill>
                  <a:srgbClr val="FF0000"/>
                </a:solidFill>
              </a:rPr>
              <a:t>明文</a:t>
            </a:r>
            <a:r>
              <a:rPr lang="zh-CN" altLang="en-US" dirty="0"/>
              <a:t>没有出现在内存中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通过注册码验证用户名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穷举法，暴力破解序列号</a:t>
            </a:r>
            <a:endParaRPr lang="en-US" altLang="zh-CN" dirty="0"/>
          </a:p>
          <a:p>
            <a:r>
              <a:rPr lang="zh-CN" altLang="en-US" dirty="0"/>
              <a:t>破坏注册码的验证过程</a:t>
            </a:r>
          </a:p>
          <a:p>
            <a:r>
              <a:rPr lang="zh-CN" altLang="en-US" dirty="0"/>
              <a:t>因为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r>
              <a:rPr lang="zh-CN" altLang="en-US" dirty="0"/>
              <a:t>在软件中的，通过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r>
              <a:rPr lang="zh-CN" altLang="en-US" dirty="0"/>
              <a:t>找出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</a:p>
          <a:p>
            <a:r>
              <a:rPr lang="zh-CN" altLang="en-US" dirty="0"/>
              <a:t>给定一个序列号，利用公式得出一个用户名，从而得到一个正确的用户名</a:t>
            </a:r>
            <a:r>
              <a:rPr lang="en-US" altLang="zh-CN" dirty="0"/>
              <a:t>/</a:t>
            </a:r>
            <a:r>
              <a:rPr lang="zh-CN" altLang="en-US" dirty="0"/>
              <a:t>序列号对</a:t>
            </a:r>
          </a:p>
          <a:p>
            <a:endParaRPr lang="en-US" altLang="zh-CN" i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对等函数验证注册码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验证公式：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（用户名）</a:t>
            </a:r>
            <a:r>
              <a:rPr lang="en-US" altLang="zh-CN" dirty="0"/>
              <a:t>= 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zh-CN" altLang="en-US" dirty="0"/>
              <a:t>（序列号）</a:t>
            </a:r>
            <a:endParaRPr lang="en-US" altLang="zh-CN" dirty="0"/>
          </a:p>
          <a:p>
            <a:r>
              <a:rPr lang="zh-CN" altLang="en-US" dirty="0"/>
              <a:t>内存中不出现注册码的明文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二元函数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之前的</a:t>
            </a:r>
            <a:r>
              <a:rPr lang="en-US" altLang="zh-CN" dirty="0"/>
              <a:t>3</a:t>
            </a:r>
            <a:r>
              <a:rPr lang="zh-CN" altLang="en-US" dirty="0"/>
              <a:t>种注册码验证函数都是一元函数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二元函数</a:t>
            </a:r>
            <a:r>
              <a:rPr lang="zh-CN" altLang="en-US" dirty="0"/>
              <a:t>：同时将用户名和注册码作为自变量</a:t>
            </a:r>
            <a:endParaRPr lang="en-US" altLang="zh-CN" dirty="0"/>
          </a:p>
          <a:p>
            <a:r>
              <a:rPr lang="zh-CN" altLang="en-US" dirty="0"/>
              <a:t>验证公式： 特定值</a:t>
            </a:r>
            <a:r>
              <a:rPr lang="en-US" altLang="zh-CN" dirty="0"/>
              <a:t>= 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zh-CN" altLang="en-US" dirty="0"/>
              <a:t>（用户名、序列号）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二元函数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用户名与序列号之间的关系不再清晰</a:t>
            </a:r>
          </a:p>
          <a:p>
            <a:r>
              <a:rPr lang="zh-CN" altLang="en-US" dirty="0"/>
              <a:t>必须维护用户名与序列号之间的唯一性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序列号面临的安全问题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破解版</a:t>
            </a:r>
            <a:r>
              <a:rPr lang="zh-CN" altLang="en-US" dirty="0"/>
              <a:t>：修改判断序列号之后的跳转指令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注册机</a:t>
            </a:r>
            <a:r>
              <a:rPr lang="zh-CN" altLang="en-US" dirty="0"/>
              <a:t>：逆向用户信息和序列号的映射关系，构造注册机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警告窗口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有哪些软件使用了警告窗口技术？警告窗口技术有哪些脆弱性？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警告窗口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警告</a:t>
            </a:r>
            <a:r>
              <a:rPr lang="en-US" altLang="zh-CN" dirty="0"/>
              <a:t>(Nag)</a:t>
            </a:r>
            <a:r>
              <a:rPr lang="zh-CN" altLang="en-US" dirty="0"/>
              <a:t>窗口是软件设计者用来提醒用户购买正式版本的弹出窗口</a:t>
            </a:r>
            <a:endParaRPr lang="en-US" altLang="zh-CN" dirty="0"/>
          </a:p>
          <a:p>
            <a:r>
              <a:rPr lang="zh-CN" altLang="en-US" dirty="0"/>
              <a:t>去除警告窗口常用方法</a:t>
            </a:r>
            <a:endParaRPr lang="en-US" altLang="zh-CN" dirty="0"/>
          </a:p>
          <a:p>
            <a:pPr lvl="1"/>
            <a:r>
              <a:rPr lang="zh-CN" altLang="en-US" dirty="0"/>
              <a:t>修改程序的资源</a:t>
            </a:r>
          </a:p>
          <a:p>
            <a:pPr lvl="1"/>
            <a:r>
              <a:rPr lang="zh-CN" altLang="en-US" dirty="0"/>
              <a:t>静态分析</a:t>
            </a:r>
            <a:endParaRPr lang="en-US" altLang="zh-CN" dirty="0"/>
          </a:p>
          <a:p>
            <a:pPr lvl="1"/>
            <a:r>
              <a:rPr lang="zh-CN" altLang="en-US" dirty="0"/>
              <a:t>动态分析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修改程序的资源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将警告窗口的属性修改成</a:t>
            </a:r>
            <a:r>
              <a:rPr lang="zh-CN" altLang="en-US" dirty="0">
                <a:solidFill>
                  <a:srgbClr val="FF0000"/>
                </a:solidFill>
              </a:rPr>
              <a:t>透明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不可见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完全去掉</a:t>
            </a:r>
            <a:r>
              <a:rPr lang="en-US" altLang="zh-CN" dirty="0"/>
              <a:t>Nag</a:t>
            </a:r>
            <a:r>
              <a:rPr lang="zh-CN" altLang="en-US" dirty="0"/>
              <a:t>，需要定位窗口的创建代码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静态分析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资源分析发现启动画面窗口的</a:t>
            </a:r>
            <a:r>
              <a:rPr lang="en-US" altLang="zh-CN" sz="2400" dirty="0"/>
              <a:t>ID</a:t>
            </a:r>
            <a:r>
              <a:rPr lang="zh-CN" altLang="en-US" sz="2400" dirty="0"/>
              <a:t>是</a:t>
            </a:r>
            <a:r>
              <a:rPr lang="en-US" altLang="zh-CN" sz="2400" dirty="0"/>
              <a:t>121</a:t>
            </a:r>
            <a:r>
              <a:rPr lang="zh-CN" altLang="en-US" sz="2400" dirty="0"/>
              <a:t>（</a:t>
            </a:r>
            <a:r>
              <a:rPr lang="en-US" altLang="zh-CN" sz="2400" dirty="0"/>
              <a:t>79h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通过</a:t>
            </a:r>
            <a:r>
              <a:rPr lang="en-US" altLang="zh-CN" sz="2400" dirty="0"/>
              <a:t>ID 79h</a:t>
            </a:r>
            <a:r>
              <a:rPr lang="zh-CN" altLang="en-US" sz="2400" dirty="0"/>
              <a:t>找到“</a:t>
            </a:r>
            <a:r>
              <a:rPr lang="en-US" altLang="zh-CN" sz="2400" dirty="0"/>
              <a:t>Dialog: DialogID_0079” </a:t>
            </a:r>
            <a:r>
              <a:rPr lang="zh-CN" altLang="en-US" sz="2400" dirty="0"/>
              <a:t>就是</a:t>
            </a:r>
            <a:r>
              <a:rPr lang="en-US" altLang="zh-CN" sz="2400" dirty="0"/>
              <a:t>Nag</a:t>
            </a:r>
            <a:endParaRPr lang="zh-CN" altLang="en-US" sz="2400" dirty="0"/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3402" y="3854201"/>
            <a:ext cx="7225197" cy="236721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500846" y="4641672"/>
            <a:ext cx="1410788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警告窗口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/>
              <a:t>DialogBoxParam</a:t>
            </a:r>
            <a:r>
              <a:rPr lang="zh-CN" altLang="en-US" sz="2400" dirty="0"/>
              <a:t>函数一般和</a:t>
            </a:r>
            <a:r>
              <a:rPr lang="en-US" altLang="zh-CN" sz="2400" dirty="0" err="1"/>
              <a:t>EndDialog</a:t>
            </a:r>
            <a:r>
              <a:rPr lang="zh-CN" altLang="en-US" sz="2400" dirty="0"/>
              <a:t>函数配对使用</a:t>
            </a:r>
            <a:endParaRPr lang="en-US" altLang="zh-CN" sz="2400" dirty="0"/>
          </a:p>
          <a:p>
            <a:pPr lvl="1"/>
            <a:r>
              <a:rPr lang="en-US" altLang="zh-CN" sz="2000" dirty="0" err="1"/>
              <a:t>DialogBoxParam</a:t>
            </a:r>
            <a:r>
              <a:rPr lang="zh-CN" altLang="en-US" sz="2000" dirty="0"/>
              <a:t>打开对话框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EndDialog</a:t>
            </a:r>
            <a:r>
              <a:rPr lang="zh-CN" altLang="en-US" sz="2000" dirty="0"/>
              <a:t>关闭对话框</a:t>
            </a:r>
            <a:endParaRPr lang="en-US" altLang="zh-CN" sz="2000" dirty="0"/>
          </a:p>
          <a:p>
            <a:pPr lvl="1"/>
            <a:r>
              <a:rPr lang="zh-CN" altLang="en-US" sz="2000" dirty="0"/>
              <a:t>不能简单地将</a:t>
            </a:r>
            <a:r>
              <a:rPr lang="en-US" altLang="zh-CN" sz="2000" dirty="0" err="1"/>
              <a:t>DialogBoxParam</a:t>
            </a:r>
            <a:r>
              <a:rPr lang="zh-CN" altLang="en-US" sz="2000" dirty="0"/>
              <a:t>函数屏蔽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82781" y="4411669"/>
            <a:ext cx="7000608" cy="180974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587932" y="5338355"/>
            <a:ext cx="1506583" cy="3744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警告窗口</a:t>
            </a:r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7249" y="3962404"/>
            <a:ext cx="5988367" cy="349445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8927" y="1728039"/>
            <a:ext cx="7225197" cy="2367213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225412" y="3130894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308329" y="5709630"/>
            <a:ext cx="493720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66390" y="31314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开始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66391" y="56592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有哪些方法可以去除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nag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窗口？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去除警告窗口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跳过警告窗口代码</a:t>
            </a:r>
            <a:endParaRPr lang="en-US" altLang="zh-CN" sz="2400" dirty="0"/>
          </a:p>
          <a:p>
            <a:pPr lvl="1"/>
            <a:r>
              <a:rPr lang="zh-CN" altLang="en-US" sz="2000" dirty="0"/>
              <a:t>修改开始位置</a:t>
            </a:r>
            <a:r>
              <a:rPr lang="en-US" altLang="zh-CN" sz="2000" dirty="0"/>
              <a:t>push</a:t>
            </a:r>
            <a:r>
              <a:rPr lang="zh-CN" altLang="en-US" sz="2000" dirty="0"/>
              <a:t>，变成</a:t>
            </a:r>
            <a:r>
              <a:rPr lang="en-US" altLang="zh-CN" sz="2000" dirty="0" err="1"/>
              <a:t>jmp</a:t>
            </a:r>
            <a:r>
              <a:rPr lang="zh-CN" altLang="en-US" sz="2000" dirty="0"/>
              <a:t>，直接到结束之后</a:t>
            </a:r>
          </a:p>
          <a:p>
            <a:r>
              <a:rPr lang="zh-CN" altLang="en-US" sz="2400" dirty="0"/>
              <a:t>使用主对话框的参数修改</a:t>
            </a:r>
            <a:r>
              <a:rPr lang="en-US" altLang="zh-CN" sz="2400" dirty="0"/>
              <a:t>Nag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DialogBoxParam</a:t>
            </a:r>
            <a:r>
              <a:rPr lang="zh-CN" altLang="en-US" sz="2400" dirty="0"/>
              <a:t>函数的参数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59780" y="4175247"/>
            <a:ext cx="5891491" cy="2046166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2838995" y="4354290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838994" y="4702633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时间限制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有哪些软件使用了时间限制？时间限制技术有哪些绕过的方法？</a:t>
            </a: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限制每次软件运行的时长</a:t>
            </a:r>
          </a:p>
          <a:p>
            <a:r>
              <a:rPr lang="zh-CN" altLang="en-US" dirty="0"/>
              <a:t>每次运行时长不限，但是有使用时间限制，例如可以免费使用</a:t>
            </a:r>
            <a:r>
              <a:rPr lang="en-US" altLang="zh-CN" dirty="0"/>
              <a:t>30</a:t>
            </a:r>
            <a:r>
              <a:rPr lang="zh-CN" altLang="en-US" dirty="0"/>
              <a:t>天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计时器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每次运行时都有时间限制，例如运行</a:t>
            </a:r>
            <a:r>
              <a:rPr lang="en-US" altLang="zh-CN" dirty="0"/>
              <a:t>10</a:t>
            </a:r>
            <a:r>
              <a:rPr lang="zh-CN" altLang="en-US" dirty="0"/>
              <a:t>分钟或</a:t>
            </a:r>
            <a:r>
              <a:rPr lang="en-US" altLang="zh-CN" dirty="0"/>
              <a:t>20</a:t>
            </a:r>
            <a:r>
              <a:rPr lang="zh-CN" altLang="en-US" dirty="0"/>
              <a:t>分钟就停止，必须重新运行程序才能正常工作。</a:t>
            </a:r>
          </a:p>
          <a:p>
            <a:r>
              <a:rPr lang="zh-CN" altLang="en-US" dirty="0"/>
              <a:t>这类程序里有一个</a:t>
            </a:r>
            <a:r>
              <a:rPr lang="zh-CN" altLang="en-US" dirty="0">
                <a:solidFill>
                  <a:srgbClr val="FF0000"/>
                </a:solidFill>
              </a:rPr>
              <a:t>计时器</a:t>
            </a:r>
            <a:r>
              <a:rPr lang="zh-CN" altLang="en-US" dirty="0"/>
              <a:t>来统计程序运行的时间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计时器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SetTimer</a:t>
            </a:r>
            <a:r>
              <a:rPr lang="zh-CN" altLang="en-US" dirty="0"/>
              <a:t>函数</a:t>
            </a:r>
            <a:r>
              <a:rPr lang="en-US" altLang="zh-CN" dirty="0"/>
              <a:t>, WM_TIMER</a:t>
            </a:r>
            <a:r>
              <a:rPr lang="zh-CN" altLang="en-US" dirty="0"/>
              <a:t>消息</a:t>
            </a:r>
          </a:p>
          <a:p>
            <a:r>
              <a:rPr lang="zh-CN" altLang="en-US" dirty="0"/>
              <a:t>高精度的多媒体计时器</a:t>
            </a:r>
            <a:r>
              <a:rPr lang="en-US" altLang="zh-CN" dirty="0" err="1"/>
              <a:t>timeSetEvent</a:t>
            </a:r>
            <a:endParaRPr lang="zh-CN" altLang="en-US" dirty="0"/>
          </a:p>
          <a:p>
            <a:r>
              <a:rPr lang="en-US" altLang="zh-CN" dirty="0" err="1"/>
              <a:t>GetTickCount</a:t>
            </a:r>
            <a:r>
              <a:rPr lang="zh-CN" altLang="en-US" dirty="0"/>
              <a:t>函数</a:t>
            </a:r>
          </a:p>
          <a:p>
            <a:r>
              <a:rPr lang="en-US" altLang="zh-CN" dirty="0" err="1"/>
              <a:t>timeGetTime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SetTimer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函数原型</a:t>
            </a:r>
            <a:endParaRPr lang="en-US" altLang="zh-CN" sz="2400" dirty="0"/>
          </a:p>
          <a:p>
            <a:pPr lvl="1"/>
            <a:r>
              <a:rPr lang="en-US" altLang="zh-CN" sz="2000" dirty="0"/>
              <a:t>UNIT </a:t>
            </a:r>
            <a:r>
              <a:rPr lang="en-US" altLang="zh-CN" sz="2000" dirty="0" err="1"/>
              <a:t>SetTimer</a:t>
            </a:r>
            <a:r>
              <a:rPr lang="en-US" altLang="zh-CN" sz="2000" dirty="0"/>
              <a:t> </a:t>
            </a:r>
            <a:r>
              <a:rPr lang="zh-CN" altLang="en-US" sz="2000" dirty="0"/>
              <a:t>（</a:t>
            </a:r>
            <a:r>
              <a:rPr lang="en-US" altLang="zh-CN" sz="2000" dirty="0"/>
              <a:t>HWND </a:t>
            </a:r>
            <a:r>
              <a:rPr lang="en-US" altLang="zh-CN" sz="2000" dirty="0" err="1"/>
              <a:t>hwnd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nIDEvent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uElapse</a:t>
            </a:r>
            <a:r>
              <a:rPr lang="en-US" altLang="zh-CN" sz="2000" dirty="0"/>
              <a:t>, TIMERPROC </a:t>
            </a:r>
            <a:r>
              <a:rPr lang="en-US" altLang="zh-CN" sz="2000" dirty="0" err="1">
                <a:solidFill>
                  <a:srgbClr val="FF0000"/>
                </a:solidFill>
              </a:rPr>
              <a:t>lpTimerFunc</a:t>
            </a:r>
            <a:r>
              <a:rPr lang="zh-CN" altLang="en-US" sz="2000" dirty="0"/>
              <a:t>）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回调函数</a:t>
            </a:r>
            <a:endParaRPr lang="en-US" altLang="zh-CN" sz="2400" dirty="0"/>
          </a:p>
          <a:p>
            <a:pPr lvl="1"/>
            <a:r>
              <a:rPr lang="en-US" altLang="zh-CN" sz="2000" dirty="0"/>
              <a:t>void CALLBACK </a:t>
            </a:r>
            <a:r>
              <a:rPr lang="en-US" altLang="zh-CN" sz="2000" dirty="0" err="1"/>
              <a:t>TimerProc</a:t>
            </a:r>
            <a:r>
              <a:rPr lang="en-US" altLang="zh-CN" sz="2000" dirty="0"/>
              <a:t>(HWND </a:t>
            </a:r>
            <a:r>
              <a:rPr lang="en-US" altLang="zh-CN" sz="2000" dirty="0" err="1"/>
              <a:t>hwnd</a:t>
            </a:r>
            <a:r>
              <a:rPr lang="en-US" altLang="zh-CN" sz="2000" dirty="0"/>
              <a:t>, UNIT </a:t>
            </a:r>
            <a:r>
              <a:rPr lang="en-US" altLang="zh-CN" sz="2000" dirty="0" err="1"/>
              <a:t>uMsg</a:t>
            </a:r>
            <a:r>
              <a:rPr lang="en-US" altLang="zh-CN" sz="2000" dirty="0"/>
              <a:t>, UNIT </a:t>
            </a:r>
            <a:r>
              <a:rPr lang="en-US" altLang="zh-CN" sz="2000" dirty="0" err="1"/>
              <a:t>idEvent</a:t>
            </a:r>
            <a:r>
              <a:rPr lang="en-US" altLang="zh-CN" sz="2000" dirty="0"/>
              <a:t>, DWORD </a:t>
            </a:r>
            <a:r>
              <a:rPr lang="en-US" altLang="zh-CN" sz="2000" dirty="0" err="1"/>
              <a:t>dwTime</a:t>
            </a:r>
            <a:r>
              <a:rPr lang="en-US" altLang="zh-CN" sz="2000" dirty="0"/>
              <a:t>);</a:t>
            </a:r>
          </a:p>
          <a:p>
            <a:r>
              <a:rPr lang="en-US" altLang="zh-CN" sz="2400" dirty="0" err="1"/>
              <a:t>KillTimer</a:t>
            </a:r>
            <a:r>
              <a:rPr lang="zh-CN" altLang="en-US" sz="2400" dirty="0"/>
              <a:t>函数删除计时器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高精度的多媒体计时器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多媒体计时器的精度可以达到</a:t>
            </a:r>
            <a:r>
              <a:rPr lang="en-US" altLang="zh-CN" dirty="0"/>
              <a:t>1</a:t>
            </a:r>
            <a:r>
              <a:rPr lang="zh-CN" altLang="en-US" dirty="0"/>
              <a:t>毫秒</a:t>
            </a:r>
          </a:p>
          <a:p>
            <a:r>
              <a:rPr lang="zh-CN" altLang="en-US" dirty="0"/>
              <a:t>应用程序可以通过调用</a:t>
            </a:r>
            <a:r>
              <a:rPr lang="en-US" altLang="zh-CN" dirty="0" err="1"/>
              <a:t>timeSetEvent</a:t>
            </a:r>
            <a:r>
              <a:rPr lang="en-US" altLang="zh-CN" dirty="0"/>
              <a:t>()</a:t>
            </a:r>
            <a:r>
              <a:rPr lang="zh-CN" altLang="en-US" dirty="0"/>
              <a:t>函数来启动一个多媒体计时器</a:t>
            </a:r>
            <a:endParaRPr lang="en-US" altLang="zh-CN" dirty="0"/>
          </a:p>
          <a:p>
            <a:pPr lvl="1"/>
            <a:r>
              <a:rPr lang="en-US" altLang="zh-CN" sz="2000" dirty="0"/>
              <a:t>MMRESULT </a:t>
            </a:r>
            <a:r>
              <a:rPr lang="en-US" altLang="zh-CN" sz="2000" dirty="0" err="1"/>
              <a:t>timeSetEvent</a:t>
            </a:r>
            <a:r>
              <a:rPr lang="en-US" altLang="zh-CN" sz="2000" dirty="0"/>
              <a:t>( UINT </a:t>
            </a:r>
            <a:r>
              <a:rPr lang="en-US" altLang="zh-CN" sz="2000" dirty="0" err="1"/>
              <a:t>uDelay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uResolution</a:t>
            </a:r>
            <a:r>
              <a:rPr lang="en-US" altLang="zh-CN" sz="2000" dirty="0"/>
              <a:t>, LPTIMECALLBACK </a:t>
            </a:r>
            <a:r>
              <a:rPr lang="en-US" altLang="zh-CN" sz="2000" dirty="0" err="1">
                <a:solidFill>
                  <a:srgbClr val="FF0000"/>
                </a:solidFill>
              </a:rPr>
              <a:t>lpTimeProc</a:t>
            </a:r>
            <a:r>
              <a:rPr lang="en-US" altLang="zh-CN" sz="2000" dirty="0"/>
              <a:t>, DWORD_PTR </a:t>
            </a:r>
            <a:r>
              <a:rPr lang="en-US" altLang="zh-CN" sz="2000" dirty="0" err="1"/>
              <a:t>dwUser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fuEvent</a:t>
            </a:r>
            <a:r>
              <a:rPr lang="en-US" altLang="zh-CN" sz="2000" dirty="0"/>
              <a:t>);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GetTickCount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函数返回的是系统自成功启动以来所经过的时间</a:t>
            </a:r>
            <a:r>
              <a:rPr lang="en-US" altLang="zh-CN" dirty="0"/>
              <a:t>(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rgbClr val="FF0000"/>
                </a:solidFill>
              </a:rPr>
              <a:t>毫秒</a:t>
            </a:r>
            <a:r>
              <a:rPr lang="zh-CN" altLang="en-US" dirty="0"/>
              <a:t>为单位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将程序开始和结束时的</a:t>
            </a:r>
            <a:r>
              <a:rPr lang="en-US" altLang="zh-CN" dirty="0" err="1"/>
              <a:t>GetTickCount</a:t>
            </a:r>
            <a:r>
              <a:rPr lang="zh-CN" altLang="en-US" dirty="0"/>
              <a:t>返回值相减，获得程序的执行时间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4113" y="815976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timeGetTime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684339"/>
            <a:ext cx="7940675" cy="4092575"/>
          </a:xfrm>
        </p:spPr>
        <p:txBody>
          <a:bodyPr/>
          <a:lstStyle/>
          <a:p>
            <a:r>
              <a:rPr lang="zh-CN" altLang="en-US" dirty="0"/>
              <a:t>多媒体计时器函数</a:t>
            </a:r>
            <a:r>
              <a:rPr lang="en-US" altLang="zh-CN" dirty="0" err="1"/>
              <a:t>timeGetTime</a:t>
            </a:r>
            <a:r>
              <a:rPr lang="zh-CN" altLang="en-US" dirty="0"/>
              <a:t>返回</a:t>
            </a:r>
            <a:r>
              <a:rPr lang="en-US" altLang="zh-CN" dirty="0"/>
              <a:t>Windows</a:t>
            </a:r>
            <a:r>
              <a:rPr lang="zh-CN" altLang="en-US" dirty="0"/>
              <a:t>自启动后所经过的时间</a:t>
            </a:r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zh-CN" altLang="en-US" dirty="0">
                <a:solidFill>
                  <a:srgbClr val="FF0000"/>
                </a:solidFill>
              </a:rPr>
              <a:t>毫秒</a:t>
            </a:r>
            <a:r>
              <a:rPr lang="zh-CN" altLang="en-US" dirty="0"/>
              <a:t>为单位</a:t>
            </a:r>
          </a:p>
          <a:p>
            <a:r>
              <a:rPr lang="zh-CN" altLang="en-US" dirty="0"/>
              <a:t>一般情况下，不需要使用高精度的多媒体计时器</a:t>
            </a:r>
            <a:endParaRPr lang="en-US" altLang="zh-CN" dirty="0"/>
          </a:p>
          <a:p>
            <a:pPr lvl="1"/>
            <a:r>
              <a:rPr lang="zh-CN" altLang="en-US" dirty="0"/>
              <a:t>精度太高会对系统性能造成影响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演示版软件通常设置了使用时间限制，例如试用</a:t>
            </a:r>
            <a:r>
              <a:rPr lang="en-US" altLang="zh-CN" dirty="0"/>
              <a:t>30</a:t>
            </a:r>
            <a:r>
              <a:rPr lang="zh-CN" altLang="en-US" dirty="0"/>
              <a:t>天</a:t>
            </a:r>
          </a:p>
          <a:p>
            <a:r>
              <a:rPr lang="zh-CN" altLang="en-US" dirty="0"/>
              <a:t>超过试用期软件就不能运行，付费注册之后，才能继续使用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11681" y="1989139"/>
            <a:ext cx="8064183" cy="4092575"/>
          </a:xfrm>
        </p:spPr>
        <p:txBody>
          <a:bodyPr>
            <a:normAutofit fontScale="92500"/>
          </a:bodyPr>
          <a:lstStyle/>
          <a:p>
            <a:r>
              <a:rPr lang="zh-CN" altLang="en-US" sz="2800" dirty="0"/>
              <a:t>软件安装或者第一次运行时，记录软件安装时间</a:t>
            </a:r>
          </a:p>
          <a:p>
            <a:r>
              <a:rPr lang="zh-CN" altLang="en-US" sz="2800" dirty="0"/>
              <a:t>软件每次执行，读取当前系统日期</a:t>
            </a:r>
          </a:p>
          <a:p>
            <a:r>
              <a:rPr lang="zh-CN" altLang="en-US" sz="2800" dirty="0"/>
              <a:t>计算当前系统日期与软件安装日期的差值</a:t>
            </a:r>
          </a:p>
          <a:p>
            <a:r>
              <a:rPr lang="zh-CN" altLang="en-US" sz="2800" dirty="0"/>
              <a:t>如果差值大于指定的值，例如</a:t>
            </a:r>
            <a:r>
              <a:rPr lang="en-US" altLang="zh-CN" sz="2800" dirty="0"/>
              <a:t>30</a:t>
            </a:r>
            <a:r>
              <a:rPr lang="zh-CN" altLang="en-US" sz="2800" dirty="0"/>
              <a:t>天，就停止软件运行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原理简单，但是安全性不够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为什么刚才介绍的时间限制方法的安全性不高？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软件的安装日期的修改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RegMon</a:t>
            </a:r>
            <a:r>
              <a:rPr lang="zh-CN" altLang="en-US" dirty="0"/>
              <a:t>、</a:t>
            </a:r>
            <a:r>
              <a:rPr lang="en-US" altLang="zh-CN" dirty="0" err="1"/>
              <a:t>FileMon</a:t>
            </a:r>
            <a:r>
              <a:rPr lang="zh-CN" altLang="en-US" dirty="0"/>
              <a:t>等监控软件可以找到日期的存储位置</a:t>
            </a:r>
          </a:p>
          <a:p>
            <a:pPr lvl="1"/>
            <a:r>
              <a:rPr lang="zh-CN" altLang="en-US" dirty="0"/>
              <a:t>删除时间，破除时间限制保护</a:t>
            </a:r>
          </a:p>
          <a:p>
            <a:r>
              <a:rPr lang="zh-CN" altLang="en-US" dirty="0"/>
              <a:t>将软件的安装日期存储在多个位置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修改最近一次运行的系统时间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攻击者可以通过修改系统时间绕过软件的时间限制保护</a:t>
            </a:r>
          </a:p>
          <a:p>
            <a:pPr lvl="1"/>
            <a:r>
              <a:rPr lang="zh-CN" altLang="en-US" sz="2400" dirty="0"/>
              <a:t>在软件打开、退出的时候都要进行日期检查</a:t>
            </a:r>
          </a:p>
          <a:p>
            <a:pPr lvl="1"/>
            <a:r>
              <a:rPr lang="zh-CN" altLang="en-US" sz="2400" dirty="0"/>
              <a:t>使用多种方式获得系统时间</a:t>
            </a:r>
          </a:p>
          <a:p>
            <a:pPr lvl="1"/>
            <a:r>
              <a:rPr lang="zh-CN" altLang="en-US" sz="2400" dirty="0"/>
              <a:t>常用的</a:t>
            </a:r>
            <a:r>
              <a:rPr lang="en-US" altLang="zh-CN" sz="2400" dirty="0"/>
              <a:t>API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GetSystemTime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GetLocalTime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读取被频繁修改的系统文件的最后修改日期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实例程序</a:t>
            </a:r>
            <a:r>
              <a:rPr lang="en-US" altLang="zh-CN" sz="2800" dirty="0"/>
              <a:t>Timer.exe</a:t>
            </a:r>
            <a:r>
              <a:rPr lang="zh-CN" altLang="en-US" sz="2800" dirty="0"/>
              <a:t>采用</a:t>
            </a:r>
            <a:r>
              <a:rPr lang="en-US" altLang="zh-CN" sz="2800" dirty="0" err="1"/>
              <a:t>SetTimer</a:t>
            </a:r>
            <a:r>
              <a:rPr lang="en-US" altLang="zh-CN" sz="2800" dirty="0"/>
              <a:t>()</a:t>
            </a:r>
            <a:r>
              <a:rPr lang="zh-CN" altLang="en-US" sz="2800" dirty="0"/>
              <a:t>函数计时</a:t>
            </a:r>
          </a:p>
          <a:p>
            <a:r>
              <a:rPr lang="zh-CN" altLang="en-US" sz="2800" dirty="0"/>
              <a:t>每秒发送</a:t>
            </a:r>
            <a:r>
              <a:rPr lang="en-US" altLang="zh-CN" sz="2800" dirty="0"/>
              <a:t>1</a:t>
            </a:r>
            <a:r>
              <a:rPr lang="zh-CN" altLang="en-US" sz="2800" dirty="0"/>
              <a:t>次</a:t>
            </a:r>
            <a:r>
              <a:rPr lang="en-US" altLang="zh-CN" sz="2800" dirty="0"/>
              <a:t>WM_TIMER</a:t>
            </a:r>
            <a:r>
              <a:rPr lang="zh-CN" altLang="en-US" sz="2800" dirty="0"/>
              <a:t>消息。当应用程序收到消息时，将执行如下语句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2700" y="4162157"/>
            <a:ext cx="7086600" cy="1714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jmp</a:t>
            </a:r>
            <a:r>
              <a:rPr lang="zh-CN" altLang="en-US" dirty="0"/>
              <a:t>直接跳过</a:t>
            </a:r>
            <a:r>
              <a:rPr lang="en-US" altLang="zh-CN" dirty="0" err="1"/>
              <a:t>SetTimer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0056" y="3590557"/>
            <a:ext cx="8856984" cy="2015674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785258" y="3861254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#define WM_TIMER 0x0113</a:t>
            </a:r>
          </a:p>
          <a:p>
            <a:r>
              <a:rPr lang="zh-CN" altLang="en-US" sz="2800" dirty="0"/>
              <a:t>修改判断条件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2102" y="3576453"/>
            <a:ext cx="6654286" cy="2505261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5834743" y="3533797"/>
            <a:ext cx="2516777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402338" y="4388116"/>
            <a:ext cx="3140664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菜单功能限制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有哪些软件会限制非付费用户使用的功能？ 功能限制技术有哪些脆弱性？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菜单功能限制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989138"/>
            <a:ext cx="7940675" cy="4620668"/>
          </a:xfrm>
        </p:spPr>
        <p:txBody>
          <a:bodyPr/>
          <a:lstStyle/>
          <a:p>
            <a:r>
              <a:rPr lang="zh-CN" altLang="en-US" dirty="0"/>
              <a:t>通常试用版的软件，菜单或窗口中的部分选项是灰色的，无法使用。</a:t>
            </a:r>
          </a:p>
          <a:p>
            <a:r>
              <a:rPr lang="zh-CN" altLang="en-US" dirty="0"/>
              <a:t>这种功能受限的程序有两种</a:t>
            </a:r>
          </a:p>
          <a:p>
            <a:pPr lvl="1"/>
            <a:r>
              <a:rPr lang="zh-CN" altLang="en-US" dirty="0"/>
              <a:t>试用版和正版软件是完全两个不同的文件（</a:t>
            </a:r>
            <a:r>
              <a:rPr lang="zh-CN" altLang="en-US" dirty="0">
                <a:solidFill>
                  <a:srgbClr val="FF0000"/>
                </a:solidFill>
              </a:rPr>
              <a:t>推荐使用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试用版和正版软件是同一个文件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菜单功能限制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将软件菜单和窗口变灰</a:t>
            </a:r>
            <a:r>
              <a:rPr lang="en-US" altLang="zh-CN" dirty="0"/>
              <a:t>(</a:t>
            </a:r>
            <a:r>
              <a:rPr lang="zh-CN" altLang="en-US" dirty="0"/>
              <a:t>不可用状态</a:t>
            </a:r>
            <a:r>
              <a:rPr lang="en-US" altLang="zh-CN" dirty="0"/>
              <a:t>)</a:t>
            </a:r>
            <a:r>
              <a:rPr lang="zh-CN" altLang="en-US" dirty="0"/>
              <a:t>，可以使用如下函数</a:t>
            </a:r>
          </a:p>
          <a:p>
            <a:pPr lvl="1"/>
            <a:r>
              <a:rPr lang="en-US" altLang="zh-CN" dirty="0" err="1"/>
              <a:t>EnableMenuItem</a:t>
            </a:r>
            <a:r>
              <a:rPr lang="zh-CN" altLang="en-US" dirty="0"/>
              <a:t>函数</a:t>
            </a:r>
          </a:p>
          <a:p>
            <a:pPr lvl="1"/>
            <a:r>
              <a:rPr lang="en-US" altLang="zh-CN" dirty="0" err="1"/>
              <a:t>EnableWindow</a:t>
            </a:r>
            <a:r>
              <a:rPr lang="zh-CN" altLang="en-US" dirty="0"/>
              <a:t>函数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EnableMenuItem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允许或禁止指定的菜单条目，原型如下</a:t>
            </a:r>
          </a:p>
          <a:p>
            <a:r>
              <a:rPr lang="en-US" altLang="zh-CN" sz="2800" dirty="0"/>
              <a:t>BOOL </a:t>
            </a:r>
            <a:r>
              <a:rPr lang="en-US" altLang="zh-CN" sz="2800" dirty="0" err="1"/>
              <a:t>EnableMenuItem</a:t>
            </a:r>
            <a:r>
              <a:rPr lang="en-US" altLang="zh-CN" sz="2800" dirty="0"/>
              <a:t>(HMENU </a:t>
            </a:r>
            <a:r>
              <a:rPr lang="en-US" altLang="zh-CN" sz="2800" dirty="0" err="1"/>
              <a:t>hMenu</a:t>
            </a:r>
            <a:r>
              <a:rPr lang="en-US" altLang="zh-CN" sz="2800" dirty="0"/>
              <a:t>, UINT </a:t>
            </a:r>
            <a:r>
              <a:rPr lang="en-US" altLang="zh-CN" sz="2800" dirty="0" err="1"/>
              <a:t>uIDEnableItem</a:t>
            </a:r>
            <a:r>
              <a:rPr lang="en-US" altLang="zh-CN" sz="2800" dirty="0"/>
              <a:t>, UINT </a:t>
            </a:r>
            <a:r>
              <a:rPr lang="en-US" altLang="zh-CN" sz="2800" dirty="0" err="1"/>
              <a:t>uEnable</a:t>
            </a:r>
            <a:r>
              <a:rPr lang="en-US" altLang="zh-CN" sz="2800" dirty="0"/>
              <a:t>)</a:t>
            </a:r>
          </a:p>
          <a:p>
            <a:pPr lvl="1"/>
            <a:r>
              <a:rPr lang="en-US" altLang="zh-CN" sz="2400" dirty="0" err="1"/>
              <a:t>hMenu</a:t>
            </a:r>
            <a:r>
              <a:rPr lang="en-US" altLang="zh-CN" sz="2400" dirty="0"/>
              <a:t>:</a:t>
            </a:r>
            <a:r>
              <a:rPr lang="zh-CN" altLang="en-US" sz="2400" dirty="0"/>
              <a:t>菜单句柄</a:t>
            </a:r>
          </a:p>
          <a:p>
            <a:pPr lvl="1"/>
            <a:r>
              <a:rPr lang="en-US" altLang="zh-CN" sz="2400" dirty="0" err="1"/>
              <a:t>uIDEnableItem</a:t>
            </a:r>
            <a:r>
              <a:rPr lang="en-US" altLang="zh-CN" sz="2400" dirty="0"/>
              <a:t>:</a:t>
            </a:r>
            <a:r>
              <a:rPr lang="zh-CN" altLang="en-US" sz="2400" dirty="0"/>
              <a:t>允许或禁止的一个菜单条目的标识符</a:t>
            </a: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</a:rPr>
              <a:t>uEnable</a:t>
            </a:r>
            <a:r>
              <a:rPr lang="zh-CN" altLang="en-US" sz="2400" dirty="0">
                <a:solidFill>
                  <a:srgbClr val="FF0000"/>
                </a:solidFill>
              </a:rPr>
              <a:t>：控制标志</a:t>
            </a:r>
          </a:p>
          <a:p>
            <a:pPr lvl="1"/>
            <a:r>
              <a:rPr lang="zh-CN" altLang="en-US" sz="2400" dirty="0"/>
              <a:t>返回值：返回菜单项以前的状态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EnableWindow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允许或禁止指定窗口</a:t>
            </a:r>
            <a:r>
              <a:rPr lang="en-US" altLang="zh-CN" dirty="0"/>
              <a:t>,</a:t>
            </a:r>
            <a:r>
              <a:rPr lang="zh-CN" altLang="en-US" dirty="0"/>
              <a:t>原型如下</a:t>
            </a:r>
          </a:p>
          <a:p>
            <a:pPr lvl="1"/>
            <a:r>
              <a:rPr lang="en-US" altLang="zh-CN" dirty="0"/>
              <a:t>BOOL </a:t>
            </a:r>
            <a:r>
              <a:rPr lang="en-US" altLang="zh-CN" dirty="0" err="1"/>
              <a:t>EnableWindow</a:t>
            </a:r>
            <a:r>
              <a:rPr lang="en-US" altLang="zh-CN" dirty="0"/>
              <a:t>(HWND </a:t>
            </a:r>
            <a:r>
              <a:rPr lang="en-US" altLang="zh-CN" dirty="0" err="1"/>
              <a:t>hWnd</a:t>
            </a:r>
            <a:r>
              <a:rPr lang="en-US" altLang="zh-CN" dirty="0"/>
              <a:t>, BOOL </a:t>
            </a:r>
            <a:r>
              <a:rPr lang="en-US" altLang="zh-CN" dirty="0" err="1"/>
              <a:t>bEnable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 err="1"/>
              <a:t>hWnd</a:t>
            </a:r>
            <a:r>
              <a:rPr lang="en-US" altLang="zh-CN" dirty="0"/>
              <a:t>:</a:t>
            </a:r>
            <a:r>
              <a:rPr lang="zh-CN" altLang="en-US" dirty="0"/>
              <a:t>窗口句柄</a:t>
            </a:r>
          </a:p>
          <a:p>
            <a:pPr lvl="1"/>
            <a:r>
              <a:rPr lang="en-US" altLang="zh-CN" dirty="0" err="1"/>
              <a:t>bEnable</a:t>
            </a:r>
            <a:r>
              <a:rPr lang="en-US" altLang="zh-CN" dirty="0"/>
              <a:t>:  "TRUE”</a:t>
            </a:r>
            <a:r>
              <a:rPr lang="zh-CN" altLang="en-US" dirty="0"/>
              <a:t>为允许，</a:t>
            </a:r>
            <a:r>
              <a:rPr lang="en-US" altLang="zh-CN" dirty="0"/>
              <a:t>"FALSE”</a:t>
            </a:r>
            <a:r>
              <a:rPr lang="zh-CN" altLang="en-US" dirty="0"/>
              <a:t>为禁止</a:t>
            </a:r>
          </a:p>
          <a:p>
            <a:pPr lvl="1"/>
            <a:r>
              <a:rPr lang="zh-CN" altLang="en-US" dirty="0"/>
              <a:t>返回值</a:t>
            </a:r>
            <a:r>
              <a:rPr lang="en-US" altLang="zh-CN" dirty="0"/>
              <a:t>:</a:t>
            </a:r>
            <a:r>
              <a:rPr lang="zh-CN" altLang="en-US" dirty="0"/>
              <a:t>非</a:t>
            </a:r>
            <a:r>
              <a:rPr lang="en-US" altLang="zh-CN" dirty="0"/>
              <a:t>0</a:t>
            </a:r>
            <a:r>
              <a:rPr lang="zh-CN" altLang="en-US" dirty="0"/>
              <a:t>表示成功，</a:t>
            </a:r>
            <a:r>
              <a:rPr lang="en-US" altLang="zh-CN" dirty="0"/>
              <a:t>0</a:t>
            </a:r>
            <a:r>
              <a:rPr lang="zh-CN" altLang="en-US" dirty="0"/>
              <a:t>表示失败</a:t>
            </a: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菜单限制保护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当</a:t>
            </a:r>
            <a:r>
              <a:rPr lang="en-US" altLang="zh-CN" sz="2800" dirty="0" err="1"/>
              <a:t>uEnable</a:t>
            </a:r>
            <a:r>
              <a:rPr lang="zh-CN" altLang="en-US" sz="2800" dirty="0"/>
              <a:t>控制标志为</a:t>
            </a:r>
            <a:r>
              <a:rPr lang="en-US" altLang="zh-CN" sz="2800" dirty="0"/>
              <a:t>0</a:t>
            </a:r>
            <a:r>
              <a:rPr lang="zh-CN" altLang="en-US" sz="2800" dirty="0"/>
              <a:t>时，恢复菜单的功能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298" y="3148271"/>
            <a:ext cx="8486624" cy="1277194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4056970" y="3173399"/>
            <a:ext cx="3140664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KeyFile</a:t>
            </a:r>
            <a:r>
              <a:rPr lang="zh-CN" altLang="en-US" dirty="0">
                <a:solidFill>
                  <a:schemeClr val="tx1"/>
                </a:solidFill>
              </a:rPr>
              <a:t>保护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有哪些软件使用了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KeyFile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的软件保护技术？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KeyFile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技术有哪些脆弱性？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err="1"/>
              <a:t>KeyFile</a:t>
            </a:r>
            <a:r>
              <a:rPr lang="zh-CN" altLang="en-US" sz="2800" dirty="0"/>
              <a:t>也叫注册文件，是一种利用文件来注册软件的保护方式，包含加密或者未加密的数据</a:t>
            </a:r>
          </a:p>
          <a:p>
            <a:r>
              <a:rPr lang="zh-CN" altLang="en-US" sz="2800" dirty="0"/>
              <a:t>试用版的软件一般没有</a:t>
            </a:r>
            <a:r>
              <a:rPr lang="en-US" altLang="zh-CN" sz="2800" dirty="0" err="1"/>
              <a:t>KeyFile</a:t>
            </a:r>
            <a:endParaRPr lang="en-US" altLang="zh-CN" sz="2800" dirty="0"/>
          </a:p>
          <a:p>
            <a:r>
              <a:rPr lang="zh-CN" altLang="en-US" sz="2800" dirty="0"/>
              <a:t>用户向作者付费后，会收到作者提供的</a:t>
            </a:r>
            <a:r>
              <a:rPr lang="en-US" altLang="zh-CN" sz="2800" dirty="0" err="1"/>
              <a:t>KeyFile</a:t>
            </a:r>
            <a:endParaRPr lang="en-US" altLang="zh-CN" sz="2800" dirty="0"/>
          </a:p>
          <a:p>
            <a:r>
              <a:rPr lang="zh-CN" altLang="en-US" sz="2800" dirty="0"/>
              <a:t>将</a:t>
            </a:r>
            <a:r>
              <a:rPr lang="en-US" altLang="zh-CN" sz="2800" dirty="0" err="1"/>
              <a:t>KeyFile</a:t>
            </a:r>
            <a:r>
              <a:rPr lang="zh-CN" altLang="en-US" sz="2800" dirty="0"/>
              <a:t>放入指定的目录就可以完成注册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采用较大的</a:t>
            </a:r>
            <a:r>
              <a:rPr lang="en-US" altLang="zh-CN" sz="2800" dirty="0" err="1"/>
              <a:t>KeyFile</a:t>
            </a:r>
            <a:r>
              <a:rPr lang="zh-CN" altLang="en-US" sz="2800" dirty="0"/>
              <a:t>文件</a:t>
            </a:r>
          </a:p>
          <a:p>
            <a:r>
              <a:rPr lang="zh-CN" altLang="en-US" sz="2800" dirty="0"/>
              <a:t>加入垃圾信息，干扰逆向分析</a:t>
            </a:r>
          </a:p>
          <a:p>
            <a:r>
              <a:rPr lang="en-US" altLang="zh-CN" sz="2800" dirty="0" err="1"/>
              <a:t>KeyFile</a:t>
            </a:r>
            <a:r>
              <a:rPr lang="zh-CN" altLang="en-US" sz="2800" dirty="0"/>
              <a:t>的合法性检查分成几部分，分散在软件的不同模块中进行判断。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err="1"/>
              <a:t>KeyFile</a:t>
            </a:r>
            <a:r>
              <a:rPr lang="zh-CN" altLang="en-US" sz="2800" dirty="0"/>
              <a:t>数据处理也要尽可能采用复杂的运算</a:t>
            </a:r>
          </a:p>
          <a:p>
            <a:r>
              <a:rPr lang="zh-CN" altLang="en-US" sz="2800" dirty="0"/>
              <a:t>可以让注册文件中的部分数据和软件中的关键代码或数据发生关联，使软件无法被暴力破解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sz="2800" dirty="0" err="1"/>
              <a:t>KeyFile</a:t>
            </a:r>
            <a:r>
              <a:rPr lang="zh-CN" altLang="en-US" sz="2800" dirty="0"/>
              <a:t>是一个文件，因此，所有与</a:t>
            </a:r>
            <a:r>
              <a:rPr lang="en-US" altLang="zh-CN" sz="2800" dirty="0"/>
              <a:t>Windows</a:t>
            </a:r>
            <a:r>
              <a:rPr lang="zh-CN" altLang="en-US" sz="2800" dirty="0"/>
              <a:t>文件操作有关的</a:t>
            </a:r>
            <a:r>
              <a:rPr lang="en-US" altLang="zh-CN" sz="2800" dirty="0"/>
              <a:t>API</a:t>
            </a:r>
            <a:r>
              <a:rPr lang="zh-CN" altLang="en-US" sz="2800" dirty="0"/>
              <a:t>函数都可作为动态跟踪破解的断点。</a:t>
            </a:r>
            <a:endParaRPr lang="en-US" altLang="zh-CN" sz="2800" dirty="0"/>
          </a:p>
          <a:p>
            <a:pPr lvl="1"/>
            <a:r>
              <a:rPr lang="en-US" altLang="zh-CN" sz="2400" dirty="0" err="1"/>
              <a:t>CreateFile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FindFirstFile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ReadFile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SetFilePointer</a:t>
            </a:r>
            <a:endParaRPr lang="en-US" altLang="zh-CN" sz="24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破解</a:t>
            </a:r>
            <a:r>
              <a:rPr lang="en-US" altLang="zh-CN" dirty="0" err="1"/>
              <a:t>KeyFile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Process Monitor</a:t>
            </a:r>
            <a:r>
              <a:rPr lang="zh-CN" altLang="en-US" dirty="0"/>
              <a:t>等工具，监视软件对文件的操作，以找到</a:t>
            </a:r>
            <a:r>
              <a:rPr lang="en-US" altLang="zh-CN" dirty="0" err="1"/>
              <a:t>KeyFile</a:t>
            </a:r>
            <a:r>
              <a:rPr lang="zh-CN" altLang="en-US" dirty="0"/>
              <a:t>的文件名。</a:t>
            </a:r>
          </a:p>
          <a:p>
            <a:r>
              <a:rPr lang="zh-CN" altLang="en-US" dirty="0"/>
              <a:t>伪造一个</a:t>
            </a:r>
            <a:r>
              <a:rPr lang="en-US" altLang="zh-CN" dirty="0" err="1"/>
              <a:t>KeyFile</a:t>
            </a:r>
            <a:r>
              <a:rPr lang="zh-CN" altLang="en-US" dirty="0"/>
              <a:t>文件。用十六进制工具，编辑和修改</a:t>
            </a:r>
            <a:r>
              <a:rPr lang="en-US" altLang="zh-CN" dirty="0" err="1"/>
              <a:t>KeyFile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破解</a:t>
            </a:r>
            <a:r>
              <a:rPr lang="en-US" altLang="zh-CN" dirty="0" err="1"/>
              <a:t>KeyFile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在调试器中，对</a:t>
            </a:r>
            <a:r>
              <a:rPr lang="en-US" altLang="zh-CN" dirty="0" err="1"/>
              <a:t>CreateFileA</a:t>
            </a:r>
            <a:r>
              <a:rPr lang="zh-CN" altLang="en-US" dirty="0"/>
              <a:t>函数设断点</a:t>
            </a:r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 err="1"/>
              <a:t>ReadFile</a:t>
            </a:r>
            <a:r>
              <a:rPr lang="zh-CN" altLang="en-US" dirty="0"/>
              <a:t>函数设断点</a:t>
            </a:r>
          </a:p>
          <a:p>
            <a:pPr lvl="1"/>
            <a:r>
              <a:rPr lang="zh-CN" altLang="en-US" dirty="0"/>
              <a:t>分析传递给</a:t>
            </a:r>
            <a:r>
              <a:rPr lang="en-US" altLang="zh-CN" dirty="0" err="1"/>
              <a:t>ReadFile</a:t>
            </a:r>
            <a:r>
              <a:rPr lang="zh-CN" altLang="en-US" dirty="0"/>
              <a:t>函数的文件句柄和缓冲区地址</a:t>
            </a:r>
          </a:p>
          <a:p>
            <a:pPr lvl="1"/>
            <a:r>
              <a:rPr lang="zh-CN" altLang="en-US" dirty="0"/>
              <a:t>逆向分析程序对</a:t>
            </a:r>
            <a:r>
              <a:rPr lang="en-US" altLang="zh-CN" dirty="0" err="1"/>
              <a:t>KeyFile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判断过程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5169" y="1848503"/>
            <a:ext cx="9534769" cy="42748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序列号保护</a:t>
            </a:r>
            <a:endParaRPr lang="en-US" altLang="zh-CN" dirty="0"/>
          </a:p>
          <a:p>
            <a:r>
              <a:rPr lang="zh-CN" altLang="en-US" dirty="0"/>
              <a:t>警告窗口</a:t>
            </a:r>
            <a:endParaRPr lang="en-US" altLang="zh-CN" dirty="0"/>
          </a:p>
          <a:p>
            <a:r>
              <a:rPr lang="zh-CN" altLang="en-US" dirty="0"/>
              <a:t>时间限制</a:t>
            </a:r>
            <a:endParaRPr lang="en-US" altLang="zh-CN" dirty="0"/>
          </a:p>
          <a:p>
            <a:r>
              <a:rPr lang="zh-CN" altLang="en-US" dirty="0"/>
              <a:t>菜单功能限制</a:t>
            </a:r>
            <a:endParaRPr lang="en-US" altLang="zh-CN" dirty="0"/>
          </a:p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重点：各种保护技术的实现机理与脆弱性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13</a:t>
            </a:r>
            <a:r>
              <a:rPr lang="zh-CN" altLang="en-US" sz="3600" b="1" dirty="0">
                <a:solidFill>
                  <a:srgbClr val="7030A0"/>
                </a:solidFill>
              </a:rPr>
              <a:t>章 软件知识产权保护技术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52489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3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2044</Words>
  <Application>Microsoft Office PowerPoint</Application>
  <PresentationFormat>宽屏</PresentationFormat>
  <Paragraphs>273</Paragraphs>
  <Slides>65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3" baseType="lpstr">
      <vt:lpstr>Helvetica Neue</vt:lpstr>
      <vt:lpstr>PingFang SC</vt:lpstr>
      <vt:lpstr>DengXian</vt:lpstr>
      <vt:lpstr>微软雅黑</vt:lpstr>
      <vt:lpstr>Arial</vt:lpstr>
      <vt:lpstr>Calibri</vt:lpstr>
      <vt:lpstr>Times New Roman</vt:lpstr>
      <vt:lpstr>3_400TGp_globalcity_light_ani</vt:lpstr>
      <vt:lpstr>汇编语言与逆向技术 第13章 软件知识产权保护技术</vt:lpstr>
      <vt:lpstr>软件知识产权</vt:lpstr>
      <vt:lpstr>PowerPoint 演示文稿</vt:lpstr>
      <vt:lpstr>软件盗版</vt:lpstr>
      <vt:lpstr>PowerPoint 演示文稿</vt:lpstr>
      <vt:lpstr>为了不让玩家玩盗版游戏,厂商的手段？</vt:lpstr>
      <vt:lpstr>本章知识点</vt:lpstr>
      <vt:lpstr>序列号保护</vt:lpstr>
      <vt:lpstr>PowerPoint 演示文稿</vt:lpstr>
      <vt:lpstr>序列号保护</vt:lpstr>
      <vt:lpstr>序列号保护</vt:lpstr>
      <vt:lpstr>序列号保护</vt:lpstr>
      <vt:lpstr>通过用户名生成序列号</vt:lpstr>
      <vt:lpstr>PowerPoint 演示文稿</vt:lpstr>
      <vt:lpstr>通过用户名生成序列号</vt:lpstr>
      <vt:lpstr>通过注册码验证用户名</vt:lpstr>
      <vt:lpstr>通过注册码验证用户名</vt:lpstr>
      <vt:lpstr>通过注册码验证用户名</vt:lpstr>
      <vt:lpstr>对等函数验证注册码</vt:lpstr>
      <vt:lpstr>二元函数</vt:lpstr>
      <vt:lpstr>二元函数</vt:lpstr>
      <vt:lpstr>序列号面临的安全问题</vt:lpstr>
      <vt:lpstr>警告窗口</vt:lpstr>
      <vt:lpstr>PowerPoint 演示文稿</vt:lpstr>
      <vt:lpstr>警告窗口</vt:lpstr>
      <vt:lpstr>修改程序的资源</vt:lpstr>
      <vt:lpstr>静态分析</vt:lpstr>
      <vt:lpstr>警告窗口</vt:lpstr>
      <vt:lpstr>警告窗口</vt:lpstr>
      <vt:lpstr>PowerPoint 演示文稿</vt:lpstr>
      <vt:lpstr>去除警告窗口</vt:lpstr>
      <vt:lpstr>时间限制</vt:lpstr>
      <vt:lpstr>PowerPoint 演示文稿</vt:lpstr>
      <vt:lpstr>时间限制</vt:lpstr>
      <vt:lpstr>计时器</vt:lpstr>
      <vt:lpstr>Windows计时器</vt:lpstr>
      <vt:lpstr>SetTimer函数</vt:lpstr>
      <vt:lpstr>高精度的多媒体计时器</vt:lpstr>
      <vt:lpstr>GetTickCount()函数</vt:lpstr>
      <vt:lpstr>timeGetTime函数</vt:lpstr>
      <vt:lpstr>时间限制</vt:lpstr>
      <vt:lpstr>时间限制</vt:lpstr>
      <vt:lpstr>PowerPoint 演示文稿</vt:lpstr>
      <vt:lpstr>软件的安装日期的修改</vt:lpstr>
      <vt:lpstr>修改最近一次运行的系统时间</vt:lpstr>
      <vt:lpstr>时间限制实例</vt:lpstr>
      <vt:lpstr>时间限制实例</vt:lpstr>
      <vt:lpstr>时间限制实例</vt:lpstr>
      <vt:lpstr>菜单功能限制</vt:lpstr>
      <vt:lpstr>PowerPoint 演示文稿</vt:lpstr>
      <vt:lpstr>菜单功能限制</vt:lpstr>
      <vt:lpstr>菜单功能限制</vt:lpstr>
      <vt:lpstr>EnableMenuItem()函数</vt:lpstr>
      <vt:lpstr>EnableWindow()函数</vt:lpstr>
      <vt:lpstr>菜单限制保护</vt:lpstr>
      <vt:lpstr>KeyFile保护</vt:lpstr>
      <vt:lpstr>PowerPoint 演示文稿</vt:lpstr>
      <vt:lpstr>KeyFile保护</vt:lpstr>
      <vt:lpstr>KeyFile保护</vt:lpstr>
      <vt:lpstr>KeyFile保护</vt:lpstr>
      <vt:lpstr>KeyFile保护</vt:lpstr>
      <vt:lpstr>破解KeyFile</vt:lpstr>
      <vt:lpstr>破解KeyFile</vt:lpstr>
      <vt:lpstr>本章知识点</vt:lpstr>
      <vt:lpstr>汇编语言与逆向技术 第13章 软件知识产权保护技术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第6章 PE文件结构</dc:title>
  <dc:creator>zwang</dc:creator>
  <cp:lastModifiedBy>志 王</cp:lastModifiedBy>
  <cp:revision>348</cp:revision>
  <dcterms:created xsi:type="dcterms:W3CDTF">2020-04-06T07:26:00Z</dcterms:created>
  <dcterms:modified xsi:type="dcterms:W3CDTF">2025-12-19T13:28:57Z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E682E9C4995A4174B21172D87EA32D2D_12</vt:lpwstr>
  </property>
  <property fmtid="{D5CDD505-2E9C-101B-9397-08002B2CF9AE}" pid="3" name="KSOProductBuildVer">
    <vt:lpwstr>2052-12.1.0.21915</vt:lpwstr>
  </property>
</Properties>
</file>