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1" r:id="rId1"/>
    <p:sldMasterId id="2147483749" r:id="rId2"/>
  </p:sldMasterIdLst>
  <p:notesMasterIdLst>
    <p:notesMasterId r:id="rId40"/>
  </p:notesMasterIdLst>
  <p:sldIdLst>
    <p:sldId id="256" r:id="rId3"/>
    <p:sldId id="257" r:id="rId4"/>
    <p:sldId id="294" r:id="rId5"/>
    <p:sldId id="259" r:id="rId6"/>
    <p:sldId id="258" r:id="rId7"/>
    <p:sldId id="295" r:id="rId8"/>
    <p:sldId id="270" r:id="rId9"/>
    <p:sldId id="271" r:id="rId10"/>
    <p:sldId id="272" r:id="rId11"/>
    <p:sldId id="273" r:id="rId12"/>
    <p:sldId id="290" r:id="rId13"/>
    <p:sldId id="291" r:id="rId14"/>
    <p:sldId id="277" r:id="rId15"/>
    <p:sldId id="262" r:id="rId16"/>
    <p:sldId id="276" r:id="rId17"/>
    <p:sldId id="285" r:id="rId18"/>
    <p:sldId id="282" r:id="rId19"/>
    <p:sldId id="296" r:id="rId20"/>
    <p:sldId id="283" r:id="rId21"/>
    <p:sldId id="286" r:id="rId22"/>
    <p:sldId id="287" r:id="rId23"/>
    <p:sldId id="284" r:id="rId24"/>
    <p:sldId id="278" r:id="rId25"/>
    <p:sldId id="288" r:id="rId26"/>
    <p:sldId id="260" r:id="rId27"/>
    <p:sldId id="297" r:id="rId28"/>
    <p:sldId id="301" r:id="rId29"/>
    <p:sldId id="298" r:id="rId30"/>
    <p:sldId id="299" r:id="rId31"/>
    <p:sldId id="274" r:id="rId32"/>
    <p:sldId id="300" r:id="rId33"/>
    <p:sldId id="279" r:id="rId34"/>
    <p:sldId id="281" r:id="rId35"/>
    <p:sldId id="280" r:id="rId36"/>
    <p:sldId id="263" r:id="rId37"/>
    <p:sldId id="266" r:id="rId38"/>
    <p:sldId id="261" r:id="rId39"/>
  </p:sldIdLst>
  <p:sldSz cx="12192000" cy="6858000"/>
  <p:notesSz cx="6858000" cy="9144000"/>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87F"/>
    <a:srgbClr val="BFD7B7"/>
    <a:srgbClr val="CD77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1CF4C9-8142-464E-AD69-BAF9BD314058}" v="225" dt="2026-04-22T17:36:32.7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41" autoAdjust="0"/>
    <p:restoredTop sz="94718" autoAdjust="0"/>
  </p:normalViewPr>
  <p:slideViewPr>
    <p:cSldViewPr snapToGrid="0">
      <p:cViewPr varScale="1">
        <p:scale>
          <a:sx n="95" d="100"/>
          <a:sy n="95" d="100"/>
        </p:scale>
        <p:origin x="48" y="51"/>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5E78B-FE7C-474B-AC91-ABC1B62969E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0B4EB-D9F6-4F2F-973A-15D71B3F5057}" type="slidenum">
              <a:rPr lang="en-US" smtClean="0"/>
              <a:t>‹#›</a:t>
            </a:fld>
            <a:endParaRPr lang="en-US"/>
          </a:p>
        </p:txBody>
      </p:sp>
    </p:spTree>
    <p:extLst>
      <p:ext uri="{BB962C8B-B14F-4D97-AF65-F5344CB8AC3E}">
        <p14:creationId xmlns:p14="http://schemas.microsoft.com/office/powerpoint/2010/main" val="40627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B1C12-CCCA-9665-41F1-342C3EE8E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A4E79-6C3C-ACD3-8565-B448DBF2B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8880A-FBBC-539C-6B17-F92A1BA8B4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70350-FA00-532F-4694-B57A330FE91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1585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9DAE-5295-B0FA-D4B2-321923D20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CDBF7-6F24-7E49-40EB-BF21A36D4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0484D-C344-C848-5283-B324CEBA3C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22C3A-29FA-C932-5989-BFF8D04C4C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42563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3E01-6CAF-7EB4-14A2-2473AB4C3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07AC0-F2F7-E4CE-C1C0-77E1A8CCC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869E17-F2B1-9938-2928-400E8FF7E6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F7912-3C0F-B7EA-2DEC-893BCB25592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3835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6B37C-A388-2758-E279-EDA375F78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5B322-16FB-0A72-3440-0BD766CEA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70852-BBF9-52A3-0D19-04E4D88B08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6468A4-972F-5610-66B3-A9AAF41862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7883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91E57-2444-373F-1675-0C88D673D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1D411-D7ED-4640-725A-42987F871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A44E4-FF19-2E72-7672-778004AFF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70252E-D8A4-1484-872C-47F2638CB58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9244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FCC57-2BE8-D580-64B7-C3F3B86A7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131EC-8632-9FD3-937C-FE242C713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94013-9F13-52B8-A096-238F3B904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3CD0D-E6F4-0962-B716-C0B03C0BF24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0729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50389-C598-0F1D-0E7E-486340A69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768F6-5011-E955-A6C5-CC7049DA3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C21FA-8A18-3FE4-1DE7-CC32FFFCB0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0F286-B0FE-33E3-4D24-C2D2AB739EA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3276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B4A54-D799-6056-C296-CDFFA98B5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904B8-977C-8BC7-4BE5-0D9A90A82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DCBB6-2E12-6330-6AE7-990774E93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B7CA4-160A-BD5F-434F-CB2156BEBDB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76674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089E-B53E-988A-7FAE-A10B0B225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C07CF-7132-55AA-89EC-0E3B622EA9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6F8AF-B9F6-09AC-08D6-49ACE4D4A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DD649D-EA80-E877-E9E2-7B453A00A78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8578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3477-F39F-892D-8DEF-19F095B34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FD91C-2FFE-3D8D-B615-E58A2BF4B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330E9-F8AB-EFE5-E0F3-D48A24F47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7BCC80-8817-8C13-59EE-018E34EC27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8560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B0D2-C1A4-44DD-8367-8292DAC8D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8B1BC-73A5-BAA5-EB75-02A6769C1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D1AD7-CCFF-187C-E414-1DC50BFD37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74D79C-0C91-40D6-4791-482C956EFFE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3576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A180-AB79-8E2F-E71E-A11D2A3F7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DC63C-93DC-44E8-9002-CDFB6DA85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E19E2-DCF0-51B5-13AA-F115DF9F3F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D004C6-7E96-8821-7D6C-D59E0BD63C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2965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584A7-B860-EEC4-0924-D4C6577C2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2A103-EC58-24E4-E8CF-BD6EDF02F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D51EF-BDE0-76B5-E6D1-F20DF92792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2F09C1-DA7C-3976-9CA5-35186AEF940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7329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3E10-B293-00A4-A745-481DF6FE7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3695E-156A-90FF-4962-3E5694DB6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B5F9A-B5CF-B74E-4C94-445476DFD6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B55069-9E2E-0726-1C1A-C466A7BE771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8847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C2D0F-154A-C380-07A9-B40EE287F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0D85A-FE1E-5797-B9C4-02BF0F8C9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02042-40E9-FE1E-355F-A09353E9D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36050-6447-D8B1-DBAE-0A15EA85455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4969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5AE70-FE39-B0B2-27B3-28BE466D9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AC07C-C3FC-1819-7ACF-FFF336DD8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D8ADD-5AAC-34A7-AA5E-0B6FE8E14A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F433F-8606-1038-B15B-D5A97D11C3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62052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B23DD-0978-3398-098F-3E375A570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CD2C1-27C5-B34B-D7DD-315222C6B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8FF2D-4AA9-917D-3821-3A1FD8DAD6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51C980-8836-5A8B-F5D6-A35D6112997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50969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02452-DBBE-79C2-6A4A-11EDC8B64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8EC8F-6779-7AA2-6C1A-1C0272615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B8A12-1C9F-2234-397D-8E335B074D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F65B9B-EF98-7C3D-D276-C6D2314FBF4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9499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EA579-ADE1-C16C-7449-BA200A52D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011E-C95F-30B2-3735-D1E0B8D34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D90AF-4D5F-1B20-B569-4BC2A1ADF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890C2E-1AC5-A4C7-565D-6F0B972EE74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5392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CAE9-2C08-982A-DE8A-615F1045E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21B0A-727C-2064-F790-2B6E98210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B71A3-C214-563B-9631-64A567EC3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C22800-1E30-4BC0-A718-F107904211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6838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243C7-40EC-0A41-9940-28A9A6848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105EF-BF8F-C96F-8431-6C1AC530E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1D064-AC88-F119-A92C-663E2D0CDE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7480CF-4D83-D882-AB23-DE9102777CC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4572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CF97C-21FE-8E7F-41EC-6A29E330A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30E57-9059-8117-C871-7FC9033C9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AAA84-2A8B-49C6-EFF1-6E17D11D12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184F0D-8B14-0CA6-C9FC-8D660759B08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1998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533E-BAA2-A084-4BC6-A0B8B28D3457}"/>
              </a:ext>
            </a:extLst>
          </p:cNvPr>
          <p:cNvSpPr>
            <a:spLocks noGrp="1"/>
          </p:cNvSpPr>
          <p:nvPr>
            <p:ph type="ctrTitle"/>
          </p:nvPr>
        </p:nvSpPr>
        <p:spPr>
          <a:xfrm>
            <a:off x="1005840" y="1872980"/>
            <a:ext cx="7955280" cy="2387600"/>
          </a:xfrm>
          <a:noFill/>
          <a:ln/>
        </p:spPr>
        <p:txBody>
          <a:bodyPr wrap="square" lIns="0" tIns="0" rIns="0" bIns="0" rtlCol="0" anchor="ctr">
            <a:noAutofit/>
          </a:bodyPr>
          <a:lstStyle>
            <a:lvl1pPr algn="l">
              <a:defRPr lang="en-US" sz="7200" b="1" cap="all" baseline="0" dirty="0">
                <a:solidFill>
                  <a:srgbClr val="FFFFFF"/>
                </a:solidFill>
                <a:latin typeface="Arial Black" pitchFamily="34" charset="0"/>
                <a:ea typeface="Arial Black" pitchFamily="34" charset="-122"/>
                <a:cs typeface="Arial Black" pitchFamily="34" charset="-120"/>
              </a:defRPr>
            </a:lvl1pPr>
          </a:lstStyle>
          <a:p>
            <a:pPr marL="0" lvl="0" indent="0" defTabSz="457200"/>
            <a:r>
              <a:rPr lang="zh-CN" altLang="en-US"/>
              <a:t>单击此处编辑母版标题样式</a:t>
            </a:r>
            <a:endParaRPr lang="en-US" dirty="0"/>
          </a:p>
        </p:txBody>
      </p:sp>
      <p:sp>
        <p:nvSpPr>
          <p:cNvPr id="3" name="Subtitle 2">
            <a:extLst>
              <a:ext uri="{FF2B5EF4-FFF2-40B4-BE49-F238E27FC236}">
                <a16:creationId xmlns:a16="http://schemas.microsoft.com/office/drawing/2014/main" id="{5418C5D0-1516-42E7-03D9-5AB400D474D2}"/>
              </a:ext>
            </a:extLst>
          </p:cNvPr>
          <p:cNvSpPr>
            <a:spLocks noGrp="1"/>
          </p:cNvSpPr>
          <p:nvPr>
            <p:ph type="subTitle" idx="1"/>
          </p:nvPr>
        </p:nvSpPr>
        <p:spPr>
          <a:xfrm>
            <a:off x="1005839" y="4730511"/>
            <a:ext cx="7772400" cy="1097281"/>
          </a:xfrm>
          <a:noFill/>
          <a:ln/>
        </p:spPr>
        <p:txBody>
          <a:bodyPr wrap="square" lIns="0" tIns="0" rIns="0" bIns="0" rtlCol="0" anchor="ctr">
            <a:normAutofit/>
          </a:bodyPr>
          <a:lstStyle>
            <a:lvl1pPr marL="0" indent="0" algn="l">
              <a:buNone/>
              <a:defRPr lang="en-US" sz="1800">
                <a:solidFill>
                  <a:srgbClr val="9D84B7"/>
                </a:solidFill>
                <a:latin typeface="Calibri" pitchFamily="34" charset="0"/>
                <a:ea typeface="Calibri" pitchFamily="34" charset="-122"/>
                <a:cs typeface="Calibri" pitchFamily="34" charset="-12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buNone/>
            </a:pPr>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FC8D2FD4-49E5-321F-8E17-A3156CC460EE}"/>
              </a:ext>
            </a:extLst>
          </p:cNvPr>
          <p:cNvSpPr>
            <a:spLocks noGrp="1"/>
          </p:cNvSpPr>
          <p:nvPr>
            <p:ph type="dt" sz="half" idx="10"/>
          </p:nvPr>
        </p:nvSpPr>
        <p:spPr/>
        <p:txBody>
          <a:bodyPr/>
          <a:lstStyle>
            <a:lvl1pPr>
              <a:defRPr/>
            </a:lvl1pPr>
          </a:lstStyle>
          <a:p>
            <a:r>
              <a:rPr lang="en-US" dirty="0"/>
              <a:t>Date</a:t>
            </a:r>
          </a:p>
        </p:txBody>
      </p:sp>
      <p:sp>
        <p:nvSpPr>
          <p:cNvPr id="5" name="Footer Placeholder 4">
            <a:extLst>
              <a:ext uri="{FF2B5EF4-FFF2-40B4-BE49-F238E27FC236}">
                <a16:creationId xmlns:a16="http://schemas.microsoft.com/office/drawing/2014/main" id="{81EFBD80-0B26-ECFF-33C3-907F19855FEF}"/>
              </a:ext>
            </a:extLst>
          </p:cNvPr>
          <p:cNvSpPr>
            <a:spLocks noGrp="1"/>
          </p:cNvSpPr>
          <p:nvPr>
            <p:ph type="ftr" sz="quarter" idx="11"/>
          </p:nvPr>
        </p:nvSpPr>
        <p:spPr/>
        <p:txBody>
          <a:bodyPr/>
          <a:lstStyle>
            <a:lvl1pPr>
              <a:defRPr/>
            </a:lvl1pPr>
          </a:lstStyle>
          <a:p>
            <a:r>
              <a:rPr lang="en-US" dirty="0"/>
              <a:t>Your Footer Here</a:t>
            </a:r>
          </a:p>
        </p:txBody>
      </p:sp>
      <p:sp>
        <p:nvSpPr>
          <p:cNvPr id="6" name="Slide Number Placeholder 5">
            <a:extLst>
              <a:ext uri="{FF2B5EF4-FFF2-40B4-BE49-F238E27FC236}">
                <a16:creationId xmlns:a16="http://schemas.microsoft.com/office/drawing/2014/main" id="{19F99941-312A-27AB-5C55-7A6FB1D190C3}"/>
              </a:ext>
            </a:extLst>
          </p:cNvPr>
          <p:cNvSpPr>
            <a:spLocks noGrp="1"/>
          </p:cNvSpPr>
          <p:nvPr>
            <p:ph type="sldNum" sz="quarter" idx="12"/>
          </p:nvPr>
        </p:nvSpPr>
        <p:spPr/>
        <p:txBody>
          <a:bodyPr/>
          <a:lstStyle/>
          <a:p>
            <a:fld id="{0D6B0717-3879-4F5B-AECB-285F04B8123E}" type="slidenum">
              <a:rPr lang="en-US" smtClean="0"/>
              <a:t>‹#›</a:t>
            </a:fld>
            <a:endParaRPr lang="en-US"/>
          </a:p>
        </p:txBody>
      </p:sp>
      <p:sp>
        <p:nvSpPr>
          <p:cNvPr id="9" name="Shape 3">
            <a:extLst>
              <a:ext uri="{FF2B5EF4-FFF2-40B4-BE49-F238E27FC236}">
                <a16:creationId xmlns:a16="http://schemas.microsoft.com/office/drawing/2014/main" id="{86AD961B-AF6F-885F-0E4A-1C2C7954B1EE}"/>
              </a:ext>
            </a:extLst>
          </p:cNvPr>
          <p:cNvSpPr/>
          <p:nvPr userDrawn="1"/>
        </p:nvSpPr>
        <p:spPr>
          <a:xfrm>
            <a:off x="0" y="0"/>
            <a:ext cx="448574" cy="6858000"/>
          </a:xfrm>
          <a:prstGeom prst="rect">
            <a:avLst/>
          </a:prstGeom>
          <a:solidFill>
            <a:srgbClr val="FF4D6D"/>
          </a:solidFill>
          <a:ln w="12700">
            <a:noFill/>
            <a:prstDash val="solid"/>
          </a:ln>
        </p:spPr>
        <p:txBody>
          <a:bodyPr/>
          <a:lstStyle/>
          <a:p>
            <a:endParaRPr lang="en-US"/>
          </a:p>
        </p:txBody>
      </p:sp>
      <p:sp>
        <p:nvSpPr>
          <p:cNvPr id="10" name="Shape 0">
            <a:extLst>
              <a:ext uri="{FF2B5EF4-FFF2-40B4-BE49-F238E27FC236}">
                <a16:creationId xmlns:a16="http://schemas.microsoft.com/office/drawing/2014/main" id="{25D6F6C0-A2A5-E141-95D2-0C6FB86A75CF}"/>
              </a:ext>
            </a:extLst>
          </p:cNvPr>
          <p:cNvSpPr/>
          <p:nvPr userDrawn="1"/>
        </p:nvSpPr>
        <p:spPr>
          <a:xfrm>
            <a:off x="8814973" y="-1934735"/>
            <a:ext cx="5575900" cy="5575900"/>
          </a:xfrm>
          <a:prstGeom prst="ellipse">
            <a:avLst/>
          </a:prstGeom>
          <a:solidFill>
            <a:srgbClr val="7B2FBE">
              <a:alpha val="30000"/>
            </a:srgbClr>
          </a:solidFill>
          <a:ln w="12700">
            <a:solidFill>
              <a:srgbClr val="7B2FBE"/>
            </a:solidFill>
            <a:prstDash val="solid"/>
          </a:ln>
        </p:spPr>
        <p:txBody>
          <a:bodyPr/>
          <a:lstStyle/>
          <a:p>
            <a:endParaRPr lang="en-US"/>
          </a:p>
        </p:txBody>
      </p:sp>
      <p:sp>
        <p:nvSpPr>
          <p:cNvPr id="11" name="Shape 1">
            <a:extLst>
              <a:ext uri="{FF2B5EF4-FFF2-40B4-BE49-F238E27FC236}">
                <a16:creationId xmlns:a16="http://schemas.microsoft.com/office/drawing/2014/main" id="{D15DF20E-41A3-BC69-B041-C2E44B8802A7}"/>
              </a:ext>
            </a:extLst>
          </p:cNvPr>
          <p:cNvSpPr/>
          <p:nvPr userDrawn="1"/>
        </p:nvSpPr>
        <p:spPr>
          <a:xfrm>
            <a:off x="-1051560" y="4298950"/>
            <a:ext cx="4114799" cy="4114799"/>
          </a:xfrm>
          <a:prstGeom prst="ellipse">
            <a:avLst/>
          </a:prstGeom>
          <a:solidFill>
            <a:srgbClr val="FF4D6D">
              <a:alpha val="25000"/>
            </a:srgbClr>
          </a:solidFill>
          <a:ln w="12700">
            <a:solidFill>
              <a:srgbClr val="FF4D6D"/>
            </a:solidFill>
            <a:prstDash val="solid"/>
          </a:ln>
        </p:spPr>
        <p:txBody>
          <a:bodyPr/>
          <a:lstStyle/>
          <a:p>
            <a:endParaRPr lang="en-US"/>
          </a:p>
        </p:txBody>
      </p:sp>
      <p:sp>
        <p:nvSpPr>
          <p:cNvPr id="12" name="Shape 4">
            <a:extLst>
              <a:ext uri="{FF2B5EF4-FFF2-40B4-BE49-F238E27FC236}">
                <a16:creationId xmlns:a16="http://schemas.microsoft.com/office/drawing/2014/main" id="{726ED214-A47E-1176-FFD8-A74460B0C7CB}"/>
              </a:ext>
            </a:extLst>
          </p:cNvPr>
          <p:cNvSpPr/>
          <p:nvPr userDrawn="1"/>
        </p:nvSpPr>
        <p:spPr>
          <a:xfrm>
            <a:off x="448574" y="4639071"/>
            <a:ext cx="11743426" cy="91440"/>
          </a:xfrm>
          <a:prstGeom prst="rect">
            <a:avLst/>
          </a:prstGeom>
          <a:solidFill>
            <a:srgbClr val="C77DFF">
              <a:alpha val="60000"/>
            </a:srgbClr>
          </a:solidFill>
          <a:ln w="12700">
            <a:solidFill>
              <a:srgbClr val="C77DFF"/>
            </a:solidFill>
            <a:prstDash val="solid"/>
          </a:ln>
        </p:spPr>
        <p:txBody>
          <a:bodyPr/>
          <a:lstStyle/>
          <a:p>
            <a:endParaRPr lang="en-US"/>
          </a:p>
        </p:txBody>
      </p:sp>
      <p:sp>
        <p:nvSpPr>
          <p:cNvPr id="15" name="Shape 2">
            <a:extLst>
              <a:ext uri="{FF2B5EF4-FFF2-40B4-BE49-F238E27FC236}">
                <a16:creationId xmlns:a16="http://schemas.microsoft.com/office/drawing/2014/main" id="{C2F3515F-4118-C2BD-9A4D-458494549E74}"/>
              </a:ext>
            </a:extLst>
          </p:cNvPr>
          <p:cNvSpPr/>
          <p:nvPr userDrawn="1"/>
        </p:nvSpPr>
        <p:spPr>
          <a:xfrm>
            <a:off x="10363200" y="4678678"/>
            <a:ext cx="2286000" cy="2286000"/>
          </a:xfrm>
          <a:prstGeom prst="ellipse">
            <a:avLst/>
          </a:prstGeom>
          <a:solidFill>
            <a:srgbClr val="C77DFF">
              <a:alpha val="40000"/>
            </a:srgbClr>
          </a:solidFill>
          <a:ln w="12700">
            <a:solidFill>
              <a:srgbClr val="C77DFF"/>
            </a:solidFill>
            <a:prstDash val="solid"/>
          </a:ln>
        </p:spPr>
        <p:txBody>
          <a:bodyPr/>
          <a:lstStyle/>
          <a:p>
            <a:endParaRPr lang="en-US"/>
          </a:p>
        </p:txBody>
      </p:sp>
    </p:spTree>
    <p:extLst>
      <p:ext uri="{BB962C8B-B14F-4D97-AF65-F5344CB8AC3E}">
        <p14:creationId xmlns:p14="http://schemas.microsoft.com/office/powerpoint/2010/main" val="45505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1">
    <p:bg>
      <p:bgPr>
        <a:solidFill>
          <a:schemeClr val="accent3">
            <a:lumMod val="20000"/>
            <a:lumOff val="80000"/>
            <a:alpha val="3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AF8FAB-550F-F1ED-D21F-86DC702E8550}"/>
              </a:ext>
            </a:extLst>
          </p:cNvPr>
          <p:cNvSpPr>
            <a:spLocks noGrp="1"/>
          </p:cNvSpPr>
          <p:nvPr>
            <p:ph idx="1"/>
          </p:nvPr>
        </p:nvSpPr>
        <p:spPr>
          <a:xfrm>
            <a:off x="838200" y="1825625"/>
            <a:ext cx="10515600" cy="4351338"/>
          </a:xfrm>
        </p:spPr>
        <p:txBody>
          <a:bodyPr/>
          <a:lstStyle>
            <a:lvl1pPr>
              <a:spcAft>
                <a:spcPts val="600"/>
              </a:spcAft>
              <a:defRPr/>
            </a:lvl1pPr>
            <a:lvl2pPr>
              <a:spcAft>
                <a:spcPts val="600"/>
              </a:spcAft>
              <a:defRPr/>
            </a:lvl2pPr>
            <a:lvl3pPr>
              <a:spcAft>
                <a:spcPts val="600"/>
              </a:spcAft>
              <a:defRPr/>
            </a:lvl3pPr>
            <a:lvl4pPr>
              <a:spcAft>
                <a:spcPts val="600"/>
              </a:spcAft>
              <a:defRPr/>
            </a:lvl4pPr>
            <a:lvl5pPr>
              <a:spcAft>
                <a:spcPts val="600"/>
              </a:spcAf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Shape 0">
            <a:extLst>
              <a:ext uri="{FF2B5EF4-FFF2-40B4-BE49-F238E27FC236}">
                <a16:creationId xmlns:a16="http://schemas.microsoft.com/office/drawing/2014/main" id="{65A4955C-D93F-D0C9-6948-27EC2B2F2973}"/>
              </a:ext>
            </a:extLst>
          </p:cNvPr>
          <p:cNvSpPr/>
          <p:nvPr/>
        </p:nvSpPr>
        <p:spPr>
          <a:xfrm>
            <a:off x="0" y="-1"/>
            <a:ext cx="12192000" cy="1325563"/>
          </a:xfrm>
          <a:prstGeom prst="rect">
            <a:avLst/>
          </a:prstGeom>
          <a:solidFill>
            <a:srgbClr val="10002B"/>
          </a:solidFill>
          <a:ln w="12700">
            <a:noFill/>
            <a:prstDash val="solid"/>
          </a:ln>
        </p:spPr>
        <p:txBody>
          <a:bodyPr/>
          <a:lstStyle/>
          <a:p>
            <a:pPr defTabSz="914400"/>
            <a:endParaRPr lang="en-US">
              <a:solidFill>
                <a:prstClr val="black"/>
              </a:solidFill>
              <a:latin typeface="Calibri" panose="020F0502020204030204"/>
            </a:endParaRPr>
          </a:p>
        </p:txBody>
      </p:sp>
      <p:sp>
        <p:nvSpPr>
          <p:cNvPr id="14" name="Shape 16">
            <a:extLst>
              <a:ext uri="{FF2B5EF4-FFF2-40B4-BE49-F238E27FC236}">
                <a16:creationId xmlns:a16="http://schemas.microsoft.com/office/drawing/2014/main" id="{B255EBCB-7F4F-9F06-1310-FA4AC2A9B459}"/>
              </a:ext>
            </a:extLst>
          </p:cNvPr>
          <p:cNvSpPr/>
          <p:nvPr userDrawn="1"/>
        </p:nvSpPr>
        <p:spPr>
          <a:xfrm>
            <a:off x="0" y="6480572"/>
            <a:ext cx="12192000" cy="377428"/>
          </a:xfrm>
          <a:prstGeom prst="rect">
            <a:avLst/>
          </a:prstGeom>
          <a:solidFill>
            <a:srgbClr val="10002B"/>
          </a:solidFill>
          <a:ln w="12700">
            <a:noFill/>
            <a:prstDash val="solid"/>
          </a:ln>
        </p:spPr>
        <p:txBody>
          <a:bodyPr/>
          <a:lstStyle/>
          <a:p>
            <a:endParaRPr lang="en-US"/>
          </a:p>
        </p:txBody>
      </p:sp>
      <p:sp>
        <p:nvSpPr>
          <p:cNvPr id="6" name="Slide Number Placeholder 5">
            <a:extLst>
              <a:ext uri="{FF2B5EF4-FFF2-40B4-BE49-F238E27FC236}">
                <a16:creationId xmlns:a16="http://schemas.microsoft.com/office/drawing/2014/main" id="{987BBE33-CD13-4E89-54F4-3C5B1552E40F}"/>
              </a:ext>
            </a:extLst>
          </p:cNvPr>
          <p:cNvSpPr>
            <a:spLocks noGrp="1"/>
          </p:cNvSpPr>
          <p:nvPr userDrawn="1">
            <p:ph type="sldNum" sz="quarter" idx="12"/>
          </p:nvPr>
        </p:nvSpPr>
        <p:spPr>
          <a:xfrm>
            <a:off x="8610600" y="6486724"/>
            <a:ext cx="2743200" cy="365125"/>
          </a:xfrm>
        </p:spPr>
        <p:txBody>
          <a:bodyPr/>
          <a:lstStyle>
            <a:lvl1pPr>
              <a:defRPr>
                <a:solidFill>
                  <a:schemeClr val="accent1"/>
                </a:solidFill>
              </a:defRPr>
            </a:lvl1pPr>
          </a:lstStyle>
          <a:p>
            <a:fld id="{0D6B0717-3879-4F5B-AECB-285F04B8123E}" type="slidenum">
              <a:rPr lang="en-US" smtClean="0"/>
              <a:pPr/>
              <a:t>‹#›</a:t>
            </a:fld>
            <a:endParaRPr lang="en-US" dirty="0"/>
          </a:p>
        </p:txBody>
      </p:sp>
      <p:sp>
        <p:nvSpPr>
          <p:cNvPr id="5" name="Footer Placeholder 4">
            <a:extLst>
              <a:ext uri="{FF2B5EF4-FFF2-40B4-BE49-F238E27FC236}">
                <a16:creationId xmlns:a16="http://schemas.microsoft.com/office/drawing/2014/main" id="{A98686FF-5BCE-BBE2-1AD5-EA89BB57F012}"/>
              </a:ext>
            </a:extLst>
          </p:cNvPr>
          <p:cNvSpPr>
            <a:spLocks noGrp="1"/>
          </p:cNvSpPr>
          <p:nvPr userDrawn="1">
            <p:ph type="ftr" sz="quarter" idx="11"/>
          </p:nvPr>
        </p:nvSpPr>
        <p:spPr>
          <a:xfrm>
            <a:off x="838200" y="6486724"/>
            <a:ext cx="4114800" cy="365125"/>
          </a:xfrm>
          <a:noFill/>
          <a:ln/>
        </p:spPr>
        <p:txBody>
          <a:bodyPr wrap="square" lIns="0" tIns="0" rIns="0" bIns="0" rtlCol="0" anchor="ctr"/>
          <a:lstStyle>
            <a:lvl1pPr>
              <a:defRPr lang="en-US" sz="900">
                <a:solidFill>
                  <a:srgbClr val="9D84B7"/>
                </a:solidFill>
                <a:latin typeface="Calibri" pitchFamily="34" charset="0"/>
                <a:ea typeface="Calibri" pitchFamily="34" charset="-122"/>
                <a:cs typeface="Calibri" pitchFamily="34" charset="-120"/>
              </a:defRPr>
            </a:lvl1pPr>
          </a:lstStyle>
          <a:p>
            <a:pPr algn="l" defTabSz="914400"/>
            <a:endParaRPr lang="en-US" sz="900" dirty="0">
              <a:solidFill>
                <a:srgbClr val="9D84B7"/>
              </a:solidFill>
              <a:latin typeface="Calibri" pitchFamily="34" charset="0"/>
              <a:ea typeface="Calibri" pitchFamily="34" charset="-122"/>
              <a:cs typeface="Calibri" pitchFamily="34" charset="-120"/>
            </a:endParaRPr>
          </a:p>
        </p:txBody>
      </p:sp>
      <p:sp>
        <p:nvSpPr>
          <p:cNvPr id="2" name="Title 1">
            <a:extLst>
              <a:ext uri="{FF2B5EF4-FFF2-40B4-BE49-F238E27FC236}">
                <a16:creationId xmlns:a16="http://schemas.microsoft.com/office/drawing/2014/main" id="{2C235030-E965-90C3-D934-67909D1F9AF7}"/>
              </a:ext>
            </a:extLst>
          </p:cNvPr>
          <p:cNvSpPr>
            <a:spLocks noGrp="1"/>
          </p:cNvSpPr>
          <p:nvPr userDrawn="1">
            <p:ph type="title"/>
          </p:nvPr>
        </p:nvSpPr>
        <p:spPr>
          <a:xfrm>
            <a:off x="836676" y="-1"/>
            <a:ext cx="10515600" cy="1325563"/>
          </a:xfrm>
        </p:spPr>
        <p:txBody>
          <a:bodyPr/>
          <a:lstStyle>
            <a:lvl1pPr>
              <a:defRPr>
                <a:solidFill>
                  <a:schemeClr val="bg1"/>
                </a:solidFill>
              </a:defRPr>
            </a:lvl1pPr>
          </a:lstStyle>
          <a:p>
            <a:r>
              <a:rPr lang="zh-CN" altLang="en-US"/>
              <a:t>单击此处编辑母版标题样式</a:t>
            </a:r>
            <a:endParaRPr lang="en-US" dirty="0"/>
          </a:p>
        </p:txBody>
      </p:sp>
      <p:sp>
        <p:nvSpPr>
          <p:cNvPr id="4" name="Shape 3">
            <a:extLst>
              <a:ext uri="{FF2B5EF4-FFF2-40B4-BE49-F238E27FC236}">
                <a16:creationId xmlns:a16="http://schemas.microsoft.com/office/drawing/2014/main" id="{0CC9BA69-E8B9-F84C-50FE-BDF3C3CC5F9B}"/>
              </a:ext>
            </a:extLst>
          </p:cNvPr>
          <p:cNvSpPr/>
          <p:nvPr userDrawn="1"/>
        </p:nvSpPr>
        <p:spPr>
          <a:xfrm>
            <a:off x="0" y="1"/>
            <a:ext cx="448574" cy="6480572"/>
          </a:xfrm>
          <a:prstGeom prst="rect">
            <a:avLst/>
          </a:prstGeom>
          <a:solidFill>
            <a:srgbClr val="FF4D6D"/>
          </a:solidFill>
          <a:ln w="12700">
            <a:noFill/>
            <a:prstDash val="solid"/>
          </a:ln>
        </p:spPr>
        <p:txBody>
          <a:bodyPr/>
          <a:lstStyle/>
          <a:p>
            <a:endParaRPr lang="en-US"/>
          </a:p>
        </p:txBody>
      </p:sp>
    </p:spTree>
    <p:extLst>
      <p:ext uri="{BB962C8B-B14F-4D97-AF65-F5344CB8AC3E}">
        <p14:creationId xmlns:p14="http://schemas.microsoft.com/office/powerpoint/2010/main" val="451497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3">
            <a:lumMod val="20000"/>
            <a:lumOff val="80000"/>
            <a:alpha val="30000"/>
          </a:schemeClr>
        </a:solidFill>
        <a:effectLst/>
      </p:bgPr>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E5B351B5-5834-9BC9-0C94-0EFE538690EE}"/>
              </a:ext>
            </a:extLst>
          </p:cNvPr>
          <p:cNvSpPr/>
          <p:nvPr userDrawn="1"/>
        </p:nvSpPr>
        <p:spPr>
          <a:xfrm>
            <a:off x="0" y="-1"/>
            <a:ext cx="12192000" cy="1325563"/>
          </a:xfrm>
          <a:prstGeom prst="rect">
            <a:avLst/>
          </a:prstGeom>
          <a:solidFill>
            <a:srgbClr val="10002B"/>
          </a:solidFill>
          <a:ln w="12700">
            <a:noFill/>
            <a:prstDash val="solid"/>
          </a:ln>
        </p:spPr>
        <p:txBody>
          <a:bodyPr/>
          <a:lstStyle/>
          <a:p>
            <a:pPr defTabSz="914400"/>
            <a:endParaRPr lang="en-US">
              <a:solidFill>
                <a:prstClr val="black"/>
              </a:solidFill>
              <a:latin typeface="Calibri" panose="020F0502020204030204"/>
            </a:endParaRPr>
          </a:p>
        </p:txBody>
      </p:sp>
      <p:sp>
        <p:nvSpPr>
          <p:cNvPr id="15" name="Title 1">
            <a:extLst>
              <a:ext uri="{FF2B5EF4-FFF2-40B4-BE49-F238E27FC236}">
                <a16:creationId xmlns:a16="http://schemas.microsoft.com/office/drawing/2014/main" id="{7BF052AA-86E5-DA55-E345-BDC20092311C}"/>
              </a:ext>
            </a:extLst>
          </p:cNvPr>
          <p:cNvSpPr>
            <a:spLocks noGrp="1"/>
          </p:cNvSpPr>
          <p:nvPr>
            <p:ph type="title"/>
          </p:nvPr>
        </p:nvSpPr>
        <p:spPr>
          <a:xfrm>
            <a:off x="836676" y="-1"/>
            <a:ext cx="10515600" cy="1325563"/>
          </a:xfrm>
        </p:spPr>
        <p:txBody>
          <a:bodyPr/>
          <a:lstStyle>
            <a:lvl1pPr>
              <a:defRPr>
                <a:solidFill>
                  <a:schemeClr val="bg1"/>
                </a:solidFill>
              </a:defRPr>
            </a:lvl1pPr>
          </a:lstStyle>
          <a:p>
            <a:r>
              <a:rPr lang="zh-CN" altLang="en-US"/>
              <a:t>单击此处编辑母版标题样式</a:t>
            </a:r>
            <a:endParaRPr lang="en-US" dirty="0"/>
          </a:p>
        </p:txBody>
      </p:sp>
      <p:sp>
        <p:nvSpPr>
          <p:cNvPr id="16" name="Shape 3">
            <a:extLst>
              <a:ext uri="{FF2B5EF4-FFF2-40B4-BE49-F238E27FC236}">
                <a16:creationId xmlns:a16="http://schemas.microsoft.com/office/drawing/2014/main" id="{E1EFFE38-309A-26C1-2CD0-012C0DBFADE5}"/>
              </a:ext>
            </a:extLst>
          </p:cNvPr>
          <p:cNvSpPr/>
          <p:nvPr userDrawn="1"/>
        </p:nvSpPr>
        <p:spPr>
          <a:xfrm>
            <a:off x="0" y="1"/>
            <a:ext cx="448574" cy="1325562"/>
          </a:xfrm>
          <a:prstGeom prst="rect">
            <a:avLst/>
          </a:prstGeom>
          <a:solidFill>
            <a:srgbClr val="FF4D6D"/>
          </a:solidFill>
          <a:ln w="12700">
            <a:noFill/>
            <a:prstDash val="solid"/>
          </a:ln>
        </p:spPr>
        <p:txBody>
          <a:bodyPr/>
          <a:lstStyle/>
          <a:p>
            <a:endParaRPr lang="en-US"/>
          </a:p>
        </p:txBody>
      </p:sp>
      <p:sp>
        <p:nvSpPr>
          <p:cNvPr id="2" name="Shape 16">
            <a:extLst>
              <a:ext uri="{FF2B5EF4-FFF2-40B4-BE49-F238E27FC236}">
                <a16:creationId xmlns:a16="http://schemas.microsoft.com/office/drawing/2014/main" id="{9512195E-2C38-1498-20F2-79EDD5CB55C6}"/>
              </a:ext>
            </a:extLst>
          </p:cNvPr>
          <p:cNvSpPr/>
          <p:nvPr userDrawn="1"/>
        </p:nvSpPr>
        <p:spPr>
          <a:xfrm>
            <a:off x="0" y="6480572"/>
            <a:ext cx="12192000" cy="377428"/>
          </a:xfrm>
          <a:prstGeom prst="rect">
            <a:avLst/>
          </a:prstGeom>
          <a:solidFill>
            <a:srgbClr val="10002B"/>
          </a:solidFill>
          <a:ln w="12700">
            <a:noFill/>
            <a:prstDash val="solid"/>
          </a:ln>
        </p:spPr>
        <p:txBody>
          <a:bodyPr/>
          <a:lstStyle/>
          <a:p>
            <a:endParaRPr lang="en-US"/>
          </a:p>
        </p:txBody>
      </p:sp>
      <p:sp>
        <p:nvSpPr>
          <p:cNvPr id="3" name="Slide Number Placeholder 5">
            <a:extLst>
              <a:ext uri="{FF2B5EF4-FFF2-40B4-BE49-F238E27FC236}">
                <a16:creationId xmlns:a16="http://schemas.microsoft.com/office/drawing/2014/main" id="{46453239-D61B-98B4-F7F2-77C5A476A72A}"/>
              </a:ext>
            </a:extLst>
          </p:cNvPr>
          <p:cNvSpPr>
            <a:spLocks noGrp="1"/>
          </p:cNvSpPr>
          <p:nvPr>
            <p:ph type="sldNum" sz="quarter" idx="12"/>
          </p:nvPr>
        </p:nvSpPr>
        <p:spPr>
          <a:xfrm>
            <a:off x="8610600" y="6486724"/>
            <a:ext cx="2743200" cy="365125"/>
          </a:xfrm>
        </p:spPr>
        <p:txBody>
          <a:bodyPr/>
          <a:lstStyle>
            <a:lvl1pPr>
              <a:defRPr>
                <a:solidFill>
                  <a:schemeClr val="accent1"/>
                </a:solidFill>
              </a:defRPr>
            </a:lvl1pPr>
          </a:lstStyle>
          <a:p>
            <a:fld id="{0D6B0717-3879-4F5B-AECB-285F04B8123E}" type="slidenum">
              <a:rPr lang="en-US" smtClean="0"/>
              <a:pPr/>
              <a:t>‹#›</a:t>
            </a:fld>
            <a:endParaRPr lang="en-US" dirty="0"/>
          </a:p>
        </p:txBody>
      </p:sp>
      <p:sp>
        <p:nvSpPr>
          <p:cNvPr id="4" name="Footer Placeholder 4">
            <a:extLst>
              <a:ext uri="{FF2B5EF4-FFF2-40B4-BE49-F238E27FC236}">
                <a16:creationId xmlns:a16="http://schemas.microsoft.com/office/drawing/2014/main" id="{577842B5-6ABB-F03C-04C3-A349CE5EEA22}"/>
              </a:ext>
            </a:extLst>
          </p:cNvPr>
          <p:cNvSpPr>
            <a:spLocks noGrp="1"/>
          </p:cNvSpPr>
          <p:nvPr>
            <p:ph type="ftr" sz="quarter" idx="11"/>
          </p:nvPr>
        </p:nvSpPr>
        <p:spPr>
          <a:xfrm>
            <a:off x="838200" y="6486724"/>
            <a:ext cx="4114800" cy="365125"/>
          </a:xfrm>
          <a:noFill/>
          <a:ln/>
        </p:spPr>
        <p:txBody>
          <a:bodyPr wrap="square" lIns="0" tIns="0" rIns="0" bIns="0" rtlCol="0" anchor="ctr"/>
          <a:lstStyle>
            <a:lvl1pPr>
              <a:defRPr lang="en-US" sz="900">
                <a:solidFill>
                  <a:srgbClr val="9D84B7"/>
                </a:solidFill>
                <a:latin typeface="Calibri" pitchFamily="34" charset="0"/>
                <a:ea typeface="Calibri" pitchFamily="34" charset="-122"/>
                <a:cs typeface="Calibri" pitchFamily="34" charset="-120"/>
              </a:defRPr>
            </a:lvl1pPr>
          </a:lstStyle>
          <a:p>
            <a:pPr algn="l" defTabSz="914400"/>
            <a:endParaRPr lang="en-US" sz="900" dirty="0">
              <a:solidFill>
                <a:srgbClr val="9D84B7"/>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060495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3">
            <a:lumMod val="20000"/>
            <a:lumOff val="80000"/>
            <a:alpha val="30000"/>
          </a:schemeClr>
        </a:solidFill>
        <a:effectLst/>
      </p:bgPr>
    </p:bg>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65A4955C-D93F-D0C9-6948-27EC2B2F2973}"/>
              </a:ext>
            </a:extLst>
          </p:cNvPr>
          <p:cNvSpPr/>
          <p:nvPr/>
        </p:nvSpPr>
        <p:spPr>
          <a:xfrm>
            <a:off x="0" y="-1"/>
            <a:ext cx="12192000" cy="1325563"/>
          </a:xfrm>
          <a:prstGeom prst="rect">
            <a:avLst/>
          </a:prstGeom>
          <a:solidFill>
            <a:srgbClr val="10002B"/>
          </a:solidFill>
          <a:ln w="12700">
            <a:noFill/>
            <a:prstDash val="solid"/>
          </a:ln>
        </p:spPr>
        <p:txBody>
          <a:bodyPr/>
          <a:lstStyle/>
          <a:p>
            <a:pPr defTabSz="914400"/>
            <a:endParaRPr lang="en-US">
              <a:solidFill>
                <a:prstClr val="black"/>
              </a:solidFill>
              <a:latin typeface="Calibri" panose="020F0502020204030204"/>
            </a:endParaRPr>
          </a:p>
        </p:txBody>
      </p:sp>
      <p:sp>
        <p:nvSpPr>
          <p:cNvPr id="14" name="Shape 16">
            <a:extLst>
              <a:ext uri="{FF2B5EF4-FFF2-40B4-BE49-F238E27FC236}">
                <a16:creationId xmlns:a16="http://schemas.microsoft.com/office/drawing/2014/main" id="{B255EBCB-7F4F-9F06-1310-FA4AC2A9B459}"/>
              </a:ext>
            </a:extLst>
          </p:cNvPr>
          <p:cNvSpPr/>
          <p:nvPr userDrawn="1"/>
        </p:nvSpPr>
        <p:spPr>
          <a:xfrm>
            <a:off x="0" y="6480572"/>
            <a:ext cx="12192000" cy="377428"/>
          </a:xfrm>
          <a:prstGeom prst="rect">
            <a:avLst/>
          </a:prstGeom>
          <a:solidFill>
            <a:srgbClr val="10002B"/>
          </a:solidFill>
          <a:ln w="12700">
            <a:noFill/>
            <a:prstDash val="solid"/>
          </a:ln>
        </p:spPr>
        <p:txBody>
          <a:bodyPr/>
          <a:lstStyle/>
          <a:p>
            <a:endParaRPr lang="en-US"/>
          </a:p>
        </p:txBody>
      </p:sp>
      <p:sp>
        <p:nvSpPr>
          <p:cNvPr id="6" name="Slide Number Placeholder 5">
            <a:extLst>
              <a:ext uri="{FF2B5EF4-FFF2-40B4-BE49-F238E27FC236}">
                <a16:creationId xmlns:a16="http://schemas.microsoft.com/office/drawing/2014/main" id="{987BBE33-CD13-4E89-54F4-3C5B1552E40F}"/>
              </a:ext>
            </a:extLst>
          </p:cNvPr>
          <p:cNvSpPr>
            <a:spLocks noGrp="1"/>
          </p:cNvSpPr>
          <p:nvPr userDrawn="1">
            <p:ph type="sldNum" sz="quarter" idx="12"/>
          </p:nvPr>
        </p:nvSpPr>
        <p:spPr>
          <a:xfrm>
            <a:off x="8610600" y="6486724"/>
            <a:ext cx="2743200" cy="365125"/>
          </a:xfrm>
        </p:spPr>
        <p:txBody>
          <a:bodyPr/>
          <a:lstStyle>
            <a:lvl1pPr>
              <a:defRPr>
                <a:solidFill>
                  <a:schemeClr val="accent1"/>
                </a:solidFill>
              </a:defRPr>
            </a:lvl1pPr>
          </a:lstStyle>
          <a:p>
            <a:fld id="{0D6B0717-3879-4F5B-AECB-285F04B8123E}" type="slidenum">
              <a:rPr lang="en-US" smtClean="0"/>
              <a:pPr/>
              <a:t>‹#›</a:t>
            </a:fld>
            <a:endParaRPr lang="en-US" dirty="0"/>
          </a:p>
        </p:txBody>
      </p:sp>
      <p:sp>
        <p:nvSpPr>
          <p:cNvPr id="5" name="Footer Placeholder 4">
            <a:extLst>
              <a:ext uri="{FF2B5EF4-FFF2-40B4-BE49-F238E27FC236}">
                <a16:creationId xmlns:a16="http://schemas.microsoft.com/office/drawing/2014/main" id="{A98686FF-5BCE-BBE2-1AD5-EA89BB57F012}"/>
              </a:ext>
            </a:extLst>
          </p:cNvPr>
          <p:cNvSpPr>
            <a:spLocks noGrp="1"/>
          </p:cNvSpPr>
          <p:nvPr userDrawn="1">
            <p:ph type="ftr" sz="quarter" idx="11"/>
          </p:nvPr>
        </p:nvSpPr>
        <p:spPr>
          <a:xfrm>
            <a:off x="838200" y="6486724"/>
            <a:ext cx="4114800" cy="365125"/>
          </a:xfrm>
          <a:noFill/>
          <a:ln/>
        </p:spPr>
        <p:txBody>
          <a:bodyPr wrap="square" lIns="0" tIns="0" rIns="0" bIns="0" rtlCol="0" anchor="ctr"/>
          <a:lstStyle>
            <a:lvl1pPr>
              <a:defRPr lang="en-US" sz="900">
                <a:solidFill>
                  <a:srgbClr val="9D84B7"/>
                </a:solidFill>
                <a:latin typeface="Calibri" pitchFamily="34" charset="0"/>
                <a:ea typeface="Calibri" pitchFamily="34" charset="-122"/>
                <a:cs typeface="Calibri" pitchFamily="34" charset="-120"/>
              </a:defRPr>
            </a:lvl1pPr>
          </a:lstStyle>
          <a:p>
            <a:pPr algn="l" defTabSz="914400"/>
            <a:endParaRPr lang="en-US" sz="900" dirty="0">
              <a:solidFill>
                <a:srgbClr val="9D84B7"/>
              </a:solidFill>
              <a:latin typeface="Calibri" pitchFamily="34" charset="0"/>
              <a:ea typeface="Calibri" pitchFamily="34" charset="-122"/>
              <a:cs typeface="Calibri" pitchFamily="34" charset="-120"/>
            </a:endParaRPr>
          </a:p>
        </p:txBody>
      </p:sp>
      <p:sp>
        <p:nvSpPr>
          <p:cNvPr id="2" name="Title 1">
            <a:extLst>
              <a:ext uri="{FF2B5EF4-FFF2-40B4-BE49-F238E27FC236}">
                <a16:creationId xmlns:a16="http://schemas.microsoft.com/office/drawing/2014/main" id="{2C235030-E965-90C3-D934-67909D1F9AF7}"/>
              </a:ext>
            </a:extLst>
          </p:cNvPr>
          <p:cNvSpPr>
            <a:spLocks noGrp="1"/>
          </p:cNvSpPr>
          <p:nvPr userDrawn="1">
            <p:ph type="title"/>
          </p:nvPr>
        </p:nvSpPr>
        <p:spPr>
          <a:xfrm>
            <a:off x="836676" y="-1"/>
            <a:ext cx="10515600" cy="1325563"/>
          </a:xfrm>
        </p:spPr>
        <p:txBody>
          <a:bodyPr/>
          <a:lstStyle>
            <a:lvl1pPr>
              <a:defRPr>
                <a:solidFill>
                  <a:schemeClr val="bg1"/>
                </a:solidFill>
              </a:defRPr>
            </a:lvl1pPr>
          </a:lstStyle>
          <a:p>
            <a:r>
              <a:rPr lang="zh-CN" altLang="en-US"/>
              <a:t>单击此处编辑母版标题样式</a:t>
            </a:r>
            <a:endParaRPr lang="en-US" dirty="0"/>
          </a:p>
        </p:txBody>
      </p:sp>
      <p:sp>
        <p:nvSpPr>
          <p:cNvPr id="4" name="Shape 3">
            <a:extLst>
              <a:ext uri="{FF2B5EF4-FFF2-40B4-BE49-F238E27FC236}">
                <a16:creationId xmlns:a16="http://schemas.microsoft.com/office/drawing/2014/main" id="{0CC9BA69-E8B9-F84C-50FE-BDF3C3CC5F9B}"/>
              </a:ext>
            </a:extLst>
          </p:cNvPr>
          <p:cNvSpPr/>
          <p:nvPr userDrawn="1"/>
        </p:nvSpPr>
        <p:spPr>
          <a:xfrm>
            <a:off x="0" y="1"/>
            <a:ext cx="448574" cy="6480572"/>
          </a:xfrm>
          <a:prstGeom prst="rect">
            <a:avLst/>
          </a:prstGeom>
          <a:solidFill>
            <a:srgbClr val="FF4D6D"/>
          </a:solidFill>
          <a:ln w="12700">
            <a:noFill/>
            <a:prstDash val="solid"/>
          </a:ln>
        </p:spPr>
        <p:txBody>
          <a:bodyPr/>
          <a:lstStyle/>
          <a:p>
            <a:endParaRPr lang="en-US"/>
          </a:p>
        </p:txBody>
      </p:sp>
    </p:spTree>
    <p:extLst>
      <p:ext uri="{BB962C8B-B14F-4D97-AF65-F5344CB8AC3E}">
        <p14:creationId xmlns:p14="http://schemas.microsoft.com/office/powerpoint/2010/main" val="240954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1"/>
        </a:solidFill>
        <a:effectLst/>
      </p:bgPr>
    </p:bg>
    <p:spTree>
      <p:nvGrpSpPr>
        <p:cNvPr id="1" name=""/>
        <p:cNvGrpSpPr/>
        <p:nvPr/>
      </p:nvGrpSpPr>
      <p:grpSpPr>
        <a:xfrm>
          <a:off x="0" y="0"/>
          <a:ext cx="0" cy="0"/>
          <a:chOff x="0" y="0"/>
          <a:chExt cx="0" cy="0"/>
        </a:xfrm>
      </p:grpSpPr>
      <p:sp>
        <p:nvSpPr>
          <p:cNvPr id="11" name="Shape 1">
            <a:extLst>
              <a:ext uri="{FF2B5EF4-FFF2-40B4-BE49-F238E27FC236}">
                <a16:creationId xmlns:a16="http://schemas.microsoft.com/office/drawing/2014/main" id="{F256FBA7-08A9-DB90-3393-C394BBCD1B26}"/>
              </a:ext>
            </a:extLst>
          </p:cNvPr>
          <p:cNvSpPr/>
          <p:nvPr/>
        </p:nvSpPr>
        <p:spPr>
          <a:xfrm>
            <a:off x="7071360" y="-1463040"/>
            <a:ext cx="5486400" cy="5486400"/>
          </a:xfrm>
          <a:prstGeom prst="ellipse">
            <a:avLst/>
          </a:prstGeom>
          <a:solidFill>
            <a:srgbClr val="FF4D6D">
              <a:alpha val="30000"/>
            </a:srgbClr>
          </a:solidFill>
          <a:ln w="12700">
            <a:solidFill>
              <a:srgbClr val="FF4D6D"/>
            </a:solidFill>
            <a:prstDash val="solid"/>
          </a:ln>
        </p:spPr>
        <p:txBody>
          <a:bodyPr/>
          <a:lstStyle/>
          <a:p>
            <a:endParaRPr lang="en-US"/>
          </a:p>
        </p:txBody>
      </p:sp>
      <p:sp>
        <p:nvSpPr>
          <p:cNvPr id="12" name="Shape 2">
            <a:extLst>
              <a:ext uri="{FF2B5EF4-FFF2-40B4-BE49-F238E27FC236}">
                <a16:creationId xmlns:a16="http://schemas.microsoft.com/office/drawing/2014/main" id="{033265A2-679F-4AC7-D83C-11B73589E085}"/>
              </a:ext>
            </a:extLst>
          </p:cNvPr>
          <p:cNvSpPr/>
          <p:nvPr/>
        </p:nvSpPr>
        <p:spPr>
          <a:xfrm>
            <a:off x="9144000" y="3657600"/>
            <a:ext cx="3657600" cy="3657600"/>
          </a:xfrm>
          <a:prstGeom prst="ellipse">
            <a:avLst/>
          </a:prstGeom>
          <a:solidFill>
            <a:srgbClr val="C77DFF">
              <a:alpha val="35000"/>
            </a:srgbClr>
          </a:solidFill>
          <a:ln w="12700">
            <a:solidFill>
              <a:srgbClr val="C77DFF"/>
            </a:solidFill>
            <a:prstDash val="solid"/>
          </a:ln>
        </p:spPr>
        <p:txBody>
          <a:bodyPr/>
          <a:lstStyle/>
          <a:p>
            <a:endParaRPr lang="en-US"/>
          </a:p>
        </p:txBody>
      </p:sp>
      <p:sp>
        <p:nvSpPr>
          <p:cNvPr id="10" name="Shape 0">
            <a:extLst>
              <a:ext uri="{FF2B5EF4-FFF2-40B4-BE49-F238E27FC236}">
                <a16:creationId xmlns:a16="http://schemas.microsoft.com/office/drawing/2014/main" id="{4FCF3A7E-9820-BEAA-E462-D78178E01D01}"/>
              </a:ext>
            </a:extLst>
          </p:cNvPr>
          <p:cNvSpPr/>
          <p:nvPr/>
        </p:nvSpPr>
        <p:spPr>
          <a:xfrm>
            <a:off x="7924800" y="0"/>
            <a:ext cx="4267200" cy="6858000"/>
          </a:xfrm>
          <a:prstGeom prst="rect">
            <a:avLst/>
          </a:prstGeom>
          <a:solidFill>
            <a:srgbClr val="7B2FBE">
              <a:alpha val="45000"/>
            </a:srgbClr>
          </a:solidFill>
          <a:ln w="12700">
            <a:solidFill>
              <a:srgbClr val="7B2FBE"/>
            </a:solidFill>
            <a:prstDash val="solid"/>
          </a:ln>
        </p:spPr>
        <p:txBody>
          <a:bodyPr/>
          <a:lstStyle/>
          <a:p>
            <a:endParaRPr lang="en-US"/>
          </a:p>
        </p:txBody>
      </p:sp>
      <p:sp>
        <p:nvSpPr>
          <p:cNvPr id="2" name="Title 1">
            <a:extLst>
              <a:ext uri="{FF2B5EF4-FFF2-40B4-BE49-F238E27FC236}">
                <a16:creationId xmlns:a16="http://schemas.microsoft.com/office/drawing/2014/main" id="{24613A4F-7B31-22C4-194B-BC0AF400DF34}"/>
              </a:ext>
            </a:extLst>
          </p:cNvPr>
          <p:cNvSpPr>
            <a:spLocks noGrp="1"/>
          </p:cNvSpPr>
          <p:nvPr>
            <p:ph type="title"/>
          </p:nvPr>
        </p:nvSpPr>
        <p:spPr>
          <a:xfrm>
            <a:off x="914400" y="3108960"/>
            <a:ext cx="6330950" cy="1341120"/>
          </a:xfrm>
          <a:noFill/>
          <a:ln/>
        </p:spPr>
        <p:txBody>
          <a:bodyPr wrap="square" lIns="0" tIns="0" rIns="0" bIns="0" rtlCol="0" anchor="b">
            <a:noAutofit/>
          </a:bodyPr>
          <a:lstStyle>
            <a:lvl1pPr>
              <a:defRPr lang="en-US" sz="6000" b="1" dirty="0">
                <a:solidFill>
                  <a:srgbClr val="FFFFFF"/>
                </a:solidFill>
                <a:ea typeface="Arial Black" pitchFamily="34" charset="-122"/>
                <a:cs typeface="Arial Black" pitchFamily="34" charset="-120"/>
              </a:defRPr>
            </a:lvl1pPr>
          </a:lstStyle>
          <a:p>
            <a:pPr marL="0" lvl="0" indent="0" defTabSz="457200"/>
            <a:r>
              <a:rPr lang="zh-CN" altLang="en-US"/>
              <a:t>单击此处编辑母版标题样式</a:t>
            </a:r>
            <a:endParaRPr lang="en-US" dirty="0"/>
          </a:p>
        </p:txBody>
      </p:sp>
      <p:sp>
        <p:nvSpPr>
          <p:cNvPr id="4" name="Date Placeholder 3">
            <a:extLst>
              <a:ext uri="{FF2B5EF4-FFF2-40B4-BE49-F238E27FC236}">
                <a16:creationId xmlns:a16="http://schemas.microsoft.com/office/drawing/2014/main" id="{35CF6396-4E82-590E-F519-2A68DFF80B8C}"/>
              </a:ext>
            </a:extLst>
          </p:cNvPr>
          <p:cNvSpPr>
            <a:spLocks noGrp="1"/>
          </p:cNvSpPr>
          <p:nvPr>
            <p:ph type="dt" sz="half" idx="10"/>
          </p:nvPr>
        </p:nvSpPr>
        <p:spPr/>
        <p:txBody>
          <a:bodyPr/>
          <a:lstStyle>
            <a:lvl1pPr>
              <a:defRPr/>
            </a:lvl1pPr>
          </a:lstStyle>
          <a:p>
            <a:r>
              <a:rPr lang="en-US" dirty="0"/>
              <a:t>Date</a:t>
            </a:r>
          </a:p>
        </p:txBody>
      </p:sp>
      <p:sp>
        <p:nvSpPr>
          <p:cNvPr id="5" name="Footer Placeholder 4">
            <a:extLst>
              <a:ext uri="{FF2B5EF4-FFF2-40B4-BE49-F238E27FC236}">
                <a16:creationId xmlns:a16="http://schemas.microsoft.com/office/drawing/2014/main" id="{BAE9FF9D-0ADF-3449-6A3F-5829CD2AE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8A94CD-81CE-FEF5-ACE2-FC63880958AB}"/>
              </a:ext>
            </a:extLst>
          </p:cNvPr>
          <p:cNvSpPr>
            <a:spLocks noGrp="1"/>
          </p:cNvSpPr>
          <p:nvPr>
            <p:ph type="sldNum" sz="quarter" idx="12"/>
          </p:nvPr>
        </p:nvSpPr>
        <p:spPr/>
        <p:txBody>
          <a:bodyPr/>
          <a:lstStyle>
            <a:lvl1pPr>
              <a:defRPr>
                <a:solidFill>
                  <a:schemeClr val="accent2">
                    <a:lumMod val="20000"/>
                    <a:lumOff val="80000"/>
                  </a:schemeClr>
                </a:solidFill>
              </a:defRPr>
            </a:lvl1pPr>
          </a:lstStyle>
          <a:p>
            <a:fld id="{0D6B0717-3879-4F5B-AECB-285F04B8123E}" type="slidenum">
              <a:rPr lang="en-US" smtClean="0"/>
              <a:pPr/>
              <a:t>‹#›</a:t>
            </a:fld>
            <a:endParaRPr lang="en-US"/>
          </a:p>
        </p:txBody>
      </p:sp>
      <p:sp>
        <p:nvSpPr>
          <p:cNvPr id="13" name="Shape 3">
            <a:extLst>
              <a:ext uri="{FF2B5EF4-FFF2-40B4-BE49-F238E27FC236}">
                <a16:creationId xmlns:a16="http://schemas.microsoft.com/office/drawing/2014/main" id="{C334DAA0-9E45-A228-1DA7-CE871322B856}"/>
              </a:ext>
            </a:extLst>
          </p:cNvPr>
          <p:cNvSpPr/>
          <p:nvPr/>
        </p:nvSpPr>
        <p:spPr>
          <a:xfrm>
            <a:off x="0" y="0"/>
            <a:ext cx="609600" cy="6858000"/>
          </a:xfrm>
          <a:prstGeom prst="rect">
            <a:avLst/>
          </a:prstGeom>
          <a:solidFill>
            <a:srgbClr val="FF4D6D"/>
          </a:solidFill>
          <a:ln w="12700">
            <a:noFill/>
            <a:prstDash val="solid"/>
          </a:ln>
        </p:spPr>
        <p:txBody>
          <a:bodyPr/>
          <a:lstStyle/>
          <a:p>
            <a:endParaRPr lang="en-US"/>
          </a:p>
        </p:txBody>
      </p:sp>
      <p:sp>
        <p:nvSpPr>
          <p:cNvPr id="14" name="Shape 4">
            <a:extLst>
              <a:ext uri="{FF2B5EF4-FFF2-40B4-BE49-F238E27FC236}">
                <a16:creationId xmlns:a16="http://schemas.microsoft.com/office/drawing/2014/main" id="{54109724-B3F7-5F91-6DE5-5A82E74E742F}"/>
              </a:ext>
            </a:extLst>
          </p:cNvPr>
          <p:cNvSpPr/>
          <p:nvPr/>
        </p:nvSpPr>
        <p:spPr>
          <a:xfrm>
            <a:off x="609600" y="2901696"/>
            <a:ext cx="7071360" cy="73152"/>
          </a:xfrm>
          <a:prstGeom prst="rect">
            <a:avLst/>
          </a:prstGeom>
          <a:solidFill>
            <a:srgbClr val="C77DFF">
              <a:alpha val="50000"/>
            </a:srgbClr>
          </a:solidFill>
          <a:ln w="12700">
            <a:solidFill>
              <a:srgbClr val="C77DFF"/>
            </a:solidFill>
            <a:prstDash val="solid"/>
          </a:ln>
        </p:spPr>
        <p:txBody>
          <a:bodyPr/>
          <a:lstStyle/>
          <a:p>
            <a:endParaRPr lang="en-US"/>
          </a:p>
        </p:txBody>
      </p:sp>
      <p:sp>
        <p:nvSpPr>
          <p:cNvPr id="21" name="Text Placeholder 2">
            <a:extLst>
              <a:ext uri="{FF2B5EF4-FFF2-40B4-BE49-F238E27FC236}">
                <a16:creationId xmlns:a16="http://schemas.microsoft.com/office/drawing/2014/main" id="{778C7ABF-5FCD-8E3A-33CC-221AC725A820}"/>
              </a:ext>
            </a:extLst>
          </p:cNvPr>
          <p:cNvSpPr>
            <a:spLocks noGrp="1"/>
          </p:cNvSpPr>
          <p:nvPr>
            <p:ph type="body" idx="1"/>
          </p:nvPr>
        </p:nvSpPr>
        <p:spPr>
          <a:xfrm>
            <a:off x="914400" y="4572001"/>
            <a:ext cx="6330950" cy="975359"/>
          </a:xfrm>
          <a:noFill/>
          <a:ln/>
        </p:spPr>
        <p:txBody>
          <a:bodyPr wrap="square" lIns="0" tIns="0" rIns="0" bIns="0" rtlCol="0" anchor="t">
            <a:normAutofit/>
          </a:bodyPr>
          <a:lstStyle>
            <a:lvl1pPr marL="0" indent="0">
              <a:buNone/>
              <a:defRPr lang="en-US" sz="1800" dirty="0">
                <a:solidFill>
                  <a:srgbClr val="C77DFF"/>
                </a:solidFill>
                <a:latin typeface="Calibri" pitchFamily="34" charset="0"/>
                <a:ea typeface="Calibri" pitchFamily="34" charset="-122"/>
                <a:cs typeface="Calibri" pitchFamily="34" charset="-12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marL="0" lvl="0" indent="0" defTabSz="457200">
              <a:buNone/>
            </a:pPr>
            <a:r>
              <a:rPr lang="zh-CN" altLang="en-US"/>
              <a:t>单击此处编辑母版文本样式</a:t>
            </a:r>
          </a:p>
        </p:txBody>
      </p:sp>
      <p:sp>
        <p:nvSpPr>
          <p:cNvPr id="22" name="Text 5">
            <a:extLst>
              <a:ext uri="{FF2B5EF4-FFF2-40B4-BE49-F238E27FC236}">
                <a16:creationId xmlns:a16="http://schemas.microsoft.com/office/drawing/2014/main" id="{E7D11EC7-00ED-A6BA-3B13-E6F6B276DC96}"/>
              </a:ext>
            </a:extLst>
          </p:cNvPr>
          <p:cNvSpPr/>
          <p:nvPr userDrawn="1"/>
        </p:nvSpPr>
        <p:spPr>
          <a:xfrm>
            <a:off x="914400" y="265058"/>
            <a:ext cx="2438400" cy="1706880"/>
          </a:xfrm>
          <a:prstGeom prst="rect">
            <a:avLst/>
          </a:prstGeom>
          <a:noFill/>
          <a:ln/>
        </p:spPr>
        <p:txBody>
          <a:bodyPr wrap="square" lIns="0" tIns="0" rIns="0" bIns="0" rtlCol="0" anchor="ctr"/>
          <a:lstStyle/>
          <a:p>
            <a:pPr lvl="0" indent="0">
              <a:buNone/>
            </a:pPr>
            <a:r>
              <a:rPr lang="en-US" sz="9000" b="1" dirty="0">
                <a:solidFill>
                  <a:schemeClr val="accent1">
                    <a:alpha val="80000"/>
                  </a:schemeClr>
                </a:solidFill>
                <a:latin typeface="Arial Black" pitchFamily="34" charset="0"/>
                <a:ea typeface="Arial Black" pitchFamily="34" charset="-122"/>
                <a:cs typeface="Arial Black" pitchFamily="34" charset="-120"/>
              </a:rPr>
              <a:t>01</a:t>
            </a:r>
            <a:endParaRPr lang="en-US" sz="9000" b="1" dirty="0">
              <a:solidFill>
                <a:schemeClr val="accent1">
                  <a:alpha val="80000"/>
                </a:schemeClr>
              </a:solidFill>
              <a:latin typeface="Arial Black" pitchFamily="34" charset="0"/>
            </a:endParaRPr>
          </a:p>
        </p:txBody>
      </p:sp>
      <p:sp>
        <p:nvSpPr>
          <p:cNvPr id="25" name="Shape 5">
            <a:extLst>
              <a:ext uri="{FF2B5EF4-FFF2-40B4-BE49-F238E27FC236}">
                <a16:creationId xmlns:a16="http://schemas.microsoft.com/office/drawing/2014/main" id="{D192E48D-F502-E3AF-8C73-832BDB5B5C68}"/>
              </a:ext>
            </a:extLst>
          </p:cNvPr>
          <p:cNvSpPr/>
          <p:nvPr userDrawn="1"/>
        </p:nvSpPr>
        <p:spPr>
          <a:xfrm>
            <a:off x="914400" y="2067275"/>
            <a:ext cx="2204474" cy="465389"/>
          </a:xfrm>
          <a:prstGeom prst="rect">
            <a:avLst/>
          </a:prstGeom>
          <a:solidFill>
            <a:srgbClr val="FF4D6D"/>
          </a:solidFill>
          <a:ln w="12700">
            <a:solidFill>
              <a:srgbClr val="FF4D6D"/>
            </a:solidFill>
            <a:prstDash val="solid"/>
          </a:ln>
        </p:spPr>
        <p:txBody>
          <a:bodyPr anchor="ctr"/>
          <a:lstStyle/>
          <a:p>
            <a:pPr lvl="0" algn="ctr"/>
            <a:r>
              <a:rPr lang="en-US" dirty="0"/>
              <a:t>SECTION</a:t>
            </a:r>
          </a:p>
        </p:txBody>
      </p:sp>
    </p:spTree>
    <p:extLst>
      <p:ext uri="{BB962C8B-B14F-4D97-AF65-F5344CB8AC3E}">
        <p14:creationId xmlns:p14="http://schemas.microsoft.com/office/powerpoint/2010/main" val="321901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13A4F-7B31-22C4-194B-BC0AF400DF34}"/>
              </a:ext>
            </a:extLst>
          </p:cNvPr>
          <p:cNvSpPr>
            <a:spLocks noGrp="1"/>
          </p:cNvSpPr>
          <p:nvPr>
            <p:ph type="title"/>
          </p:nvPr>
        </p:nvSpPr>
        <p:spPr>
          <a:xfrm>
            <a:off x="557275" y="3108960"/>
            <a:ext cx="6330950" cy="1341120"/>
          </a:xfrm>
          <a:noFill/>
          <a:ln/>
        </p:spPr>
        <p:txBody>
          <a:bodyPr wrap="square" lIns="0" tIns="0" rIns="0" bIns="0" rtlCol="0" anchor="b">
            <a:noAutofit/>
          </a:bodyPr>
          <a:lstStyle>
            <a:lvl1pPr>
              <a:defRPr lang="en-US" sz="6000" b="1" dirty="0">
                <a:solidFill>
                  <a:srgbClr val="FFFFFF"/>
                </a:solidFill>
                <a:ea typeface="Arial Black" pitchFamily="34" charset="-122"/>
                <a:cs typeface="Arial Black" pitchFamily="34" charset="-120"/>
              </a:defRPr>
            </a:lvl1pPr>
          </a:lstStyle>
          <a:p>
            <a:pPr marL="0" lvl="0" indent="0" defTabSz="457200"/>
            <a:r>
              <a:rPr lang="zh-CN" altLang="en-US"/>
              <a:t>单击此处编辑母版标题样式</a:t>
            </a:r>
            <a:endParaRPr lang="en-US" dirty="0"/>
          </a:p>
        </p:txBody>
      </p:sp>
      <p:sp>
        <p:nvSpPr>
          <p:cNvPr id="15" name="Text 5">
            <a:extLst>
              <a:ext uri="{FF2B5EF4-FFF2-40B4-BE49-F238E27FC236}">
                <a16:creationId xmlns:a16="http://schemas.microsoft.com/office/drawing/2014/main" id="{C4A1775C-2DD0-B55A-C22F-AA543AF05016}"/>
              </a:ext>
            </a:extLst>
          </p:cNvPr>
          <p:cNvSpPr/>
          <p:nvPr/>
        </p:nvSpPr>
        <p:spPr>
          <a:xfrm>
            <a:off x="557275" y="265058"/>
            <a:ext cx="2438400" cy="1706880"/>
          </a:xfrm>
          <a:prstGeom prst="rect">
            <a:avLst/>
          </a:prstGeom>
          <a:noFill/>
          <a:ln/>
        </p:spPr>
        <p:txBody>
          <a:bodyPr wrap="square" lIns="0" tIns="0" rIns="0" bIns="0" rtlCol="0" anchor="ctr"/>
          <a:lstStyle/>
          <a:p>
            <a:pPr marL="0" indent="0">
              <a:buNone/>
            </a:pPr>
            <a:r>
              <a:rPr lang="en-US" sz="9000" b="1" dirty="0">
                <a:solidFill>
                  <a:schemeClr val="accent2"/>
                </a:solidFill>
                <a:latin typeface="Arial Black" pitchFamily="34" charset="0"/>
                <a:ea typeface="Arial Black" pitchFamily="34" charset="-122"/>
                <a:cs typeface="Arial Black" pitchFamily="34" charset="-120"/>
              </a:rPr>
              <a:t>02</a:t>
            </a:r>
            <a:endParaRPr lang="en-US" sz="9000" dirty="0">
              <a:solidFill>
                <a:schemeClr val="accent2"/>
              </a:solidFill>
            </a:endParaRPr>
          </a:p>
        </p:txBody>
      </p:sp>
      <p:sp>
        <p:nvSpPr>
          <p:cNvPr id="21" name="Text Placeholder 2">
            <a:extLst>
              <a:ext uri="{FF2B5EF4-FFF2-40B4-BE49-F238E27FC236}">
                <a16:creationId xmlns:a16="http://schemas.microsoft.com/office/drawing/2014/main" id="{778C7ABF-5FCD-8E3A-33CC-221AC725A820}"/>
              </a:ext>
            </a:extLst>
          </p:cNvPr>
          <p:cNvSpPr>
            <a:spLocks noGrp="1"/>
          </p:cNvSpPr>
          <p:nvPr>
            <p:ph type="body" idx="1"/>
          </p:nvPr>
        </p:nvSpPr>
        <p:spPr>
          <a:xfrm>
            <a:off x="557275" y="4572001"/>
            <a:ext cx="6330950" cy="975359"/>
          </a:xfrm>
          <a:noFill/>
          <a:ln/>
        </p:spPr>
        <p:txBody>
          <a:bodyPr wrap="square" lIns="0" tIns="0" rIns="0" bIns="0" rtlCol="0" anchor="t">
            <a:normAutofit/>
          </a:bodyPr>
          <a:lstStyle>
            <a:lvl1pPr marL="0" indent="0">
              <a:buNone/>
              <a:defRPr lang="en-US" sz="1800" dirty="0">
                <a:solidFill>
                  <a:srgbClr val="C77DFF"/>
                </a:solidFill>
                <a:latin typeface="Calibri" pitchFamily="34" charset="0"/>
                <a:ea typeface="Calibri" pitchFamily="34" charset="-122"/>
                <a:cs typeface="Calibri" pitchFamily="34" charset="-12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marL="0" lvl="0" indent="0" defTabSz="457200">
              <a:buNone/>
            </a:pPr>
            <a:r>
              <a:rPr lang="zh-CN" altLang="en-US"/>
              <a:t>单击此处编辑母版文本样式</a:t>
            </a:r>
          </a:p>
        </p:txBody>
      </p:sp>
      <p:sp>
        <p:nvSpPr>
          <p:cNvPr id="7" name="Shape 0">
            <a:extLst>
              <a:ext uri="{FF2B5EF4-FFF2-40B4-BE49-F238E27FC236}">
                <a16:creationId xmlns:a16="http://schemas.microsoft.com/office/drawing/2014/main" id="{38030DED-32D0-5260-B74E-70409B11529A}"/>
              </a:ext>
            </a:extLst>
          </p:cNvPr>
          <p:cNvSpPr/>
          <p:nvPr/>
        </p:nvSpPr>
        <p:spPr>
          <a:xfrm>
            <a:off x="6680814" y="0"/>
            <a:ext cx="5511186" cy="6858000"/>
          </a:xfrm>
          <a:prstGeom prst="rect">
            <a:avLst/>
          </a:prstGeom>
          <a:solidFill>
            <a:srgbClr val="FF4D6D"/>
          </a:solidFill>
          <a:ln w="12700">
            <a:solidFill>
              <a:srgbClr val="FF4D6D"/>
            </a:solidFill>
            <a:prstDash val="solid"/>
          </a:ln>
        </p:spPr>
        <p:txBody>
          <a:bodyPr/>
          <a:lstStyle/>
          <a:p>
            <a:endParaRPr lang="en-US"/>
          </a:p>
        </p:txBody>
      </p:sp>
      <p:sp>
        <p:nvSpPr>
          <p:cNvPr id="8" name="Shape 1">
            <a:extLst>
              <a:ext uri="{FF2B5EF4-FFF2-40B4-BE49-F238E27FC236}">
                <a16:creationId xmlns:a16="http://schemas.microsoft.com/office/drawing/2014/main" id="{651503BB-E8EC-3EB9-B672-FB6888DC9D20}"/>
              </a:ext>
            </a:extLst>
          </p:cNvPr>
          <p:cNvSpPr/>
          <p:nvPr/>
        </p:nvSpPr>
        <p:spPr>
          <a:xfrm>
            <a:off x="5823519" y="-1017916"/>
            <a:ext cx="4286478" cy="4286478"/>
          </a:xfrm>
          <a:prstGeom prst="ellipse">
            <a:avLst/>
          </a:prstGeom>
          <a:solidFill>
            <a:srgbClr val="7B2FBE">
              <a:alpha val="50000"/>
            </a:srgbClr>
          </a:solidFill>
          <a:ln w="12700">
            <a:solidFill>
              <a:srgbClr val="7B2FBE"/>
            </a:solidFill>
            <a:prstDash val="solid"/>
          </a:ln>
        </p:spPr>
        <p:txBody>
          <a:bodyPr/>
          <a:lstStyle/>
          <a:p>
            <a:endParaRPr lang="en-US"/>
          </a:p>
        </p:txBody>
      </p:sp>
      <p:sp>
        <p:nvSpPr>
          <p:cNvPr id="9" name="Shape 2">
            <a:extLst>
              <a:ext uri="{FF2B5EF4-FFF2-40B4-BE49-F238E27FC236}">
                <a16:creationId xmlns:a16="http://schemas.microsoft.com/office/drawing/2014/main" id="{76A02B3D-64A7-D4D3-03C4-56BED3937BAB}"/>
              </a:ext>
            </a:extLst>
          </p:cNvPr>
          <p:cNvSpPr/>
          <p:nvPr/>
        </p:nvSpPr>
        <p:spPr>
          <a:xfrm>
            <a:off x="8272935" y="3635974"/>
            <a:ext cx="3061770" cy="3061770"/>
          </a:xfrm>
          <a:prstGeom prst="ellipse">
            <a:avLst/>
          </a:prstGeom>
          <a:solidFill>
            <a:srgbClr val="10002B">
              <a:alpha val="45000"/>
            </a:srgbClr>
          </a:solidFill>
          <a:ln w="12700">
            <a:solidFill>
              <a:srgbClr val="10002B"/>
            </a:solidFill>
            <a:prstDash val="solid"/>
          </a:ln>
        </p:spPr>
        <p:txBody>
          <a:bodyPr/>
          <a:lstStyle/>
          <a:p>
            <a:endParaRPr lang="en-US"/>
          </a:p>
        </p:txBody>
      </p:sp>
      <p:sp>
        <p:nvSpPr>
          <p:cNvPr id="18" name="Shape 3">
            <a:extLst>
              <a:ext uri="{FF2B5EF4-FFF2-40B4-BE49-F238E27FC236}">
                <a16:creationId xmlns:a16="http://schemas.microsoft.com/office/drawing/2014/main" id="{157C0E20-E67A-5D03-0863-52C8071B32E4}"/>
              </a:ext>
            </a:extLst>
          </p:cNvPr>
          <p:cNvSpPr/>
          <p:nvPr/>
        </p:nvSpPr>
        <p:spPr>
          <a:xfrm>
            <a:off x="4598811" y="5473036"/>
            <a:ext cx="2204474" cy="2204474"/>
          </a:xfrm>
          <a:prstGeom prst="ellipse">
            <a:avLst/>
          </a:prstGeom>
          <a:solidFill>
            <a:srgbClr val="C77DFF">
              <a:alpha val="40000"/>
            </a:srgbClr>
          </a:solidFill>
          <a:ln w="12700">
            <a:solidFill>
              <a:srgbClr val="C77DFF"/>
            </a:solidFill>
            <a:prstDash val="solid"/>
          </a:ln>
        </p:spPr>
        <p:txBody>
          <a:bodyPr/>
          <a:lstStyle/>
          <a:p>
            <a:endParaRPr lang="en-US"/>
          </a:p>
        </p:txBody>
      </p:sp>
      <p:sp>
        <p:nvSpPr>
          <p:cNvPr id="20" name="Shape 5">
            <a:extLst>
              <a:ext uri="{FF2B5EF4-FFF2-40B4-BE49-F238E27FC236}">
                <a16:creationId xmlns:a16="http://schemas.microsoft.com/office/drawing/2014/main" id="{1E18A237-4658-273A-BF2A-88338A498BB6}"/>
              </a:ext>
            </a:extLst>
          </p:cNvPr>
          <p:cNvSpPr/>
          <p:nvPr/>
        </p:nvSpPr>
        <p:spPr>
          <a:xfrm>
            <a:off x="557275" y="2067275"/>
            <a:ext cx="2204474" cy="465389"/>
          </a:xfrm>
          <a:prstGeom prst="rect">
            <a:avLst/>
          </a:prstGeom>
          <a:solidFill>
            <a:srgbClr val="C77DFF"/>
          </a:solidFill>
          <a:ln w="12700">
            <a:solidFill>
              <a:srgbClr val="C77DFF"/>
            </a:solidFill>
            <a:prstDash val="solid"/>
          </a:ln>
        </p:spPr>
        <p:txBody>
          <a:bodyPr/>
          <a:lstStyle/>
          <a:p>
            <a:endParaRPr lang="en-US"/>
          </a:p>
        </p:txBody>
      </p:sp>
      <p:sp>
        <p:nvSpPr>
          <p:cNvPr id="22" name="Text 6">
            <a:extLst>
              <a:ext uri="{FF2B5EF4-FFF2-40B4-BE49-F238E27FC236}">
                <a16:creationId xmlns:a16="http://schemas.microsoft.com/office/drawing/2014/main" id="{5087E296-7F72-B3A7-F05E-149979A7DDBE}"/>
              </a:ext>
            </a:extLst>
          </p:cNvPr>
          <p:cNvSpPr/>
          <p:nvPr userDrawn="1"/>
        </p:nvSpPr>
        <p:spPr>
          <a:xfrm>
            <a:off x="557275" y="2067275"/>
            <a:ext cx="2204474" cy="465389"/>
          </a:xfrm>
          <a:prstGeom prst="rect">
            <a:avLst/>
          </a:prstGeom>
          <a:noFill/>
          <a:ln/>
        </p:spPr>
        <p:txBody>
          <a:bodyPr wrap="square" lIns="0" tIns="0" rIns="0" bIns="0" rtlCol="0" anchor="ctr"/>
          <a:lstStyle/>
          <a:p>
            <a:pPr marL="0" indent="0" algn="ctr">
              <a:buNone/>
            </a:pPr>
            <a:r>
              <a:rPr lang="en-US" sz="900" b="1" kern="0" spc="300" dirty="0">
                <a:solidFill>
                  <a:srgbClr val="10002B"/>
                </a:solidFill>
                <a:latin typeface="Calibri" pitchFamily="34" charset="0"/>
                <a:ea typeface="Calibri" pitchFamily="34" charset="-122"/>
                <a:cs typeface="Calibri" pitchFamily="34" charset="-120"/>
              </a:rPr>
              <a:t>SECTION</a:t>
            </a:r>
            <a:endParaRPr lang="en-US" sz="900" dirty="0"/>
          </a:p>
        </p:txBody>
      </p:sp>
      <p:sp>
        <p:nvSpPr>
          <p:cNvPr id="4" name="Date Placeholder 3">
            <a:extLst>
              <a:ext uri="{FF2B5EF4-FFF2-40B4-BE49-F238E27FC236}">
                <a16:creationId xmlns:a16="http://schemas.microsoft.com/office/drawing/2014/main" id="{35CF6396-4E82-590E-F519-2A68DFF80B8C}"/>
              </a:ext>
            </a:extLst>
          </p:cNvPr>
          <p:cNvSpPr>
            <a:spLocks noGrp="1"/>
          </p:cNvSpPr>
          <p:nvPr>
            <p:ph type="dt" sz="half" idx="10"/>
          </p:nvPr>
        </p:nvSpPr>
        <p:spPr/>
        <p:txBody>
          <a:bodyPr/>
          <a:lstStyle>
            <a:lvl1pPr>
              <a:defRPr/>
            </a:lvl1pPr>
          </a:lstStyle>
          <a:p>
            <a:r>
              <a:rPr lang="en-US" dirty="0"/>
              <a:t>Date</a:t>
            </a:r>
          </a:p>
        </p:txBody>
      </p:sp>
      <p:sp>
        <p:nvSpPr>
          <p:cNvPr id="5" name="Footer Placeholder 4">
            <a:extLst>
              <a:ext uri="{FF2B5EF4-FFF2-40B4-BE49-F238E27FC236}">
                <a16:creationId xmlns:a16="http://schemas.microsoft.com/office/drawing/2014/main" id="{BAE9FF9D-0ADF-3449-6A3F-5829CD2AE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8A94CD-81CE-FEF5-ACE2-FC63880958AB}"/>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0D6B0717-3879-4F5B-AECB-285F04B8123E}" type="slidenum">
              <a:rPr lang="en-US" smtClean="0"/>
              <a:pPr/>
              <a:t>‹#›</a:t>
            </a:fld>
            <a:endParaRPr lang="en-US"/>
          </a:p>
        </p:txBody>
      </p:sp>
    </p:spTree>
    <p:extLst>
      <p:ext uri="{BB962C8B-B14F-4D97-AF65-F5344CB8AC3E}">
        <p14:creationId xmlns:p14="http://schemas.microsoft.com/office/powerpoint/2010/main" val="4246683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1"/>
        </a:solidFill>
        <a:effectLst/>
      </p:bgPr>
    </p:bg>
    <p:spTree>
      <p:nvGrpSpPr>
        <p:cNvPr id="1" name=""/>
        <p:cNvGrpSpPr/>
        <p:nvPr/>
      </p:nvGrpSpPr>
      <p:grpSpPr>
        <a:xfrm>
          <a:off x="0" y="0"/>
          <a:ext cx="0" cy="0"/>
          <a:chOff x="0" y="0"/>
          <a:chExt cx="0" cy="0"/>
        </a:xfrm>
      </p:grpSpPr>
      <p:sp>
        <p:nvSpPr>
          <p:cNvPr id="3" name="Shape 0"/>
          <p:cNvSpPr/>
          <p:nvPr userDrawn="1"/>
        </p:nvSpPr>
        <p:spPr>
          <a:xfrm>
            <a:off x="-1828800" y="-1219200"/>
            <a:ext cx="6096000" cy="6096000"/>
          </a:xfrm>
          <a:prstGeom prst="ellipse">
            <a:avLst/>
          </a:prstGeom>
          <a:solidFill>
            <a:srgbClr val="7B2FBE">
              <a:alpha val="28000"/>
            </a:srgbClr>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10" name="Shape 1"/>
          <p:cNvSpPr/>
          <p:nvPr userDrawn="1"/>
        </p:nvSpPr>
        <p:spPr>
          <a:xfrm>
            <a:off x="8534400" y="3048000"/>
            <a:ext cx="4876800" cy="4876800"/>
          </a:xfrm>
          <a:prstGeom prst="ellipse">
            <a:avLst/>
          </a:prstGeom>
          <a:solidFill>
            <a:srgbClr val="FF4D6D">
              <a:alpha val="28000"/>
            </a:srgbClr>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11" name="Shape 2"/>
          <p:cNvSpPr/>
          <p:nvPr userDrawn="1"/>
        </p:nvSpPr>
        <p:spPr>
          <a:xfrm>
            <a:off x="9753600" y="-609600"/>
            <a:ext cx="3048000" cy="3048000"/>
          </a:xfrm>
          <a:prstGeom prst="ellipse">
            <a:avLst/>
          </a:prstGeom>
          <a:solidFill>
            <a:srgbClr val="C77DFF">
              <a:alpha val="30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12" name="Shape 3"/>
          <p:cNvSpPr/>
          <p:nvPr userDrawn="1"/>
        </p:nvSpPr>
        <p:spPr>
          <a:xfrm>
            <a:off x="1828800" y="853440"/>
            <a:ext cx="8534400" cy="5120640"/>
          </a:xfrm>
          <a:prstGeom prst="rect">
            <a:avLst/>
          </a:prstGeom>
          <a:solidFill>
            <a:srgbClr val="1A0033">
              <a:alpha val="75000"/>
            </a:srgbClr>
          </a:solidFill>
          <a:ln w="12700">
            <a:solidFill>
              <a:srgbClr val="FFFFFF">
                <a:alpha val="20000"/>
              </a:srgbClr>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13" name="Shape 4"/>
          <p:cNvSpPr/>
          <p:nvPr userDrawn="1"/>
        </p:nvSpPr>
        <p:spPr>
          <a:xfrm>
            <a:off x="1828800" y="853440"/>
            <a:ext cx="8534400" cy="146304"/>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grpSp>
        <p:nvGrpSpPr>
          <p:cNvPr id="35" name="Group 34">
            <a:extLst>
              <a:ext uri="{FF2B5EF4-FFF2-40B4-BE49-F238E27FC236}">
                <a16:creationId xmlns:a16="http://schemas.microsoft.com/office/drawing/2014/main" id="{64FCD0C1-BE00-D997-555B-47C8B125C274}"/>
              </a:ext>
            </a:extLst>
          </p:cNvPr>
          <p:cNvGrpSpPr/>
          <p:nvPr userDrawn="1"/>
        </p:nvGrpSpPr>
        <p:grpSpPr>
          <a:xfrm>
            <a:off x="5474208" y="3291840"/>
            <a:ext cx="1243584" cy="219456"/>
            <a:chOff x="5242560" y="3291840"/>
            <a:chExt cx="1243584" cy="219456"/>
          </a:xfrm>
        </p:grpSpPr>
        <p:sp>
          <p:nvSpPr>
            <p:cNvPr id="16" name="Shape 6"/>
            <p:cNvSpPr/>
            <p:nvPr userDrawn="1"/>
          </p:nvSpPr>
          <p:spPr>
            <a:xfrm>
              <a:off x="5242560" y="3291840"/>
              <a:ext cx="219456" cy="219456"/>
            </a:xfrm>
            <a:prstGeom prst="ellipse">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17" name="Shape 7"/>
            <p:cNvSpPr/>
            <p:nvPr userDrawn="1"/>
          </p:nvSpPr>
          <p:spPr>
            <a:xfrm>
              <a:off x="5754624" y="3291840"/>
              <a:ext cx="219456" cy="219456"/>
            </a:xfrm>
            <a:prstGeom prst="ellipse">
              <a:avLst/>
            </a:prstGeom>
            <a:solidFill>
              <a:srgbClr val="C77DFF"/>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19" name="Shape 8"/>
            <p:cNvSpPr/>
            <p:nvPr userDrawn="1"/>
          </p:nvSpPr>
          <p:spPr>
            <a:xfrm>
              <a:off x="6266688" y="3291840"/>
              <a:ext cx="219456" cy="219456"/>
            </a:xfrm>
            <a:prstGeom prst="ellipse">
              <a:avLst/>
            </a:prstGeom>
            <a:solidFill>
              <a:srgbClr val="7B2FBE"/>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grpSp>
      <p:sp>
        <p:nvSpPr>
          <p:cNvPr id="24" name="Text 10"/>
          <p:cNvSpPr/>
          <p:nvPr userDrawn="1"/>
        </p:nvSpPr>
        <p:spPr>
          <a:xfrm>
            <a:off x="1950720" y="5551639"/>
            <a:ext cx="8290560" cy="426720"/>
          </a:xfrm>
          <a:prstGeom prst="rect">
            <a:avLst/>
          </a:prstGeom>
          <a:noFill/>
          <a:ln/>
        </p:spPr>
        <p:txBody>
          <a:bodyPr wrap="square" lIns="0" tIns="0" rIns="0" bIns="0" rtlCol="0" anchor="ctr"/>
          <a:lstStyle/>
          <a:p>
            <a:pPr algn="ctr" defTabSz="1219170"/>
            <a:r>
              <a:rPr lang="en-US" sz="1333" dirty="0">
                <a:solidFill>
                  <a:srgbClr val="9D84B7"/>
                </a:solidFill>
                <a:latin typeface="Calibri" pitchFamily="34" charset="0"/>
                <a:ea typeface="Calibri" pitchFamily="34" charset="-122"/>
                <a:cs typeface="Calibri" pitchFamily="34" charset="-120"/>
              </a:rPr>
              <a:t>© 2026 Company Name. All rights reserved.</a:t>
            </a:r>
            <a:endParaRPr lang="en-US" sz="1333" dirty="0">
              <a:solidFill>
                <a:srgbClr val="10002B"/>
              </a:solidFill>
              <a:latin typeface="Calibri" panose="020F0502020204030204"/>
            </a:endParaRPr>
          </a:p>
        </p:txBody>
      </p:sp>
      <p:sp>
        <p:nvSpPr>
          <p:cNvPr id="25" name="Shape 11"/>
          <p:cNvSpPr/>
          <p:nvPr userDrawn="1"/>
        </p:nvSpPr>
        <p:spPr>
          <a:xfrm>
            <a:off x="0" y="6492240"/>
            <a:ext cx="4059936" cy="36576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26" name="Shape 12"/>
          <p:cNvSpPr/>
          <p:nvPr userDrawn="1"/>
        </p:nvSpPr>
        <p:spPr>
          <a:xfrm>
            <a:off x="4059936" y="6492240"/>
            <a:ext cx="4059936" cy="365760"/>
          </a:xfrm>
          <a:prstGeom prst="rect">
            <a:avLst/>
          </a:prstGeom>
          <a:solidFill>
            <a:srgbClr val="7B2FBE"/>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27" name="Shape 13"/>
          <p:cNvSpPr/>
          <p:nvPr userDrawn="1"/>
        </p:nvSpPr>
        <p:spPr>
          <a:xfrm>
            <a:off x="8119872" y="6492240"/>
            <a:ext cx="4072128" cy="365760"/>
          </a:xfrm>
          <a:prstGeom prst="rect">
            <a:avLst/>
          </a:prstGeom>
          <a:solidFill>
            <a:srgbClr val="C77DFF"/>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4" name="Date Placeholder 3">
            <a:extLst>
              <a:ext uri="{FF2B5EF4-FFF2-40B4-BE49-F238E27FC236}">
                <a16:creationId xmlns:a16="http://schemas.microsoft.com/office/drawing/2014/main" id="{35CF6396-4E82-590E-F519-2A68DFF80B8C}"/>
              </a:ext>
            </a:extLst>
          </p:cNvPr>
          <p:cNvSpPr>
            <a:spLocks noGrp="1"/>
          </p:cNvSpPr>
          <p:nvPr>
            <p:ph type="dt" sz="half" idx="10"/>
          </p:nvPr>
        </p:nvSpPr>
        <p:spPr>
          <a:xfrm>
            <a:off x="838200" y="6492875"/>
            <a:ext cx="2743200" cy="365125"/>
          </a:xfrm>
        </p:spPr>
        <p:txBody>
          <a:bodyPr/>
          <a:lstStyle>
            <a:lvl1pPr>
              <a:defRPr>
                <a:solidFill>
                  <a:schemeClr val="accent1">
                    <a:lumMod val="20000"/>
                    <a:lumOff val="80000"/>
                  </a:schemeClr>
                </a:solidFill>
              </a:defRPr>
            </a:lvl1pPr>
          </a:lstStyle>
          <a:p>
            <a:r>
              <a:rPr lang="en-US"/>
              <a:t>Date</a:t>
            </a:r>
            <a:endParaRPr lang="en-US" dirty="0">
              <a:solidFill>
                <a:schemeClr val="accent1">
                  <a:lumMod val="20000"/>
                  <a:lumOff val="80000"/>
                </a:schemeClr>
              </a:solidFill>
            </a:endParaRPr>
          </a:p>
        </p:txBody>
      </p:sp>
      <p:sp>
        <p:nvSpPr>
          <p:cNvPr id="5" name="Footer Placeholder 4">
            <a:extLst>
              <a:ext uri="{FF2B5EF4-FFF2-40B4-BE49-F238E27FC236}">
                <a16:creationId xmlns:a16="http://schemas.microsoft.com/office/drawing/2014/main" id="{BAE9FF9D-0ADF-3449-6A3F-5829CD2AE275}"/>
              </a:ext>
            </a:extLst>
          </p:cNvPr>
          <p:cNvSpPr>
            <a:spLocks noGrp="1"/>
          </p:cNvSpPr>
          <p:nvPr>
            <p:ph type="ftr" sz="quarter" idx="11"/>
          </p:nvPr>
        </p:nvSpPr>
        <p:spPr>
          <a:xfrm>
            <a:off x="4038600" y="6492875"/>
            <a:ext cx="4114800" cy="365125"/>
          </a:xfrm>
        </p:spPr>
        <p:txBody>
          <a:bodyPr/>
          <a:lstStyle>
            <a:lvl1pPr>
              <a:defRPr>
                <a:solidFill>
                  <a:schemeClr val="accent2">
                    <a:lumMod val="20000"/>
                    <a:lumOff val="80000"/>
                  </a:schemeClr>
                </a:solidFill>
              </a:defRPr>
            </a:lvl1pPr>
          </a:lstStyle>
          <a:p>
            <a:endParaRPr lang="en-US" dirty="0">
              <a:solidFill>
                <a:schemeClr val="accent2">
                  <a:lumMod val="20000"/>
                  <a:lumOff val="80000"/>
                </a:schemeClr>
              </a:solidFill>
            </a:endParaRPr>
          </a:p>
        </p:txBody>
      </p:sp>
      <p:sp>
        <p:nvSpPr>
          <p:cNvPr id="33" name="Text Placeholder 32">
            <a:extLst>
              <a:ext uri="{FF2B5EF4-FFF2-40B4-BE49-F238E27FC236}">
                <a16:creationId xmlns:a16="http://schemas.microsoft.com/office/drawing/2014/main" id="{F8C53C8E-E7CE-5D7D-632E-A5D14D1AAB50}"/>
              </a:ext>
            </a:extLst>
          </p:cNvPr>
          <p:cNvSpPr>
            <a:spLocks noGrp="1"/>
          </p:cNvSpPr>
          <p:nvPr>
            <p:ph type="body" sz="quarter" idx="12"/>
          </p:nvPr>
        </p:nvSpPr>
        <p:spPr>
          <a:xfrm>
            <a:off x="1949196" y="1367028"/>
            <a:ext cx="8293608" cy="2075688"/>
          </a:xfrm>
          <a:noFill/>
          <a:ln/>
        </p:spPr>
        <p:txBody>
          <a:bodyPr vert="horz" wrap="square" lIns="0" tIns="0" rIns="0" bIns="0" rtlCol="0" anchor="ctr">
            <a:noAutofit/>
          </a:bodyPr>
          <a:lstStyle>
            <a:lvl1pPr marL="1143000" indent="-1143000" algn="ctr">
              <a:buNone/>
              <a:tabLst>
                <a:tab pos="622300" algn="l"/>
                <a:tab pos="4624388" algn="l"/>
              </a:tabLst>
              <a:defRPr lang="en-US" sz="8000" b="1" dirty="0">
                <a:solidFill>
                  <a:srgbClr val="FFFFFF"/>
                </a:solidFill>
                <a:latin typeface="Arial Black" panose="020B0A04020102020204" pitchFamily="34" charset="0"/>
                <a:ea typeface="Arial Black" pitchFamily="34" charset="-122"/>
                <a:cs typeface="Arial Black" pitchFamily="34" charset="-120"/>
              </a:defRPr>
            </a:lvl1pPr>
            <a:lvl2pPr>
              <a:defRPr lang="en-US" sz="1800" smtClean="0">
                <a:latin typeface="+mn-lt"/>
                <a:cs typeface="+mn-cs"/>
              </a:defRPr>
            </a:lvl2pPr>
            <a:lvl3pPr>
              <a:defRPr lang="en-US" sz="1800" smtClean="0">
                <a:latin typeface="+mn-lt"/>
                <a:cs typeface="+mn-cs"/>
              </a:defRPr>
            </a:lvl3pPr>
            <a:lvl4pPr>
              <a:defRPr lang="en-US" smtClean="0">
                <a:latin typeface="+mn-lt"/>
                <a:cs typeface="+mn-cs"/>
              </a:defRPr>
            </a:lvl4pPr>
            <a:lvl5pPr>
              <a:defRPr lang="en-US">
                <a:latin typeface="+mn-lt"/>
                <a:cs typeface="+mn-cs"/>
              </a:defRPr>
            </a:lvl5pPr>
          </a:lstStyle>
          <a:p>
            <a:pPr marL="914400" lvl="0" indent="-1143000" algn="ctr" defTabSz="1219170">
              <a:spcBef>
                <a:spcPct val="0"/>
              </a:spcBef>
            </a:pPr>
            <a:r>
              <a:rPr lang="zh-CN" altLang="en-US"/>
              <a:t>单击此处编辑母版文本样式</a:t>
            </a:r>
          </a:p>
        </p:txBody>
      </p:sp>
      <p:sp>
        <p:nvSpPr>
          <p:cNvPr id="34" name="Text Placeholder 2">
            <a:extLst>
              <a:ext uri="{FF2B5EF4-FFF2-40B4-BE49-F238E27FC236}">
                <a16:creationId xmlns:a16="http://schemas.microsoft.com/office/drawing/2014/main" id="{778C7ABF-5FCD-8E3A-33CC-221AC725A820}"/>
              </a:ext>
            </a:extLst>
          </p:cNvPr>
          <p:cNvSpPr>
            <a:spLocks noGrp="1"/>
          </p:cNvSpPr>
          <p:nvPr>
            <p:ph type="body" idx="1"/>
          </p:nvPr>
        </p:nvSpPr>
        <p:spPr>
          <a:xfrm>
            <a:off x="1949196" y="3654553"/>
            <a:ext cx="8293608" cy="673607"/>
          </a:xfrm>
          <a:noFill/>
          <a:ln/>
        </p:spPr>
        <p:txBody>
          <a:bodyPr wrap="square" lIns="0" tIns="0" rIns="0" bIns="0" rtlCol="0" anchor="ctr">
            <a:normAutofit/>
          </a:bodyPr>
          <a:lstStyle>
            <a:lvl1pPr marL="0" indent="0" algn="ctr">
              <a:buNone/>
              <a:defRPr lang="en-US" sz="1600" dirty="0">
                <a:solidFill>
                  <a:srgbClr val="C77DFF"/>
                </a:solidFill>
                <a:latin typeface="Calibri" pitchFamily="34" charset="0"/>
                <a:ea typeface="Calibri" pitchFamily="34" charset="-122"/>
                <a:cs typeface="Calibri" pitchFamily="34" charset="-12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marL="0" lvl="0" indent="0" defTabSz="457200">
              <a:buNone/>
            </a:pPr>
            <a:r>
              <a:rPr lang="zh-CN" altLang="en-US"/>
              <a:t>单击此处编辑母版文本样式</a:t>
            </a:r>
          </a:p>
        </p:txBody>
      </p:sp>
    </p:spTree>
    <p:extLst>
      <p:ext uri="{BB962C8B-B14F-4D97-AF65-F5344CB8AC3E}">
        <p14:creationId xmlns:p14="http://schemas.microsoft.com/office/powerpoint/2010/main" val="417356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or and Typograph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59605-E170-3534-3EC1-6EC7A63748BF}"/>
              </a:ext>
            </a:extLst>
          </p:cNvPr>
          <p:cNvSpPr>
            <a:spLocks noGrp="1"/>
          </p:cNvSpPr>
          <p:nvPr>
            <p:ph type="title"/>
          </p:nvPr>
        </p:nvSpPr>
        <p:spPr/>
        <p:txBody>
          <a:bodyPr/>
          <a:lstStyle/>
          <a:p>
            <a:r>
              <a:rPr lang="zh-CN" altLang="en-US"/>
              <a:t>单击此处编辑母版标题样式</a:t>
            </a:r>
            <a:endParaRPr lang="en-US" dirty="0"/>
          </a:p>
        </p:txBody>
      </p:sp>
      <p:sp>
        <p:nvSpPr>
          <p:cNvPr id="6" name="TextBox 5">
            <a:extLst>
              <a:ext uri="{FF2B5EF4-FFF2-40B4-BE49-F238E27FC236}">
                <a16:creationId xmlns:a16="http://schemas.microsoft.com/office/drawing/2014/main" id="{9D07B59C-535B-590A-0E38-02BD96D01EED}"/>
              </a:ext>
            </a:extLst>
          </p:cNvPr>
          <p:cNvSpPr txBox="1"/>
          <p:nvPr userDrawn="1"/>
        </p:nvSpPr>
        <p:spPr>
          <a:xfrm>
            <a:off x="4609078" y="4033186"/>
            <a:ext cx="2571538" cy="2646878"/>
          </a:xfrm>
          <a:prstGeom prst="rect">
            <a:avLst/>
          </a:prstGeom>
          <a:noFill/>
        </p:spPr>
        <p:txBody>
          <a:bodyPr wrap="none" rtlCol="0">
            <a:spAutoFit/>
          </a:bodyPr>
          <a:lstStyle/>
          <a:p>
            <a:pPr algn="ctr"/>
            <a:r>
              <a:rPr lang="en-US" sz="16600" dirty="0">
                <a:solidFill>
                  <a:schemeClr val="tx1"/>
                </a:solidFill>
                <a:effectLst/>
              </a:rPr>
              <a:t>Aa</a:t>
            </a:r>
          </a:p>
        </p:txBody>
      </p:sp>
      <p:sp>
        <p:nvSpPr>
          <p:cNvPr id="7" name="Text Placeholder 7">
            <a:extLst>
              <a:ext uri="{FF2B5EF4-FFF2-40B4-BE49-F238E27FC236}">
                <a16:creationId xmlns:a16="http://schemas.microsoft.com/office/drawing/2014/main" id="{B31D1A62-F3B5-A81A-0DDC-26A9BD983DD3}"/>
              </a:ext>
            </a:extLst>
          </p:cNvPr>
          <p:cNvSpPr>
            <a:spLocks noGrp="1"/>
          </p:cNvSpPr>
          <p:nvPr>
            <p:ph type="body" sz="quarter" idx="13" hasCustomPrompt="1"/>
          </p:nvPr>
        </p:nvSpPr>
        <p:spPr>
          <a:xfrm>
            <a:off x="4697757" y="6124726"/>
            <a:ext cx="2394180" cy="564999"/>
          </a:xfrm>
        </p:spPr>
        <p:txBody>
          <a:bodyPr anchor="ctr"/>
          <a:lstStyle>
            <a:lvl1pPr marL="0" indent="0" algn="ctr">
              <a:buNone/>
              <a:defRPr>
                <a:solidFill>
                  <a:schemeClr val="tx1"/>
                </a:solidFill>
                <a:effectLst/>
              </a:defRPr>
            </a:lvl1pPr>
          </a:lstStyle>
          <a:p>
            <a:pPr lvl="0"/>
            <a:r>
              <a:rPr lang="en-US" dirty="0"/>
              <a:t>Font name</a:t>
            </a:r>
          </a:p>
        </p:txBody>
      </p:sp>
      <p:sp>
        <p:nvSpPr>
          <p:cNvPr id="8" name="Rectangle 7">
            <a:extLst>
              <a:ext uri="{FF2B5EF4-FFF2-40B4-BE49-F238E27FC236}">
                <a16:creationId xmlns:a16="http://schemas.microsoft.com/office/drawing/2014/main" id="{ECE61DC0-E6AB-2408-DF49-F1DB3497C6BD}"/>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 name="Rectangle 8">
            <a:extLst>
              <a:ext uri="{FF2B5EF4-FFF2-40B4-BE49-F238E27FC236}">
                <a16:creationId xmlns:a16="http://schemas.microsoft.com/office/drawing/2014/main" id="{952AFDAD-F975-58AA-68A1-3F7069C03C12}"/>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 name="Rectangle 9">
            <a:extLst>
              <a:ext uri="{FF2B5EF4-FFF2-40B4-BE49-F238E27FC236}">
                <a16:creationId xmlns:a16="http://schemas.microsoft.com/office/drawing/2014/main" id="{1DFEE04F-6905-F29E-859C-B000EF57EC76}"/>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 name="Rectangle 10">
            <a:extLst>
              <a:ext uri="{FF2B5EF4-FFF2-40B4-BE49-F238E27FC236}">
                <a16:creationId xmlns:a16="http://schemas.microsoft.com/office/drawing/2014/main" id="{1E02F16F-7AC0-A348-1E64-25F2CE3B3FE5}"/>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2" name="Rectangle 11">
            <a:extLst>
              <a:ext uri="{FF2B5EF4-FFF2-40B4-BE49-F238E27FC236}">
                <a16:creationId xmlns:a16="http://schemas.microsoft.com/office/drawing/2014/main" id="{10BEB6A1-3360-D754-2C69-ED4894FFEE3B}"/>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3" name="Rectangle 12">
            <a:extLst>
              <a:ext uri="{FF2B5EF4-FFF2-40B4-BE49-F238E27FC236}">
                <a16:creationId xmlns:a16="http://schemas.microsoft.com/office/drawing/2014/main" id="{A7BF1332-E482-D9B9-26AA-CEF27C732BC4}"/>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4" name="Rectangle 13">
            <a:extLst>
              <a:ext uri="{FF2B5EF4-FFF2-40B4-BE49-F238E27FC236}">
                <a16:creationId xmlns:a16="http://schemas.microsoft.com/office/drawing/2014/main" id="{48556464-2992-2A09-A0A0-3BE3B84D7097}"/>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5" name="Rectangle 14">
            <a:extLst>
              <a:ext uri="{FF2B5EF4-FFF2-40B4-BE49-F238E27FC236}">
                <a16:creationId xmlns:a16="http://schemas.microsoft.com/office/drawing/2014/main" id="{97D3DC55-52F5-448A-8988-996EA5397CF2}"/>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6" name="Rectangle 15">
            <a:extLst>
              <a:ext uri="{FF2B5EF4-FFF2-40B4-BE49-F238E27FC236}">
                <a16:creationId xmlns:a16="http://schemas.microsoft.com/office/drawing/2014/main" id="{90991CBD-E2A7-E8E3-B871-EC97ED2BA35A}"/>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 name="Rectangle 16">
            <a:extLst>
              <a:ext uri="{FF2B5EF4-FFF2-40B4-BE49-F238E27FC236}">
                <a16:creationId xmlns:a16="http://schemas.microsoft.com/office/drawing/2014/main" id="{22892CAB-A955-39C9-D843-0591456BCAFD}"/>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 name="Rectangle 17">
            <a:extLst>
              <a:ext uri="{FF2B5EF4-FFF2-40B4-BE49-F238E27FC236}">
                <a16:creationId xmlns:a16="http://schemas.microsoft.com/office/drawing/2014/main" id="{F3EE7148-9436-93D5-BE12-9B5C3B22C7B2}"/>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 name="Rectangle 18">
            <a:extLst>
              <a:ext uri="{FF2B5EF4-FFF2-40B4-BE49-F238E27FC236}">
                <a16:creationId xmlns:a16="http://schemas.microsoft.com/office/drawing/2014/main" id="{1B170E15-BA65-424B-D665-8E8FD3BCD779}"/>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 name="Rectangle 19">
            <a:extLst>
              <a:ext uri="{FF2B5EF4-FFF2-40B4-BE49-F238E27FC236}">
                <a16:creationId xmlns:a16="http://schemas.microsoft.com/office/drawing/2014/main" id="{3C9631B4-F2B1-4199-9BAD-AC5064E6FD9F}"/>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 name="Rectangle 20">
            <a:extLst>
              <a:ext uri="{FF2B5EF4-FFF2-40B4-BE49-F238E27FC236}">
                <a16:creationId xmlns:a16="http://schemas.microsoft.com/office/drawing/2014/main" id="{EE9E0E83-913A-BE96-C333-959CB92E3F48}"/>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 name="Rectangle 21">
            <a:extLst>
              <a:ext uri="{FF2B5EF4-FFF2-40B4-BE49-F238E27FC236}">
                <a16:creationId xmlns:a16="http://schemas.microsoft.com/office/drawing/2014/main" id="{52D8CD22-5745-3519-70C4-1D513082B636}"/>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 name="Rectangle 22">
            <a:extLst>
              <a:ext uri="{FF2B5EF4-FFF2-40B4-BE49-F238E27FC236}">
                <a16:creationId xmlns:a16="http://schemas.microsoft.com/office/drawing/2014/main" id="{66D925D1-8B4E-8DE3-75D3-1CD5D8679981}"/>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 name="Rectangle 23">
            <a:extLst>
              <a:ext uri="{FF2B5EF4-FFF2-40B4-BE49-F238E27FC236}">
                <a16:creationId xmlns:a16="http://schemas.microsoft.com/office/drawing/2014/main" id="{8FA98167-21BE-9E59-FA3C-C393EE8CA017}"/>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5" name="Rectangle 24">
            <a:extLst>
              <a:ext uri="{FF2B5EF4-FFF2-40B4-BE49-F238E27FC236}">
                <a16:creationId xmlns:a16="http://schemas.microsoft.com/office/drawing/2014/main" id="{111E38BC-02D8-35E6-B8F8-8EB2BF69B8B2}"/>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6" name="Rectangle 25">
            <a:extLst>
              <a:ext uri="{FF2B5EF4-FFF2-40B4-BE49-F238E27FC236}">
                <a16:creationId xmlns:a16="http://schemas.microsoft.com/office/drawing/2014/main" id="{F9FD5681-6AF6-457A-C2B5-DDDFB8B4F59A}"/>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7" name="Rectangle 26">
            <a:extLst>
              <a:ext uri="{FF2B5EF4-FFF2-40B4-BE49-F238E27FC236}">
                <a16:creationId xmlns:a16="http://schemas.microsoft.com/office/drawing/2014/main" id="{2B0ED796-C94A-00BC-94BA-6DFFB004D34B}"/>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8" name="Rectangle 27">
            <a:extLst>
              <a:ext uri="{FF2B5EF4-FFF2-40B4-BE49-F238E27FC236}">
                <a16:creationId xmlns:a16="http://schemas.microsoft.com/office/drawing/2014/main" id="{4C86BBA2-2F84-08E8-4FF7-73E01E130112}"/>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9" name="Rectangle 28">
            <a:extLst>
              <a:ext uri="{FF2B5EF4-FFF2-40B4-BE49-F238E27FC236}">
                <a16:creationId xmlns:a16="http://schemas.microsoft.com/office/drawing/2014/main" id="{4F99DF04-FBF6-B3B8-83B3-8487E442A318}"/>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0" name="Rectangle 29">
            <a:extLst>
              <a:ext uri="{FF2B5EF4-FFF2-40B4-BE49-F238E27FC236}">
                <a16:creationId xmlns:a16="http://schemas.microsoft.com/office/drawing/2014/main" id="{8087E87D-89F2-C093-204C-F87DCFA9DD81}"/>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1" name="Rectangle 30">
            <a:extLst>
              <a:ext uri="{FF2B5EF4-FFF2-40B4-BE49-F238E27FC236}">
                <a16:creationId xmlns:a16="http://schemas.microsoft.com/office/drawing/2014/main" id="{934B7C8D-193A-21AD-1122-2A61D6DDCD81}"/>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2" name="Rectangle 31">
            <a:extLst>
              <a:ext uri="{FF2B5EF4-FFF2-40B4-BE49-F238E27FC236}">
                <a16:creationId xmlns:a16="http://schemas.microsoft.com/office/drawing/2014/main" id="{F849DFD6-CDA2-90EF-4A31-FC7D0225A7A1}"/>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3" name="Rectangle 32">
            <a:extLst>
              <a:ext uri="{FF2B5EF4-FFF2-40B4-BE49-F238E27FC236}">
                <a16:creationId xmlns:a16="http://schemas.microsoft.com/office/drawing/2014/main" id="{4191C202-6E4D-0EAE-F999-5BF41048EDC7}"/>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4" name="Rectangle 33">
            <a:extLst>
              <a:ext uri="{FF2B5EF4-FFF2-40B4-BE49-F238E27FC236}">
                <a16:creationId xmlns:a16="http://schemas.microsoft.com/office/drawing/2014/main" id="{AB73A4EE-A107-0F88-5ED0-1245A071C11B}"/>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5" name="Rectangle 34">
            <a:extLst>
              <a:ext uri="{FF2B5EF4-FFF2-40B4-BE49-F238E27FC236}">
                <a16:creationId xmlns:a16="http://schemas.microsoft.com/office/drawing/2014/main" id="{2139EB0F-E106-4659-840F-106F9AB27847}"/>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6" name="Rectangle 35">
            <a:extLst>
              <a:ext uri="{FF2B5EF4-FFF2-40B4-BE49-F238E27FC236}">
                <a16:creationId xmlns:a16="http://schemas.microsoft.com/office/drawing/2014/main" id="{ABD56800-5F9C-B8CE-836F-563BB5CAC5C7}"/>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7" name="Rectangle 36">
            <a:extLst>
              <a:ext uri="{FF2B5EF4-FFF2-40B4-BE49-F238E27FC236}">
                <a16:creationId xmlns:a16="http://schemas.microsoft.com/office/drawing/2014/main" id="{E0E84BAD-9528-EB1F-C119-7C893E8E5DEF}"/>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8" name="Rectangle 37">
            <a:extLst>
              <a:ext uri="{FF2B5EF4-FFF2-40B4-BE49-F238E27FC236}">
                <a16:creationId xmlns:a16="http://schemas.microsoft.com/office/drawing/2014/main" id="{5D201FA3-184F-1191-1F93-9E08106804A1}"/>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9" name="Rectangle 38">
            <a:extLst>
              <a:ext uri="{FF2B5EF4-FFF2-40B4-BE49-F238E27FC236}">
                <a16:creationId xmlns:a16="http://schemas.microsoft.com/office/drawing/2014/main" id="{DB2E9F14-57CC-1FBB-31C6-9C46FA416793}"/>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0" name="Rectangle 39">
            <a:extLst>
              <a:ext uri="{FF2B5EF4-FFF2-40B4-BE49-F238E27FC236}">
                <a16:creationId xmlns:a16="http://schemas.microsoft.com/office/drawing/2014/main" id="{52B495EB-054F-DB2D-9EF9-FBAE9FBF7B00}"/>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1" name="Rectangle 40">
            <a:extLst>
              <a:ext uri="{FF2B5EF4-FFF2-40B4-BE49-F238E27FC236}">
                <a16:creationId xmlns:a16="http://schemas.microsoft.com/office/drawing/2014/main" id="{0943A4EA-0634-5CFB-49C2-8790E15A01BC}"/>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2" name="Rectangle 41">
            <a:extLst>
              <a:ext uri="{FF2B5EF4-FFF2-40B4-BE49-F238E27FC236}">
                <a16:creationId xmlns:a16="http://schemas.microsoft.com/office/drawing/2014/main" id="{A7886E65-A812-CAA2-B07A-D3D24484AB6E}"/>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3" name="Rectangle 42">
            <a:extLst>
              <a:ext uri="{FF2B5EF4-FFF2-40B4-BE49-F238E27FC236}">
                <a16:creationId xmlns:a16="http://schemas.microsoft.com/office/drawing/2014/main" id="{D55C8B8E-2773-9432-9F65-18AE4DF4B062}"/>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4" name="Rectangle 43">
            <a:extLst>
              <a:ext uri="{FF2B5EF4-FFF2-40B4-BE49-F238E27FC236}">
                <a16:creationId xmlns:a16="http://schemas.microsoft.com/office/drawing/2014/main" id="{F30ABF88-993A-5434-C2EB-90E1CC28E867}"/>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5" name="Rectangle 44">
            <a:extLst>
              <a:ext uri="{FF2B5EF4-FFF2-40B4-BE49-F238E27FC236}">
                <a16:creationId xmlns:a16="http://schemas.microsoft.com/office/drawing/2014/main" id="{E691E5F5-2042-8164-D4C1-9D2E05F7BE02}"/>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6" name="Rectangle 45">
            <a:extLst>
              <a:ext uri="{FF2B5EF4-FFF2-40B4-BE49-F238E27FC236}">
                <a16:creationId xmlns:a16="http://schemas.microsoft.com/office/drawing/2014/main" id="{B81F8BB7-64C0-22A6-A619-4440CD71761C}"/>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7" name="Rectangle 46">
            <a:extLst>
              <a:ext uri="{FF2B5EF4-FFF2-40B4-BE49-F238E27FC236}">
                <a16:creationId xmlns:a16="http://schemas.microsoft.com/office/drawing/2014/main" id="{4BF5A793-DF40-B9C5-A655-4B14833E0ED5}"/>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8" name="Rectangle 47">
            <a:extLst>
              <a:ext uri="{FF2B5EF4-FFF2-40B4-BE49-F238E27FC236}">
                <a16:creationId xmlns:a16="http://schemas.microsoft.com/office/drawing/2014/main" id="{A80BFAFD-CEE0-C5E3-92C1-9402D58BF5D0}"/>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9" name="Rectangle 48">
            <a:extLst>
              <a:ext uri="{FF2B5EF4-FFF2-40B4-BE49-F238E27FC236}">
                <a16:creationId xmlns:a16="http://schemas.microsoft.com/office/drawing/2014/main" id="{CFDB6431-BC70-FF6B-4970-E14C369DB49A}"/>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0" name="Rectangle 49">
            <a:extLst>
              <a:ext uri="{FF2B5EF4-FFF2-40B4-BE49-F238E27FC236}">
                <a16:creationId xmlns:a16="http://schemas.microsoft.com/office/drawing/2014/main" id="{31AA3800-C420-035A-6770-60A6F80CD301}"/>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51" name="Rectangle 50">
            <a:extLst>
              <a:ext uri="{FF2B5EF4-FFF2-40B4-BE49-F238E27FC236}">
                <a16:creationId xmlns:a16="http://schemas.microsoft.com/office/drawing/2014/main" id="{E601A024-1E92-E5F1-B625-32EAE91ED227}"/>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52" name="Rectangle 51">
            <a:extLst>
              <a:ext uri="{FF2B5EF4-FFF2-40B4-BE49-F238E27FC236}">
                <a16:creationId xmlns:a16="http://schemas.microsoft.com/office/drawing/2014/main" id="{987A805C-596A-F2F5-96BF-458713571EFF}"/>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53" name="Rectangle 52">
            <a:extLst>
              <a:ext uri="{FF2B5EF4-FFF2-40B4-BE49-F238E27FC236}">
                <a16:creationId xmlns:a16="http://schemas.microsoft.com/office/drawing/2014/main" id="{69CB1D23-B2F1-1C53-8ABB-4E607247313B}"/>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54" name="Rectangle 53">
            <a:extLst>
              <a:ext uri="{FF2B5EF4-FFF2-40B4-BE49-F238E27FC236}">
                <a16:creationId xmlns:a16="http://schemas.microsoft.com/office/drawing/2014/main" id="{A4427F7C-D227-AD3E-3967-AB44E39A8456}"/>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5" name="Rectangle 54">
            <a:extLst>
              <a:ext uri="{FF2B5EF4-FFF2-40B4-BE49-F238E27FC236}">
                <a16:creationId xmlns:a16="http://schemas.microsoft.com/office/drawing/2014/main" id="{02FC6CB9-0025-E861-7C71-0DA004B85AF8}"/>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6" name="Rectangle 55">
            <a:extLst>
              <a:ext uri="{FF2B5EF4-FFF2-40B4-BE49-F238E27FC236}">
                <a16:creationId xmlns:a16="http://schemas.microsoft.com/office/drawing/2014/main" id="{971C1019-1986-A03B-CE28-8575F78D764F}"/>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7" name="Rectangle 56">
            <a:extLst>
              <a:ext uri="{FF2B5EF4-FFF2-40B4-BE49-F238E27FC236}">
                <a16:creationId xmlns:a16="http://schemas.microsoft.com/office/drawing/2014/main" id="{2AF62BDF-B1CA-5C6D-8FBB-5150B38C724C}"/>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8" name="Rectangle 57">
            <a:extLst>
              <a:ext uri="{FF2B5EF4-FFF2-40B4-BE49-F238E27FC236}">
                <a16:creationId xmlns:a16="http://schemas.microsoft.com/office/drawing/2014/main" id="{D06906DF-52AA-14A0-F9E3-86451EC145B3}"/>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9" name="Rectangle 58">
            <a:extLst>
              <a:ext uri="{FF2B5EF4-FFF2-40B4-BE49-F238E27FC236}">
                <a16:creationId xmlns:a16="http://schemas.microsoft.com/office/drawing/2014/main" id="{48AA78F2-DAC8-F1DC-C86E-A0B758D75DEB}"/>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0" name="Rectangle 59">
            <a:extLst>
              <a:ext uri="{FF2B5EF4-FFF2-40B4-BE49-F238E27FC236}">
                <a16:creationId xmlns:a16="http://schemas.microsoft.com/office/drawing/2014/main" id="{CC863162-74A0-00EB-02AA-5654FD08ECB8}"/>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1" name="Rectangle 60">
            <a:extLst>
              <a:ext uri="{FF2B5EF4-FFF2-40B4-BE49-F238E27FC236}">
                <a16:creationId xmlns:a16="http://schemas.microsoft.com/office/drawing/2014/main" id="{F13BB829-3479-8564-3791-D4D96E251B0A}"/>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2" name="Rectangle 61">
            <a:extLst>
              <a:ext uri="{FF2B5EF4-FFF2-40B4-BE49-F238E27FC236}">
                <a16:creationId xmlns:a16="http://schemas.microsoft.com/office/drawing/2014/main" id="{4D886CE7-7312-0DAA-DBC4-15B0C1D2D28A}"/>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3" name="Rectangle 62">
            <a:extLst>
              <a:ext uri="{FF2B5EF4-FFF2-40B4-BE49-F238E27FC236}">
                <a16:creationId xmlns:a16="http://schemas.microsoft.com/office/drawing/2014/main" id="{8E1A8BC7-27B9-8E3E-1035-34994FED4E36}"/>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4" name="Rectangle 63">
            <a:extLst>
              <a:ext uri="{FF2B5EF4-FFF2-40B4-BE49-F238E27FC236}">
                <a16:creationId xmlns:a16="http://schemas.microsoft.com/office/drawing/2014/main" id="{0D8205D7-ED3C-794F-10B0-8A045DF1C23E}"/>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5" name="Rectangle 64">
            <a:extLst>
              <a:ext uri="{FF2B5EF4-FFF2-40B4-BE49-F238E27FC236}">
                <a16:creationId xmlns:a16="http://schemas.microsoft.com/office/drawing/2014/main" id="{1BAAA3AA-8C4D-E2B7-B70A-5833152D0F05}"/>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6" name="Rectangle 65">
            <a:extLst>
              <a:ext uri="{FF2B5EF4-FFF2-40B4-BE49-F238E27FC236}">
                <a16:creationId xmlns:a16="http://schemas.microsoft.com/office/drawing/2014/main" id="{18114157-A89B-A724-EE52-D296240761C9}"/>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7" name="Rectangle 66">
            <a:extLst>
              <a:ext uri="{FF2B5EF4-FFF2-40B4-BE49-F238E27FC236}">
                <a16:creationId xmlns:a16="http://schemas.microsoft.com/office/drawing/2014/main" id="{5D2B3622-3660-5B88-FDF8-87C8AF671622}"/>
              </a:ext>
            </a:extLst>
          </p:cNvPr>
          <p:cNvSpPr/>
          <p:nvPr userDrawn="1"/>
        </p:nvSpPr>
        <p:spPr>
          <a:xfrm>
            <a:off x="10459487"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0" name="Text Placeholder 69">
            <a:extLst>
              <a:ext uri="{FF2B5EF4-FFF2-40B4-BE49-F238E27FC236}">
                <a16:creationId xmlns:a16="http://schemas.microsoft.com/office/drawing/2014/main" id="{3B5E08BD-C6CD-4C99-4E24-74CEE1AEADA0}"/>
              </a:ext>
            </a:extLst>
          </p:cNvPr>
          <p:cNvSpPr>
            <a:spLocks noGrp="1"/>
          </p:cNvSpPr>
          <p:nvPr>
            <p:ph type="body" sz="quarter" idx="14" hasCustomPrompt="1"/>
          </p:nvPr>
        </p:nvSpPr>
        <p:spPr>
          <a:xfrm>
            <a:off x="838198" y="4045392"/>
            <a:ext cx="10515599" cy="1177483"/>
          </a:xfrm>
        </p:spPr>
        <p:txBody>
          <a:bodyPr vert="horz" lIns="91440" tIns="45720" rIns="91440" bIns="45720" rtlCol="0" anchor="ctr">
            <a:normAutofit/>
          </a:bodyPr>
          <a:lstStyle>
            <a:lvl1pPr>
              <a:buNone/>
              <a:defRPr lang="en-US" sz="4400" dirty="0">
                <a:latin typeface="Arial Black" panose="020B0A04020102020204" pitchFamily="34" charset="0"/>
                <a:ea typeface="+mj-ea"/>
                <a:cs typeface="+mj-cs"/>
              </a:defRPr>
            </a:lvl1pPr>
          </a:lstStyle>
          <a:p>
            <a:pPr lvl="0">
              <a:spcBef>
                <a:spcPct val="0"/>
              </a:spcBef>
              <a:buNone/>
            </a:pPr>
            <a:r>
              <a:rPr lang="en-US" dirty="0"/>
              <a:t>Click to edit Master title style</a:t>
            </a:r>
          </a:p>
        </p:txBody>
      </p:sp>
    </p:spTree>
    <p:extLst>
      <p:ext uri="{BB962C8B-B14F-4D97-AF65-F5344CB8AC3E}">
        <p14:creationId xmlns:p14="http://schemas.microsoft.com/office/powerpoint/2010/main" val="21947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signed by PresentationGo">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F0C052-A5D5-A3A7-5015-B8AD6BFA38B5}"/>
              </a:ext>
            </a:extLst>
          </p:cNvPr>
          <p:cNvSpPr txBox="1"/>
          <p:nvPr userDrawn="1"/>
        </p:nvSpPr>
        <p:spPr>
          <a:xfrm>
            <a:off x="667330" y="550033"/>
            <a:ext cx="2065437" cy="369332"/>
          </a:xfrm>
          <a:prstGeom prst="rect">
            <a:avLst/>
          </a:prstGeom>
          <a:noFill/>
        </p:spPr>
        <p:txBody>
          <a:bodyPr wrap="none" rtlCol="0">
            <a:spAutoFit/>
          </a:bodyPr>
          <a:lstStyle/>
          <a:p>
            <a:r>
              <a:rPr lang="en-US" dirty="0">
                <a:solidFill>
                  <a:schemeClr val="bg1">
                    <a:alpha val="40157"/>
                  </a:schemeClr>
                </a:solidFill>
                <a:latin typeface="+mj-lt"/>
              </a:rPr>
              <a:t>Designed</a:t>
            </a:r>
            <a:r>
              <a:rPr lang="en-US" dirty="0">
                <a:solidFill>
                  <a:schemeClr val="bg1">
                    <a:alpha val="40157"/>
                  </a:schemeClr>
                </a:solidFill>
              </a:rPr>
              <a:t> with      by</a:t>
            </a:r>
          </a:p>
        </p:txBody>
      </p:sp>
      <p:grpSp>
        <p:nvGrpSpPr>
          <p:cNvPr id="4" name="Group 3">
            <a:extLst>
              <a:ext uri="{FF2B5EF4-FFF2-40B4-BE49-F238E27FC236}">
                <a16:creationId xmlns:a16="http://schemas.microsoft.com/office/drawing/2014/main" id="{E3BDC3D9-4956-070F-F72D-978CD8717498}"/>
              </a:ext>
            </a:extLst>
          </p:cNvPr>
          <p:cNvGrpSpPr/>
          <p:nvPr userDrawn="1"/>
        </p:nvGrpSpPr>
        <p:grpSpPr>
          <a:xfrm>
            <a:off x="757647" y="1021854"/>
            <a:ext cx="5325710" cy="549583"/>
            <a:chOff x="757647" y="1021854"/>
            <a:chExt cx="5325710" cy="549583"/>
          </a:xfrm>
        </p:grpSpPr>
        <p:sp>
          <p:nvSpPr>
            <p:cNvPr id="7" name="Shape">
              <a:extLst>
                <a:ext uri="{FF2B5EF4-FFF2-40B4-BE49-F238E27FC236}">
                  <a16:creationId xmlns:a16="http://schemas.microsoft.com/office/drawing/2014/main" id="{F1B15682-086B-6549-3383-789D334FDAC4}"/>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FFFFFF"/>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id="{349345AB-AD63-E181-3B5F-534FD2A982FA}"/>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sp>
        <p:nvSpPr>
          <p:cNvPr id="12" name="Shape">
            <a:extLst>
              <a:ext uri="{FF2B5EF4-FFF2-40B4-BE49-F238E27FC236}">
                <a16:creationId xmlns:a16="http://schemas.microsoft.com/office/drawing/2014/main" id="{FD9E41AE-A002-9005-E6E5-3580179613F9}"/>
              </a:ext>
            </a:extLst>
          </p:cNvPr>
          <p:cNvSpPr/>
          <p:nvPr userDrawn="1"/>
        </p:nvSpPr>
        <p:spPr>
          <a:xfrm>
            <a:off x="2105953" y="640199"/>
            <a:ext cx="226449" cy="195222"/>
          </a:xfrm>
          <a:custGeom>
            <a:avLst/>
            <a:gdLst/>
            <a:ahLst/>
            <a:cxnLst>
              <a:cxn ang="0">
                <a:pos x="wd2" y="hd2"/>
              </a:cxn>
              <a:cxn ang="5400000">
                <a:pos x="wd2" y="hd2"/>
              </a:cxn>
              <a:cxn ang="10800000">
                <a:pos x="wd2" y="hd2"/>
              </a:cxn>
              <a:cxn ang="16200000">
                <a:pos x="wd2" y="hd2"/>
              </a:cxn>
            </a:cxnLst>
            <a:rect l="0" t="0" r="r" b="b"/>
            <a:pathLst>
              <a:path w="20767" h="20569" extrusionOk="0">
                <a:moveTo>
                  <a:pt x="1276" y="2502"/>
                </a:moveTo>
                <a:cubicBezTo>
                  <a:pt x="3176" y="-371"/>
                  <a:pt x="6676" y="-945"/>
                  <a:pt x="8976" y="1698"/>
                </a:cubicBezTo>
                <a:cubicBezTo>
                  <a:pt x="9476" y="2272"/>
                  <a:pt x="9876" y="2961"/>
                  <a:pt x="10376" y="3651"/>
                </a:cubicBezTo>
                <a:cubicBezTo>
                  <a:pt x="10876" y="2961"/>
                  <a:pt x="11276" y="2272"/>
                  <a:pt x="11776" y="1698"/>
                </a:cubicBezTo>
                <a:cubicBezTo>
                  <a:pt x="14076" y="-945"/>
                  <a:pt x="17676" y="-371"/>
                  <a:pt x="19476" y="2502"/>
                </a:cubicBezTo>
                <a:cubicBezTo>
                  <a:pt x="21176" y="5144"/>
                  <a:pt x="21076" y="7902"/>
                  <a:pt x="19876" y="10659"/>
                </a:cubicBezTo>
                <a:cubicBezTo>
                  <a:pt x="18676" y="13302"/>
                  <a:pt x="16976" y="15485"/>
                  <a:pt x="14976" y="17323"/>
                </a:cubicBezTo>
                <a:cubicBezTo>
                  <a:pt x="13876" y="18357"/>
                  <a:pt x="12376" y="19391"/>
                  <a:pt x="11076" y="20310"/>
                </a:cubicBezTo>
                <a:cubicBezTo>
                  <a:pt x="10676" y="20655"/>
                  <a:pt x="10176" y="20655"/>
                  <a:pt x="9776" y="20310"/>
                </a:cubicBezTo>
                <a:cubicBezTo>
                  <a:pt x="8476" y="19391"/>
                  <a:pt x="6976" y="18357"/>
                  <a:pt x="5876" y="17323"/>
                </a:cubicBezTo>
                <a:cubicBezTo>
                  <a:pt x="3876" y="15485"/>
                  <a:pt x="2176" y="13417"/>
                  <a:pt x="976" y="10659"/>
                </a:cubicBezTo>
                <a:cubicBezTo>
                  <a:pt x="-324" y="7902"/>
                  <a:pt x="-424" y="5144"/>
                  <a:pt x="1276" y="2502"/>
                </a:cubicBezTo>
                <a:close/>
              </a:path>
            </a:pathLst>
          </a:custGeom>
          <a:solidFill>
            <a:srgbClr val="008C58"/>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F46B88B0-8416-31F6-5282-9C6E196C9A56}"/>
              </a:ext>
            </a:extLst>
          </p:cNvPr>
          <p:cNvSpPr/>
          <p:nvPr userDrawn="1"/>
        </p:nvSpPr>
        <p:spPr>
          <a:xfrm>
            <a:off x="7387520" y="3289969"/>
            <a:ext cx="4804480" cy="2927831"/>
          </a:xfrm>
          <a:custGeom>
            <a:avLst/>
            <a:gdLst/>
            <a:ahLst/>
            <a:cxnLst>
              <a:cxn ang="0">
                <a:pos x="wd2" y="hd2"/>
              </a:cxn>
              <a:cxn ang="5400000">
                <a:pos x="wd2" y="hd2"/>
              </a:cxn>
              <a:cxn ang="10800000">
                <a:pos x="wd2" y="hd2"/>
              </a:cxn>
              <a:cxn ang="16200000">
                <a:pos x="wd2" y="hd2"/>
              </a:cxn>
            </a:cxnLst>
            <a:rect l="0" t="0" r="r" b="b"/>
            <a:pathLst>
              <a:path w="21600" h="21600" extrusionOk="0">
                <a:moveTo>
                  <a:pt x="18585" y="0"/>
                </a:moveTo>
                <a:cubicBezTo>
                  <a:pt x="19673" y="0"/>
                  <a:pt x="20698" y="434"/>
                  <a:pt x="21600" y="1199"/>
                </a:cubicBezTo>
                <a:lnTo>
                  <a:pt x="21600" y="6677"/>
                </a:lnTo>
                <a:cubicBezTo>
                  <a:pt x="20879" y="5261"/>
                  <a:pt x="19796" y="4352"/>
                  <a:pt x="18585" y="4352"/>
                </a:cubicBezTo>
                <a:cubicBezTo>
                  <a:pt x="16418" y="4352"/>
                  <a:pt x="14658" y="7240"/>
                  <a:pt x="14658" y="10796"/>
                </a:cubicBezTo>
                <a:cubicBezTo>
                  <a:pt x="14658" y="14344"/>
                  <a:pt x="16418" y="17240"/>
                  <a:pt x="18585" y="17240"/>
                </a:cubicBezTo>
                <a:cubicBezTo>
                  <a:pt x="19796" y="17240"/>
                  <a:pt x="20879" y="16339"/>
                  <a:pt x="21600" y="14915"/>
                </a:cubicBezTo>
                <a:lnTo>
                  <a:pt x="21600" y="20393"/>
                </a:lnTo>
                <a:cubicBezTo>
                  <a:pt x="20698" y="21158"/>
                  <a:pt x="19668" y="21592"/>
                  <a:pt x="18585" y="21592"/>
                </a:cubicBezTo>
                <a:cubicBezTo>
                  <a:pt x="15511" y="21592"/>
                  <a:pt x="12864" y="18109"/>
                  <a:pt x="12178" y="13250"/>
                </a:cubicBezTo>
                <a:cubicBezTo>
                  <a:pt x="11932" y="13282"/>
                  <a:pt x="11609" y="13322"/>
                  <a:pt x="11236" y="13370"/>
                </a:cubicBezTo>
                <a:lnTo>
                  <a:pt x="9677" y="13571"/>
                </a:lnTo>
                <a:cubicBezTo>
                  <a:pt x="8628" y="13708"/>
                  <a:pt x="6760" y="13949"/>
                  <a:pt x="6050" y="14030"/>
                </a:cubicBezTo>
                <a:cubicBezTo>
                  <a:pt x="5991" y="14038"/>
                  <a:pt x="5932" y="14038"/>
                  <a:pt x="5873" y="14038"/>
                </a:cubicBezTo>
                <a:cubicBezTo>
                  <a:pt x="5393" y="14038"/>
                  <a:pt x="4996" y="13805"/>
                  <a:pt x="4697" y="13346"/>
                </a:cubicBezTo>
                <a:cubicBezTo>
                  <a:pt x="4152" y="12509"/>
                  <a:pt x="4152" y="11263"/>
                  <a:pt x="4152" y="10852"/>
                </a:cubicBezTo>
                <a:cubicBezTo>
                  <a:pt x="4152" y="10442"/>
                  <a:pt x="4152" y="9195"/>
                  <a:pt x="4697" y="8350"/>
                </a:cubicBezTo>
                <a:cubicBezTo>
                  <a:pt x="4996" y="7892"/>
                  <a:pt x="5393" y="7659"/>
                  <a:pt x="5873" y="7659"/>
                </a:cubicBezTo>
                <a:cubicBezTo>
                  <a:pt x="5927" y="7659"/>
                  <a:pt x="5986" y="7659"/>
                  <a:pt x="6045" y="7667"/>
                </a:cubicBezTo>
                <a:cubicBezTo>
                  <a:pt x="7045" y="7779"/>
                  <a:pt x="10550" y="8238"/>
                  <a:pt x="12158" y="8447"/>
                </a:cubicBezTo>
                <a:cubicBezTo>
                  <a:pt x="12825" y="3532"/>
                  <a:pt x="15477" y="0"/>
                  <a:pt x="18585" y="0"/>
                </a:cubicBezTo>
                <a:close/>
                <a:moveTo>
                  <a:pt x="2937" y="20257"/>
                </a:moveTo>
                <a:cubicBezTo>
                  <a:pt x="3888" y="21149"/>
                  <a:pt x="5030" y="21600"/>
                  <a:pt x="6368" y="21600"/>
                </a:cubicBezTo>
                <a:cubicBezTo>
                  <a:pt x="7236" y="21600"/>
                  <a:pt x="8030" y="21447"/>
                  <a:pt x="8756" y="21133"/>
                </a:cubicBezTo>
                <a:cubicBezTo>
                  <a:pt x="9481" y="20820"/>
                  <a:pt x="10065" y="20458"/>
                  <a:pt x="10501" y="20031"/>
                </a:cubicBezTo>
                <a:lnTo>
                  <a:pt x="10501" y="15542"/>
                </a:lnTo>
                <a:lnTo>
                  <a:pt x="9672" y="15647"/>
                </a:lnTo>
                <a:cubicBezTo>
                  <a:pt x="9266" y="15703"/>
                  <a:pt x="8731" y="15768"/>
                  <a:pt x="8187" y="15840"/>
                </a:cubicBezTo>
                <a:lnTo>
                  <a:pt x="8187" y="17634"/>
                </a:lnTo>
                <a:cubicBezTo>
                  <a:pt x="7878" y="17731"/>
                  <a:pt x="7579" y="17811"/>
                  <a:pt x="7290" y="17867"/>
                </a:cubicBezTo>
                <a:cubicBezTo>
                  <a:pt x="6996" y="17924"/>
                  <a:pt x="6721" y="17956"/>
                  <a:pt x="6456" y="17956"/>
                </a:cubicBezTo>
                <a:cubicBezTo>
                  <a:pt x="5584" y="17956"/>
                  <a:pt x="4853" y="17650"/>
                  <a:pt x="4270" y="17031"/>
                </a:cubicBezTo>
                <a:cubicBezTo>
                  <a:pt x="3687" y="16411"/>
                  <a:pt x="3250" y="15558"/>
                  <a:pt x="2956" y="14472"/>
                </a:cubicBezTo>
                <a:cubicBezTo>
                  <a:pt x="2662" y="13386"/>
                  <a:pt x="2520" y="12139"/>
                  <a:pt x="2520" y="10724"/>
                </a:cubicBezTo>
                <a:cubicBezTo>
                  <a:pt x="2520" y="9380"/>
                  <a:pt x="2667" y="8173"/>
                  <a:pt x="2951" y="7112"/>
                </a:cubicBezTo>
                <a:cubicBezTo>
                  <a:pt x="3240" y="6050"/>
                  <a:pt x="3687" y="5213"/>
                  <a:pt x="4290" y="4594"/>
                </a:cubicBezTo>
                <a:cubicBezTo>
                  <a:pt x="4893" y="3974"/>
                  <a:pt x="5662" y="3668"/>
                  <a:pt x="6604" y="3668"/>
                </a:cubicBezTo>
                <a:cubicBezTo>
                  <a:pt x="7216" y="3668"/>
                  <a:pt x="7795" y="3781"/>
                  <a:pt x="8344" y="3998"/>
                </a:cubicBezTo>
                <a:cubicBezTo>
                  <a:pt x="8888" y="4223"/>
                  <a:pt x="9388" y="4505"/>
                  <a:pt x="9839" y="4851"/>
                </a:cubicBezTo>
                <a:lnTo>
                  <a:pt x="10094" y="1239"/>
                </a:lnTo>
                <a:cubicBezTo>
                  <a:pt x="9663" y="885"/>
                  <a:pt x="9138" y="595"/>
                  <a:pt x="8525" y="362"/>
                </a:cubicBezTo>
                <a:cubicBezTo>
                  <a:pt x="7912" y="137"/>
                  <a:pt x="7275" y="24"/>
                  <a:pt x="6608" y="24"/>
                </a:cubicBezTo>
                <a:cubicBezTo>
                  <a:pt x="5314" y="24"/>
                  <a:pt x="4172" y="467"/>
                  <a:pt x="3177" y="1360"/>
                </a:cubicBezTo>
                <a:cubicBezTo>
                  <a:pt x="2182" y="2253"/>
                  <a:pt x="1407" y="3499"/>
                  <a:pt x="843" y="5116"/>
                </a:cubicBezTo>
                <a:cubicBezTo>
                  <a:pt x="279" y="6733"/>
                  <a:pt x="0" y="8624"/>
                  <a:pt x="0" y="10788"/>
                </a:cubicBezTo>
                <a:cubicBezTo>
                  <a:pt x="0" y="12968"/>
                  <a:pt x="255" y="14875"/>
                  <a:pt x="760" y="16492"/>
                </a:cubicBezTo>
                <a:cubicBezTo>
                  <a:pt x="1260" y="18109"/>
                  <a:pt x="1985" y="19364"/>
                  <a:pt x="2937" y="20257"/>
                </a:cubicBezTo>
                <a:close/>
              </a:path>
            </a:pathLst>
          </a:custGeom>
          <a:solidFill>
            <a:srgbClr val="008C58"/>
          </a:solidFill>
          <a:ln w="12700">
            <a:miter lim="400000"/>
          </a:ln>
        </p:spPr>
        <p:txBody>
          <a:bodyPr lIns="38100" tIns="38100" rIns="38100" bIns="38100" anchor="ctr"/>
          <a:lstStyle/>
          <a:p>
            <a:pPr>
              <a:defRPr sz="3000">
                <a:solidFill>
                  <a:srgbClr val="FFFFFF"/>
                </a:solidFill>
              </a:defRPr>
            </a:pPr>
            <a:endParaRPr/>
          </a:p>
        </p:txBody>
      </p:sp>
      <p:sp>
        <p:nvSpPr>
          <p:cNvPr id="14" name="TextBox 13">
            <a:extLst>
              <a:ext uri="{FF2B5EF4-FFF2-40B4-BE49-F238E27FC236}">
                <a16:creationId xmlns:a16="http://schemas.microsoft.com/office/drawing/2014/main" id="{99B9E8C2-CD1B-F803-4119-F7DE75A32CC8}"/>
              </a:ext>
            </a:extLst>
          </p:cNvPr>
          <p:cNvSpPr txBox="1"/>
          <p:nvPr userDrawn="1"/>
        </p:nvSpPr>
        <p:spPr>
          <a:xfrm>
            <a:off x="667330" y="1772442"/>
            <a:ext cx="7419403" cy="430887"/>
          </a:xfrm>
          <a:prstGeom prst="rect">
            <a:avLst/>
          </a:prstGeom>
          <a:noFill/>
        </p:spPr>
        <p:txBody>
          <a:bodyPr wrap="none" rtlCol="0">
            <a:spAutoFit/>
          </a:bodyPr>
          <a:lstStyle/>
          <a:p>
            <a:r>
              <a:rPr lang="en-CA" sz="2200" b="0" i="0" dirty="0">
                <a:solidFill>
                  <a:srgbClr val="FFFFFF">
                    <a:alpha val="40000"/>
                  </a:srgbClr>
                </a:solidFill>
                <a:effectLst/>
                <a:latin typeface="+mj-lt"/>
              </a:rPr>
              <a:t>Free Templates &amp; Infographics for PowerPoint and Google Slides</a:t>
            </a:r>
            <a:endParaRPr lang="en-US" sz="2200" dirty="0">
              <a:solidFill>
                <a:schemeClr val="bg1">
                  <a:alpha val="40000"/>
                </a:schemeClr>
              </a:solidFill>
              <a:latin typeface="+mj-lt"/>
            </a:endParaRPr>
          </a:p>
        </p:txBody>
      </p:sp>
      <p:sp>
        <p:nvSpPr>
          <p:cNvPr id="16" name="TextBox 15">
            <a:extLst>
              <a:ext uri="{FF2B5EF4-FFF2-40B4-BE49-F238E27FC236}">
                <a16:creationId xmlns:a16="http://schemas.microsoft.com/office/drawing/2014/main" id="{98E4583D-5F52-5CCA-15D5-7930FA3C51C6}"/>
              </a:ext>
            </a:extLst>
          </p:cNvPr>
          <p:cNvSpPr txBox="1"/>
          <p:nvPr userDrawn="1"/>
        </p:nvSpPr>
        <p:spPr>
          <a:xfrm>
            <a:off x="667329" y="5444784"/>
            <a:ext cx="4722817" cy="523220"/>
          </a:xfrm>
          <a:prstGeom prst="rect">
            <a:avLst/>
          </a:prstGeom>
          <a:noFill/>
        </p:spPr>
        <p:txBody>
          <a:bodyPr wrap="square" rtlCol="0">
            <a:spAutoFit/>
          </a:bodyPr>
          <a:lstStyle/>
          <a:p>
            <a:r>
              <a:rPr lang="en-CA" sz="2800" b="1" i="0" dirty="0">
                <a:solidFill>
                  <a:srgbClr val="FFFFFF"/>
                </a:solidFill>
                <a:effectLst/>
                <a:latin typeface="Calibri" panose="020F0502020204030204" pitchFamily="34" charset="0"/>
                <a:cs typeface="Calibri" panose="020F0502020204030204" pitchFamily="34" charset="0"/>
              </a:rPr>
              <a:t>Questions or Need Help ?</a:t>
            </a:r>
            <a:endParaRPr lang="en-US" sz="2800" b="1" i="0"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C8D8B69F-8B28-B3CE-9A02-F10F35E92CA5}"/>
              </a:ext>
            </a:extLst>
          </p:cNvPr>
          <p:cNvSpPr txBox="1"/>
          <p:nvPr userDrawn="1"/>
        </p:nvSpPr>
        <p:spPr>
          <a:xfrm>
            <a:off x="5976600" y="1307664"/>
            <a:ext cx="644407" cy="369332"/>
          </a:xfrm>
          <a:prstGeom prst="rect">
            <a:avLst/>
          </a:prstGeom>
          <a:noFill/>
        </p:spPr>
        <p:txBody>
          <a:bodyPr wrap="none" rtlCol="0">
            <a:spAutoFit/>
          </a:bodyPr>
          <a:lstStyle/>
          <a:p>
            <a:r>
              <a:rPr lang="en-CA" b="0" i="0" dirty="0">
                <a:solidFill>
                  <a:srgbClr val="FFFFFF">
                    <a:alpha val="40157"/>
                  </a:srgbClr>
                </a:solidFill>
                <a:effectLst/>
                <a:latin typeface="+mj-lt"/>
              </a:rPr>
              <a:t>.com</a:t>
            </a:r>
            <a:endParaRPr lang="en-US" dirty="0">
              <a:solidFill>
                <a:schemeClr val="bg1">
                  <a:alpha val="40157"/>
                </a:schemeClr>
              </a:solidFill>
              <a:latin typeface="+mj-lt"/>
            </a:endParaRPr>
          </a:p>
        </p:txBody>
      </p:sp>
    </p:spTree>
    <p:extLst>
      <p:ext uri="{BB962C8B-B14F-4D97-AF65-F5344CB8AC3E}">
        <p14:creationId xmlns:p14="http://schemas.microsoft.com/office/powerpoint/2010/main" val="419858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hyperlink" Target="http://www.presentationgo.com/" TargetMode="Externa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hyperlink" Target="http://www.presentationgo.com/" TargetMode="External"/><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DBCE06-E8C4-2C00-3267-202ED03140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AA1A21C2-F58A-29BB-D4CF-1C5766363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58314B08-A21E-D074-A41D-7F59F603C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cs typeface="Arial" panose="020B0604020202020204" pitchFamily="34" charset="0"/>
              </a:defRPr>
            </a:lvl1pPr>
          </a:lstStyle>
          <a:p>
            <a:r>
              <a:rPr lang="en-US"/>
              <a:t>Date</a:t>
            </a:r>
            <a:endParaRPr lang="en-US" dirty="0"/>
          </a:p>
        </p:txBody>
      </p:sp>
      <p:sp>
        <p:nvSpPr>
          <p:cNvPr id="5" name="Footer Placeholder 4">
            <a:extLst>
              <a:ext uri="{FF2B5EF4-FFF2-40B4-BE49-F238E27FC236}">
                <a16:creationId xmlns:a16="http://schemas.microsoft.com/office/drawing/2014/main" id="{25BC12FD-5A75-72D6-7084-DDBD3B74CE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cs typeface="Arial" panose="020B0604020202020204" pitchFamily="34" charset="0"/>
              </a:defRPr>
            </a:lvl1pPr>
          </a:lstStyle>
          <a:p>
            <a:r>
              <a:rPr lang="en-US"/>
              <a:t>Your Footer Here</a:t>
            </a:r>
            <a:endParaRPr lang="en-US" dirty="0"/>
          </a:p>
        </p:txBody>
      </p:sp>
      <p:sp>
        <p:nvSpPr>
          <p:cNvPr id="6" name="Slide Number Placeholder 5">
            <a:extLst>
              <a:ext uri="{FF2B5EF4-FFF2-40B4-BE49-F238E27FC236}">
                <a16:creationId xmlns:a16="http://schemas.microsoft.com/office/drawing/2014/main" id="{06A37699-1FC9-BE78-8786-6117E2A523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0D6B0717-3879-4F5B-AECB-285F04B8123E}" type="slidenum">
              <a:rPr lang="en-US" smtClean="0"/>
              <a:pPr/>
              <a:t>‹#›</a:t>
            </a:fld>
            <a:endParaRPr lang="en-US"/>
          </a:p>
        </p:txBody>
      </p:sp>
      <p:grpSp>
        <p:nvGrpSpPr>
          <p:cNvPr id="7" name="Group 6">
            <a:extLst>
              <a:ext uri="{FF2B5EF4-FFF2-40B4-BE49-F238E27FC236}">
                <a16:creationId xmlns:a16="http://schemas.microsoft.com/office/drawing/2014/main" id="{69106C2B-737D-2589-B2EF-B01C3BCD7B99}"/>
              </a:ext>
            </a:extLst>
          </p:cNvPr>
          <p:cNvGrpSpPr/>
          <p:nvPr userDrawn="1"/>
        </p:nvGrpSpPr>
        <p:grpSpPr>
          <a:xfrm>
            <a:off x="12313760" y="-58780"/>
            <a:ext cx="1738741" cy="604829"/>
            <a:chOff x="-1808527" y="-16654"/>
            <a:chExt cx="1738741" cy="604829"/>
          </a:xfrm>
        </p:grpSpPr>
        <p:grpSp>
          <p:nvGrpSpPr>
            <p:cNvPr id="8" name="Group 7">
              <a:extLst>
                <a:ext uri="{FF2B5EF4-FFF2-40B4-BE49-F238E27FC236}">
                  <a16:creationId xmlns:a16="http://schemas.microsoft.com/office/drawing/2014/main" id="{7E7BBC24-7814-7D02-299A-BA617A786359}"/>
                </a:ext>
              </a:extLst>
            </p:cNvPr>
            <p:cNvGrpSpPr/>
            <p:nvPr userDrawn="1"/>
          </p:nvGrpSpPr>
          <p:grpSpPr>
            <a:xfrm>
              <a:off x="-1808527" y="-16654"/>
              <a:ext cx="1738741" cy="604829"/>
              <a:chOff x="-2250002" y="21447"/>
              <a:chExt cx="1738741" cy="604829"/>
            </a:xfrm>
          </p:grpSpPr>
          <p:sp>
            <p:nvSpPr>
              <p:cNvPr id="12" name="TextBox 11">
                <a:extLst>
                  <a:ext uri="{FF2B5EF4-FFF2-40B4-BE49-F238E27FC236}">
                    <a16:creationId xmlns:a16="http://schemas.microsoft.com/office/drawing/2014/main" id="{78A25B8E-737E-AE20-21C2-7D80E0846E18}"/>
                  </a:ext>
                </a:extLst>
              </p:cNvPr>
              <p:cNvSpPr txBox="1"/>
              <p:nvPr userDrawn="1"/>
            </p:nvSpPr>
            <p:spPr>
              <a:xfrm>
                <a:off x="-2250002" y="21447"/>
                <a:ext cx="34336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By:</a:t>
                </a:r>
              </a:p>
            </p:txBody>
          </p:sp>
          <p:sp>
            <p:nvSpPr>
              <p:cNvPr id="13" name="TextBox 12">
                <a:extLst>
                  <a:ext uri="{FF2B5EF4-FFF2-40B4-BE49-F238E27FC236}">
                    <a16:creationId xmlns:a16="http://schemas.microsoft.com/office/drawing/2014/main" id="{23FCCE36-BB04-E8B3-0994-09556154BD4F}"/>
                  </a:ext>
                </a:extLst>
              </p:cNvPr>
              <p:cNvSpPr txBox="1"/>
              <p:nvPr userDrawn="1"/>
            </p:nvSpPr>
            <p:spPr>
              <a:xfrm>
                <a:off x="-950805" y="380055"/>
                <a:ext cx="43954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.com</a:t>
                </a:r>
              </a:p>
            </p:txBody>
          </p:sp>
        </p:grpSp>
        <p:grpSp>
          <p:nvGrpSpPr>
            <p:cNvPr id="9" name="Group 8">
              <a:extLst>
                <a:ext uri="{FF2B5EF4-FFF2-40B4-BE49-F238E27FC236}">
                  <a16:creationId xmlns:a16="http://schemas.microsoft.com/office/drawing/2014/main" id="{DB88CC17-7428-153C-45E0-2015FD348D9E}"/>
                </a:ext>
              </a:extLst>
            </p:cNvPr>
            <p:cNvGrpSpPr/>
            <p:nvPr userDrawn="1"/>
          </p:nvGrpSpPr>
          <p:grpSpPr>
            <a:xfrm>
              <a:off x="-1719071" y="218885"/>
              <a:ext cx="1547194" cy="159662"/>
              <a:chOff x="757647" y="1021854"/>
              <a:chExt cx="5325710" cy="549583"/>
            </a:xfrm>
          </p:grpSpPr>
          <p:sp>
            <p:nvSpPr>
              <p:cNvPr id="10" name="Shape">
                <a:extLst>
                  <a:ext uri="{FF2B5EF4-FFF2-40B4-BE49-F238E27FC236}">
                    <a16:creationId xmlns:a16="http://schemas.microsoft.com/office/drawing/2014/main" id="{62BB811D-BD3A-28CF-E338-08458F70D92F}"/>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002033"/>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id="{F3C8C561-9698-2445-CBC0-EB0AA1F0BA52}"/>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grpSp>
      <p:sp>
        <p:nvSpPr>
          <p:cNvPr id="14" name="Rectangle 13">
            <a:extLst>
              <a:ext uri="{FF2B5EF4-FFF2-40B4-BE49-F238E27FC236}">
                <a16:creationId xmlns:a16="http://schemas.microsoft.com/office/drawing/2014/main" id="{821FB4AC-0676-D82A-32E3-C14B7F94F96D}"/>
              </a:ext>
            </a:extLst>
          </p:cNvPr>
          <p:cNvSpPr/>
          <p:nvPr userDrawn="1"/>
        </p:nvSpPr>
        <p:spPr>
          <a:xfrm>
            <a:off x="-12701" y="6959601"/>
            <a:ext cx="1603901" cy="276999"/>
          </a:xfrm>
          <a:prstGeom prst="rect">
            <a:avLst/>
          </a:prstGeom>
        </p:spPr>
        <p:txBody>
          <a:bodyPr wrap="none">
            <a:spAutoFit/>
          </a:bodyPr>
          <a:lstStyle/>
          <a:p>
            <a:r>
              <a:rPr lang="en-US" sz="1200" b="0" i="0" dirty="0">
                <a:solidFill>
                  <a:srgbClr val="008C58"/>
                </a:solidFill>
                <a:effectLst/>
                <a:latin typeface="+mn-lt"/>
              </a:rPr>
              <a:t>© </a:t>
            </a:r>
            <a:r>
              <a:rPr lang="en-US" sz="1200" b="0" i="0" u="none" strike="noStrike" dirty="0">
                <a:solidFill>
                  <a:srgbClr val="008C58"/>
                </a:solidFill>
                <a:effectLst/>
                <a:latin typeface="+mn-lt"/>
                <a:hlinkClick r:id="rId10" tooltip="PresentationGo!">
                  <a:extLst>
                    <a:ext uri="{A12FA001-AC4F-418D-AE19-62706E023703}">
                      <ahyp:hlinkClr xmlns:ahyp="http://schemas.microsoft.com/office/drawing/2018/hyperlinkcolor" val="tx"/>
                    </a:ext>
                  </a:extLst>
                </a:hlinkClick>
              </a:rPr>
              <a:t>presentationgo.com</a:t>
            </a:r>
            <a:endParaRPr lang="en-US" sz="1200" dirty="0">
              <a:solidFill>
                <a:srgbClr val="008C58"/>
              </a:solidFill>
              <a:latin typeface="+mn-lt"/>
            </a:endParaRPr>
          </a:p>
        </p:txBody>
      </p:sp>
    </p:spTree>
    <p:extLst>
      <p:ext uri="{BB962C8B-B14F-4D97-AF65-F5344CB8AC3E}">
        <p14:creationId xmlns:p14="http://schemas.microsoft.com/office/powerpoint/2010/main" val="1235945438"/>
      </p:ext>
    </p:extLst>
  </p:cSld>
  <p:clrMap bg1="lt1" tx1="dk1" bg2="lt2" tx2="dk2" accent1="accent1" accent2="accent2" accent3="accent3" accent4="accent4" accent5="accent5" accent6="accent6" hlink="hlink" folHlink="folHlink"/>
  <p:sldLayoutIdLst>
    <p:sldLayoutId id="2147483752" r:id="rId1"/>
    <p:sldLayoutId id="2147483765" r:id="rId2"/>
    <p:sldLayoutId id="2147483764" r:id="rId3"/>
    <p:sldLayoutId id="2147483769" r:id="rId4"/>
    <p:sldLayoutId id="2147483754" r:id="rId5"/>
    <p:sldLayoutId id="2147483767" r:id="rId6"/>
    <p:sldLayoutId id="2147483768" r:id="rId7"/>
    <p:sldLayoutId id="2147483761" r:id="rId8"/>
  </p:sldLayoutIdLst>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t>‹#›</a:t>
            </a:fld>
            <a:endParaRPr lang="en-US"/>
          </a:p>
        </p:txBody>
      </p:sp>
      <p:grpSp>
        <p:nvGrpSpPr>
          <p:cNvPr id="7" name="Group 6">
            <a:extLst>
              <a:ext uri="{FF2B5EF4-FFF2-40B4-BE49-F238E27FC236}">
                <a16:creationId xmlns:a16="http://schemas.microsoft.com/office/drawing/2014/main" id="{1EE5F91A-C045-8080-A0BF-661C8A332F3A}"/>
              </a:ext>
            </a:extLst>
          </p:cNvPr>
          <p:cNvGrpSpPr/>
          <p:nvPr userDrawn="1"/>
        </p:nvGrpSpPr>
        <p:grpSpPr>
          <a:xfrm>
            <a:off x="12313760" y="-58780"/>
            <a:ext cx="1738741" cy="604829"/>
            <a:chOff x="-1808527" y="-16654"/>
            <a:chExt cx="1738741" cy="604829"/>
          </a:xfrm>
        </p:grpSpPr>
        <p:grpSp>
          <p:nvGrpSpPr>
            <p:cNvPr id="8" name="Group 7">
              <a:extLst>
                <a:ext uri="{FF2B5EF4-FFF2-40B4-BE49-F238E27FC236}">
                  <a16:creationId xmlns:a16="http://schemas.microsoft.com/office/drawing/2014/main" id="{B0838BA6-0E81-42FC-BA9D-E59707611A82}"/>
                </a:ext>
              </a:extLst>
            </p:cNvPr>
            <p:cNvGrpSpPr/>
            <p:nvPr userDrawn="1"/>
          </p:nvGrpSpPr>
          <p:grpSpPr>
            <a:xfrm>
              <a:off x="-1808527" y="-16654"/>
              <a:ext cx="1738741" cy="604829"/>
              <a:chOff x="-2250002" y="21447"/>
              <a:chExt cx="1738741" cy="604829"/>
            </a:xfrm>
          </p:grpSpPr>
          <p:sp>
            <p:nvSpPr>
              <p:cNvPr id="12" name="TextBox 11">
                <a:extLst>
                  <a:ext uri="{FF2B5EF4-FFF2-40B4-BE49-F238E27FC236}">
                    <a16:creationId xmlns:a16="http://schemas.microsoft.com/office/drawing/2014/main" id="{F610A8BD-15E8-E5F8-83B0-B1211BF64F17}"/>
                  </a:ext>
                </a:extLst>
              </p:cNvPr>
              <p:cNvSpPr txBox="1"/>
              <p:nvPr userDrawn="1"/>
            </p:nvSpPr>
            <p:spPr>
              <a:xfrm>
                <a:off x="-2250002" y="21447"/>
                <a:ext cx="34336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By:</a:t>
                </a:r>
              </a:p>
            </p:txBody>
          </p:sp>
          <p:sp>
            <p:nvSpPr>
              <p:cNvPr id="13" name="TextBox 12">
                <a:extLst>
                  <a:ext uri="{FF2B5EF4-FFF2-40B4-BE49-F238E27FC236}">
                    <a16:creationId xmlns:a16="http://schemas.microsoft.com/office/drawing/2014/main" id="{226636ED-538E-914B-8011-38A24C8084E4}"/>
                  </a:ext>
                </a:extLst>
              </p:cNvPr>
              <p:cNvSpPr txBox="1"/>
              <p:nvPr userDrawn="1"/>
            </p:nvSpPr>
            <p:spPr>
              <a:xfrm>
                <a:off x="-950805" y="380055"/>
                <a:ext cx="439544" cy="246221"/>
              </a:xfrm>
              <a:prstGeom prst="rect">
                <a:avLst/>
              </a:prstGeom>
              <a:noFill/>
            </p:spPr>
            <p:txBody>
              <a:bodyPr wrap="none" rtlCol="0">
                <a:spAutoFit/>
              </a:bodyPr>
              <a:lstStyle/>
              <a:p>
                <a:r>
                  <a:rPr lang="en-US" sz="1000" dirty="0">
                    <a:latin typeface="+mj-lt"/>
                    <a:ea typeface="Open Sans" panose="020B0606030504020204" pitchFamily="34" charset="0"/>
                    <a:cs typeface="Open Sans" panose="020B0606030504020204" pitchFamily="34" charset="0"/>
                  </a:rPr>
                  <a:t>.com</a:t>
                </a:r>
              </a:p>
            </p:txBody>
          </p:sp>
        </p:grpSp>
        <p:grpSp>
          <p:nvGrpSpPr>
            <p:cNvPr id="9" name="Group 8">
              <a:extLst>
                <a:ext uri="{FF2B5EF4-FFF2-40B4-BE49-F238E27FC236}">
                  <a16:creationId xmlns:a16="http://schemas.microsoft.com/office/drawing/2014/main" id="{470567FE-FB45-616B-8180-476C39211726}"/>
                </a:ext>
              </a:extLst>
            </p:cNvPr>
            <p:cNvGrpSpPr/>
            <p:nvPr userDrawn="1"/>
          </p:nvGrpSpPr>
          <p:grpSpPr>
            <a:xfrm>
              <a:off x="-1719071" y="218885"/>
              <a:ext cx="1547194" cy="159662"/>
              <a:chOff x="757647" y="1021854"/>
              <a:chExt cx="5325710" cy="549583"/>
            </a:xfrm>
          </p:grpSpPr>
          <p:sp>
            <p:nvSpPr>
              <p:cNvPr id="10" name="Shape">
                <a:extLst>
                  <a:ext uri="{FF2B5EF4-FFF2-40B4-BE49-F238E27FC236}">
                    <a16:creationId xmlns:a16="http://schemas.microsoft.com/office/drawing/2014/main" id="{7BBD3F98-3DE2-A4C3-6723-83DE8ED5042F}"/>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002033"/>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id="{5A4ECCA2-E5CC-DD21-DA27-A85F4D398922}"/>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grpSp>
      <p:sp>
        <p:nvSpPr>
          <p:cNvPr id="14" name="Rectangle 13">
            <a:extLst>
              <a:ext uri="{FF2B5EF4-FFF2-40B4-BE49-F238E27FC236}">
                <a16:creationId xmlns:a16="http://schemas.microsoft.com/office/drawing/2014/main" id="{F65537A9-36A4-C362-0176-D7BC8A6F38F7}"/>
              </a:ext>
            </a:extLst>
          </p:cNvPr>
          <p:cNvSpPr/>
          <p:nvPr userDrawn="1"/>
        </p:nvSpPr>
        <p:spPr>
          <a:xfrm>
            <a:off x="-12701" y="6959601"/>
            <a:ext cx="1603901" cy="276999"/>
          </a:xfrm>
          <a:prstGeom prst="rect">
            <a:avLst/>
          </a:prstGeom>
        </p:spPr>
        <p:txBody>
          <a:bodyPr wrap="none">
            <a:spAutoFit/>
          </a:bodyPr>
          <a:lstStyle/>
          <a:p>
            <a:r>
              <a:rPr lang="en-US" sz="1200" b="0" i="0" dirty="0">
                <a:solidFill>
                  <a:srgbClr val="008C58"/>
                </a:solidFill>
                <a:effectLst/>
                <a:latin typeface="+mn-lt"/>
              </a:rPr>
              <a:t>© </a:t>
            </a:r>
            <a:r>
              <a:rPr lang="en-US" sz="1200" b="0" i="0" u="none" strike="noStrike" dirty="0">
                <a:solidFill>
                  <a:srgbClr val="008C58"/>
                </a:solidFill>
                <a:effectLst/>
                <a:latin typeface="+mn-lt"/>
                <a:hlinkClick r:id="rId3" tooltip="PresentationGo!">
                  <a:extLst>
                    <a:ext uri="{A12FA001-AC4F-418D-AE19-62706E023703}">
                      <ahyp:hlinkClr xmlns:ahyp="http://schemas.microsoft.com/office/drawing/2018/hyperlinkcolor" val="tx"/>
                    </a:ext>
                  </a:extLst>
                </a:hlinkClick>
              </a:rPr>
              <a:t>presentationgo.com</a:t>
            </a:r>
            <a:endParaRPr lang="en-US" sz="1200" dirty="0">
              <a:solidFill>
                <a:srgbClr val="008C58"/>
              </a:solidFill>
              <a:latin typeface="+mn-lt"/>
            </a:endParaRPr>
          </a:p>
        </p:txBody>
      </p:sp>
    </p:spTree>
    <p:extLst>
      <p:ext uri="{BB962C8B-B14F-4D97-AF65-F5344CB8AC3E}">
        <p14:creationId xmlns:p14="http://schemas.microsoft.com/office/powerpoint/2010/main" val="2868556160"/>
      </p:ext>
    </p:extLst>
  </p:cSld>
  <p:clrMap bg1="lt1" tx1="dk1" bg2="lt2" tx2="dk2" accent1="accent1" accent2="accent2" accent3="accent3" accent4="accent4" accent5="accent5" accent6="accent6" hlink="hlink" folHlink="folHlink"/>
  <p:sldLayoutIdLst>
    <p:sldLayoutId id="2147483750" r:id="rId1"/>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002B"/>
        </a:solidFill>
        <a:effectLst/>
      </p:bgPr>
    </p:bg>
    <p:spTree>
      <p:nvGrpSpPr>
        <p:cNvPr id="1" name=""/>
        <p:cNvGrpSpPr/>
        <p:nvPr/>
      </p:nvGrpSpPr>
      <p:grpSpPr>
        <a:xfrm>
          <a:off x="0" y="0"/>
          <a:ext cx="0" cy="0"/>
          <a:chOff x="0" y="0"/>
          <a:chExt cx="0" cy="0"/>
        </a:xfrm>
      </p:grpSpPr>
      <p:sp>
        <p:nvSpPr>
          <p:cNvPr id="7" name="Shape 5"/>
          <p:cNvSpPr/>
          <p:nvPr/>
        </p:nvSpPr>
        <p:spPr>
          <a:xfrm>
            <a:off x="1005838" y="786376"/>
            <a:ext cx="3916682" cy="512064"/>
          </a:xfrm>
          <a:prstGeom prst="roundRect">
            <a:avLst>
              <a:gd name="adj" fmla="val 14286"/>
            </a:avLst>
          </a:prstGeom>
          <a:solidFill>
            <a:srgbClr val="FF4D6D"/>
          </a:solidFill>
          <a:ln w="12700">
            <a:solidFill>
              <a:srgbClr val="FF4D6D"/>
            </a:solidFill>
            <a:prstDash val="solid"/>
          </a:ln>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267" normalizeH="0" baseline="0" noProof="0" dirty="0">
                <a:ln>
                  <a:noFill/>
                </a:ln>
                <a:solidFill>
                  <a:srgbClr val="FFFFFF"/>
                </a:solidFill>
                <a:effectLst/>
                <a:uLnTx/>
                <a:uFillTx/>
                <a:latin typeface="Calibri" panose="020F0502020204030204"/>
                <a:ea typeface="+mn-ea"/>
                <a:cs typeface="+mn-cs"/>
              </a:rPr>
              <a:t>智慧矿山室内人员精准定位</a:t>
            </a:r>
            <a:endParaRPr kumimoji="0" lang="en-US" sz="1400" b="1" i="0" u="none" strike="noStrike" kern="0" cap="none" spc="267" normalizeH="0" baseline="0" noProof="0" dirty="0">
              <a:ln>
                <a:noFill/>
              </a:ln>
              <a:solidFill>
                <a:srgbClr val="FFFFFF"/>
              </a:solidFill>
              <a:effectLst/>
              <a:uLnTx/>
              <a:uFillTx/>
              <a:latin typeface="Calibri" panose="020F0502020204030204"/>
              <a:ea typeface="+mn-ea"/>
              <a:cs typeface="+mn-cs"/>
            </a:endParaRPr>
          </a:p>
        </p:txBody>
      </p:sp>
      <p:sp>
        <p:nvSpPr>
          <p:cNvPr id="12" name="Text 10"/>
          <p:cNvSpPr/>
          <p:nvPr/>
        </p:nvSpPr>
        <p:spPr>
          <a:xfrm>
            <a:off x="1036320" y="5730240"/>
            <a:ext cx="8534400" cy="487680"/>
          </a:xfrm>
          <a:prstGeom prst="rect">
            <a:avLst/>
          </a:prstGeom>
          <a:noFill/>
          <a:ln/>
        </p:spPr>
        <p:txBody>
          <a:bodyPr wrap="square" lIns="0" tIns="0" rIns="0" bIns="0" rtlCol="0" anchor="ctr"/>
          <a:lstStyle/>
          <a:p>
            <a:pPr defTabSz="1219170"/>
            <a:r>
              <a:rPr lang="zh-CN" altLang="en-US" sz="1467" dirty="0">
                <a:solidFill>
                  <a:srgbClr val="C77DFF"/>
                </a:solidFill>
                <a:latin typeface="Calibri" pitchFamily="34" charset="0"/>
                <a:ea typeface="Calibri" pitchFamily="34" charset="-122"/>
                <a:cs typeface="Calibri" pitchFamily="34" charset="-120"/>
              </a:rPr>
              <a:t>谢小珂   范一鸣   吕影焜   南亚宏</a:t>
            </a:r>
            <a:endParaRPr lang="en-US" sz="1467" dirty="0">
              <a:solidFill>
                <a:srgbClr val="10002B"/>
              </a:solidFill>
              <a:latin typeface="Calibri" panose="020F0502020204030204"/>
            </a:endParaRPr>
          </a:p>
        </p:txBody>
      </p:sp>
      <p:sp>
        <p:nvSpPr>
          <p:cNvPr id="17" name="Title 16">
            <a:extLst>
              <a:ext uri="{FF2B5EF4-FFF2-40B4-BE49-F238E27FC236}">
                <a16:creationId xmlns:a16="http://schemas.microsoft.com/office/drawing/2014/main" id="{811FB4EE-B42B-E98C-2336-846B2A48EAD0}"/>
              </a:ext>
            </a:extLst>
          </p:cNvPr>
          <p:cNvSpPr>
            <a:spLocks noGrp="1"/>
          </p:cNvSpPr>
          <p:nvPr>
            <p:ph type="ctrTitle"/>
          </p:nvPr>
        </p:nvSpPr>
        <p:spPr>
          <a:xfrm>
            <a:off x="1005840" y="1872980"/>
            <a:ext cx="8891534" cy="2952062"/>
          </a:xfrm>
        </p:spPr>
        <p:txBody>
          <a:bodyPr/>
          <a:lstStyle/>
          <a:p>
            <a:r>
              <a:rPr lang="zh-CN" altLang="en-US" dirty="0"/>
              <a:t>物联网定位技术</a:t>
            </a:r>
            <a:br>
              <a:rPr lang="en-US" altLang="zh-CN" dirty="0"/>
            </a:br>
            <a:r>
              <a:rPr lang="zh-CN" altLang="en-US" dirty="0">
                <a:solidFill>
                  <a:schemeClr val="accent1"/>
                </a:solidFill>
              </a:rPr>
              <a:t>方案设计</a:t>
            </a:r>
            <a:endParaRPr lang="en-US" dirty="0">
              <a:solidFill>
                <a:schemeClr val="accent1"/>
              </a:solidFill>
            </a:endParaRPr>
          </a:p>
        </p:txBody>
      </p:sp>
      <p:sp>
        <p:nvSpPr>
          <p:cNvPr id="18" name="Subtitle 17">
            <a:extLst>
              <a:ext uri="{FF2B5EF4-FFF2-40B4-BE49-F238E27FC236}">
                <a16:creationId xmlns:a16="http://schemas.microsoft.com/office/drawing/2014/main" id="{50D3BBBD-4755-6BDA-BED4-8C12442C40FB}"/>
              </a:ext>
            </a:extLst>
          </p:cNvPr>
          <p:cNvSpPr>
            <a:spLocks noGrp="1"/>
          </p:cNvSpPr>
          <p:nvPr>
            <p:ph type="subTitle" idx="1"/>
          </p:nvPr>
        </p:nvSpPr>
        <p:spPr/>
        <p:txBody>
          <a:bodyPr/>
          <a:lstStyle/>
          <a:p>
            <a:r>
              <a:rPr lang="zh-CN" altLang="en-US" dirty="0"/>
              <a:t>第</a:t>
            </a:r>
            <a:r>
              <a:rPr lang="en-US" altLang="zh-CN" dirty="0"/>
              <a:t>5</a:t>
            </a:r>
            <a:r>
              <a:rPr lang="zh-CN" altLang="en-US" dirty="0"/>
              <a:t>小组</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FF"/>
        </a:solidFill>
        <a:effectLst/>
      </p:bgPr>
    </p:bg>
    <p:spTree>
      <p:nvGrpSpPr>
        <p:cNvPr id="1" name=""/>
        <p:cNvGrpSpPr/>
        <p:nvPr/>
      </p:nvGrpSpPr>
      <p:grpSpPr>
        <a:xfrm>
          <a:off x="0" y="0"/>
          <a:ext cx="0" cy="0"/>
          <a:chOff x="0" y="0"/>
          <a:chExt cx="0" cy="0"/>
        </a:xfrm>
      </p:grpSpPr>
      <p:sp>
        <p:nvSpPr>
          <p:cNvPr id="5" name="Shape 3"/>
          <p:cNvSpPr/>
          <p:nvPr/>
        </p:nvSpPr>
        <p:spPr>
          <a:xfrm>
            <a:off x="426720" y="1865376"/>
            <a:ext cx="5364480" cy="1950720"/>
          </a:xfrm>
          <a:prstGeom prst="rect">
            <a:avLst/>
          </a:prstGeom>
          <a:solidFill>
            <a:srgbClr val="FFFFFF"/>
          </a:solidFill>
          <a:ln w="12700">
            <a:solidFill>
              <a:srgbClr val="EAD7FF"/>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6" name="Shape 4"/>
          <p:cNvSpPr/>
          <p:nvPr/>
        </p:nvSpPr>
        <p:spPr>
          <a:xfrm>
            <a:off x="426720" y="1865376"/>
            <a:ext cx="304800" cy="195072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7" name="Text 5"/>
          <p:cNvSpPr/>
          <p:nvPr/>
        </p:nvSpPr>
        <p:spPr>
          <a:xfrm>
            <a:off x="914400" y="1962912"/>
            <a:ext cx="4632960" cy="463296"/>
          </a:xfrm>
          <a:prstGeom prst="rect">
            <a:avLst/>
          </a:prstGeom>
          <a:noFill/>
          <a:ln/>
        </p:spPr>
        <p:txBody>
          <a:bodyPr wrap="square" lIns="0" tIns="0" rIns="0" bIns="0" rtlCol="0" anchor="ctr"/>
          <a:lstStyle/>
          <a:p>
            <a:pPr defTabSz="1219170"/>
            <a:r>
              <a:rPr lang="zh-CN" altLang="en-US" b="1" dirty="0"/>
              <a:t>核心生产作业区</a:t>
            </a:r>
            <a:r>
              <a:rPr lang="en-US" altLang="zh-CN" b="1" dirty="0"/>
              <a:t>——UWB</a:t>
            </a:r>
            <a:endParaRPr lang="en-US" sz="1867" b="1" dirty="0">
              <a:solidFill>
                <a:srgbClr val="10002B"/>
              </a:solidFill>
              <a:latin typeface="Calibri" panose="020F0502020204030204"/>
            </a:endParaRPr>
          </a:p>
        </p:txBody>
      </p:sp>
      <p:sp>
        <p:nvSpPr>
          <p:cNvPr id="8" name="Text 6"/>
          <p:cNvSpPr/>
          <p:nvPr/>
        </p:nvSpPr>
        <p:spPr>
          <a:xfrm>
            <a:off x="914400" y="2450592"/>
            <a:ext cx="4632960" cy="1158240"/>
          </a:xfrm>
          <a:prstGeom prst="rect">
            <a:avLst/>
          </a:prstGeom>
          <a:noFill/>
          <a:ln/>
        </p:spPr>
        <p:txBody>
          <a:bodyPr wrap="square" lIns="0" tIns="0" rIns="0" bIns="0" rtlCol="0" anchor="ctr"/>
          <a:lstStyle/>
          <a:p>
            <a:r>
              <a:rPr lang="zh-CN" altLang="en-US" b="1" dirty="0"/>
              <a:t>回形主巷道、采掘工作面及运输大巷范围内</a:t>
            </a:r>
            <a:endParaRPr lang="en-US" altLang="zh-CN" b="1" dirty="0"/>
          </a:p>
          <a:p>
            <a:r>
              <a:rPr lang="zh-CN" altLang="en-US" b="1" dirty="0"/>
              <a:t>环境复杂，流动性强</a:t>
            </a:r>
            <a:endParaRPr lang="en-US" altLang="zh-CN" b="1" dirty="0"/>
          </a:p>
          <a:p>
            <a:r>
              <a:rPr lang="zh-CN" altLang="en-US" b="1" dirty="0"/>
              <a:t>是整个矿山安全管理与生产调度的核心地带</a:t>
            </a:r>
            <a:endParaRPr lang="en-US" sz="1467" b="1" dirty="0">
              <a:solidFill>
                <a:srgbClr val="10002B"/>
              </a:solidFill>
              <a:latin typeface="Calibri" panose="020F0502020204030204"/>
            </a:endParaRPr>
          </a:p>
        </p:txBody>
      </p:sp>
      <p:sp>
        <p:nvSpPr>
          <p:cNvPr id="9" name="Shape 7"/>
          <p:cNvSpPr/>
          <p:nvPr/>
        </p:nvSpPr>
        <p:spPr>
          <a:xfrm>
            <a:off x="426720" y="3998976"/>
            <a:ext cx="5364480" cy="1950720"/>
          </a:xfrm>
          <a:prstGeom prst="rect">
            <a:avLst/>
          </a:prstGeom>
          <a:solidFill>
            <a:srgbClr val="FFFFFF"/>
          </a:solidFill>
          <a:ln w="12700">
            <a:solidFill>
              <a:srgbClr val="EAD7FF"/>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10" name="Shape 8"/>
          <p:cNvSpPr/>
          <p:nvPr/>
        </p:nvSpPr>
        <p:spPr>
          <a:xfrm>
            <a:off x="426720" y="3998976"/>
            <a:ext cx="304800" cy="1950720"/>
          </a:xfrm>
          <a:prstGeom prst="rect">
            <a:avLst/>
          </a:prstGeom>
          <a:solidFill>
            <a:srgbClr val="7B2FBE"/>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11" name="Text 9"/>
          <p:cNvSpPr/>
          <p:nvPr/>
        </p:nvSpPr>
        <p:spPr>
          <a:xfrm>
            <a:off x="914400" y="4096512"/>
            <a:ext cx="4632960" cy="463296"/>
          </a:xfrm>
          <a:prstGeom prst="rect">
            <a:avLst/>
          </a:prstGeom>
          <a:noFill/>
          <a:ln/>
        </p:spPr>
        <p:txBody>
          <a:bodyPr wrap="square" lIns="0" tIns="0" rIns="0" bIns="0" rtlCol="0" anchor="ctr"/>
          <a:lstStyle/>
          <a:p>
            <a:pPr defTabSz="1219170"/>
            <a:r>
              <a:rPr lang="zh-CN" altLang="en-US" b="1" dirty="0"/>
              <a:t>高危采空区与老采区</a:t>
            </a:r>
            <a:r>
              <a:rPr lang="en-US" altLang="zh-CN" b="1" dirty="0"/>
              <a:t>——RFID</a:t>
            </a:r>
            <a:endParaRPr lang="en-US" sz="1867" b="1" dirty="0">
              <a:solidFill>
                <a:srgbClr val="10002B"/>
              </a:solidFill>
              <a:latin typeface="Calibri" panose="020F0502020204030204"/>
            </a:endParaRPr>
          </a:p>
        </p:txBody>
      </p:sp>
      <p:sp>
        <p:nvSpPr>
          <p:cNvPr id="12" name="Text 10"/>
          <p:cNvSpPr/>
          <p:nvPr/>
        </p:nvSpPr>
        <p:spPr>
          <a:xfrm>
            <a:off x="914400" y="4584192"/>
            <a:ext cx="4632960" cy="1158240"/>
          </a:xfrm>
          <a:prstGeom prst="rect">
            <a:avLst/>
          </a:prstGeom>
          <a:noFill/>
          <a:ln/>
        </p:spPr>
        <p:txBody>
          <a:bodyPr wrap="square" lIns="0" tIns="0" rIns="0" bIns="0" rtlCol="0" anchor="ctr"/>
          <a:lstStyle/>
          <a:p>
            <a:r>
              <a:rPr lang="zh-CN" altLang="en-US" b="1" dirty="0"/>
              <a:t>地质条件不稳定，属于高危区域</a:t>
            </a:r>
            <a:endParaRPr lang="en-US" altLang="zh-CN" b="1" dirty="0"/>
          </a:p>
          <a:p>
            <a:r>
              <a:rPr lang="zh-CN" altLang="en-US" b="1" dirty="0"/>
              <a:t>不需要保持连续高精度定位</a:t>
            </a:r>
            <a:endParaRPr lang="en-US" altLang="zh-CN" b="1" dirty="0"/>
          </a:p>
          <a:p>
            <a:r>
              <a:rPr lang="zh-CN" altLang="en-US" b="1" dirty="0"/>
              <a:t>避免成本浪费</a:t>
            </a:r>
            <a:endParaRPr lang="en-US" b="1" dirty="0"/>
          </a:p>
        </p:txBody>
      </p:sp>
      <p:sp>
        <p:nvSpPr>
          <p:cNvPr id="13" name="Shape 11"/>
          <p:cNvSpPr/>
          <p:nvPr/>
        </p:nvSpPr>
        <p:spPr>
          <a:xfrm>
            <a:off x="6278880" y="1865376"/>
            <a:ext cx="5486400" cy="4084320"/>
          </a:xfrm>
          <a:prstGeom prst="rect">
            <a:avLst/>
          </a:prstGeom>
          <a:solidFill>
            <a:srgbClr val="10002B"/>
          </a:solidFill>
          <a:ln w="12700">
            <a:solidFill>
              <a:srgbClr val="10002B"/>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15" name="Text 13"/>
          <p:cNvSpPr/>
          <p:nvPr/>
        </p:nvSpPr>
        <p:spPr>
          <a:xfrm>
            <a:off x="6400800" y="2048256"/>
            <a:ext cx="5242560" cy="1706880"/>
          </a:xfrm>
          <a:prstGeom prst="rect">
            <a:avLst/>
          </a:prstGeom>
          <a:noFill/>
          <a:ln/>
        </p:spPr>
        <p:txBody>
          <a:bodyPr wrap="square" lIns="0" tIns="0" rIns="0" bIns="0" rtlCol="0" anchor="ctr"/>
          <a:lstStyle/>
          <a:p>
            <a:pPr algn="ctr" defTabSz="1219170"/>
            <a:r>
              <a:rPr lang="en-US" sz="9600" b="1" dirty="0">
                <a:solidFill>
                  <a:srgbClr val="FF4D6D"/>
                </a:solidFill>
                <a:latin typeface="Arial Black" pitchFamily="34" charset="0"/>
                <a:ea typeface="Arial Black" pitchFamily="34" charset="-122"/>
                <a:cs typeface="Arial Black" pitchFamily="34" charset="-120"/>
              </a:rPr>
              <a:t>60%</a:t>
            </a:r>
            <a:endParaRPr lang="en-US" sz="9600" dirty="0">
              <a:solidFill>
                <a:srgbClr val="10002B"/>
              </a:solidFill>
              <a:latin typeface="Calibri" panose="020F0502020204030204"/>
            </a:endParaRPr>
          </a:p>
        </p:txBody>
      </p:sp>
      <p:sp>
        <p:nvSpPr>
          <p:cNvPr id="16" name="Text 14"/>
          <p:cNvSpPr/>
          <p:nvPr/>
        </p:nvSpPr>
        <p:spPr>
          <a:xfrm>
            <a:off x="6400800" y="3633216"/>
            <a:ext cx="5242560" cy="512064"/>
          </a:xfrm>
          <a:prstGeom prst="rect">
            <a:avLst/>
          </a:prstGeom>
          <a:noFill/>
          <a:ln/>
        </p:spPr>
        <p:txBody>
          <a:bodyPr wrap="square" lIns="0" tIns="0" rIns="0" bIns="0" rtlCol="0" anchor="ctr"/>
          <a:lstStyle/>
          <a:p>
            <a:pPr algn="ctr" defTabSz="1219170"/>
            <a:r>
              <a:rPr lang="zh-CN" altLang="en-US" sz="1467" b="1" kern="0" spc="267" dirty="0">
                <a:solidFill>
                  <a:srgbClr val="C77DFF"/>
                </a:solidFill>
                <a:latin typeface="Calibri" pitchFamily="34" charset="0"/>
                <a:ea typeface="Calibri" pitchFamily="34" charset="-122"/>
                <a:cs typeface="Calibri" pitchFamily="34" charset="-120"/>
              </a:rPr>
              <a:t>较传统单一</a:t>
            </a:r>
            <a:r>
              <a:rPr lang="en-US" altLang="zh-CN" sz="1467" b="1" kern="0" spc="267" dirty="0">
                <a:solidFill>
                  <a:srgbClr val="C77DFF"/>
                </a:solidFill>
                <a:latin typeface="Calibri" pitchFamily="34" charset="0"/>
                <a:ea typeface="Calibri" pitchFamily="34" charset="-122"/>
                <a:cs typeface="Calibri" pitchFamily="34" charset="-120"/>
              </a:rPr>
              <a:t>UWB</a:t>
            </a:r>
            <a:r>
              <a:rPr lang="zh-CN" altLang="en-US" sz="1467" b="1" kern="0" spc="267" dirty="0">
                <a:solidFill>
                  <a:srgbClr val="C77DFF"/>
                </a:solidFill>
                <a:latin typeface="Calibri" pitchFamily="34" charset="0"/>
                <a:ea typeface="Calibri" pitchFamily="34" charset="-122"/>
                <a:cs typeface="Calibri" pitchFamily="34" charset="-120"/>
              </a:rPr>
              <a:t>覆盖方案能够节约的成本</a:t>
            </a:r>
            <a:endParaRPr lang="en-US" sz="1467" dirty="0">
              <a:solidFill>
                <a:srgbClr val="10002B"/>
              </a:solidFill>
              <a:latin typeface="Calibri" panose="020F0502020204030204"/>
            </a:endParaRPr>
          </a:p>
        </p:txBody>
      </p:sp>
      <p:sp>
        <p:nvSpPr>
          <p:cNvPr id="17" name="Text 15"/>
          <p:cNvSpPr/>
          <p:nvPr/>
        </p:nvSpPr>
        <p:spPr>
          <a:xfrm>
            <a:off x="6522720" y="4206240"/>
            <a:ext cx="4998720" cy="1463040"/>
          </a:xfrm>
          <a:prstGeom prst="rect">
            <a:avLst/>
          </a:prstGeom>
          <a:noFill/>
          <a:ln/>
        </p:spPr>
        <p:txBody>
          <a:bodyPr wrap="square" lIns="0" tIns="0" rIns="0" bIns="0" rtlCol="0" anchor="ctr"/>
          <a:lstStyle/>
          <a:p>
            <a:pPr algn="ctr" defTabSz="1219170"/>
            <a:r>
              <a:rPr lang="zh-CN" altLang="en-US" b="1" dirty="0">
                <a:solidFill>
                  <a:srgbClr val="D4B8FF"/>
                </a:solidFill>
                <a:latin typeface="Calibri" panose="020F0502020204030204" pitchFamily="34" charset="0"/>
                <a:cs typeface="Calibri" panose="020F0502020204030204" pitchFamily="34" charset="0"/>
              </a:rPr>
              <a:t>多元传感器融合策略</a:t>
            </a:r>
            <a:endParaRPr lang="en-US" altLang="zh-CN" b="1" dirty="0">
              <a:solidFill>
                <a:srgbClr val="D4B8FF"/>
              </a:solidFill>
              <a:latin typeface="Calibri" panose="020F0502020204030204" pitchFamily="34" charset="0"/>
              <a:ea typeface="Calibri" panose="020F0502020204030204" pitchFamily="34" charset="0"/>
              <a:cs typeface="Calibri" panose="020F0502020204030204" pitchFamily="34" charset="0"/>
            </a:endParaRPr>
          </a:p>
          <a:p>
            <a:pPr algn="ctr" defTabSz="1219170"/>
            <a:r>
              <a:rPr lang="zh-CN" altLang="en-US" b="1" dirty="0">
                <a:solidFill>
                  <a:srgbClr val="D4B8FF"/>
                </a:solidFill>
                <a:latin typeface="Calibri" panose="020F0502020204030204" pitchFamily="34" charset="0"/>
                <a:cs typeface="Calibri" panose="020F0502020204030204" pitchFamily="34" charset="0"/>
              </a:rPr>
              <a:t>加速度计 </a:t>
            </a:r>
            <a:r>
              <a:rPr lang="en-US" altLang="zh-CN" b="1" dirty="0">
                <a:solidFill>
                  <a:srgbClr val="D4B8FF"/>
                </a:solidFill>
                <a:latin typeface="Calibri" panose="020F0502020204030204" pitchFamily="34" charset="0"/>
                <a:ea typeface="Calibri" panose="020F0502020204030204" pitchFamily="34" charset="0"/>
                <a:cs typeface="Calibri" panose="020F0502020204030204" pitchFamily="34" charset="0"/>
              </a:rPr>
              <a:t>+ </a:t>
            </a:r>
            <a:r>
              <a:rPr lang="zh-CN" altLang="en-US" b="1" dirty="0">
                <a:solidFill>
                  <a:srgbClr val="D4B8FF"/>
                </a:solidFill>
                <a:latin typeface="Calibri" panose="020F0502020204030204" pitchFamily="34" charset="0"/>
                <a:cs typeface="Calibri" panose="020F0502020204030204" pitchFamily="34" charset="0"/>
              </a:rPr>
              <a:t>陀螺仪（</a:t>
            </a:r>
            <a:r>
              <a:rPr lang="en-US" altLang="zh-CN" b="1" dirty="0">
                <a:solidFill>
                  <a:srgbClr val="D4B8FF"/>
                </a:solidFill>
                <a:latin typeface="Calibri" panose="020F0502020204030204" pitchFamily="34" charset="0"/>
                <a:ea typeface="Calibri" panose="020F0502020204030204" pitchFamily="34" charset="0"/>
                <a:cs typeface="Calibri" panose="020F0502020204030204" pitchFamily="34" charset="0"/>
              </a:rPr>
              <a:t>IMU</a:t>
            </a:r>
            <a:r>
              <a:rPr lang="zh-CN" altLang="en-US" b="1" dirty="0">
                <a:solidFill>
                  <a:srgbClr val="D4B8FF"/>
                </a:solidFill>
                <a:latin typeface="Calibri" panose="020F0502020204030204" pitchFamily="34" charset="0"/>
                <a:cs typeface="Calibri" panose="020F0502020204030204" pitchFamily="34" charset="0"/>
              </a:rPr>
              <a:t>）实现惯性导航推算</a:t>
            </a:r>
            <a:endParaRPr lang="en-US" altLang="zh-CN" b="1" dirty="0">
              <a:solidFill>
                <a:srgbClr val="D4B8FF"/>
              </a:solidFill>
              <a:latin typeface="Calibri" panose="020F0502020204030204" pitchFamily="34" charset="0"/>
              <a:ea typeface="Calibri" panose="020F0502020204030204" pitchFamily="34" charset="0"/>
              <a:cs typeface="Calibri" panose="020F0502020204030204" pitchFamily="34" charset="0"/>
            </a:endParaRPr>
          </a:p>
          <a:p>
            <a:pPr algn="ctr" defTabSz="1219170"/>
            <a:r>
              <a:rPr lang="zh-CN" altLang="en-US" b="1" dirty="0">
                <a:solidFill>
                  <a:srgbClr val="D4B8FF"/>
                </a:solidFill>
                <a:latin typeface="Calibri" panose="020F0502020204030204" pitchFamily="34" charset="0"/>
                <a:cs typeface="Calibri" panose="020F0502020204030204" pitchFamily="34" charset="0"/>
              </a:rPr>
              <a:t>引入神经网络模型，实现事前干预</a:t>
            </a:r>
            <a:endParaRPr lang="en-US" b="1" dirty="0">
              <a:solidFill>
                <a:srgbClr val="D4B8FF"/>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16"/>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19" name="Text 17"/>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0" name="Text 18"/>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10</a:t>
            </a:r>
            <a:endParaRPr lang="en-US" sz="1200" dirty="0">
              <a:solidFill>
                <a:srgbClr val="10002B"/>
              </a:solidFill>
              <a:latin typeface="Calibri" panose="020F0502020204030204"/>
            </a:endParaRPr>
          </a:p>
        </p:txBody>
      </p:sp>
      <p:sp>
        <p:nvSpPr>
          <p:cNvPr id="27" name="Title 26">
            <a:extLst>
              <a:ext uri="{FF2B5EF4-FFF2-40B4-BE49-F238E27FC236}">
                <a16:creationId xmlns:a16="http://schemas.microsoft.com/office/drawing/2014/main" id="{3D528970-AC05-32F2-87E7-00E59E7647FC}"/>
              </a:ext>
            </a:extLst>
          </p:cNvPr>
          <p:cNvSpPr>
            <a:spLocks noGrp="1"/>
          </p:cNvSpPr>
          <p:nvPr>
            <p:ph type="title"/>
          </p:nvPr>
        </p:nvSpPr>
        <p:spPr/>
        <p:txBody>
          <a:bodyPr/>
          <a:lstStyle/>
          <a:p>
            <a:r>
              <a:rPr lang="en-US" altLang="zh-CN" b="1" dirty="0">
                <a:solidFill>
                  <a:srgbClr val="FFFFFF"/>
                </a:solidFill>
                <a:ea typeface="Arial Black" pitchFamily="34" charset="-122"/>
                <a:cs typeface="Arial Black" pitchFamily="34" charset="-120"/>
              </a:rPr>
              <a:t>UWB + RFID </a:t>
            </a:r>
            <a:r>
              <a:rPr lang="zh-CN" altLang="en-US" b="1" dirty="0">
                <a:solidFill>
                  <a:srgbClr val="FFFFFF"/>
                </a:solidFill>
                <a:ea typeface="Arial Black" pitchFamily="34" charset="-122"/>
                <a:cs typeface="Arial Black" pitchFamily="34" charset="-120"/>
              </a:rPr>
              <a:t>双技术融合</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E03058-8E2A-2511-A8E2-22EAEB99E0CA}"/>
              </a:ext>
            </a:extLst>
          </p:cNvPr>
          <p:cNvSpPr>
            <a:spLocks noGrp="1"/>
          </p:cNvSpPr>
          <p:nvPr>
            <p:ph type="title"/>
          </p:nvPr>
        </p:nvSpPr>
        <p:spPr/>
        <p:txBody>
          <a:bodyPr/>
          <a:lstStyle/>
          <a:p>
            <a:endParaRPr lang="zh-CN" altLang="en-US"/>
          </a:p>
        </p:txBody>
      </p:sp>
      <p:pic>
        <p:nvPicPr>
          <p:cNvPr id="3" name="内容占位符 3">
            <a:extLst>
              <a:ext uri="{FF2B5EF4-FFF2-40B4-BE49-F238E27FC236}">
                <a16:creationId xmlns:a16="http://schemas.microsoft.com/office/drawing/2014/main" id="{3EF5842A-4683-F819-DCFE-1F4AF9DD00D4}"/>
              </a:ext>
            </a:extLst>
          </p:cNvPr>
          <p:cNvPicPr>
            <a:picLocks noChangeAspect="1"/>
          </p:cNvPicPr>
          <p:nvPr/>
        </p:nvPicPr>
        <p:blipFill>
          <a:blip r:embed="rId2"/>
          <a:stretch>
            <a:fillRect/>
          </a:stretch>
        </p:blipFill>
        <p:spPr>
          <a:xfrm>
            <a:off x="0" y="0"/>
            <a:ext cx="12238912" cy="6734355"/>
          </a:xfrm>
          <a:prstGeom prst="rect">
            <a:avLst/>
          </a:prstGeom>
        </p:spPr>
      </p:pic>
    </p:spTree>
    <p:extLst>
      <p:ext uri="{BB962C8B-B14F-4D97-AF65-F5344CB8AC3E}">
        <p14:creationId xmlns:p14="http://schemas.microsoft.com/office/powerpoint/2010/main" val="4241598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240046"/>
        </a:solidFill>
        <a:effectLst/>
      </p:bgPr>
    </p:bg>
    <p:spTree>
      <p:nvGrpSpPr>
        <p:cNvPr id="1" name=""/>
        <p:cNvGrpSpPr/>
        <p:nvPr/>
      </p:nvGrpSpPr>
      <p:grpSpPr>
        <a:xfrm>
          <a:off x="0" y="0"/>
          <a:ext cx="0" cy="0"/>
          <a:chOff x="0" y="0"/>
          <a:chExt cx="0" cy="0"/>
        </a:xfrm>
      </p:grpSpPr>
      <p:sp>
        <p:nvSpPr>
          <p:cNvPr id="2" name="Shape 0"/>
          <p:cNvSpPr/>
          <p:nvPr/>
        </p:nvSpPr>
        <p:spPr>
          <a:xfrm>
            <a:off x="7924800" y="0"/>
            <a:ext cx="4267200" cy="6858000"/>
          </a:xfrm>
          <a:prstGeom prst="rect">
            <a:avLst/>
          </a:prstGeom>
          <a:solidFill>
            <a:srgbClr val="7B2FBE">
              <a:alpha val="45000"/>
            </a:srgbClr>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3" name="Shape 1"/>
          <p:cNvSpPr/>
          <p:nvPr/>
        </p:nvSpPr>
        <p:spPr>
          <a:xfrm>
            <a:off x="7071360" y="-1463040"/>
            <a:ext cx="5486400" cy="5486400"/>
          </a:xfrm>
          <a:prstGeom prst="ellipse">
            <a:avLst/>
          </a:prstGeom>
          <a:solidFill>
            <a:srgbClr val="FF4D6D">
              <a:alpha val="30000"/>
            </a:srgbClr>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4" name="Shape 2"/>
          <p:cNvSpPr/>
          <p:nvPr/>
        </p:nvSpPr>
        <p:spPr>
          <a:xfrm>
            <a:off x="9144000" y="3657600"/>
            <a:ext cx="3657600" cy="3657600"/>
          </a:xfrm>
          <a:prstGeom prst="ellipse">
            <a:avLst/>
          </a:prstGeom>
          <a:solidFill>
            <a:srgbClr val="C77DFF">
              <a:alpha val="35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5" name="Shape 3"/>
          <p:cNvSpPr/>
          <p:nvPr/>
        </p:nvSpPr>
        <p:spPr>
          <a:xfrm>
            <a:off x="0" y="0"/>
            <a:ext cx="609600" cy="685800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6" name="Shape 4"/>
          <p:cNvSpPr/>
          <p:nvPr/>
        </p:nvSpPr>
        <p:spPr>
          <a:xfrm>
            <a:off x="609600" y="2901696"/>
            <a:ext cx="7071360" cy="73152"/>
          </a:xfrm>
          <a:prstGeom prst="rect">
            <a:avLst/>
          </a:prstGeom>
          <a:solidFill>
            <a:srgbClr val="C77DFF">
              <a:alpha val="50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7" name="Text 5"/>
          <p:cNvSpPr/>
          <p:nvPr/>
        </p:nvSpPr>
        <p:spPr>
          <a:xfrm>
            <a:off x="914400" y="731520"/>
            <a:ext cx="2438400" cy="1706880"/>
          </a:xfrm>
          <a:prstGeom prst="rect">
            <a:avLst/>
          </a:prstGeom>
          <a:noFill/>
          <a:ln/>
        </p:spPr>
        <p:txBody>
          <a:bodyPr wrap="square" lIns="0" tIns="0" rIns="0" bIns="0" rtlCol="0" anchor="ctr"/>
          <a:lstStyle/>
          <a:p>
            <a:pPr defTabSz="1219170"/>
            <a:r>
              <a:rPr lang="en-US" sz="12000" b="1" dirty="0">
                <a:solidFill>
                  <a:srgbClr val="FF4D6D">
                    <a:alpha val="80000"/>
                  </a:srgbClr>
                </a:solidFill>
                <a:latin typeface="Arial Black" pitchFamily="34" charset="0"/>
                <a:ea typeface="Arial Black" pitchFamily="34" charset="-122"/>
                <a:cs typeface="Arial Black" pitchFamily="34" charset="-120"/>
              </a:rPr>
              <a:t>01</a:t>
            </a:r>
            <a:endParaRPr lang="en-US" sz="12000" dirty="0">
              <a:solidFill>
                <a:srgbClr val="10002B"/>
              </a:solidFill>
              <a:latin typeface="Calibri" panose="020F0502020204030204"/>
            </a:endParaRPr>
          </a:p>
        </p:txBody>
      </p:sp>
      <p:sp>
        <p:nvSpPr>
          <p:cNvPr id="8" name="Shape 6"/>
          <p:cNvSpPr/>
          <p:nvPr/>
        </p:nvSpPr>
        <p:spPr>
          <a:xfrm>
            <a:off x="914400" y="2438400"/>
            <a:ext cx="2194560" cy="463296"/>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9" name="Text 7"/>
          <p:cNvSpPr/>
          <p:nvPr/>
        </p:nvSpPr>
        <p:spPr>
          <a:xfrm>
            <a:off x="914400" y="2438400"/>
            <a:ext cx="2194560" cy="463296"/>
          </a:xfrm>
          <a:prstGeom prst="rect">
            <a:avLst/>
          </a:prstGeom>
          <a:noFill/>
          <a:ln/>
        </p:spPr>
        <p:txBody>
          <a:bodyPr wrap="square" lIns="0" tIns="0" rIns="0" bIns="0" rtlCol="0" anchor="ctr"/>
          <a:lstStyle/>
          <a:p>
            <a:pPr algn="ctr" defTabSz="1219170"/>
            <a:r>
              <a:rPr lang="en-US" sz="1200" b="1" kern="0" spc="400" dirty="0">
                <a:solidFill>
                  <a:srgbClr val="FFFFFF"/>
                </a:solidFill>
                <a:latin typeface="Calibri" pitchFamily="34" charset="0"/>
                <a:ea typeface="Calibri" pitchFamily="34" charset="-122"/>
                <a:cs typeface="Calibri" pitchFamily="34" charset="-120"/>
              </a:rPr>
              <a:t>SECTION</a:t>
            </a:r>
            <a:endParaRPr lang="en-US" sz="1200" dirty="0">
              <a:solidFill>
                <a:srgbClr val="10002B"/>
              </a:solidFill>
              <a:latin typeface="Calibri" panose="020F0502020204030204"/>
            </a:endParaRPr>
          </a:p>
        </p:txBody>
      </p:sp>
      <p:sp>
        <p:nvSpPr>
          <p:cNvPr id="14" name="Title 13">
            <a:extLst>
              <a:ext uri="{FF2B5EF4-FFF2-40B4-BE49-F238E27FC236}">
                <a16:creationId xmlns:a16="http://schemas.microsoft.com/office/drawing/2014/main" id="{6CD51F43-4815-30F2-7259-F27CE458E656}"/>
              </a:ext>
            </a:extLst>
          </p:cNvPr>
          <p:cNvSpPr>
            <a:spLocks noGrp="1"/>
          </p:cNvSpPr>
          <p:nvPr>
            <p:ph type="title"/>
          </p:nvPr>
        </p:nvSpPr>
        <p:spPr/>
        <p:txBody>
          <a:bodyPr/>
          <a:lstStyle/>
          <a:p>
            <a:r>
              <a:rPr lang="zh-CN" altLang="en-US" dirty="0"/>
              <a:t>前期调研与算法</a:t>
            </a:r>
            <a:endParaRPr lang="en-US" dirty="0"/>
          </a:p>
        </p:txBody>
      </p:sp>
      <p:sp>
        <p:nvSpPr>
          <p:cNvPr id="15" name="Text Placeholder 14">
            <a:extLst>
              <a:ext uri="{FF2B5EF4-FFF2-40B4-BE49-F238E27FC236}">
                <a16:creationId xmlns:a16="http://schemas.microsoft.com/office/drawing/2014/main" id="{6B0D9F22-99CC-1777-784F-E2AC39D3ACB2}"/>
              </a:ext>
            </a:extLst>
          </p:cNvPr>
          <p:cNvSpPr>
            <a:spLocks noGrp="1"/>
          </p:cNvSpPr>
          <p:nvPr>
            <p:ph type="body" idx="1"/>
          </p:nvPr>
        </p:nvSpPr>
        <p:spPr/>
        <p:txBody>
          <a:bodyPr/>
          <a:lstStyle/>
          <a:p>
            <a:r>
              <a:rPr lang="zh-CN" altLang="en-US" dirty="0">
                <a:solidFill>
                  <a:schemeClr val="bg1"/>
                </a:solidFill>
                <a:latin typeface="Calibri" panose="020F0502020204030204"/>
              </a:rPr>
              <a:t>部分技术局限性的解决方案</a:t>
            </a:r>
            <a:endParaRPr lang="en-US" dirty="0">
              <a:solidFill>
                <a:schemeClr val="bg1"/>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FF"/>
        </a:solidFill>
        <a:effectLst/>
      </p:bgPr>
    </p:bg>
    <p:spTree>
      <p:nvGrpSpPr>
        <p:cNvPr id="1" name=""/>
        <p:cNvGrpSpPr/>
        <p:nvPr/>
      </p:nvGrpSpPr>
      <p:grpSpPr>
        <a:xfrm>
          <a:off x="0" y="0"/>
          <a:ext cx="0" cy="0"/>
          <a:chOff x="0" y="0"/>
          <a:chExt cx="0" cy="0"/>
        </a:xfrm>
      </p:grpSpPr>
      <p:sp>
        <p:nvSpPr>
          <p:cNvPr id="20" name="Shape 18"/>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03</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DDE32504-91C7-C390-4141-0F9B2C6ECCCA}"/>
              </a:ext>
            </a:extLst>
          </p:cNvPr>
          <p:cNvSpPr>
            <a:spLocks noGrp="1"/>
          </p:cNvSpPr>
          <p:nvPr>
            <p:ph idx="1"/>
          </p:nvPr>
        </p:nvSpPr>
        <p:spPr/>
        <p:txBody>
          <a:bodyPr>
            <a:normAutofit/>
          </a:bodyPr>
          <a:lstStyle/>
          <a:p>
            <a:pPr marL="0" indent="0">
              <a:buNone/>
            </a:pPr>
            <a:r>
              <a:rPr lang="zh-CN" altLang="en-US" b="1" dirty="0"/>
              <a:t>何为“采空区”？</a:t>
            </a:r>
            <a:endParaRPr lang="en-US" altLang="zh-CN" b="1" dirty="0"/>
          </a:p>
          <a:p>
            <a:pPr marL="0" indent="0">
              <a:buNone/>
            </a:pPr>
            <a:endParaRPr lang="en-US" altLang="zh-CN" b="1" dirty="0"/>
          </a:p>
        </p:txBody>
      </p:sp>
      <p:sp>
        <p:nvSpPr>
          <p:cNvPr id="26" name="Title 25">
            <a:extLst>
              <a:ext uri="{FF2B5EF4-FFF2-40B4-BE49-F238E27FC236}">
                <a16:creationId xmlns:a16="http://schemas.microsoft.com/office/drawing/2014/main" id="{5F002FB3-26BF-43CB-9DA0-BA308644F21D}"/>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环境认知</a:t>
            </a:r>
            <a:endParaRPr lang="en-US" dirty="0"/>
          </a:p>
        </p:txBody>
      </p:sp>
      <p:pic>
        <p:nvPicPr>
          <p:cNvPr id="3" name="图片 2">
            <a:extLst>
              <a:ext uri="{FF2B5EF4-FFF2-40B4-BE49-F238E27FC236}">
                <a16:creationId xmlns:a16="http://schemas.microsoft.com/office/drawing/2014/main" id="{B9228661-62BE-FCEE-DA14-0D7DF94752A6}"/>
              </a:ext>
            </a:extLst>
          </p:cNvPr>
          <p:cNvPicPr>
            <a:picLocks noChangeAspect="1"/>
          </p:cNvPicPr>
          <p:nvPr/>
        </p:nvPicPr>
        <p:blipFill>
          <a:blip r:embed="rId3"/>
          <a:stretch>
            <a:fillRect/>
          </a:stretch>
        </p:blipFill>
        <p:spPr>
          <a:xfrm>
            <a:off x="836676" y="2457178"/>
            <a:ext cx="4600000" cy="2780952"/>
          </a:xfrm>
          <a:prstGeom prst="rect">
            <a:avLst/>
          </a:prstGeom>
        </p:spPr>
      </p:pic>
      <p:sp>
        <p:nvSpPr>
          <p:cNvPr id="5" name="文本框 4">
            <a:extLst>
              <a:ext uri="{FF2B5EF4-FFF2-40B4-BE49-F238E27FC236}">
                <a16:creationId xmlns:a16="http://schemas.microsoft.com/office/drawing/2014/main" id="{9A4743CA-CEC4-F636-80E9-75614099C101}"/>
              </a:ext>
            </a:extLst>
          </p:cNvPr>
          <p:cNvSpPr txBox="1"/>
          <p:nvPr/>
        </p:nvSpPr>
        <p:spPr>
          <a:xfrm>
            <a:off x="6583680" y="2457178"/>
            <a:ext cx="4632960" cy="1938992"/>
          </a:xfrm>
          <a:prstGeom prst="rect">
            <a:avLst/>
          </a:prstGeom>
          <a:noFill/>
        </p:spPr>
        <p:txBody>
          <a:bodyPr wrap="square">
            <a:spAutoFit/>
          </a:bodyPr>
          <a:lstStyle/>
          <a:p>
            <a:r>
              <a:rPr lang="zh-CN" altLang="en-US" sz="2400" b="1" i="1" dirty="0"/>
              <a:t>采空区是指煤层/铁矿开采后，巷道正上方形成的空洞区域，属于井下高危区域，人员误入会有坍塌风险，是定位方案必须重点覆盖的场景。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CD681ABD-0F18-854E-D347-32B499EF2E19}"/>
              </a:ext>
            </a:extLst>
          </p:cNvPr>
          <p:cNvPicPr>
            <a:picLocks noGrp="1" noChangeAspect="1"/>
          </p:cNvPicPr>
          <p:nvPr>
            <p:ph idx="1"/>
          </p:nvPr>
        </p:nvPicPr>
        <p:blipFill>
          <a:blip r:embed="rId2"/>
          <a:stretch>
            <a:fillRect/>
          </a:stretch>
        </p:blipFill>
        <p:spPr>
          <a:xfrm>
            <a:off x="451102" y="1265206"/>
            <a:ext cx="9377259" cy="5274708"/>
          </a:xfrm>
          <a:prstGeom prst="rect">
            <a:avLst/>
          </a:prstGeom>
        </p:spPr>
      </p:pic>
      <p:sp>
        <p:nvSpPr>
          <p:cNvPr id="3" name="标题 2">
            <a:extLst>
              <a:ext uri="{FF2B5EF4-FFF2-40B4-BE49-F238E27FC236}">
                <a16:creationId xmlns:a16="http://schemas.microsoft.com/office/drawing/2014/main" id="{3E083E7F-07BC-6E0A-0A5E-84B4C6570B56}"/>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错误的理解</a:t>
            </a:r>
            <a:endParaRPr lang="zh-CN" altLang="en-US" b="1" dirty="0">
              <a:solidFill>
                <a:srgbClr val="FFFFFF"/>
              </a:solidFill>
            </a:endParaRPr>
          </a:p>
        </p:txBody>
      </p:sp>
      <p:pic>
        <p:nvPicPr>
          <p:cNvPr id="6" name="图片 5">
            <a:extLst>
              <a:ext uri="{FF2B5EF4-FFF2-40B4-BE49-F238E27FC236}">
                <a16:creationId xmlns:a16="http://schemas.microsoft.com/office/drawing/2014/main" id="{D34DEE17-2540-E0E5-75AE-7BEB57FEE547}"/>
              </a:ext>
            </a:extLst>
          </p:cNvPr>
          <p:cNvPicPr>
            <a:picLocks noChangeAspect="1"/>
          </p:cNvPicPr>
          <p:nvPr/>
        </p:nvPicPr>
        <p:blipFill>
          <a:blip r:embed="rId3"/>
          <a:stretch>
            <a:fillRect/>
          </a:stretch>
        </p:blipFill>
        <p:spPr>
          <a:xfrm>
            <a:off x="8543867" y="1265206"/>
            <a:ext cx="3648133" cy="2205496"/>
          </a:xfrm>
          <a:prstGeom prst="rect">
            <a:avLst/>
          </a:prstGeom>
        </p:spPr>
      </p:pic>
    </p:spTree>
    <p:extLst>
      <p:ext uri="{BB962C8B-B14F-4D97-AF65-F5344CB8AC3E}">
        <p14:creationId xmlns:p14="http://schemas.microsoft.com/office/powerpoint/2010/main" val="1085485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9334-18C3-3901-6ED8-D3EF260132B7}"/>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97BD3724-8954-0058-28DF-A111DC8E27DA}"/>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FF747904-A91C-BC71-CC5C-F593090AC7DD}"/>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chemeClr val="tx2">
                    <a:lumMod val="25000"/>
                    <a:lumOff val="75000"/>
                  </a:schemeClr>
                </a:solidFill>
                <a:latin typeface="Calibri" panose="020F0502020204030204"/>
              </a:rPr>
              <a:t>物联网通信技术</a:t>
            </a:r>
            <a:endParaRPr lang="en-US" sz="1200" dirty="0">
              <a:solidFill>
                <a:schemeClr val="tx2">
                  <a:lumMod val="25000"/>
                  <a:lumOff val="75000"/>
                </a:schemeClr>
              </a:solidFill>
              <a:latin typeface="Calibri" panose="020F0502020204030204"/>
            </a:endParaRPr>
          </a:p>
        </p:txBody>
      </p:sp>
      <p:sp>
        <p:nvSpPr>
          <p:cNvPr id="22" name="Text 20">
            <a:extLst>
              <a:ext uri="{FF2B5EF4-FFF2-40B4-BE49-F238E27FC236}">
                <a16:creationId xmlns:a16="http://schemas.microsoft.com/office/drawing/2014/main" id="{1A89FBAC-C0C9-B82D-A046-C9BF24ACDF07}"/>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04</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7D974291-1B82-CB21-4AD5-36CD38F9B102}"/>
              </a:ext>
            </a:extLst>
          </p:cNvPr>
          <p:cNvSpPr>
            <a:spLocks noGrp="1"/>
          </p:cNvSpPr>
          <p:nvPr>
            <p:ph idx="1"/>
          </p:nvPr>
        </p:nvSpPr>
        <p:spPr>
          <a:xfrm>
            <a:off x="838200" y="1362138"/>
            <a:ext cx="10515600" cy="4814825"/>
          </a:xfrm>
        </p:spPr>
        <p:txBody>
          <a:bodyPr>
            <a:normAutofit/>
          </a:bodyPr>
          <a:lstStyle/>
          <a:p>
            <a:pPr marL="0" indent="0">
              <a:buNone/>
            </a:pPr>
            <a:r>
              <a:rPr lang="zh-CN" altLang="en-US" b="1" dirty="0"/>
              <a:t>“采空区”模拟</a:t>
            </a:r>
            <a:endParaRPr lang="en-US" altLang="zh-CN" b="1" dirty="0"/>
          </a:p>
          <a:p>
            <a:pPr marL="0" indent="0">
              <a:buNone/>
            </a:pPr>
            <a:endParaRPr lang="en-US" altLang="zh-CN" b="1" dirty="0"/>
          </a:p>
        </p:txBody>
      </p:sp>
      <p:sp>
        <p:nvSpPr>
          <p:cNvPr id="26" name="Title 25">
            <a:extLst>
              <a:ext uri="{FF2B5EF4-FFF2-40B4-BE49-F238E27FC236}">
                <a16:creationId xmlns:a16="http://schemas.microsoft.com/office/drawing/2014/main" id="{3B2B0B50-07FE-0236-616C-B518B446C991}"/>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形成过程</a:t>
            </a:r>
            <a:endParaRPr lang="en-US" dirty="0"/>
          </a:p>
        </p:txBody>
      </p:sp>
      <p:pic>
        <p:nvPicPr>
          <p:cNvPr id="4" name="图片 3">
            <a:extLst>
              <a:ext uri="{FF2B5EF4-FFF2-40B4-BE49-F238E27FC236}">
                <a16:creationId xmlns:a16="http://schemas.microsoft.com/office/drawing/2014/main" id="{3781F997-B993-11A7-20C1-95485A75892B}"/>
              </a:ext>
            </a:extLst>
          </p:cNvPr>
          <p:cNvPicPr>
            <a:picLocks noChangeAspect="1"/>
          </p:cNvPicPr>
          <p:nvPr/>
        </p:nvPicPr>
        <p:blipFill>
          <a:blip r:embed="rId3"/>
          <a:stretch>
            <a:fillRect/>
          </a:stretch>
        </p:blipFill>
        <p:spPr>
          <a:xfrm>
            <a:off x="1991177" y="1827261"/>
            <a:ext cx="8206598" cy="4616211"/>
          </a:xfrm>
          <a:prstGeom prst="rect">
            <a:avLst/>
          </a:prstGeom>
        </p:spPr>
      </p:pic>
    </p:spTree>
    <p:extLst>
      <p:ext uri="{BB962C8B-B14F-4D97-AF65-F5344CB8AC3E}">
        <p14:creationId xmlns:p14="http://schemas.microsoft.com/office/powerpoint/2010/main" val="401462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F74C5-4634-AB5F-D7A3-BD1B08D96665}"/>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23B0AAB3-7639-280E-7E71-D195447B11A3}"/>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EE12FF66-5156-7DDF-D5B9-E7A35C861758}"/>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chemeClr val="tx2">
                    <a:lumMod val="25000"/>
                    <a:lumOff val="75000"/>
                  </a:schemeClr>
                </a:solidFill>
                <a:latin typeface="Calibri" panose="020F0502020204030204"/>
              </a:rPr>
              <a:t>物联网通信技术</a:t>
            </a:r>
            <a:endParaRPr lang="en-US" sz="1200" dirty="0">
              <a:solidFill>
                <a:schemeClr val="tx2">
                  <a:lumMod val="25000"/>
                  <a:lumOff val="75000"/>
                </a:schemeClr>
              </a:solidFill>
              <a:latin typeface="Calibri" panose="020F0502020204030204"/>
            </a:endParaRPr>
          </a:p>
        </p:txBody>
      </p:sp>
      <p:sp>
        <p:nvSpPr>
          <p:cNvPr id="22" name="Text 20">
            <a:extLst>
              <a:ext uri="{FF2B5EF4-FFF2-40B4-BE49-F238E27FC236}">
                <a16:creationId xmlns:a16="http://schemas.microsoft.com/office/drawing/2014/main" id="{BA620657-2F28-19AB-5783-6CA6957F19ED}"/>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05</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85B40009-CD73-D8C4-EEAF-E2115CECE86A}"/>
              </a:ext>
            </a:extLst>
          </p:cNvPr>
          <p:cNvSpPr>
            <a:spLocks noGrp="1"/>
          </p:cNvSpPr>
          <p:nvPr>
            <p:ph idx="1"/>
          </p:nvPr>
        </p:nvSpPr>
        <p:spPr>
          <a:xfrm>
            <a:off x="838200" y="1362138"/>
            <a:ext cx="10515600" cy="4814825"/>
          </a:xfrm>
        </p:spPr>
        <p:txBody>
          <a:bodyPr>
            <a:normAutofit/>
          </a:bodyPr>
          <a:lstStyle/>
          <a:p>
            <a:pPr marL="0" indent="0">
              <a:buNone/>
            </a:pPr>
            <a:r>
              <a:rPr lang="zh-CN" altLang="en-US" b="1" dirty="0"/>
              <a:t>“采空区”模拟</a:t>
            </a:r>
            <a:endParaRPr lang="en-US" altLang="zh-CN" b="1" dirty="0"/>
          </a:p>
          <a:p>
            <a:pPr marL="0" indent="0">
              <a:buNone/>
            </a:pPr>
            <a:endParaRPr lang="en-US" altLang="zh-CN" b="1" dirty="0"/>
          </a:p>
        </p:txBody>
      </p:sp>
      <p:sp>
        <p:nvSpPr>
          <p:cNvPr id="26" name="Title 25">
            <a:extLst>
              <a:ext uri="{FF2B5EF4-FFF2-40B4-BE49-F238E27FC236}">
                <a16:creationId xmlns:a16="http://schemas.microsoft.com/office/drawing/2014/main" id="{1FFD1A8E-02D8-96E1-E888-C2567E9F5199}"/>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形成过程</a:t>
            </a:r>
            <a:endParaRPr lang="en-US" dirty="0"/>
          </a:p>
        </p:txBody>
      </p:sp>
      <p:pic>
        <p:nvPicPr>
          <p:cNvPr id="3" name="图片 2">
            <a:extLst>
              <a:ext uri="{FF2B5EF4-FFF2-40B4-BE49-F238E27FC236}">
                <a16:creationId xmlns:a16="http://schemas.microsoft.com/office/drawing/2014/main" id="{33C9778A-FC93-8905-6CC8-BAE877582260}"/>
              </a:ext>
            </a:extLst>
          </p:cNvPr>
          <p:cNvPicPr>
            <a:picLocks noChangeAspect="1"/>
          </p:cNvPicPr>
          <p:nvPr/>
        </p:nvPicPr>
        <p:blipFill>
          <a:blip r:embed="rId3"/>
          <a:stretch>
            <a:fillRect/>
          </a:stretch>
        </p:blipFill>
        <p:spPr>
          <a:xfrm>
            <a:off x="1963185" y="1795770"/>
            <a:ext cx="8262581" cy="4647702"/>
          </a:xfrm>
          <a:prstGeom prst="rect">
            <a:avLst/>
          </a:prstGeom>
        </p:spPr>
      </p:pic>
    </p:spTree>
    <p:extLst>
      <p:ext uri="{BB962C8B-B14F-4D97-AF65-F5344CB8AC3E}">
        <p14:creationId xmlns:p14="http://schemas.microsoft.com/office/powerpoint/2010/main" val="2646459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9D3E-03CB-7644-089E-CB69061CAB59}"/>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BDCD275A-C3CB-9362-D5ED-D450E238637E}"/>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66399620-57A4-68B9-1247-ED71089C5B5F}"/>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chemeClr val="tx2">
                    <a:lumMod val="25000"/>
                    <a:lumOff val="75000"/>
                  </a:schemeClr>
                </a:solidFill>
                <a:latin typeface="Calibri" panose="020F0502020204030204"/>
              </a:rPr>
              <a:t>物联网通信技术</a:t>
            </a:r>
            <a:endParaRPr lang="en-US" sz="1200" dirty="0">
              <a:solidFill>
                <a:schemeClr val="tx2">
                  <a:lumMod val="25000"/>
                  <a:lumOff val="75000"/>
                </a:schemeClr>
              </a:solidFill>
              <a:latin typeface="Calibri" panose="020F0502020204030204"/>
            </a:endParaRPr>
          </a:p>
        </p:txBody>
      </p:sp>
      <p:sp>
        <p:nvSpPr>
          <p:cNvPr id="22" name="Text 20">
            <a:extLst>
              <a:ext uri="{FF2B5EF4-FFF2-40B4-BE49-F238E27FC236}">
                <a16:creationId xmlns:a16="http://schemas.microsoft.com/office/drawing/2014/main" id="{94937E09-987B-44A6-8C84-81D26ABEB892}"/>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06</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B2966E8E-4C83-BFBF-BE34-1E8017B38929}"/>
              </a:ext>
            </a:extLst>
          </p:cNvPr>
          <p:cNvSpPr>
            <a:spLocks noGrp="1"/>
          </p:cNvSpPr>
          <p:nvPr>
            <p:ph idx="1"/>
          </p:nvPr>
        </p:nvSpPr>
        <p:spPr>
          <a:xfrm>
            <a:off x="838200" y="1362138"/>
            <a:ext cx="10515600" cy="4814825"/>
          </a:xfrm>
        </p:spPr>
        <p:txBody>
          <a:bodyPr>
            <a:normAutofit/>
          </a:bodyPr>
          <a:lstStyle/>
          <a:p>
            <a:pPr marL="0" indent="0">
              <a:buNone/>
            </a:pPr>
            <a:r>
              <a:rPr lang="zh-CN" altLang="en-US" b="1" dirty="0"/>
              <a:t>“采空区”模拟</a:t>
            </a:r>
            <a:endParaRPr lang="en-US" altLang="zh-CN" b="1" dirty="0"/>
          </a:p>
          <a:p>
            <a:pPr marL="0" indent="0">
              <a:buNone/>
            </a:pPr>
            <a:endParaRPr lang="en-US" altLang="zh-CN" b="1" dirty="0"/>
          </a:p>
        </p:txBody>
      </p:sp>
      <p:sp>
        <p:nvSpPr>
          <p:cNvPr id="26" name="Title 25">
            <a:extLst>
              <a:ext uri="{FF2B5EF4-FFF2-40B4-BE49-F238E27FC236}">
                <a16:creationId xmlns:a16="http://schemas.microsoft.com/office/drawing/2014/main" id="{B40DCCBB-ED3E-0FF8-F10B-9E70782B7827}"/>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形成过程</a:t>
            </a:r>
            <a:endParaRPr lang="en-US" dirty="0"/>
          </a:p>
        </p:txBody>
      </p:sp>
      <p:pic>
        <p:nvPicPr>
          <p:cNvPr id="3" name="图片 2">
            <a:extLst>
              <a:ext uri="{FF2B5EF4-FFF2-40B4-BE49-F238E27FC236}">
                <a16:creationId xmlns:a16="http://schemas.microsoft.com/office/drawing/2014/main" id="{09FE5B0C-5AA1-20DE-DD9B-F03D6DC23E37}"/>
              </a:ext>
            </a:extLst>
          </p:cNvPr>
          <p:cNvPicPr>
            <a:picLocks noChangeAspect="1"/>
          </p:cNvPicPr>
          <p:nvPr/>
        </p:nvPicPr>
        <p:blipFill>
          <a:blip r:embed="rId3"/>
          <a:stretch>
            <a:fillRect/>
          </a:stretch>
        </p:blipFill>
        <p:spPr>
          <a:xfrm>
            <a:off x="1964734" y="1797513"/>
            <a:ext cx="8259483" cy="4645959"/>
          </a:xfrm>
          <a:prstGeom prst="rect">
            <a:avLst/>
          </a:prstGeom>
        </p:spPr>
      </p:pic>
    </p:spTree>
    <p:extLst>
      <p:ext uri="{BB962C8B-B14F-4D97-AF65-F5344CB8AC3E}">
        <p14:creationId xmlns:p14="http://schemas.microsoft.com/office/powerpoint/2010/main" val="171415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CFB5D-25F4-0DE4-5216-1BC02D8E8195}"/>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BF04BB52-CA97-8A67-1E62-01EB0E9901AD}"/>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C7FF2C78-BB5D-9E05-2983-F1A1890165F1}"/>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chemeClr val="tx2">
                    <a:lumMod val="25000"/>
                    <a:lumOff val="75000"/>
                  </a:schemeClr>
                </a:solidFill>
                <a:latin typeface="Calibri" panose="020F0502020204030204"/>
              </a:rPr>
              <a:t>物联网通信技术</a:t>
            </a:r>
            <a:endParaRPr lang="en-US" sz="1200" dirty="0">
              <a:solidFill>
                <a:schemeClr val="tx2">
                  <a:lumMod val="25000"/>
                  <a:lumOff val="75000"/>
                </a:schemeClr>
              </a:solidFill>
              <a:latin typeface="Calibri" panose="020F0502020204030204"/>
            </a:endParaRPr>
          </a:p>
        </p:txBody>
      </p:sp>
      <p:sp>
        <p:nvSpPr>
          <p:cNvPr id="22" name="Text 20">
            <a:extLst>
              <a:ext uri="{FF2B5EF4-FFF2-40B4-BE49-F238E27FC236}">
                <a16:creationId xmlns:a16="http://schemas.microsoft.com/office/drawing/2014/main" id="{E4EF1FFE-FBA5-18B1-5519-380D163FB588}"/>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07</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E1CC2EEC-E613-545B-42C1-65454896AB12}"/>
              </a:ext>
            </a:extLst>
          </p:cNvPr>
          <p:cNvSpPr>
            <a:spLocks noGrp="1"/>
          </p:cNvSpPr>
          <p:nvPr>
            <p:ph idx="1"/>
          </p:nvPr>
        </p:nvSpPr>
        <p:spPr>
          <a:xfrm>
            <a:off x="838200" y="1362138"/>
            <a:ext cx="10515600" cy="4814825"/>
          </a:xfrm>
        </p:spPr>
        <p:txBody>
          <a:bodyPr>
            <a:normAutofit/>
          </a:bodyPr>
          <a:lstStyle/>
          <a:p>
            <a:pPr marL="0" indent="0">
              <a:buNone/>
            </a:pPr>
            <a:r>
              <a:rPr lang="zh-CN" altLang="en-US" b="1" dirty="0"/>
              <a:t>“采空区”模拟</a:t>
            </a:r>
            <a:endParaRPr lang="en-US" altLang="zh-CN" b="1" dirty="0"/>
          </a:p>
          <a:p>
            <a:pPr marL="0" indent="0">
              <a:buNone/>
            </a:pPr>
            <a:endParaRPr lang="en-US" altLang="zh-CN" b="1" dirty="0"/>
          </a:p>
        </p:txBody>
      </p:sp>
      <p:sp>
        <p:nvSpPr>
          <p:cNvPr id="26" name="Title 25">
            <a:extLst>
              <a:ext uri="{FF2B5EF4-FFF2-40B4-BE49-F238E27FC236}">
                <a16:creationId xmlns:a16="http://schemas.microsoft.com/office/drawing/2014/main" id="{EF078AF9-95D3-CEB8-F917-C4EEA399AE1C}"/>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形成过程</a:t>
            </a:r>
            <a:endParaRPr lang="en-US" dirty="0"/>
          </a:p>
        </p:txBody>
      </p:sp>
      <p:pic>
        <p:nvPicPr>
          <p:cNvPr id="3" name="图片 2">
            <a:extLst>
              <a:ext uri="{FF2B5EF4-FFF2-40B4-BE49-F238E27FC236}">
                <a16:creationId xmlns:a16="http://schemas.microsoft.com/office/drawing/2014/main" id="{E67A081D-6594-472F-5007-A51C10FC620D}"/>
              </a:ext>
            </a:extLst>
          </p:cNvPr>
          <p:cNvPicPr>
            <a:picLocks noChangeAspect="1"/>
          </p:cNvPicPr>
          <p:nvPr/>
        </p:nvPicPr>
        <p:blipFill>
          <a:blip r:embed="rId3"/>
          <a:stretch>
            <a:fillRect/>
          </a:stretch>
        </p:blipFill>
        <p:spPr>
          <a:xfrm>
            <a:off x="1978181" y="1812641"/>
            <a:ext cx="8232589" cy="4630831"/>
          </a:xfrm>
          <a:prstGeom prst="rect">
            <a:avLst/>
          </a:prstGeom>
        </p:spPr>
      </p:pic>
    </p:spTree>
    <p:extLst>
      <p:ext uri="{BB962C8B-B14F-4D97-AF65-F5344CB8AC3E}">
        <p14:creationId xmlns:p14="http://schemas.microsoft.com/office/powerpoint/2010/main" val="3205679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E2EBF60C-4404-C296-0C94-92D9E610D014}"/>
              </a:ext>
            </a:extLst>
          </p:cNvPr>
          <p:cNvPicPr>
            <a:picLocks noGrp="1" noChangeAspect="1"/>
          </p:cNvPicPr>
          <p:nvPr>
            <p:ph idx="1"/>
          </p:nvPr>
        </p:nvPicPr>
        <p:blipFill>
          <a:blip r:embed="rId2"/>
          <a:stretch>
            <a:fillRect/>
          </a:stretch>
        </p:blipFill>
        <p:spPr>
          <a:xfrm>
            <a:off x="442767" y="1325562"/>
            <a:ext cx="7752381" cy="1885714"/>
          </a:xfrm>
          <a:prstGeom prst="rect">
            <a:avLst/>
          </a:prstGeom>
        </p:spPr>
      </p:pic>
      <p:sp>
        <p:nvSpPr>
          <p:cNvPr id="3" name="标题 2">
            <a:extLst>
              <a:ext uri="{FF2B5EF4-FFF2-40B4-BE49-F238E27FC236}">
                <a16:creationId xmlns:a16="http://schemas.microsoft.com/office/drawing/2014/main" id="{D5FDBD3A-ED15-996A-886A-22A04C0D150A}"/>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前期调研与算法</a:t>
            </a:r>
            <a:endParaRPr lang="zh-CN" altLang="en-US" dirty="0"/>
          </a:p>
        </p:txBody>
      </p:sp>
      <p:pic>
        <p:nvPicPr>
          <p:cNvPr id="7" name="图片 6">
            <a:extLst>
              <a:ext uri="{FF2B5EF4-FFF2-40B4-BE49-F238E27FC236}">
                <a16:creationId xmlns:a16="http://schemas.microsoft.com/office/drawing/2014/main" id="{B72559EB-C044-A4C8-15D8-0D8512FFAE89}"/>
              </a:ext>
            </a:extLst>
          </p:cNvPr>
          <p:cNvPicPr>
            <a:picLocks noChangeAspect="1"/>
          </p:cNvPicPr>
          <p:nvPr/>
        </p:nvPicPr>
        <p:blipFill>
          <a:blip r:embed="rId3"/>
          <a:stretch>
            <a:fillRect/>
          </a:stretch>
        </p:blipFill>
        <p:spPr>
          <a:xfrm>
            <a:off x="442767" y="3211276"/>
            <a:ext cx="9218762" cy="2493545"/>
          </a:xfrm>
          <a:prstGeom prst="rect">
            <a:avLst/>
          </a:prstGeom>
        </p:spPr>
      </p:pic>
      <p:sp>
        <p:nvSpPr>
          <p:cNvPr id="8" name="文本框 7">
            <a:extLst>
              <a:ext uri="{FF2B5EF4-FFF2-40B4-BE49-F238E27FC236}">
                <a16:creationId xmlns:a16="http://schemas.microsoft.com/office/drawing/2014/main" id="{0A684E4E-308C-D608-C291-E0A5F130F2E1}"/>
              </a:ext>
            </a:extLst>
          </p:cNvPr>
          <p:cNvSpPr txBox="1"/>
          <p:nvPr/>
        </p:nvSpPr>
        <p:spPr>
          <a:xfrm>
            <a:off x="8919713" y="1788543"/>
            <a:ext cx="2886974" cy="1311128"/>
          </a:xfrm>
          <a:prstGeom prst="rect">
            <a:avLst/>
          </a:prstGeom>
          <a:noFill/>
        </p:spPr>
        <p:txBody>
          <a:bodyPr wrap="square" rtlCol="0">
            <a:spAutoFit/>
          </a:bodyPr>
          <a:lstStyle/>
          <a:p>
            <a:pPr defTabSz="914400">
              <a:lnSpc>
                <a:spcPct val="90000"/>
              </a:lnSpc>
              <a:spcBef>
                <a:spcPct val="0"/>
              </a:spcBef>
            </a:pPr>
            <a:r>
              <a:rPr lang="zh-CN" altLang="en-US" sz="4400" b="1" dirty="0">
                <a:latin typeface="Arial Black" panose="020B0A04020102020204" pitchFamily="34" charset="0"/>
              </a:rPr>
              <a:t>又小又麻烦！！！</a:t>
            </a:r>
          </a:p>
        </p:txBody>
      </p:sp>
    </p:spTree>
    <p:extLst>
      <p:ext uri="{BB962C8B-B14F-4D97-AF65-F5344CB8AC3E}">
        <p14:creationId xmlns:p14="http://schemas.microsoft.com/office/powerpoint/2010/main" val="572638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661442BD-9373-23A7-65BC-A9B515A162C7}"/>
              </a:ext>
            </a:extLst>
          </p:cNvPr>
          <p:cNvPicPr>
            <a:picLocks noGrp="1" noChangeAspect="1"/>
          </p:cNvPicPr>
          <p:nvPr>
            <p:ph idx="1"/>
          </p:nvPr>
        </p:nvPicPr>
        <p:blipFill>
          <a:blip r:embed="rId2"/>
          <a:stretch>
            <a:fillRect/>
          </a:stretch>
        </p:blipFill>
        <p:spPr>
          <a:xfrm>
            <a:off x="418006" y="1325562"/>
            <a:ext cx="4351338" cy="4351338"/>
          </a:xfrm>
          <a:prstGeom prst="rect">
            <a:avLst/>
          </a:prstGeom>
        </p:spPr>
      </p:pic>
      <p:sp>
        <p:nvSpPr>
          <p:cNvPr id="3" name="标题 2">
            <a:extLst>
              <a:ext uri="{FF2B5EF4-FFF2-40B4-BE49-F238E27FC236}">
                <a16:creationId xmlns:a16="http://schemas.microsoft.com/office/drawing/2014/main" id="{E7E71A45-6FA2-6B04-1D38-06DD211D046D}"/>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前期调研与算法</a:t>
            </a:r>
            <a:endParaRPr lang="zh-CN" altLang="en-US" dirty="0"/>
          </a:p>
        </p:txBody>
      </p:sp>
      <p:pic>
        <p:nvPicPr>
          <p:cNvPr id="7" name="图片 6">
            <a:extLst>
              <a:ext uri="{FF2B5EF4-FFF2-40B4-BE49-F238E27FC236}">
                <a16:creationId xmlns:a16="http://schemas.microsoft.com/office/drawing/2014/main" id="{857820D6-1D25-933D-211E-BA3D05636D9D}"/>
              </a:ext>
            </a:extLst>
          </p:cNvPr>
          <p:cNvPicPr>
            <a:picLocks noChangeAspect="1"/>
          </p:cNvPicPr>
          <p:nvPr/>
        </p:nvPicPr>
        <p:blipFill>
          <a:blip r:embed="rId3"/>
          <a:stretch>
            <a:fillRect/>
          </a:stretch>
        </p:blipFill>
        <p:spPr>
          <a:xfrm>
            <a:off x="4769344" y="1325562"/>
            <a:ext cx="4512782" cy="3024098"/>
          </a:xfrm>
          <a:prstGeom prst="rect">
            <a:avLst/>
          </a:prstGeom>
        </p:spPr>
      </p:pic>
      <p:pic>
        <p:nvPicPr>
          <p:cNvPr id="9" name="图片 8">
            <a:extLst>
              <a:ext uri="{FF2B5EF4-FFF2-40B4-BE49-F238E27FC236}">
                <a16:creationId xmlns:a16="http://schemas.microsoft.com/office/drawing/2014/main" id="{F35CB890-2093-41C2-6F62-E3D967BA4BFB}"/>
              </a:ext>
            </a:extLst>
          </p:cNvPr>
          <p:cNvPicPr>
            <a:picLocks noChangeAspect="1"/>
          </p:cNvPicPr>
          <p:nvPr/>
        </p:nvPicPr>
        <p:blipFill>
          <a:blip r:embed="rId4"/>
          <a:stretch>
            <a:fillRect/>
          </a:stretch>
        </p:blipFill>
        <p:spPr>
          <a:xfrm>
            <a:off x="4726881" y="4294343"/>
            <a:ext cx="6419048" cy="1238095"/>
          </a:xfrm>
          <a:prstGeom prst="rect">
            <a:avLst/>
          </a:prstGeom>
        </p:spPr>
      </p:pic>
      <p:sp>
        <p:nvSpPr>
          <p:cNvPr id="10" name="文本框 9">
            <a:extLst>
              <a:ext uri="{FF2B5EF4-FFF2-40B4-BE49-F238E27FC236}">
                <a16:creationId xmlns:a16="http://schemas.microsoft.com/office/drawing/2014/main" id="{A6ADE99B-BCFE-94AE-50C4-41A759DC31A8}"/>
              </a:ext>
            </a:extLst>
          </p:cNvPr>
          <p:cNvSpPr txBox="1"/>
          <p:nvPr/>
        </p:nvSpPr>
        <p:spPr>
          <a:xfrm>
            <a:off x="9216238" y="1835989"/>
            <a:ext cx="2768728" cy="2308324"/>
          </a:xfrm>
          <a:prstGeom prst="rect">
            <a:avLst/>
          </a:prstGeom>
          <a:noFill/>
        </p:spPr>
        <p:txBody>
          <a:bodyPr wrap="square" rtlCol="0">
            <a:spAutoFit/>
          </a:bodyPr>
          <a:lstStyle/>
          <a:p>
            <a:pPr defTabSz="914400">
              <a:lnSpc>
                <a:spcPct val="90000"/>
              </a:lnSpc>
              <a:spcBef>
                <a:spcPct val="0"/>
              </a:spcBef>
            </a:pPr>
            <a:r>
              <a:rPr lang="zh-CN" altLang="en-US" sz="4000" b="1" dirty="0">
                <a:latin typeface="Arial Black" panose="020B0A04020102020204" pitchFamily="34" charset="0"/>
              </a:rPr>
              <a:t>大半径</a:t>
            </a:r>
            <a:r>
              <a:rPr lang="en-US" altLang="zh-CN" sz="4000" b="1" dirty="0">
                <a:latin typeface="Arial Black" panose="020B0A04020102020204" pitchFamily="34" charset="0"/>
              </a:rPr>
              <a:t>+</a:t>
            </a:r>
            <a:r>
              <a:rPr lang="zh-CN" altLang="en-US" sz="4000" b="1" dirty="0">
                <a:latin typeface="Arial Black" panose="020B0A04020102020204" pitchFamily="34" charset="0"/>
              </a:rPr>
              <a:t>高精度</a:t>
            </a:r>
            <a:r>
              <a:rPr lang="en-US" altLang="zh-CN" sz="4000" b="1" dirty="0">
                <a:latin typeface="Arial Black" panose="020B0A04020102020204" pitchFamily="34" charset="0"/>
              </a:rPr>
              <a:t>+</a:t>
            </a:r>
            <a:r>
              <a:rPr lang="zh-CN" altLang="en-US" sz="4000" b="1" dirty="0">
                <a:latin typeface="Arial Black" panose="020B0A04020102020204" pitchFamily="34" charset="0"/>
              </a:rPr>
              <a:t>单设备测距的超级数值怪！！</a:t>
            </a:r>
          </a:p>
        </p:txBody>
      </p:sp>
    </p:spTree>
    <p:extLst>
      <p:ext uri="{BB962C8B-B14F-4D97-AF65-F5344CB8AC3E}">
        <p14:creationId xmlns:p14="http://schemas.microsoft.com/office/powerpoint/2010/main" val="3164543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F2E33-09B1-E176-237E-20727CBDDC95}"/>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DB8763EA-B46E-CC42-8530-B4423CF4212B}"/>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D14CE995-DD3B-0C44-AEBE-AF853DD1A150}"/>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60C5447E-5B22-805C-A6B2-DC8B866D060A}"/>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11</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1BD0D0F1-306A-51B0-3BDB-A71440919025}"/>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三层技术架构</a:t>
            </a:r>
            <a:endParaRPr lang="en-US" dirty="0"/>
          </a:p>
        </p:txBody>
      </p:sp>
      <p:pic>
        <p:nvPicPr>
          <p:cNvPr id="5" name="图片 4">
            <a:extLst>
              <a:ext uri="{FF2B5EF4-FFF2-40B4-BE49-F238E27FC236}">
                <a16:creationId xmlns:a16="http://schemas.microsoft.com/office/drawing/2014/main" id="{798F387B-B9AC-1361-D287-57E6DAC7A239}"/>
              </a:ext>
            </a:extLst>
          </p:cNvPr>
          <p:cNvPicPr>
            <a:picLocks noChangeAspect="1"/>
          </p:cNvPicPr>
          <p:nvPr/>
        </p:nvPicPr>
        <p:blipFill>
          <a:blip r:embed="rId3"/>
          <a:stretch>
            <a:fillRect/>
          </a:stretch>
        </p:blipFill>
        <p:spPr>
          <a:xfrm>
            <a:off x="836676" y="1438586"/>
            <a:ext cx="4073036" cy="4771036"/>
          </a:xfrm>
          <a:prstGeom prst="rect">
            <a:avLst/>
          </a:prstGeom>
        </p:spPr>
      </p:pic>
      <p:sp>
        <p:nvSpPr>
          <p:cNvPr id="9" name="文本框 8">
            <a:extLst>
              <a:ext uri="{FF2B5EF4-FFF2-40B4-BE49-F238E27FC236}">
                <a16:creationId xmlns:a16="http://schemas.microsoft.com/office/drawing/2014/main" id="{CC39A342-82A2-03A7-87ED-F0F824CADEED}"/>
              </a:ext>
            </a:extLst>
          </p:cNvPr>
          <p:cNvSpPr txBox="1"/>
          <p:nvPr/>
        </p:nvSpPr>
        <p:spPr>
          <a:xfrm>
            <a:off x="5251076" y="1931278"/>
            <a:ext cx="6178923" cy="3785652"/>
          </a:xfrm>
          <a:prstGeom prst="rect">
            <a:avLst/>
          </a:prstGeom>
          <a:noFill/>
        </p:spPr>
        <p:txBody>
          <a:bodyPr wrap="square">
            <a:spAutoFit/>
          </a:bodyPr>
          <a:lstStyle/>
          <a:p>
            <a:r>
              <a:rPr lang="zh-CN" altLang="en-US" sz="4800" b="1" i="0" u="none" strike="noStrike" baseline="0" dirty="0">
                <a:latin typeface="黑体" panose="02010609060101010101" pitchFamily="49" charset="-122"/>
                <a:ea typeface="黑体" panose="02010609060101010101" pitchFamily="49" charset="-122"/>
              </a:rPr>
              <a:t>多源传感器融合感知</a:t>
            </a:r>
            <a:endParaRPr lang="en-US" altLang="zh-CN" sz="4800" b="1" i="0" u="none" strike="noStrike" baseline="0" dirty="0">
              <a:latin typeface="黑体" panose="02010609060101010101" pitchFamily="49" charset="-122"/>
              <a:ea typeface="黑体" panose="02010609060101010101" pitchFamily="49" charset="-122"/>
            </a:endParaRPr>
          </a:p>
          <a:p>
            <a:endParaRPr lang="en-US" altLang="zh-CN" sz="4800" b="1" dirty="0">
              <a:latin typeface="黑体" panose="02010609060101010101" pitchFamily="49" charset="-122"/>
              <a:ea typeface="黑体" panose="02010609060101010101" pitchFamily="49" charset="-122"/>
            </a:endParaRPr>
          </a:p>
          <a:p>
            <a:r>
              <a:rPr lang="zh-CN" altLang="en-US" sz="4800" b="1" dirty="0"/>
              <a:t>本安型数据骨干网络</a:t>
            </a:r>
            <a:endParaRPr lang="en-US" altLang="zh-CN" sz="4800" b="1" dirty="0">
              <a:latin typeface="黑体" panose="02010609060101010101" pitchFamily="49" charset="-122"/>
              <a:ea typeface="黑体" panose="02010609060101010101" pitchFamily="49" charset="-122"/>
            </a:endParaRPr>
          </a:p>
          <a:p>
            <a:endParaRPr lang="en-US" altLang="zh-CN" sz="4800" b="1" dirty="0">
              <a:latin typeface="黑体" panose="02010609060101010101" pitchFamily="49" charset="-122"/>
              <a:ea typeface="黑体" panose="02010609060101010101" pitchFamily="49" charset="-122"/>
            </a:endParaRPr>
          </a:p>
          <a:p>
            <a:r>
              <a:rPr lang="zh-CN" altLang="en-US" sz="4800" b="1" dirty="0"/>
              <a:t>智能化综合管理平台</a:t>
            </a:r>
            <a:endParaRPr lang="en-US" altLang="zh-CN" sz="48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22208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4AFE-F425-CC1B-9316-639BD4F7D6B8}"/>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34CFCD59-24AD-A6A6-CD3C-6E1112BF805A}"/>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DEB0A06C-87E2-4D71-27C7-5E3E278167BD}"/>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EF21659E-9111-F565-5AE3-FF13B0C89A5F}"/>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12</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08C03157-4468-001B-FD8A-EC9A0E596762}"/>
              </a:ext>
            </a:extLst>
          </p:cNvPr>
          <p:cNvSpPr>
            <a:spLocks noGrp="1"/>
          </p:cNvSpPr>
          <p:nvPr>
            <p:ph idx="1"/>
          </p:nvPr>
        </p:nvSpPr>
        <p:spPr/>
        <p:txBody>
          <a:bodyPr>
            <a:normAutofit/>
          </a:bodyPr>
          <a:lstStyle/>
          <a:p>
            <a:r>
              <a:rPr lang="zh-CN" altLang="en-US" b="1" dirty="0"/>
              <a:t>感知层</a:t>
            </a:r>
            <a:endParaRPr lang="en-US" altLang="zh-CN" b="1" dirty="0"/>
          </a:p>
          <a:p>
            <a:pPr marL="0" indent="0">
              <a:buNone/>
            </a:pPr>
            <a:r>
              <a:rPr lang="en-US" altLang="zh-CN" b="1" dirty="0"/>
              <a:t>UWB + </a:t>
            </a:r>
            <a:r>
              <a:rPr lang="zh-CN" altLang="en-US" b="1" dirty="0"/>
              <a:t>定位卡</a:t>
            </a:r>
            <a:endParaRPr lang="en-US" altLang="zh-CN" b="1" dirty="0"/>
          </a:p>
          <a:p>
            <a:pPr marL="0" indent="0">
              <a:buNone/>
            </a:pPr>
            <a:r>
              <a:rPr lang="zh-CN" altLang="en-US" dirty="0"/>
              <a:t>射频模块与巷道基站交互</a:t>
            </a:r>
            <a:endParaRPr lang="en-US" altLang="zh-CN" dirty="0"/>
          </a:p>
          <a:p>
            <a:pPr marL="0" indent="0">
              <a:buNone/>
            </a:pPr>
            <a:r>
              <a:rPr lang="zh-CN" altLang="en-US" dirty="0"/>
              <a:t>惯性导航单元在巷道转角等场景维持定位</a:t>
            </a:r>
            <a:endParaRPr lang="en-US" altLang="zh-CN" dirty="0"/>
          </a:p>
          <a:p>
            <a:pPr marL="0" indent="0">
              <a:buNone/>
            </a:pPr>
            <a:r>
              <a:rPr lang="zh-CN" altLang="en-US" dirty="0"/>
              <a:t>配备求助按键、震动马达</a:t>
            </a:r>
            <a:endParaRPr lang="en-US" altLang="zh-CN" dirty="0"/>
          </a:p>
          <a:p>
            <a:pPr marL="0" indent="0">
              <a:buNone/>
            </a:pPr>
            <a:r>
              <a:rPr lang="en-US" dirty="0"/>
              <a:t>RFID</a:t>
            </a:r>
            <a:r>
              <a:rPr lang="zh-CN" altLang="en-US" dirty="0"/>
              <a:t>标签，成本低</a:t>
            </a:r>
            <a:endParaRPr lang="en-US" dirty="0"/>
          </a:p>
        </p:txBody>
      </p:sp>
      <p:sp>
        <p:nvSpPr>
          <p:cNvPr id="26" name="Title 25">
            <a:extLst>
              <a:ext uri="{FF2B5EF4-FFF2-40B4-BE49-F238E27FC236}">
                <a16:creationId xmlns:a16="http://schemas.microsoft.com/office/drawing/2014/main" id="{747F96C2-34C9-0DE3-5D02-AF9E33BE0DD6}"/>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三层技术架构</a:t>
            </a:r>
            <a:endParaRPr lang="en-US" dirty="0"/>
          </a:p>
        </p:txBody>
      </p:sp>
    </p:spTree>
    <p:extLst>
      <p:ext uri="{BB962C8B-B14F-4D97-AF65-F5344CB8AC3E}">
        <p14:creationId xmlns:p14="http://schemas.microsoft.com/office/powerpoint/2010/main" val="1140762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C558-6152-9162-844A-9BF09EC15647}"/>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56FB6972-EBD4-F332-876A-4F87D3324C6F}"/>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A4CEC2D3-6D80-F00A-CF1F-C75354E2E90A}"/>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60213FDB-D9BE-7BC8-0EA4-4ACD669DD7B7}"/>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14</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8ED0A136-9B60-0C05-2552-A9B249DBF4B6}"/>
              </a:ext>
            </a:extLst>
          </p:cNvPr>
          <p:cNvSpPr>
            <a:spLocks noGrp="1"/>
          </p:cNvSpPr>
          <p:nvPr>
            <p:ph idx="1"/>
          </p:nvPr>
        </p:nvSpPr>
        <p:spPr/>
        <p:txBody>
          <a:bodyPr>
            <a:normAutofit/>
          </a:bodyPr>
          <a:lstStyle/>
          <a:p>
            <a:r>
              <a:rPr lang="zh-CN" altLang="en-US" b="1" dirty="0"/>
              <a:t>应用层</a:t>
            </a:r>
            <a:endParaRPr lang="en-US" altLang="zh-CN" b="1" dirty="0"/>
          </a:p>
          <a:p>
            <a:pPr marL="0" indent="0">
              <a:buNone/>
            </a:pPr>
            <a:r>
              <a:rPr lang="zh-CN" altLang="en-US" b="1" dirty="0"/>
              <a:t>数据可视化与业务化</a:t>
            </a:r>
            <a:endParaRPr lang="en-US" altLang="zh-CN" b="1" dirty="0"/>
          </a:p>
          <a:p>
            <a:pPr marL="0" indent="0">
              <a:buNone/>
            </a:pPr>
            <a:r>
              <a:rPr lang="zh-CN" altLang="en-US" dirty="0"/>
              <a:t>监控大屏：结合</a:t>
            </a:r>
            <a:r>
              <a:rPr lang="en-US" altLang="zh-CN" dirty="0"/>
              <a:t>3D </a:t>
            </a:r>
            <a:r>
              <a:rPr lang="zh-CN" altLang="en-US" dirty="0"/>
              <a:t>模型与卫星遥感图，展示作业人员实时分布</a:t>
            </a:r>
          </a:p>
          <a:p>
            <a:pPr marL="0" indent="0">
              <a:buNone/>
            </a:pPr>
            <a:r>
              <a:rPr lang="zh-CN" altLang="en-US" dirty="0"/>
              <a:t>轨迹回放与安全分析：基于行走行为优化避灾路线；</a:t>
            </a:r>
          </a:p>
          <a:p>
            <a:pPr marL="0" indent="0">
              <a:buNone/>
            </a:pPr>
            <a:r>
              <a:rPr lang="zh-CN" altLang="en-US" dirty="0"/>
              <a:t>闯入报警系统：与采空区</a:t>
            </a:r>
            <a:r>
              <a:rPr lang="en-US" altLang="zh-CN" dirty="0"/>
              <a:t>RFID </a:t>
            </a:r>
            <a:r>
              <a:rPr lang="zh-CN" altLang="en-US" dirty="0"/>
              <a:t>边界联动</a:t>
            </a:r>
          </a:p>
          <a:p>
            <a:pPr marL="0" indent="0">
              <a:buNone/>
            </a:pPr>
            <a:r>
              <a:rPr lang="zh-CN" altLang="en-US" dirty="0"/>
              <a:t>人员考勤管理：适配三班倒制度，对井下超时作业进行预警</a:t>
            </a:r>
            <a:endParaRPr lang="en-US" altLang="zh-CN" b="1" dirty="0"/>
          </a:p>
        </p:txBody>
      </p:sp>
      <p:sp>
        <p:nvSpPr>
          <p:cNvPr id="26" name="Title 25">
            <a:extLst>
              <a:ext uri="{FF2B5EF4-FFF2-40B4-BE49-F238E27FC236}">
                <a16:creationId xmlns:a16="http://schemas.microsoft.com/office/drawing/2014/main" id="{60817FFA-C7B6-9535-E022-4030F0B58BCA}"/>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三层技术架构</a:t>
            </a:r>
            <a:endParaRPr lang="en-US" dirty="0"/>
          </a:p>
        </p:txBody>
      </p:sp>
    </p:spTree>
    <p:extLst>
      <p:ext uri="{BB962C8B-B14F-4D97-AF65-F5344CB8AC3E}">
        <p14:creationId xmlns:p14="http://schemas.microsoft.com/office/powerpoint/2010/main" val="2517441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28368-FDC4-85C7-5530-559CD05E97A8}"/>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9D8869F4-616A-056E-88A3-61675F2C6A76}"/>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F8C4B364-55D1-FB74-04E8-78A604D2FCD2}"/>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67D978F0-BE4B-010F-75DF-07A8E1D66107}"/>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16</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D19F93FA-E3A4-F53E-42D9-C46E53285AE0}"/>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方案设计</a:t>
            </a:r>
            <a:endParaRPr lang="en-US" dirty="0"/>
          </a:p>
        </p:txBody>
      </p:sp>
      <p:pic>
        <p:nvPicPr>
          <p:cNvPr id="2" name="Picture 2" descr="image.png">
            <a:extLst>
              <a:ext uri="{FF2B5EF4-FFF2-40B4-BE49-F238E27FC236}">
                <a16:creationId xmlns:a16="http://schemas.microsoft.com/office/drawing/2014/main" id="{9979F5E6-959B-A170-C936-2725743C642F}"/>
              </a:ext>
            </a:extLst>
          </p:cNvPr>
          <p:cNvPicPr>
            <a:picLocks noChangeAspect="1"/>
          </p:cNvPicPr>
          <p:nvPr/>
        </p:nvPicPr>
        <p:blipFill>
          <a:blip r:embed="rId3"/>
          <a:stretch>
            <a:fillRect/>
          </a:stretch>
        </p:blipFill>
        <p:spPr>
          <a:xfrm>
            <a:off x="562546" y="1955168"/>
            <a:ext cx="3702748" cy="2765162"/>
          </a:xfrm>
          <a:prstGeom prst="rect">
            <a:avLst/>
          </a:prstGeom>
        </p:spPr>
      </p:pic>
      <p:pic>
        <p:nvPicPr>
          <p:cNvPr id="3" name="Picture 3" descr="image.png">
            <a:extLst>
              <a:ext uri="{FF2B5EF4-FFF2-40B4-BE49-F238E27FC236}">
                <a16:creationId xmlns:a16="http://schemas.microsoft.com/office/drawing/2014/main" id="{24EE92F3-296C-0461-83F1-C99AB45D24C8}"/>
              </a:ext>
            </a:extLst>
          </p:cNvPr>
          <p:cNvPicPr>
            <a:picLocks noChangeAspect="1"/>
          </p:cNvPicPr>
          <p:nvPr/>
        </p:nvPicPr>
        <p:blipFill>
          <a:blip r:embed="rId4"/>
          <a:stretch>
            <a:fillRect/>
          </a:stretch>
        </p:blipFill>
        <p:spPr>
          <a:xfrm>
            <a:off x="4333303" y="1949244"/>
            <a:ext cx="3622643" cy="2775296"/>
          </a:xfrm>
          <a:prstGeom prst="rect">
            <a:avLst/>
          </a:prstGeom>
        </p:spPr>
      </p:pic>
      <p:pic>
        <p:nvPicPr>
          <p:cNvPr id="4" name="Picture 4" descr="image.png">
            <a:extLst>
              <a:ext uri="{FF2B5EF4-FFF2-40B4-BE49-F238E27FC236}">
                <a16:creationId xmlns:a16="http://schemas.microsoft.com/office/drawing/2014/main" id="{5F8886C1-B9EF-1766-6CC8-D4682F7B7474}"/>
              </a:ext>
            </a:extLst>
          </p:cNvPr>
          <p:cNvPicPr>
            <a:picLocks noChangeAspect="1"/>
          </p:cNvPicPr>
          <p:nvPr/>
        </p:nvPicPr>
        <p:blipFill>
          <a:blip r:embed="rId5"/>
          <a:stretch>
            <a:fillRect/>
          </a:stretch>
        </p:blipFill>
        <p:spPr>
          <a:xfrm>
            <a:off x="8032146" y="1951511"/>
            <a:ext cx="3610641" cy="2772286"/>
          </a:xfrm>
          <a:prstGeom prst="rect">
            <a:avLst/>
          </a:prstGeom>
        </p:spPr>
      </p:pic>
      <p:sp>
        <p:nvSpPr>
          <p:cNvPr id="6" name="TextBox 19">
            <a:extLst>
              <a:ext uri="{FF2B5EF4-FFF2-40B4-BE49-F238E27FC236}">
                <a16:creationId xmlns:a16="http://schemas.microsoft.com/office/drawing/2014/main" id="{928CBC28-A07E-3811-6623-D8E50EDB7354}"/>
              </a:ext>
            </a:extLst>
          </p:cNvPr>
          <p:cNvSpPr txBox="1"/>
          <p:nvPr/>
        </p:nvSpPr>
        <p:spPr>
          <a:xfrm>
            <a:off x="1838325" y="2257139"/>
            <a:ext cx="1129855" cy="353568"/>
          </a:xfrm>
          <a:prstGeom prst="rect">
            <a:avLst/>
          </a:prstGeom>
          <a:noFill/>
        </p:spPr>
        <p:txBody>
          <a:bodyPr wrap="none" lIns="0" tIns="0" rIns="0" bIns="0"/>
          <a:lstStyle/>
          <a:p>
            <a:pPr algn="ctr">
              <a:lnSpc>
                <a:spcPct val="109000"/>
              </a:lnSpc>
              <a:spcBef>
                <a:spcPts val="0"/>
              </a:spcBef>
              <a:spcAft>
                <a:spcPts val="0"/>
              </a:spcAft>
            </a:pPr>
            <a:r>
              <a:rPr sz="2550" b="1" i="0">
                <a:solidFill>
                  <a:srgbClr val="000000"/>
                </a:solidFill>
                <a:latin typeface="Noto Sans SC" panose="020B0200000000000000" charset="-122"/>
                <a:ea typeface="Noto Sans SC" panose="020B0200000000000000" charset="-122"/>
              </a:rPr>
              <a:t>TDOA</a:t>
            </a:r>
          </a:p>
        </p:txBody>
      </p:sp>
      <p:sp>
        <p:nvSpPr>
          <p:cNvPr id="7" name="TextBox 20">
            <a:extLst>
              <a:ext uri="{FF2B5EF4-FFF2-40B4-BE49-F238E27FC236}">
                <a16:creationId xmlns:a16="http://schemas.microsoft.com/office/drawing/2014/main" id="{8E5050AB-EFDE-7BC3-FCEA-A14864F33C77}"/>
              </a:ext>
            </a:extLst>
          </p:cNvPr>
          <p:cNvSpPr txBox="1"/>
          <p:nvPr/>
        </p:nvSpPr>
        <p:spPr>
          <a:xfrm>
            <a:off x="5736240" y="2257139"/>
            <a:ext cx="778097" cy="353568"/>
          </a:xfrm>
          <a:prstGeom prst="rect">
            <a:avLst/>
          </a:prstGeom>
          <a:noFill/>
        </p:spPr>
        <p:txBody>
          <a:bodyPr wrap="none" lIns="0" tIns="0" rIns="0" bIns="0"/>
          <a:lstStyle/>
          <a:p>
            <a:pPr algn="ctr">
              <a:lnSpc>
                <a:spcPct val="109000"/>
              </a:lnSpc>
              <a:spcBef>
                <a:spcPts val="0"/>
              </a:spcBef>
              <a:spcAft>
                <a:spcPts val="0"/>
              </a:spcAft>
            </a:pPr>
            <a:r>
              <a:rPr sz="2550" b="1" i="0">
                <a:solidFill>
                  <a:srgbClr val="000000"/>
                </a:solidFill>
                <a:latin typeface="Noto Sans SC" panose="020B0200000000000000" charset="-122"/>
                <a:ea typeface="Noto Sans SC" panose="020B0200000000000000" charset="-122"/>
              </a:rPr>
              <a:t>TOF</a:t>
            </a:r>
          </a:p>
        </p:txBody>
      </p:sp>
      <p:sp>
        <p:nvSpPr>
          <p:cNvPr id="8" name="TextBox 21">
            <a:extLst>
              <a:ext uri="{FF2B5EF4-FFF2-40B4-BE49-F238E27FC236}">
                <a16:creationId xmlns:a16="http://schemas.microsoft.com/office/drawing/2014/main" id="{F8B2E0D5-6432-B134-38A0-9B269B8762DC}"/>
              </a:ext>
            </a:extLst>
          </p:cNvPr>
          <p:cNvSpPr txBox="1"/>
          <p:nvPr/>
        </p:nvSpPr>
        <p:spPr>
          <a:xfrm>
            <a:off x="9399746" y="2257139"/>
            <a:ext cx="836771" cy="353568"/>
          </a:xfrm>
          <a:prstGeom prst="rect">
            <a:avLst/>
          </a:prstGeom>
          <a:noFill/>
        </p:spPr>
        <p:txBody>
          <a:bodyPr wrap="none" lIns="0" tIns="0" rIns="0" bIns="0"/>
          <a:lstStyle/>
          <a:p>
            <a:pPr algn="ctr">
              <a:lnSpc>
                <a:spcPct val="109000"/>
              </a:lnSpc>
              <a:spcBef>
                <a:spcPts val="0"/>
              </a:spcBef>
              <a:spcAft>
                <a:spcPts val="0"/>
              </a:spcAft>
            </a:pPr>
            <a:r>
              <a:rPr sz="2550" b="1" i="0">
                <a:solidFill>
                  <a:srgbClr val="000000"/>
                </a:solidFill>
                <a:latin typeface="Noto Sans SC" panose="020B0200000000000000" charset="-122"/>
                <a:ea typeface="Noto Sans SC" panose="020B0200000000000000" charset="-122"/>
              </a:rPr>
              <a:t>AOA</a:t>
            </a:r>
          </a:p>
        </p:txBody>
      </p:sp>
      <p:sp>
        <p:nvSpPr>
          <p:cNvPr id="9" name="TextBox 22">
            <a:extLst>
              <a:ext uri="{FF2B5EF4-FFF2-40B4-BE49-F238E27FC236}">
                <a16:creationId xmlns:a16="http://schemas.microsoft.com/office/drawing/2014/main" id="{E8264167-4532-9BFB-5777-132410C6A42A}"/>
              </a:ext>
            </a:extLst>
          </p:cNvPr>
          <p:cNvSpPr txBox="1"/>
          <p:nvPr/>
        </p:nvSpPr>
        <p:spPr>
          <a:xfrm>
            <a:off x="1340072" y="2747010"/>
            <a:ext cx="2096928" cy="353663"/>
          </a:xfrm>
          <a:prstGeom prst="rect">
            <a:avLst/>
          </a:prstGeom>
          <a:noFill/>
        </p:spPr>
        <p:txBody>
          <a:bodyPr wrap="none" lIns="0" tIns="0" rIns="0" bIns="0"/>
          <a:lstStyle/>
          <a:p>
            <a:pPr algn="ctr">
              <a:lnSpc>
                <a:spcPct val="120000"/>
              </a:lnSpc>
              <a:spcBef>
                <a:spcPts val="0"/>
              </a:spcBef>
              <a:spcAft>
                <a:spcPts val="0"/>
              </a:spcAft>
            </a:pPr>
            <a:r>
              <a:rPr sz="2325" b="1" i="0">
                <a:solidFill>
                  <a:srgbClr val="000000"/>
                </a:solidFill>
                <a:latin typeface="Noto Sans SC" panose="020B0200000000000000" charset="-122"/>
                <a:ea typeface="Noto Sans SC" panose="020B0200000000000000" charset="-122"/>
              </a:rPr>
              <a:t>到达时间差定位</a:t>
            </a:r>
          </a:p>
        </p:txBody>
      </p:sp>
      <p:sp>
        <p:nvSpPr>
          <p:cNvPr id="10" name="TextBox 23">
            <a:extLst>
              <a:ext uri="{FF2B5EF4-FFF2-40B4-BE49-F238E27FC236}">
                <a16:creationId xmlns:a16="http://schemas.microsoft.com/office/drawing/2014/main" id="{83EADCE8-089A-503A-F0DE-D6C5EC54ED2D}"/>
              </a:ext>
            </a:extLst>
          </p:cNvPr>
          <p:cNvSpPr txBox="1"/>
          <p:nvPr/>
        </p:nvSpPr>
        <p:spPr>
          <a:xfrm>
            <a:off x="5237988" y="2747010"/>
            <a:ext cx="1803844" cy="353663"/>
          </a:xfrm>
          <a:prstGeom prst="rect">
            <a:avLst/>
          </a:prstGeom>
          <a:noFill/>
        </p:spPr>
        <p:txBody>
          <a:bodyPr wrap="none" lIns="0" tIns="0" rIns="0" bIns="0"/>
          <a:lstStyle/>
          <a:p>
            <a:pPr algn="ctr">
              <a:lnSpc>
                <a:spcPct val="120000"/>
              </a:lnSpc>
              <a:spcBef>
                <a:spcPts val="0"/>
              </a:spcBef>
              <a:spcAft>
                <a:spcPts val="0"/>
              </a:spcAft>
            </a:pPr>
            <a:r>
              <a:rPr sz="2325" b="1" i="0">
                <a:solidFill>
                  <a:srgbClr val="000000"/>
                </a:solidFill>
                <a:latin typeface="Noto Sans SC" panose="020B0200000000000000" charset="-122"/>
                <a:ea typeface="Noto Sans SC" panose="020B0200000000000000" charset="-122"/>
              </a:rPr>
              <a:t>飞行时间定位</a:t>
            </a:r>
          </a:p>
        </p:txBody>
      </p:sp>
      <p:sp>
        <p:nvSpPr>
          <p:cNvPr id="11" name="TextBox 24">
            <a:extLst>
              <a:ext uri="{FF2B5EF4-FFF2-40B4-BE49-F238E27FC236}">
                <a16:creationId xmlns:a16="http://schemas.microsoft.com/office/drawing/2014/main" id="{01B4441D-0626-EDFA-EA41-BB5249AE91ED}"/>
              </a:ext>
            </a:extLst>
          </p:cNvPr>
          <p:cNvSpPr txBox="1"/>
          <p:nvPr/>
        </p:nvSpPr>
        <p:spPr>
          <a:xfrm>
            <a:off x="8901493" y="2747010"/>
            <a:ext cx="1803844" cy="353663"/>
          </a:xfrm>
          <a:prstGeom prst="rect">
            <a:avLst/>
          </a:prstGeom>
          <a:noFill/>
        </p:spPr>
        <p:txBody>
          <a:bodyPr wrap="none" lIns="0" tIns="0" rIns="0" bIns="0"/>
          <a:lstStyle/>
          <a:p>
            <a:pPr algn="ctr">
              <a:lnSpc>
                <a:spcPct val="120000"/>
              </a:lnSpc>
              <a:spcBef>
                <a:spcPts val="0"/>
              </a:spcBef>
              <a:spcAft>
                <a:spcPts val="0"/>
              </a:spcAft>
            </a:pPr>
            <a:r>
              <a:rPr sz="2325" b="1" i="0">
                <a:solidFill>
                  <a:srgbClr val="000000"/>
                </a:solidFill>
                <a:latin typeface="Noto Sans SC" panose="020B0200000000000000" charset="-122"/>
                <a:ea typeface="Noto Sans SC" panose="020B0200000000000000" charset="-122"/>
              </a:rPr>
              <a:t>到达角度定位</a:t>
            </a:r>
          </a:p>
        </p:txBody>
      </p:sp>
      <p:sp>
        <p:nvSpPr>
          <p:cNvPr id="12" name="TextBox 25">
            <a:extLst>
              <a:ext uri="{FF2B5EF4-FFF2-40B4-BE49-F238E27FC236}">
                <a16:creationId xmlns:a16="http://schemas.microsoft.com/office/drawing/2014/main" id="{F2EDA51A-EE81-C8A7-619D-0FDA028C809F}"/>
              </a:ext>
            </a:extLst>
          </p:cNvPr>
          <p:cNvSpPr txBox="1"/>
          <p:nvPr/>
        </p:nvSpPr>
        <p:spPr>
          <a:xfrm>
            <a:off x="697515" y="3330987"/>
            <a:ext cx="3597449" cy="900112"/>
          </a:xfrm>
          <a:prstGeom prst="rect">
            <a:avLst/>
          </a:prstGeom>
          <a:noFill/>
        </p:spPr>
        <p:txBody>
          <a:bodyPr wrap="none" lIns="0" tIns="0" rIns="0" bIns="0"/>
          <a:lstStyle/>
          <a:p>
            <a:pPr algn="just">
              <a:spcBef>
                <a:spcPts val="0"/>
              </a:spcBef>
              <a:spcAft>
                <a:spcPts val="0"/>
              </a:spcAft>
            </a:pPr>
            <a:r>
              <a:rPr sz="1650" b="0" i="0">
                <a:solidFill>
                  <a:srgbClr val="000000"/>
                </a:solidFill>
                <a:latin typeface="Noto Sans SC" panose="020B0200000000000000" charset="-122"/>
                <a:ea typeface="Noto Sans SC" panose="020B0200000000000000" charset="-122"/>
              </a:rPr>
              <a:t>通过测量信号到达多个基站的时间差</a:t>
            </a:r>
          </a:p>
          <a:p>
            <a:pPr>
              <a:spcBef>
                <a:spcPts val="385"/>
              </a:spcBef>
            </a:pPr>
            <a:r>
              <a:rPr lang="zh-CN" sz="1650">
                <a:latin typeface="Noto Sans SC" panose="020B0200000000000000" charset="-122"/>
                <a:ea typeface="Noto Sans SC" panose="020B0200000000000000" charset="-122"/>
              </a:rPr>
              <a:t>进行定位,双曲线交汇原理确定目标位</a:t>
            </a:r>
          </a:p>
          <a:p>
            <a:pPr>
              <a:spcBef>
                <a:spcPts val="625"/>
              </a:spcBef>
            </a:pPr>
            <a:r>
              <a:rPr lang="zh-CN" sz="1650">
                <a:latin typeface="Noto Sans SC" panose="020B0200000000000000" charset="-122"/>
                <a:ea typeface="Noto Sans SC" panose="020B0200000000000000" charset="-122"/>
              </a:rPr>
              <a:t>置,基站间需高精度时钟同步</a:t>
            </a:r>
          </a:p>
        </p:txBody>
      </p:sp>
      <p:sp>
        <p:nvSpPr>
          <p:cNvPr id="13" name="TextBox 26">
            <a:extLst>
              <a:ext uri="{FF2B5EF4-FFF2-40B4-BE49-F238E27FC236}">
                <a16:creationId xmlns:a16="http://schemas.microsoft.com/office/drawing/2014/main" id="{92A0698A-C5FC-F550-B5A1-3A4849B56BDD}"/>
              </a:ext>
            </a:extLst>
          </p:cNvPr>
          <p:cNvSpPr txBox="1"/>
          <p:nvPr/>
        </p:nvSpPr>
        <p:spPr>
          <a:xfrm>
            <a:off x="4566094" y="3330987"/>
            <a:ext cx="3014376" cy="900112"/>
          </a:xfrm>
          <a:prstGeom prst="rect">
            <a:avLst/>
          </a:prstGeom>
          <a:noFill/>
        </p:spPr>
        <p:txBody>
          <a:bodyPr wrap="none" lIns="0" tIns="0" rIns="0" bIns="0"/>
          <a:lstStyle/>
          <a:p>
            <a:pPr algn="just">
              <a:spcBef>
                <a:spcPts val="0"/>
              </a:spcBef>
              <a:spcAft>
                <a:spcPts val="0"/>
              </a:spcAft>
            </a:pPr>
            <a:r>
              <a:rPr sz="1575" b="0" i="0">
                <a:solidFill>
                  <a:srgbClr val="000000"/>
                </a:solidFill>
                <a:latin typeface="Noto Sans SC" panose="020B0200000000000000" charset="-122"/>
                <a:ea typeface="Noto Sans SC" panose="020B0200000000000000" charset="-122"/>
              </a:rPr>
              <a:t>测量信号从发射到接收的往返时</a:t>
            </a:r>
          </a:p>
          <a:p>
            <a:pPr marL="29210">
              <a:spcBef>
                <a:spcPts val="385"/>
              </a:spcBef>
            </a:pPr>
            <a:r>
              <a:rPr lang="zh-CN" sz="1575">
                <a:latin typeface="Noto Sans SC" panose="020B0200000000000000" charset="-122"/>
                <a:ea typeface="Noto Sans SC" panose="020B0200000000000000" charset="-122"/>
              </a:rPr>
              <a:t>间,双边双向测距消除时钟偏差,</a:t>
            </a:r>
          </a:p>
          <a:p>
            <a:pPr marL="29210">
              <a:spcBef>
                <a:spcPts val="625"/>
              </a:spcBef>
            </a:pPr>
            <a:r>
              <a:rPr lang="zh-CN" sz="1575">
                <a:latin typeface="Noto Sans SC" panose="020B0200000000000000" charset="-122"/>
                <a:ea typeface="Noto Sans SC" panose="020B0200000000000000" charset="-122"/>
              </a:rPr>
              <a:t>厘米级测距精度</a:t>
            </a:r>
          </a:p>
        </p:txBody>
      </p:sp>
      <p:sp>
        <p:nvSpPr>
          <p:cNvPr id="14" name="TextBox 27">
            <a:extLst>
              <a:ext uri="{FF2B5EF4-FFF2-40B4-BE49-F238E27FC236}">
                <a16:creationId xmlns:a16="http://schemas.microsoft.com/office/drawing/2014/main" id="{DB9F9053-A0E3-1F20-AF79-075C241EE072}"/>
              </a:ext>
            </a:extLst>
          </p:cNvPr>
          <p:cNvSpPr txBox="1"/>
          <p:nvPr/>
        </p:nvSpPr>
        <p:spPr>
          <a:xfrm>
            <a:off x="8286654" y="3330987"/>
            <a:ext cx="3048380" cy="900112"/>
          </a:xfrm>
          <a:prstGeom prst="rect">
            <a:avLst/>
          </a:prstGeom>
          <a:noFill/>
        </p:spPr>
        <p:txBody>
          <a:bodyPr wrap="none" lIns="0" tIns="0" rIns="0" bIns="0"/>
          <a:lstStyle/>
          <a:p>
            <a:pPr marL="1270" algn="just">
              <a:spcBef>
                <a:spcPts val="0"/>
              </a:spcBef>
              <a:spcAft>
                <a:spcPts val="0"/>
              </a:spcAft>
            </a:pPr>
            <a:r>
              <a:rPr sz="1575" b="0" i="0">
                <a:solidFill>
                  <a:srgbClr val="000000"/>
                </a:solidFill>
                <a:latin typeface="Noto Sans SC" panose="020B0200000000000000" charset="-122"/>
                <a:ea typeface="Noto Sans SC" panose="020B0200000000000000" charset="-122"/>
              </a:rPr>
              <a:t>通过天线阵列测量信号入射角度</a:t>
            </a:r>
          </a:p>
          <a:p>
            <a:pPr>
              <a:spcBef>
                <a:spcPts val="280"/>
              </a:spcBef>
            </a:pPr>
            <a:r>
              <a:rPr lang="zh-CN" sz="1575">
                <a:latin typeface="Noto Sans SC" panose="020B0200000000000000" charset="-122"/>
                <a:ea typeface="Noto Sans SC" panose="020B0200000000000000" charset="-122"/>
              </a:rPr>
              <a:t>度,单基站多天线即可定位,角</a:t>
            </a:r>
          </a:p>
          <a:p>
            <a:pPr marL="1270">
              <a:spcBef>
                <a:spcPts val="495"/>
              </a:spcBef>
            </a:pPr>
            <a:r>
              <a:rPr lang="zh-CN" sz="1575">
                <a:latin typeface="Noto Sans SC" panose="020B0200000000000000" charset="-122"/>
                <a:ea typeface="Noto Sans SC" panose="020B0200000000000000" charset="-122"/>
              </a:rPr>
              <a:t>度误差随距离放大</a:t>
            </a:r>
          </a:p>
        </p:txBody>
      </p:sp>
      <p:sp>
        <p:nvSpPr>
          <p:cNvPr id="15" name="TextBox 28">
            <a:extLst>
              <a:ext uri="{FF2B5EF4-FFF2-40B4-BE49-F238E27FC236}">
                <a16:creationId xmlns:a16="http://schemas.microsoft.com/office/drawing/2014/main" id="{72C8C0CC-6948-1F32-966C-C06EFCEA96B1}"/>
              </a:ext>
            </a:extLst>
          </p:cNvPr>
          <p:cNvSpPr txBox="1"/>
          <p:nvPr/>
        </p:nvSpPr>
        <p:spPr>
          <a:xfrm>
            <a:off x="2133600" y="5290470"/>
            <a:ext cx="7924800" cy="257175"/>
          </a:xfrm>
          <a:prstGeom prst="rect">
            <a:avLst/>
          </a:prstGeom>
          <a:noFill/>
        </p:spPr>
        <p:txBody>
          <a:bodyPr wrap="none" lIns="0" tIns="0" rIns="0" bIns="0"/>
          <a:lstStyle/>
          <a:p>
            <a:pPr algn="just">
              <a:lnSpc>
                <a:spcPct val="113000"/>
              </a:lnSpc>
              <a:spcBef>
                <a:spcPts val="0"/>
              </a:spcBef>
              <a:spcAft>
                <a:spcPts val="0"/>
              </a:spcAft>
            </a:pPr>
            <a:r>
              <a:rPr sz="1800" b="0" i="0" dirty="0" err="1">
                <a:solidFill>
                  <a:srgbClr val="00011A"/>
                </a:solidFill>
                <a:latin typeface="Noto Sans SC" panose="020B0200000000000000" charset="-122"/>
                <a:ea typeface="Noto Sans SC" panose="020B0200000000000000" charset="-122"/>
              </a:rPr>
              <a:t>三种技术各有优势,煤矿</a:t>
            </a:r>
            <a:r>
              <a:rPr lang="zh-CN" altLang="en-US" sz="1800" b="0" i="0" dirty="0">
                <a:solidFill>
                  <a:srgbClr val="00011A"/>
                </a:solidFill>
                <a:latin typeface="Noto Sans SC" panose="020B0200000000000000" charset="-122"/>
                <a:ea typeface="Noto Sans SC" panose="020B0200000000000000" charset="-122"/>
              </a:rPr>
              <a:t>井</a:t>
            </a:r>
            <a:r>
              <a:rPr sz="1800" b="0" i="0" dirty="0">
                <a:solidFill>
                  <a:srgbClr val="00011A"/>
                </a:solidFill>
                <a:latin typeface="Noto Sans SC" panose="020B0200000000000000" charset="-122"/>
                <a:ea typeface="Noto Sans SC" panose="020B0200000000000000" charset="-122"/>
              </a:rPr>
              <a:t>下UWB定位已实现静态误差不大于0.</a:t>
            </a:r>
            <a:r>
              <a:rPr lang="en-US" sz="1800" b="0" i="0" dirty="0">
                <a:solidFill>
                  <a:srgbClr val="00011A"/>
                </a:solidFill>
                <a:latin typeface="Noto Sans SC" panose="020B0200000000000000" charset="-122"/>
                <a:ea typeface="Noto Sans SC" panose="020B0200000000000000" charset="-122"/>
              </a:rPr>
              <a:t>1</a:t>
            </a:r>
            <a:r>
              <a:rPr sz="1800" b="0" i="0" dirty="0">
                <a:solidFill>
                  <a:srgbClr val="00011A"/>
                </a:solidFill>
                <a:latin typeface="Noto Sans SC" panose="020B0200000000000000" charset="-122"/>
                <a:ea typeface="Noto Sans SC" panose="020B0200000000000000" charset="-122"/>
              </a:rPr>
              <a:t>m的国家标准</a:t>
            </a:r>
          </a:p>
        </p:txBody>
      </p:sp>
    </p:spTree>
    <p:extLst>
      <p:ext uri="{BB962C8B-B14F-4D97-AF65-F5344CB8AC3E}">
        <p14:creationId xmlns:p14="http://schemas.microsoft.com/office/powerpoint/2010/main" val="832020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9787E-CA20-2961-955B-B7A10AD9254A}"/>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2BD27A8C-D7A6-EDB5-E501-891B484DFCEC}"/>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3B0F1770-E589-5A6C-214B-23CAB4C999CA}"/>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251BFD1F-3187-BCAA-3458-A6C77C69AE32}"/>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15</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13CD42D6-4C95-8090-B9FD-12433E2ED710}"/>
              </a:ext>
            </a:extLst>
          </p:cNvPr>
          <p:cNvSpPr>
            <a:spLocks noGrp="1"/>
          </p:cNvSpPr>
          <p:nvPr>
            <p:ph idx="1"/>
          </p:nvPr>
        </p:nvSpPr>
        <p:spPr>
          <a:ln>
            <a:solidFill>
              <a:schemeClr val="tx2"/>
            </a:solidFill>
          </a:ln>
        </p:spPr>
        <p:txBody>
          <a:bodyPr>
            <a:normAutofit/>
          </a:bodyPr>
          <a:lstStyle/>
          <a:p>
            <a:pPr marL="0" indent="0">
              <a:buNone/>
            </a:pPr>
            <a:r>
              <a:rPr lang="en-US" altLang="zh-CN" b="1" dirty="0"/>
              <a:t>UWB </a:t>
            </a:r>
            <a:r>
              <a:rPr lang="zh-CN" altLang="en-US" b="1" dirty="0"/>
              <a:t>厘米级定位</a:t>
            </a:r>
            <a:endParaRPr lang="en-US" altLang="zh-CN" b="1" dirty="0"/>
          </a:p>
          <a:p>
            <a:pPr marL="0" indent="0">
              <a:buNone/>
            </a:pPr>
            <a:r>
              <a:rPr lang="en-US" altLang="zh-CN" b="1" dirty="0"/>
              <a:t>TDOA+TOF+AOA </a:t>
            </a:r>
            <a:r>
              <a:rPr lang="zh-CN" altLang="en-US" b="1" dirty="0"/>
              <a:t>混合部署</a:t>
            </a:r>
            <a:endParaRPr lang="en-US" altLang="zh-CN" b="1" dirty="0"/>
          </a:p>
          <a:p>
            <a:pPr marL="0" indent="0">
              <a:buNone/>
            </a:pPr>
            <a:r>
              <a:rPr lang="zh-CN" altLang="en-US" b="1" dirty="0"/>
              <a:t>关键区域</a:t>
            </a:r>
            <a:r>
              <a:rPr lang="en-US" altLang="zh-CN" b="1" dirty="0"/>
              <a:t>TOF </a:t>
            </a:r>
            <a:r>
              <a:rPr lang="zh-CN" altLang="en-US" b="1" dirty="0"/>
              <a:t>精确定位，巷道主干</a:t>
            </a:r>
            <a:r>
              <a:rPr lang="en-US" altLang="zh-CN" b="1" dirty="0"/>
              <a:t>TDOA </a:t>
            </a:r>
            <a:r>
              <a:rPr lang="zh-CN" altLang="en-US" b="1" dirty="0"/>
              <a:t>全覆盖，</a:t>
            </a:r>
            <a:r>
              <a:rPr lang="en-US" altLang="zh-CN" b="1" dirty="0"/>
              <a:t>AOA </a:t>
            </a:r>
            <a:r>
              <a:rPr lang="zh-CN" altLang="en-US" b="1" dirty="0"/>
              <a:t>辅助解决覆盖盲区</a:t>
            </a:r>
            <a:endParaRPr lang="en-US" altLang="zh-CN" b="1" dirty="0"/>
          </a:p>
          <a:p>
            <a:pPr marL="0" indent="0">
              <a:buNone/>
            </a:pPr>
            <a:endParaRPr lang="en-US" altLang="zh-CN" b="1" dirty="0"/>
          </a:p>
          <a:p>
            <a:pPr marL="0" indent="0">
              <a:buNone/>
            </a:pPr>
            <a:r>
              <a:rPr lang="zh-CN" altLang="en-US" b="1" dirty="0">
                <a:solidFill>
                  <a:srgbClr val="FF0000"/>
                </a:solidFill>
              </a:rPr>
              <a:t>最总要的是，在定位卡里面塞入了陀螺仪和加速度传感器</a:t>
            </a:r>
            <a:endParaRPr lang="en-US" altLang="zh-CN" b="1" dirty="0">
              <a:solidFill>
                <a:srgbClr val="FF0000"/>
              </a:solidFill>
            </a:endParaRPr>
          </a:p>
        </p:txBody>
      </p:sp>
      <p:sp>
        <p:nvSpPr>
          <p:cNvPr id="26" name="Title 25">
            <a:extLst>
              <a:ext uri="{FF2B5EF4-FFF2-40B4-BE49-F238E27FC236}">
                <a16:creationId xmlns:a16="http://schemas.microsoft.com/office/drawing/2014/main" id="{532069D8-586E-4C63-0134-5B76F5E38284}"/>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方案设计</a:t>
            </a:r>
            <a:endParaRPr lang="en-US" dirty="0"/>
          </a:p>
        </p:txBody>
      </p:sp>
    </p:spTree>
    <p:extLst>
      <p:ext uri="{BB962C8B-B14F-4D97-AF65-F5344CB8AC3E}">
        <p14:creationId xmlns:p14="http://schemas.microsoft.com/office/powerpoint/2010/main" val="1457020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78088CE-F5CA-6067-E03E-562598617239}"/>
              </a:ext>
            </a:extLst>
          </p:cNvPr>
          <p:cNvPicPr>
            <a:picLocks noGrp="1" noChangeAspect="1"/>
          </p:cNvPicPr>
          <p:nvPr>
            <p:ph idx="1"/>
          </p:nvPr>
        </p:nvPicPr>
        <p:blipFill>
          <a:blip r:embed="rId2"/>
          <a:stretch>
            <a:fillRect/>
          </a:stretch>
        </p:blipFill>
        <p:spPr>
          <a:xfrm>
            <a:off x="907777" y="1515074"/>
            <a:ext cx="6925879" cy="4351338"/>
          </a:xfrm>
          <a:prstGeom prst="rect">
            <a:avLst/>
          </a:prstGeom>
        </p:spPr>
      </p:pic>
      <p:sp>
        <p:nvSpPr>
          <p:cNvPr id="3" name="标题 2">
            <a:extLst>
              <a:ext uri="{FF2B5EF4-FFF2-40B4-BE49-F238E27FC236}">
                <a16:creationId xmlns:a16="http://schemas.microsoft.com/office/drawing/2014/main" id="{EF081C11-D65C-CFFC-D38F-90768E9AB9B6}"/>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磁铁矿的干扰</a:t>
            </a:r>
            <a:endParaRPr lang="zh-CN" altLang="en-US" dirty="0"/>
          </a:p>
        </p:txBody>
      </p:sp>
      <p:sp>
        <p:nvSpPr>
          <p:cNvPr id="6" name="文本框 5">
            <a:extLst>
              <a:ext uri="{FF2B5EF4-FFF2-40B4-BE49-F238E27FC236}">
                <a16:creationId xmlns:a16="http://schemas.microsoft.com/office/drawing/2014/main" id="{1087FBBC-557D-9D86-7649-761F40B21516}"/>
              </a:ext>
            </a:extLst>
          </p:cNvPr>
          <p:cNvSpPr txBox="1"/>
          <p:nvPr/>
        </p:nvSpPr>
        <p:spPr>
          <a:xfrm>
            <a:off x="8252603" y="2967487"/>
            <a:ext cx="2898475" cy="1077218"/>
          </a:xfrm>
          <a:prstGeom prst="rect">
            <a:avLst/>
          </a:prstGeom>
          <a:noFill/>
        </p:spPr>
        <p:txBody>
          <a:bodyPr wrap="square" rtlCol="0">
            <a:spAutoFit/>
          </a:bodyPr>
          <a:lstStyle/>
          <a:p>
            <a:r>
              <a:rPr lang="zh-CN" altLang="en-US" sz="3200" dirty="0"/>
              <a:t>可能会有干扰附近的基站</a:t>
            </a:r>
          </a:p>
        </p:txBody>
      </p:sp>
    </p:spTree>
    <p:extLst>
      <p:ext uri="{BB962C8B-B14F-4D97-AF65-F5344CB8AC3E}">
        <p14:creationId xmlns:p14="http://schemas.microsoft.com/office/powerpoint/2010/main" val="1354598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3412-4BC6-7C3E-F648-E5CF59B0DE44}"/>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2745BAC6-E086-FC59-3338-52FDB9F07A0E}"/>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15794295-0AA4-C71C-69FC-2B2D76BBBB48}"/>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9D2DBD00-1DA0-2993-45D9-4475953D03FA}"/>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17</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51BDA81F-4141-7376-B680-23EE68204896}"/>
              </a:ext>
            </a:extLst>
          </p:cNvPr>
          <p:cNvSpPr>
            <a:spLocks noGrp="1"/>
          </p:cNvSpPr>
          <p:nvPr>
            <p:ph idx="1"/>
          </p:nvPr>
        </p:nvSpPr>
        <p:spPr>
          <a:xfrm>
            <a:off x="838200" y="1570130"/>
            <a:ext cx="10515600" cy="917575"/>
          </a:xfrm>
        </p:spPr>
        <p:txBody>
          <a:bodyPr>
            <a:normAutofit/>
          </a:bodyPr>
          <a:lstStyle/>
          <a:p>
            <a:pPr marL="0" indent="0">
              <a:buNone/>
            </a:pPr>
            <a:r>
              <a:rPr lang="zh-CN" altLang="en-US" b="1" dirty="0"/>
              <a:t>在磁铁干扰场景下，强跟踪卡尔曼滤波</a:t>
            </a:r>
            <a:r>
              <a:rPr lang="en-US" altLang="zh-CN" b="1" dirty="0"/>
              <a:t> + </a:t>
            </a:r>
            <a:r>
              <a:rPr lang="zh-CN" altLang="en-US" b="1" dirty="0"/>
              <a:t>抗差估计的混合滤波方案是目前公认效果最好、工程应用最成熟的方案。</a:t>
            </a:r>
          </a:p>
        </p:txBody>
      </p:sp>
      <p:sp>
        <p:nvSpPr>
          <p:cNvPr id="26" name="Title 25">
            <a:extLst>
              <a:ext uri="{FF2B5EF4-FFF2-40B4-BE49-F238E27FC236}">
                <a16:creationId xmlns:a16="http://schemas.microsoft.com/office/drawing/2014/main" id="{64B1BDBF-9C44-9176-EADC-217C65F9ADF9}"/>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卡尔曼滤波及其改进</a:t>
            </a:r>
            <a:endParaRPr lang="en-US" b="1" dirty="0">
              <a:solidFill>
                <a:srgbClr val="FFFFFF"/>
              </a:solidFill>
            </a:endParaRPr>
          </a:p>
        </p:txBody>
      </p:sp>
      <p:graphicFrame>
        <p:nvGraphicFramePr>
          <p:cNvPr id="2" name="表格 1">
            <a:extLst>
              <a:ext uri="{FF2B5EF4-FFF2-40B4-BE49-F238E27FC236}">
                <a16:creationId xmlns:a16="http://schemas.microsoft.com/office/drawing/2014/main" id="{74C94DD5-9367-D76D-5DE2-18B8C9C7C3CB}"/>
              </a:ext>
            </a:extLst>
          </p:cNvPr>
          <p:cNvGraphicFramePr/>
          <p:nvPr/>
        </p:nvGraphicFramePr>
        <p:xfrm>
          <a:off x="1828800" y="3152140"/>
          <a:ext cx="8533130" cy="2442210"/>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887730">
                <a:tc>
                  <a:txBody>
                    <a:bodyPr/>
                    <a:lstStyle/>
                    <a:p>
                      <a:pPr algn="ctr">
                        <a:buNone/>
                      </a:pPr>
                      <a:r>
                        <a:rPr lang="zh-CN" altLang="en-US"/>
                        <a:t>强跟踪卡尔曼</a:t>
                      </a:r>
                    </a:p>
                  </a:txBody>
                  <a:tcPr/>
                </a:tc>
                <a:tc>
                  <a:txBody>
                    <a:bodyPr/>
                    <a:lstStyle/>
                    <a:p>
                      <a:pPr algn="ctr">
                        <a:buNone/>
                      </a:pPr>
                      <a:r>
                        <a:rPr lang="zh-CN" altLang="en-US"/>
                        <a:t>对单个野值（如瞬时电磁干扰）仍然敏感，容易误放大噪声</a:t>
                      </a:r>
                    </a:p>
                  </a:txBody>
                  <a:tcPr/>
                </a:tc>
                <a:extLst>
                  <a:ext uri="{0D108BD9-81ED-4DB2-BD59-A6C34878D82A}">
                    <a16:rowId xmlns:a16="http://schemas.microsoft.com/office/drawing/2014/main" val="10000"/>
                  </a:ext>
                </a:extLst>
              </a:tr>
              <a:tr h="811530">
                <a:tc>
                  <a:txBody>
                    <a:bodyPr/>
                    <a:lstStyle/>
                    <a:p>
                      <a:pPr algn="ctr">
                        <a:buNone/>
                      </a:pPr>
                      <a:r>
                        <a:rPr lang="zh-CN" altLang="en-US" dirty="0"/>
                        <a:t>抗差估计</a:t>
                      </a:r>
                    </a:p>
                  </a:txBody>
                  <a:tcPr/>
                </a:tc>
                <a:tc>
                  <a:txBody>
                    <a:bodyPr/>
                    <a:lstStyle/>
                    <a:p>
                      <a:pPr algn="ctr">
                        <a:buNone/>
                      </a:pPr>
                      <a:r>
                        <a:rPr lang="zh-CN" altLang="en-US"/>
                        <a:t>对连续突变（如车辆急刹、快速转向）响应慢，会过度平滑</a:t>
                      </a:r>
                    </a:p>
                  </a:txBody>
                  <a:tcPr/>
                </a:tc>
                <a:extLst>
                  <a:ext uri="{0D108BD9-81ED-4DB2-BD59-A6C34878D82A}">
                    <a16:rowId xmlns:a16="http://schemas.microsoft.com/office/drawing/2014/main" val="10001"/>
                  </a:ext>
                </a:extLst>
              </a:tr>
              <a:tr h="742950">
                <a:tc>
                  <a:txBody>
                    <a:bodyPr/>
                    <a:lstStyle/>
                    <a:p>
                      <a:pPr algn="ctr">
                        <a:buNone/>
                      </a:pPr>
                      <a:r>
                        <a:rPr lang="zh-CN" altLang="en-US"/>
                        <a:t>自适应卡尔曼</a:t>
                      </a:r>
                    </a:p>
                  </a:txBody>
                  <a:tcPr/>
                </a:tc>
                <a:tc>
                  <a:txBody>
                    <a:bodyPr/>
                    <a:lstStyle/>
                    <a:p>
                      <a:pPr algn="ctr">
                        <a:buNone/>
                      </a:pPr>
                      <a:r>
                        <a:rPr lang="zh-CN" altLang="en-US" dirty="0"/>
                        <a:t>在频繁突变环境下协方差估计极易发散</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71209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20BA9-AF24-FE5B-C684-17E241244A01}"/>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1AE966ED-CF98-2466-2FF3-483CEB284961}"/>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5CEA3DC7-D747-3EA1-C812-48BE15425923}"/>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ED387ECA-8BC4-7A87-E7BD-AC66CFEE3431}"/>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18</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506F0A0F-D577-1775-FDDC-00962856F296}"/>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卡尔曼滤波及其改进</a:t>
            </a:r>
            <a:endParaRPr lang="en-US" b="1" dirty="0">
              <a:solidFill>
                <a:srgbClr val="FFFFFF"/>
              </a:solidFill>
            </a:endParaRPr>
          </a:p>
        </p:txBody>
      </p:sp>
      <p:sp>
        <p:nvSpPr>
          <p:cNvPr id="5" name="内容占位符 2">
            <a:extLst>
              <a:ext uri="{FF2B5EF4-FFF2-40B4-BE49-F238E27FC236}">
                <a16:creationId xmlns:a16="http://schemas.microsoft.com/office/drawing/2014/main" id="{EB19CA04-D0E1-9817-BAB6-75E2D6C04982}"/>
              </a:ext>
            </a:extLst>
          </p:cNvPr>
          <p:cNvSpPr>
            <a:spLocks noGrp="1"/>
          </p:cNvSpPr>
          <p:nvPr>
            <p:ph idx="1"/>
          </p:nvPr>
        </p:nvSpPr>
        <p:spPr>
          <a:xfrm>
            <a:off x="701040" y="1676717"/>
            <a:ext cx="10515600" cy="4351338"/>
          </a:xfrm>
        </p:spPr>
        <p:txBody>
          <a:bodyPr>
            <a:normAutofit lnSpcReduction="10000"/>
          </a:bodyPr>
          <a:lstStyle/>
          <a:p>
            <a:pPr marL="0" indent="0">
              <a:buNone/>
            </a:pPr>
            <a:r>
              <a:rPr lang="zh-CN" altLang="en-US" sz="1600" b="1" dirty="0"/>
              <a:t>混合方案的核心思想：</a:t>
            </a:r>
            <a:endParaRPr lang="en-US" altLang="zh-CN" sz="1600" b="1" dirty="0"/>
          </a:p>
          <a:p>
            <a:pPr marL="0" indent="0">
              <a:buNone/>
            </a:pPr>
            <a:r>
              <a:rPr lang="zh-CN" altLang="en-US" sz="1600" dirty="0"/>
              <a:t>用强跟踪因子应对运动状态突变（设备启停、转向、碰撞）</a:t>
            </a:r>
            <a:endParaRPr lang="en-US" altLang="zh-CN" sz="1600" dirty="0"/>
          </a:p>
          <a:p>
            <a:pPr marL="0" indent="0">
              <a:buNone/>
            </a:pPr>
            <a:r>
              <a:rPr lang="zh-CN" altLang="en-US" sz="1600" dirty="0"/>
              <a:t>用抗差</a:t>
            </a:r>
            <a:r>
              <a:rPr lang="en-US" altLang="zh-CN" sz="1600" dirty="0"/>
              <a:t>M</a:t>
            </a:r>
            <a:r>
              <a:rPr lang="zh-CN" altLang="en-US" sz="1600" dirty="0"/>
              <a:t>估计应对观测野值（信号反射、电磁尖峰、非视距误差）</a:t>
            </a:r>
            <a:endParaRPr lang="en-US" altLang="zh-CN" sz="1600" dirty="0"/>
          </a:p>
          <a:p>
            <a:pPr marL="0" indent="0">
              <a:buNone/>
            </a:pPr>
            <a:r>
              <a:rPr lang="zh-CN" altLang="en-US" sz="1600" dirty="0"/>
              <a:t>两者协同工作，互不冲突</a:t>
            </a:r>
          </a:p>
          <a:p>
            <a:pPr marL="0" indent="0">
              <a:buNone/>
            </a:pPr>
            <a:endParaRPr lang="zh-CN" altLang="en-US" sz="1600" dirty="0"/>
          </a:p>
          <a:p>
            <a:pPr marL="0" indent="0">
              <a:buNone/>
            </a:pPr>
            <a:r>
              <a:rPr lang="zh-CN" altLang="en-US" sz="1600" b="1" dirty="0">
                <a:sym typeface="+mn-ea"/>
              </a:rPr>
              <a:t>混合方案的问题和解决方案：</a:t>
            </a:r>
            <a:endParaRPr lang="zh-CN" altLang="en-US" sz="1600" dirty="0"/>
          </a:p>
          <a:p>
            <a:pPr marL="0" indent="0">
              <a:buNone/>
            </a:pPr>
            <a:r>
              <a:rPr lang="zh-CN" altLang="en-US" sz="1600" dirty="0"/>
              <a:t>具体来讲强跟踪先放大预测协方差，抗差再压低野值的观测权重。</a:t>
            </a:r>
          </a:p>
          <a:p>
            <a:pPr marL="0" indent="0">
              <a:buNone/>
            </a:pPr>
            <a:r>
              <a:rPr lang="zh-CN" altLang="en-US" sz="1600" dirty="0"/>
              <a:t>两者可能产生</a:t>
            </a:r>
            <a:r>
              <a:rPr lang="en-US" altLang="zh-CN" sz="1600" dirty="0"/>
              <a:t>“</a:t>
            </a:r>
            <a:r>
              <a:rPr lang="zh-CN" altLang="en-US" sz="1600" dirty="0"/>
              <a:t>对抗</a:t>
            </a:r>
            <a:r>
              <a:rPr lang="en-US" altLang="zh-CN" sz="1600" dirty="0"/>
              <a:t>”——</a:t>
            </a:r>
            <a:r>
              <a:rPr lang="zh-CN" altLang="en-US" sz="1600" dirty="0"/>
              <a:t>当野值发生时，强跟踪想放大它的影响，抗差想抑制它。</a:t>
            </a:r>
          </a:p>
          <a:p>
            <a:pPr marL="0" indent="0">
              <a:buNone/>
            </a:pPr>
            <a:r>
              <a:rPr lang="zh-CN" altLang="en-US" sz="1600" dirty="0"/>
              <a:t>解决方法是设置优先级：</a:t>
            </a:r>
          </a:p>
          <a:p>
            <a:pPr marL="0" indent="0">
              <a:buNone/>
            </a:pPr>
            <a:r>
              <a:rPr lang="zh-CN" altLang="en-US" sz="1600" dirty="0"/>
              <a:t>在矿山场景下，抗差优先级高于强跟踪，即先判断是否为野值，</a:t>
            </a:r>
          </a:p>
          <a:p>
            <a:pPr marL="0" indent="0">
              <a:buNone/>
            </a:pPr>
            <a:r>
              <a:rPr lang="zh-CN" altLang="en-US" sz="1600" dirty="0"/>
              <a:t>若是野值则强跟踪因子不放大该观测对应的新息分量</a:t>
            </a:r>
          </a:p>
        </p:txBody>
      </p:sp>
      <p:pic>
        <p:nvPicPr>
          <p:cNvPr id="6" name="图片 5" descr="卡尔曼滤波">
            <a:extLst>
              <a:ext uri="{FF2B5EF4-FFF2-40B4-BE49-F238E27FC236}">
                <a16:creationId xmlns:a16="http://schemas.microsoft.com/office/drawing/2014/main" id="{5D9254E5-749C-2F66-D55C-BC9E4EF55772}"/>
              </a:ext>
            </a:extLst>
          </p:cNvPr>
          <p:cNvPicPr>
            <a:picLocks noChangeAspect="1"/>
          </p:cNvPicPr>
          <p:nvPr/>
        </p:nvPicPr>
        <p:blipFill>
          <a:blip r:embed="rId3"/>
          <a:stretch>
            <a:fillRect/>
          </a:stretch>
        </p:blipFill>
        <p:spPr>
          <a:xfrm>
            <a:off x="8698769" y="1444053"/>
            <a:ext cx="2970849" cy="4899216"/>
          </a:xfrm>
          <a:prstGeom prst="rect">
            <a:avLst/>
          </a:prstGeom>
        </p:spPr>
      </p:pic>
    </p:spTree>
    <p:extLst>
      <p:ext uri="{BB962C8B-B14F-4D97-AF65-F5344CB8AC3E}">
        <p14:creationId xmlns:p14="http://schemas.microsoft.com/office/powerpoint/2010/main" val="1426645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B99E-494B-06FE-F544-9BD298B0E255}"/>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AD822001-F805-39DF-5191-1895A7244657}"/>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F7BD0286-16D8-306A-DC03-4FEC21529925}"/>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A33B3C2A-4D21-7601-E149-2156604AE1D3}"/>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21</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C25B88E1-ACB6-72BE-EF62-58CAE5645056}"/>
              </a:ext>
            </a:extLst>
          </p:cNvPr>
          <p:cNvSpPr>
            <a:spLocks noGrp="1"/>
          </p:cNvSpPr>
          <p:nvPr>
            <p:ph type="title"/>
          </p:nvPr>
        </p:nvSpPr>
        <p:spPr/>
        <p:txBody>
          <a:bodyPr/>
          <a:lstStyle/>
          <a:p>
            <a:r>
              <a:rPr lang="en-US" altLang="zh-CN" b="1" dirty="0" err="1">
                <a:solidFill>
                  <a:srgbClr val="FFFFFF"/>
                </a:solidFill>
              </a:rPr>
              <a:t>NLoS</a:t>
            </a:r>
            <a:r>
              <a:rPr lang="zh-CN" altLang="en-US" b="1" dirty="0">
                <a:solidFill>
                  <a:srgbClr val="FFFFFF"/>
                </a:solidFill>
              </a:rPr>
              <a:t>（非视距）</a:t>
            </a:r>
            <a:r>
              <a:rPr lang="zh-CN" altLang="en-US" dirty="0"/>
              <a:t>信号深度识别</a:t>
            </a:r>
            <a:endParaRPr lang="en-US" dirty="0"/>
          </a:p>
        </p:txBody>
      </p:sp>
      <p:sp>
        <p:nvSpPr>
          <p:cNvPr id="4" name="文本框 3">
            <a:extLst>
              <a:ext uri="{FF2B5EF4-FFF2-40B4-BE49-F238E27FC236}">
                <a16:creationId xmlns:a16="http://schemas.microsoft.com/office/drawing/2014/main" id="{1B1B5649-8038-A508-E2BE-3963BC13B7A2}"/>
              </a:ext>
            </a:extLst>
          </p:cNvPr>
          <p:cNvSpPr txBox="1"/>
          <p:nvPr/>
        </p:nvSpPr>
        <p:spPr>
          <a:xfrm>
            <a:off x="836675" y="1492240"/>
            <a:ext cx="10801753" cy="3970318"/>
          </a:xfrm>
          <a:prstGeom prst="rect">
            <a:avLst/>
          </a:prstGeom>
          <a:noFill/>
        </p:spPr>
        <p:txBody>
          <a:bodyPr wrap="square">
            <a:spAutoFit/>
          </a:bodyPr>
          <a:lstStyle/>
          <a:p>
            <a:pPr algn="l"/>
            <a:r>
              <a:rPr lang="zh-CN" altLang="en-US" sz="2800" b="1" i="0" u="none" strike="noStrike" baseline="0" dirty="0">
                <a:latin typeface="FandolSong-Regular-Identity-H"/>
              </a:rPr>
              <a:t>传统的</a:t>
            </a:r>
            <a:r>
              <a:rPr lang="en-US" altLang="zh-CN" sz="2800" b="1" i="0" u="none" strike="noStrike" baseline="0" dirty="0" err="1">
                <a:latin typeface="LMRoman10-Regular-Identity-H"/>
              </a:rPr>
              <a:t>NLoS</a:t>
            </a:r>
            <a:r>
              <a:rPr lang="en-US" altLang="zh-CN" sz="2800" b="1" i="0" u="none" strike="noStrike" baseline="0" dirty="0">
                <a:latin typeface="LMRoman10-Regular-Identity-H"/>
              </a:rPr>
              <a:t> </a:t>
            </a:r>
            <a:r>
              <a:rPr lang="zh-CN" altLang="en-US" sz="2800" b="1" i="0" u="none" strike="noStrike" baseline="0" dirty="0">
                <a:latin typeface="FandolSong-Regular-Identity-H"/>
              </a:rPr>
              <a:t>抑制算法多基于硬阈值判别，极易产生误剔除，利用卷积神经网络（</a:t>
            </a:r>
            <a:r>
              <a:rPr lang="en-US" altLang="zh-CN" sz="2800" b="1" i="0" u="none" strike="noStrike" baseline="0" dirty="0">
                <a:latin typeface="LMRoman10-Regular-Identity-H"/>
              </a:rPr>
              <a:t>CNN</a:t>
            </a:r>
            <a:r>
              <a:rPr lang="zh-CN" altLang="en-US" sz="2800" b="1" i="0" u="none" strike="noStrike" baseline="0" dirty="0">
                <a:latin typeface="FandolSong-Regular-Identity-H"/>
              </a:rPr>
              <a:t>）对信道脉冲响应（</a:t>
            </a:r>
            <a:r>
              <a:rPr lang="en-US" altLang="zh-CN" sz="2800" b="1" i="0" u="none" strike="noStrike" baseline="0" dirty="0">
                <a:latin typeface="LMRoman10-Regular-Identity-H"/>
              </a:rPr>
              <a:t>CIR</a:t>
            </a:r>
            <a:r>
              <a:rPr lang="zh-CN" altLang="en-US" sz="2800" b="1" i="0" u="none" strike="noStrike" baseline="0" dirty="0">
                <a:latin typeface="FandolSong-Regular-Identity-H"/>
              </a:rPr>
              <a:t>）进行图像化特征识别，将</a:t>
            </a:r>
            <a:r>
              <a:rPr lang="en-US" altLang="zh-CN" sz="2800" b="1" i="0" u="none" strike="noStrike" baseline="0" dirty="0">
                <a:latin typeface="LMRoman10-Regular-Identity-H"/>
              </a:rPr>
              <a:t>UWB </a:t>
            </a:r>
            <a:r>
              <a:rPr lang="zh-CN" altLang="en-US" sz="2800" b="1" i="0" u="none" strike="noStrike" baseline="0" dirty="0">
                <a:latin typeface="FandolSong-Regular-Identity-H"/>
              </a:rPr>
              <a:t>接收到的能量积累序列转化为一维特征图。</a:t>
            </a:r>
            <a:r>
              <a:rPr lang="en-US" altLang="zh-CN" sz="2800" b="1" i="0" u="none" strike="noStrike" baseline="0" dirty="0">
                <a:latin typeface="LMRoman10-Regular-Identity-H"/>
              </a:rPr>
              <a:t>CNN </a:t>
            </a:r>
            <a:r>
              <a:rPr lang="zh-CN" altLang="en-US" sz="2800" b="1" i="0" u="none" strike="noStrike" baseline="0" dirty="0">
                <a:latin typeface="FandolSong-Regular-Identity-H"/>
              </a:rPr>
              <a:t>模型能够自动识别出</a:t>
            </a:r>
            <a:r>
              <a:rPr lang="en-US" altLang="zh-CN" sz="2800" b="1" i="0" u="none" strike="noStrike" baseline="0" dirty="0" err="1">
                <a:latin typeface="LMRoman10-Regular-Identity-H"/>
              </a:rPr>
              <a:t>LoS</a:t>
            </a:r>
            <a:r>
              <a:rPr lang="en-US" altLang="zh-CN" sz="2800" b="1" i="0" u="none" strike="noStrike" baseline="0" dirty="0">
                <a:latin typeface="LMRoman10-Regular-Identity-H"/>
              </a:rPr>
              <a:t> </a:t>
            </a:r>
            <a:r>
              <a:rPr lang="zh-CN" altLang="en-US" sz="2800" b="1" i="0" u="none" strike="noStrike" baseline="0" dirty="0">
                <a:latin typeface="FandolSong-Regular-Identity-H"/>
              </a:rPr>
              <a:t>的陡峭脉冲峰值与</a:t>
            </a:r>
            <a:r>
              <a:rPr lang="en-US" altLang="zh-CN" sz="2800" b="1" i="0" u="none" strike="noStrike" baseline="0" dirty="0" err="1">
                <a:latin typeface="LMRoman10-Regular-Identity-H"/>
              </a:rPr>
              <a:t>NLoS</a:t>
            </a:r>
            <a:r>
              <a:rPr lang="en-US" altLang="zh-CN" sz="2800" b="1" i="0" u="none" strike="noStrike" baseline="0" dirty="0">
                <a:latin typeface="LMRoman10-Regular-Identity-H"/>
              </a:rPr>
              <a:t> </a:t>
            </a:r>
            <a:r>
              <a:rPr lang="zh-CN" altLang="en-US" sz="2800" b="1" i="0" u="none" strike="noStrike" baseline="0" dirty="0">
                <a:latin typeface="FandolSong-Regular-Identity-H"/>
              </a:rPr>
              <a:t>的平缓底噪特征。但是针对降低卷积神经网络的计算复杂度以及结合卷积神经网络与人工特征以实现高精度且无数据淹没风险方面，仍存在挑战。</a:t>
            </a:r>
            <a:endParaRPr lang="en-US" altLang="zh-CN" sz="2800" b="1" i="0" u="none" strike="noStrike" baseline="0" dirty="0">
              <a:latin typeface="FandolSong-Regular-Identity-H"/>
            </a:endParaRPr>
          </a:p>
          <a:p>
            <a:pPr algn="l"/>
            <a:endParaRPr lang="zh-CN" altLang="en-US" sz="2800" b="1" i="0" u="none" strike="noStrike" baseline="0" dirty="0">
              <a:latin typeface="FandolSong-Regular-Identity-H"/>
            </a:endParaRPr>
          </a:p>
          <a:p>
            <a:pPr algn="l"/>
            <a:r>
              <a:rPr lang="zh-CN" altLang="en-US" sz="2800" b="1" i="0" u="none" strike="noStrike" baseline="0" dirty="0">
                <a:latin typeface="FandolSong-Regular-Identity-H"/>
                <a:ea typeface="黑体" panose="02010609060101010101" pitchFamily="49" charset="-122"/>
              </a:rPr>
              <a:t>用一种基于</a:t>
            </a:r>
            <a:r>
              <a:rPr lang="en-US" altLang="zh-CN" sz="2800" b="1" i="0" u="none" strike="noStrike" baseline="0" dirty="0">
                <a:latin typeface="LMRoman10-Regular-Identity-H"/>
                <a:ea typeface="黑体" panose="02010609060101010101" pitchFamily="49" charset="-122"/>
              </a:rPr>
              <a:t>CIR </a:t>
            </a:r>
            <a:r>
              <a:rPr lang="zh-CN" altLang="en-US" sz="2800" b="1" i="0" u="none" strike="noStrike" baseline="0" dirty="0">
                <a:latin typeface="FandolSong-Regular-Identity-H"/>
                <a:ea typeface="黑体" panose="02010609060101010101" pitchFamily="49" charset="-122"/>
              </a:rPr>
              <a:t>的原始</a:t>
            </a:r>
            <a:r>
              <a:rPr lang="en-US" altLang="zh-CN" sz="2800" b="1" i="0" u="none" strike="noStrike" baseline="0" dirty="0">
                <a:latin typeface="LMRoman10-Regular-Identity-H"/>
                <a:ea typeface="黑体" panose="02010609060101010101" pitchFamily="49" charset="-122"/>
              </a:rPr>
              <a:t>CNN </a:t>
            </a:r>
            <a:r>
              <a:rPr lang="zh-CN" altLang="en-US" sz="2800" b="1" i="0" u="none" strike="noStrike" baseline="0" dirty="0">
                <a:latin typeface="FandolSong-Regular-Identity-H"/>
                <a:ea typeface="黑体" panose="02010609060101010101" pitchFamily="49" charset="-122"/>
              </a:rPr>
              <a:t>来替代传统的基于图像的</a:t>
            </a:r>
            <a:r>
              <a:rPr lang="en-US" altLang="zh-CN" sz="2800" b="1" i="0" u="none" strike="noStrike" baseline="0" dirty="0">
                <a:latin typeface="LMRoman10-Regular-Identity-H"/>
                <a:ea typeface="黑体" panose="02010609060101010101" pitchFamily="49" charset="-122"/>
              </a:rPr>
              <a:t>CNN </a:t>
            </a:r>
            <a:r>
              <a:rPr lang="zh-CN" altLang="en-US" sz="2800" b="1" i="0" u="none" strike="noStrike" baseline="0" dirty="0">
                <a:latin typeface="FandolSong-Regular-Identity-H"/>
                <a:ea typeface="黑体" panose="02010609060101010101" pitchFamily="49" charset="-122"/>
              </a:rPr>
              <a:t>进行特</a:t>
            </a:r>
            <a:r>
              <a:rPr lang="zh-CN" altLang="en-US" sz="2800" b="1" i="0" u="none" strike="noStrike" baseline="0" dirty="0">
                <a:latin typeface="FandolSong-Regular-Identity-H"/>
              </a:rPr>
              <a:t>征提取，基于</a:t>
            </a:r>
            <a:r>
              <a:rPr lang="en-US" altLang="zh-CN" sz="2800" b="1" i="0" u="none" strike="noStrike" baseline="0" dirty="0">
                <a:latin typeface="LMRoman10-Regular-Identity-H"/>
              </a:rPr>
              <a:t>CIR </a:t>
            </a:r>
            <a:r>
              <a:rPr lang="zh-CN" altLang="en-US" sz="2800" b="1" i="0" u="none" strike="noStrike" baseline="0" dirty="0">
                <a:latin typeface="FandolSong-Regular-Identity-H"/>
              </a:rPr>
              <a:t>的</a:t>
            </a:r>
            <a:r>
              <a:rPr lang="en-US" altLang="zh-CN" sz="2800" b="1" i="0" u="none" strike="noStrike" baseline="0" dirty="0">
                <a:latin typeface="LMRoman10-Regular-Identity-H"/>
              </a:rPr>
              <a:t>CNN </a:t>
            </a:r>
            <a:r>
              <a:rPr lang="zh-CN" altLang="en-US" sz="2800" b="1" i="0" u="none" strike="noStrike" baseline="0" dirty="0">
                <a:latin typeface="FandolSong-Regular-Identity-H"/>
              </a:rPr>
              <a:t>的计算复杂度仅为</a:t>
            </a:r>
            <a:r>
              <a:rPr lang="en-US" altLang="zh-CN" sz="2800" b="1" i="0" u="none" strike="noStrike" baseline="0" dirty="0">
                <a:latin typeface="LMRoman10-Regular-Identity-H"/>
              </a:rPr>
              <a:t>64×64 </a:t>
            </a:r>
            <a:r>
              <a:rPr lang="zh-CN" altLang="en-US" sz="2800" b="1" i="0" u="none" strike="noStrike" baseline="0" dirty="0">
                <a:latin typeface="FandolSong-Regular-Identity-H"/>
              </a:rPr>
              <a:t>图像型</a:t>
            </a:r>
            <a:r>
              <a:rPr lang="en-US" altLang="zh-CN" sz="2800" b="1" i="0" u="none" strike="noStrike" baseline="0" dirty="0">
                <a:latin typeface="LMRoman10-Regular-Identity-H"/>
              </a:rPr>
              <a:t>CNN </a:t>
            </a:r>
            <a:r>
              <a:rPr lang="zh-CN" altLang="en-US" sz="2800" b="1" i="0" u="none" strike="noStrike" baseline="0" dirty="0">
                <a:latin typeface="FandolSong-Regular-Identity-H"/>
              </a:rPr>
              <a:t>的</a:t>
            </a:r>
            <a:r>
              <a:rPr lang="en-US" altLang="zh-CN" sz="2800" b="1" i="0" u="none" strike="noStrike" baseline="0" dirty="0">
                <a:latin typeface="LMRoman10-Regular-Identity-H"/>
              </a:rPr>
              <a:t>7.39%</a:t>
            </a:r>
            <a:r>
              <a:rPr lang="zh-CN" altLang="en-US" sz="2800" b="1" i="0" u="none" strike="noStrike" baseline="0" dirty="0">
                <a:latin typeface="FandolSong-Regular-Identity-H"/>
              </a:rPr>
              <a:t>。</a:t>
            </a:r>
            <a:endParaRPr lang="zh-CN" altLang="en-US" sz="2800" b="1" dirty="0"/>
          </a:p>
        </p:txBody>
      </p:sp>
    </p:spTree>
    <p:extLst>
      <p:ext uri="{BB962C8B-B14F-4D97-AF65-F5344CB8AC3E}">
        <p14:creationId xmlns:p14="http://schemas.microsoft.com/office/powerpoint/2010/main" val="3352301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C4F45-CF79-500B-C2E8-6D7DAAC95A9E}"/>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B120A935-D7BD-CA0D-F709-E71455DE94DD}"/>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962C3383-9381-84ED-333D-BCC601A6BB8E}"/>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F0803B93-6DA9-9464-EA3C-E6C19C73D263}"/>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19</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9734E256-CE6B-EB9A-C73D-3B7C092F0328}"/>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总览</a:t>
            </a:r>
            <a:endParaRPr lang="en-US" dirty="0"/>
          </a:p>
        </p:txBody>
      </p:sp>
      <p:pic>
        <p:nvPicPr>
          <p:cNvPr id="3" name="图片 2">
            <a:extLst>
              <a:ext uri="{FF2B5EF4-FFF2-40B4-BE49-F238E27FC236}">
                <a16:creationId xmlns:a16="http://schemas.microsoft.com/office/drawing/2014/main" id="{6D2322FE-3A24-4797-D5ED-D7DE8CE9C5A6}"/>
              </a:ext>
            </a:extLst>
          </p:cNvPr>
          <p:cNvPicPr>
            <a:picLocks noChangeAspect="1"/>
          </p:cNvPicPr>
          <p:nvPr/>
        </p:nvPicPr>
        <p:blipFill>
          <a:blip r:embed="rId3"/>
          <a:stretch>
            <a:fillRect/>
          </a:stretch>
        </p:blipFill>
        <p:spPr>
          <a:xfrm>
            <a:off x="974911" y="1362138"/>
            <a:ext cx="10456882" cy="5004897"/>
          </a:xfrm>
          <a:prstGeom prst="rect">
            <a:avLst/>
          </a:prstGeom>
        </p:spPr>
      </p:pic>
    </p:spTree>
    <p:extLst>
      <p:ext uri="{BB962C8B-B14F-4D97-AF65-F5344CB8AC3E}">
        <p14:creationId xmlns:p14="http://schemas.microsoft.com/office/powerpoint/2010/main" val="1061578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2A50-3E82-7B5B-1367-B5F2CB3EB2B3}"/>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6A8C9578-FEE5-01B7-0A83-EC5A689FA02E}"/>
              </a:ext>
            </a:extLst>
          </p:cNvPr>
          <p:cNvSpPr/>
          <p:nvPr/>
        </p:nvSpPr>
        <p:spPr>
          <a:xfrm>
            <a:off x="0" y="0"/>
            <a:ext cx="609600" cy="685800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6" name="Shape 4">
            <a:extLst>
              <a:ext uri="{FF2B5EF4-FFF2-40B4-BE49-F238E27FC236}">
                <a16:creationId xmlns:a16="http://schemas.microsoft.com/office/drawing/2014/main" id="{73F45CCD-074A-B8DA-4B3C-9C7FD2E9B06B}"/>
              </a:ext>
            </a:extLst>
          </p:cNvPr>
          <p:cNvSpPr/>
          <p:nvPr/>
        </p:nvSpPr>
        <p:spPr>
          <a:xfrm>
            <a:off x="609600" y="2901696"/>
            <a:ext cx="7071360" cy="73152"/>
          </a:xfrm>
          <a:prstGeom prst="rect">
            <a:avLst/>
          </a:prstGeom>
          <a:solidFill>
            <a:srgbClr val="C77DFF">
              <a:alpha val="50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7" name="Text 5">
            <a:extLst>
              <a:ext uri="{FF2B5EF4-FFF2-40B4-BE49-F238E27FC236}">
                <a16:creationId xmlns:a16="http://schemas.microsoft.com/office/drawing/2014/main" id="{B40EECF9-1364-AD31-D7A3-3AB9206B8719}"/>
              </a:ext>
            </a:extLst>
          </p:cNvPr>
          <p:cNvSpPr/>
          <p:nvPr/>
        </p:nvSpPr>
        <p:spPr>
          <a:xfrm>
            <a:off x="914400" y="731520"/>
            <a:ext cx="2438400" cy="1706880"/>
          </a:xfrm>
          <a:prstGeom prst="rect">
            <a:avLst/>
          </a:prstGeom>
          <a:noFill/>
          <a:ln/>
        </p:spPr>
        <p:txBody>
          <a:bodyPr wrap="square" lIns="0" tIns="0" rIns="0" bIns="0" rtlCol="0" anchor="ctr"/>
          <a:lstStyle/>
          <a:p>
            <a:pPr defTabSz="1219170"/>
            <a:endParaRPr lang="en-US" sz="12000" dirty="0">
              <a:solidFill>
                <a:srgbClr val="10002B"/>
              </a:solidFill>
              <a:latin typeface="Calibri" panose="020F0502020204030204"/>
            </a:endParaRPr>
          </a:p>
        </p:txBody>
      </p:sp>
      <p:sp>
        <p:nvSpPr>
          <p:cNvPr id="8" name="Shape 6">
            <a:extLst>
              <a:ext uri="{FF2B5EF4-FFF2-40B4-BE49-F238E27FC236}">
                <a16:creationId xmlns:a16="http://schemas.microsoft.com/office/drawing/2014/main" id="{45424A6A-5806-50FD-02F3-4B1D24517B25}"/>
              </a:ext>
            </a:extLst>
          </p:cNvPr>
          <p:cNvSpPr/>
          <p:nvPr/>
        </p:nvSpPr>
        <p:spPr>
          <a:xfrm>
            <a:off x="914400" y="2438400"/>
            <a:ext cx="2194560" cy="463296"/>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9" name="Text 7">
            <a:extLst>
              <a:ext uri="{FF2B5EF4-FFF2-40B4-BE49-F238E27FC236}">
                <a16:creationId xmlns:a16="http://schemas.microsoft.com/office/drawing/2014/main" id="{FF1DB901-C05A-A6EA-30C2-6272429DFE3E}"/>
              </a:ext>
            </a:extLst>
          </p:cNvPr>
          <p:cNvSpPr/>
          <p:nvPr/>
        </p:nvSpPr>
        <p:spPr>
          <a:xfrm>
            <a:off x="914400" y="2438400"/>
            <a:ext cx="2194560" cy="463296"/>
          </a:xfrm>
          <a:prstGeom prst="rect">
            <a:avLst/>
          </a:prstGeom>
          <a:noFill/>
          <a:ln/>
        </p:spPr>
        <p:txBody>
          <a:bodyPr wrap="square" lIns="0" tIns="0" rIns="0" bIns="0" rtlCol="0" anchor="ctr"/>
          <a:lstStyle/>
          <a:p>
            <a:pPr algn="ctr" defTabSz="1219170"/>
            <a:r>
              <a:rPr lang="en-US" sz="1200" b="1" kern="0" spc="400" dirty="0">
                <a:solidFill>
                  <a:srgbClr val="FFFFFF"/>
                </a:solidFill>
                <a:latin typeface="Calibri" pitchFamily="34" charset="0"/>
                <a:ea typeface="Calibri" pitchFamily="34" charset="-122"/>
                <a:cs typeface="Calibri" pitchFamily="34" charset="-120"/>
              </a:rPr>
              <a:t>SECTION</a:t>
            </a:r>
            <a:endParaRPr lang="en-US" sz="1200" dirty="0">
              <a:solidFill>
                <a:srgbClr val="10002B"/>
              </a:solidFill>
              <a:latin typeface="Calibri" panose="020F0502020204030204"/>
            </a:endParaRPr>
          </a:p>
        </p:txBody>
      </p:sp>
      <p:sp>
        <p:nvSpPr>
          <p:cNvPr id="14" name="Title 13">
            <a:extLst>
              <a:ext uri="{FF2B5EF4-FFF2-40B4-BE49-F238E27FC236}">
                <a16:creationId xmlns:a16="http://schemas.microsoft.com/office/drawing/2014/main" id="{625428AE-EA18-97ED-9B8B-A8CADE7C1890}"/>
              </a:ext>
            </a:extLst>
          </p:cNvPr>
          <p:cNvSpPr>
            <a:spLocks noGrp="1"/>
          </p:cNvSpPr>
          <p:nvPr>
            <p:ph type="title"/>
          </p:nvPr>
        </p:nvSpPr>
        <p:spPr/>
        <p:txBody>
          <a:bodyPr/>
          <a:lstStyle/>
          <a:p>
            <a:r>
              <a:rPr lang="zh-CN" altLang="en-US" dirty="0"/>
              <a:t>技术难点突破</a:t>
            </a:r>
            <a:endParaRPr lang="en-US" dirty="0"/>
          </a:p>
        </p:txBody>
      </p:sp>
      <p:sp>
        <p:nvSpPr>
          <p:cNvPr id="15" name="Text Placeholder 14">
            <a:extLst>
              <a:ext uri="{FF2B5EF4-FFF2-40B4-BE49-F238E27FC236}">
                <a16:creationId xmlns:a16="http://schemas.microsoft.com/office/drawing/2014/main" id="{687CBE19-FE86-0F49-ACC5-193688DACB77}"/>
              </a:ext>
            </a:extLst>
          </p:cNvPr>
          <p:cNvSpPr>
            <a:spLocks noGrp="1"/>
          </p:cNvSpPr>
          <p:nvPr>
            <p:ph type="body" idx="1"/>
          </p:nvPr>
        </p:nvSpPr>
        <p:spPr/>
        <p:txBody>
          <a:bodyPr/>
          <a:lstStyle/>
          <a:p>
            <a:r>
              <a:rPr lang="zh-CN" altLang="en-US" dirty="0"/>
              <a:t>神经网络驱动融合定位算法</a:t>
            </a:r>
            <a:endParaRPr lang="en-US" dirty="0"/>
          </a:p>
        </p:txBody>
      </p:sp>
    </p:spTree>
    <p:extLst>
      <p:ext uri="{BB962C8B-B14F-4D97-AF65-F5344CB8AC3E}">
        <p14:creationId xmlns:p14="http://schemas.microsoft.com/office/powerpoint/2010/main" val="2561799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5029-F58E-110A-12DF-69A79C7E7F83}"/>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356C05FD-4603-24FC-3B5E-E0517591D04C}"/>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90F8CBD2-053D-C5D6-7051-1582434B338F}"/>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17FEF2BB-2572-5447-BA30-7797BCC93F41}"/>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22</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E46A9526-7DC9-D6C0-3F34-A43ABE656153}"/>
              </a:ext>
            </a:extLst>
          </p:cNvPr>
          <p:cNvSpPr>
            <a:spLocks noGrp="1"/>
          </p:cNvSpPr>
          <p:nvPr>
            <p:ph type="title"/>
          </p:nvPr>
        </p:nvSpPr>
        <p:spPr/>
        <p:txBody>
          <a:bodyPr/>
          <a:lstStyle/>
          <a:p>
            <a:r>
              <a:rPr lang="zh-CN" altLang="en-US" b="1" dirty="0">
                <a:solidFill>
                  <a:srgbClr val="FFFFFF"/>
                </a:solidFill>
              </a:rPr>
              <a:t>卡尔曼滤波与智能校准系统</a:t>
            </a:r>
            <a:endParaRPr lang="en-US" dirty="0"/>
          </a:p>
        </p:txBody>
      </p:sp>
      <p:sp>
        <p:nvSpPr>
          <p:cNvPr id="4" name="文本框 3">
            <a:extLst>
              <a:ext uri="{FF2B5EF4-FFF2-40B4-BE49-F238E27FC236}">
                <a16:creationId xmlns:a16="http://schemas.microsoft.com/office/drawing/2014/main" id="{DDD3B62C-7B48-F170-9A0C-07EF0455BD37}"/>
              </a:ext>
            </a:extLst>
          </p:cNvPr>
          <p:cNvSpPr txBox="1"/>
          <p:nvPr/>
        </p:nvSpPr>
        <p:spPr>
          <a:xfrm>
            <a:off x="487680" y="1325562"/>
            <a:ext cx="11339008" cy="4893647"/>
          </a:xfrm>
          <a:prstGeom prst="rect">
            <a:avLst/>
          </a:prstGeom>
          <a:noFill/>
        </p:spPr>
        <p:txBody>
          <a:bodyPr wrap="square">
            <a:spAutoFit/>
          </a:bodyPr>
          <a:lstStyle/>
          <a:p>
            <a:pPr algn="l"/>
            <a:r>
              <a:rPr lang="zh-CN" altLang="en-US" sz="2400" b="1" i="0" u="none" strike="noStrike" baseline="0" dirty="0">
                <a:latin typeface="黑体" panose="02010609060101010101" pitchFamily="49" charset="-122"/>
                <a:ea typeface="黑体" panose="02010609060101010101" pitchFamily="49" charset="-122"/>
              </a:rPr>
              <a:t>位置误差修正：</a:t>
            </a:r>
          </a:p>
          <a:p>
            <a:pPr algn="l"/>
            <a:r>
              <a:rPr lang="zh-CN" altLang="en-US" sz="2400" b="1" i="0" u="none" strike="noStrike" baseline="0" dirty="0">
                <a:latin typeface="FandolSong-Regular-Identity-H"/>
              </a:rPr>
              <a:t>惯性测量单元（</a:t>
            </a:r>
            <a:r>
              <a:rPr lang="en-US" altLang="zh-CN" sz="2400" b="1" i="0" u="none" strike="noStrike" baseline="0" dirty="0">
                <a:latin typeface="LMRoman10-Regular-Identity-H"/>
              </a:rPr>
              <a:t>IMU</a:t>
            </a:r>
            <a:r>
              <a:rPr lang="zh-CN" altLang="en-US" sz="2400" b="1" i="0" u="none" strike="noStrike" baseline="0" dirty="0">
                <a:latin typeface="FandolSong-Regular-Identity-H"/>
              </a:rPr>
              <a:t>）、磁力计和轮式编码器数据的方法，利用误差状态扩展卡尔曼滤波器（</a:t>
            </a:r>
            <a:r>
              <a:rPr lang="en-US" altLang="zh-CN" sz="2400" b="1" i="0" u="none" strike="noStrike" baseline="0" dirty="0">
                <a:latin typeface="LMRoman10-Regular-Identity-H"/>
              </a:rPr>
              <a:t>ES EKF</a:t>
            </a:r>
            <a:r>
              <a:rPr lang="zh-CN" altLang="en-US" sz="2400" b="1" i="0" u="none" strike="noStrike" baseline="0" dirty="0">
                <a:latin typeface="FandolSong-Regular-Identity-H"/>
              </a:rPr>
              <a:t>）进</a:t>
            </a:r>
          </a:p>
          <a:p>
            <a:pPr algn="l"/>
            <a:r>
              <a:rPr lang="zh-CN" altLang="en-US" sz="2400" b="1" i="0" u="none" strike="noStrike" baseline="0" dirty="0">
                <a:latin typeface="FandolSong-Regular-Identity-H"/>
              </a:rPr>
              <a:t>行状态估计，实现高精度定位。算法不直接估计的完整位姿（位置、速度、姿态），而是先通过</a:t>
            </a:r>
            <a:r>
              <a:rPr lang="en-US" altLang="zh-CN" sz="2400" b="1" i="0" u="none" strike="noStrike" baseline="0" dirty="0">
                <a:latin typeface="LMRoman10-Regular-Identity-H"/>
              </a:rPr>
              <a:t>IMU </a:t>
            </a:r>
            <a:r>
              <a:rPr lang="zh-CN" altLang="en-US" sz="2400" b="1" i="0" u="none" strike="noStrike" baseline="0" dirty="0">
                <a:latin typeface="FandolSong-Regular-Identity-H"/>
              </a:rPr>
              <a:t>数据递推一个“名义状态”，再用滤波器去估计这个名义状态的误差。这种方法的优势在于能使测量模型获得对称的高斯误差分布，从而提升性能。</a:t>
            </a:r>
            <a:endParaRPr lang="en-US" altLang="zh-CN" sz="2400" b="1" i="0" u="none" strike="noStrike" baseline="0" dirty="0">
              <a:latin typeface="FandolSong-Regular-Identity-H"/>
            </a:endParaRPr>
          </a:p>
          <a:p>
            <a:pPr algn="l"/>
            <a:endParaRPr lang="en-US" altLang="zh-CN" sz="2400" b="1" i="0" u="none" strike="noStrike" baseline="0" dirty="0">
              <a:latin typeface="LMRoman10-Bold-Identity-H"/>
            </a:endParaRPr>
          </a:p>
          <a:p>
            <a:pPr algn="l"/>
            <a:r>
              <a:rPr lang="zh-CN" altLang="en-US" sz="2400" b="1" i="0" u="none" strike="noStrike" baseline="0" dirty="0">
                <a:latin typeface="黑体" panose="02010609060101010101" pitchFamily="49" charset="-122"/>
                <a:ea typeface="黑体" panose="02010609060101010101" pitchFamily="49" charset="-122"/>
              </a:rPr>
              <a:t>零速修正（</a:t>
            </a:r>
            <a:r>
              <a:rPr lang="en-US" altLang="zh-CN" sz="2400" b="1" i="0" u="none" strike="noStrike" baseline="0" dirty="0">
                <a:latin typeface="LMRoman10-Bold-Identity-H"/>
                <a:ea typeface="黑体" panose="02010609060101010101" pitchFamily="49" charset="-122"/>
              </a:rPr>
              <a:t>ZUPT</a:t>
            </a:r>
            <a:r>
              <a:rPr lang="zh-CN" altLang="en-US" sz="2400" b="1" i="0" u="none" strike="noStrike" baseline="0" dirty="0">
                <a:latin typeface="黑体" panose="02010609060101010101" pitchFamily="49" charset="-122"/>
                <a:ea typeface="黑体" panose="02010609060101010101" pitchFamily="49" charset="-122"/>
              </a:rPr>
              <a:t>）校准：</a:t>
            </a:r>
          </a:p>
          <a:p>
            <a:pPr algn="l"/>
            <a:r>
              <a:rPr lang="zh-CN" altLang="en-US" sz="2400" b="1" i="0" u="none" strike="noStrike" baseline="0" dirty="0">
                <a:latin typeface="FandolSong-Regular-Identity-H"/>
              </a:rPr>
              <a:t>我们通过定位卡内置陀螺仪与加速度传感器来实现数据收集，对井下人员的行为实现精准</a:t>
            </a:r>
          </a:p>
          <a:p>
            <a:pPr algn="l"/>
            <a:r>
              <a:rPr lang="zh-CN" altLang="en-US" sz="2400" b="1" i="0" u="none" strike="noStrike" baseline="0" dirty="0">
                <a:latin typeface="FandolSong-Regular-Identity-H"/>
              </a:rPr>
              <a:t>监控。随着进一步深化神经网络在行为分析中的应用，系统将不仅能预判人员是否进入禁区，还能通过分析疲</a:t>
            </a:r>
          </a:p>
          <a:p>
            <a:pPr algn="l"/>
            <a:r>
              <a:rPr lang="zh-CN" altLang="en-US" sz="2400" b="1" i="0" u="none" strike="noStrike" baseline="0" dirty="0">
                <a:latin typeface="FandolSong-Regular-Identity-H"/>
              </a:rPr>
              <a:t>劳步态、跌倒姿态等特征，实现对作业人员生理健康状态的实时监测。</a:t>
            </a:r>
            <a:endParaRPr lang="zh-CN" altLang="en-US" sz="2400" b="1" dirty="0"/>
          </a:p>
        </p:txBody>
      </p:sp>
    </p:spTree>
    <p:extLst>
      <p:ext uri="{BB962C8B-B14F-4D97-AF65-F5344CB8AC3E}">
        <p14:creationId xmlns:p14="http://schemas.microsoft.com/office/powerpoint/2010/main" val="3626824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10002B"/>
        </a:solidFill>
        <a:effectLst/>
      </p:bgPr>
    </p:bg>
    <p:spTree>
      <p:nvGrpSpPr>
        <p:cNvPr id="1" name=""/>
        <p:cNvGrpSpPr/>
        <p:nvPr/>
      </p:nvGrpSpPr>
      <p:grpSpPr>
        <a:xfrm>
          <a:off x="0" y="0"/>
          <a:ext cx="0" cy="0"/>
          <a:chOff x="0" y="0"/>
          <a:chExt cx="0" cy="0"/>
        </a:xfrm>
      </p:grpSpPr>
      <p:sp>
        <p:nvSpPr>
          <p:cNvPr id="2" name="Shape 0"/>
          <p:cNvSpPr/>
          <p:nvPr/>
        </p:nvSpPr>
        <p:spPr>
          <a:xfrm>
            <a:off x="6705600" y="0"/>
            <a:ext cx="5486400" cy="685800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3" name="Shape 1"/>
          <p:cNvSpPr/>
          <p:nvPr/>
        </p:nvSpPr>
        <p:spPr>
          <a:xfrm>
            <a:off x="5852160" y="-975360"/>
            <a:ext cx="4267200" cy="4267200"/>
          </a:xfrm>
          <a:prstGeom prst="ellipse">
            <a:avLst/>
          </a:prstGeom>
          <a:solidFill>
            <a:srgbClr val="7B2FBE">
              <a:alpha val="50000"/>
            </a:srgbClr>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4" name="Shape 2"/>
          <p:cNvSpPr/>
          <p:nvPr/>
        </p:nvSpPr>
        <p:spPr>
          <a:xfrm>
            <a:off x="8290560" y="3657600"/>
            <a:ext cx="3048000" cy="3048000"/>
          </a:xfrm>
          <a:prstGeom prst="ellipse">
            <a:avLst/>
          </a:prstGeom>
          <a:solidFill>
            <a:srgbClr val="10002B">
              <a:alpha val="45000"/>
            </a:srgbClr>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5" name="Shape 3"/>
          <p:cNvSpPr/>
          <p:nvPr/>
        </p:nvSpPr>
        <p:spPr>
          <a:xfrm>
            <a:off x="4632960" y="5486400"/>
            <a:ext cx="2194560" cy="2194560"/>
          </a:xfrm>
          <a:prstGeom prst="ellipse">
            <a:avLst/>
          </a:prstGeom>
          <a:solidFill>
            <a:srgbClr val="C77DFF">
              <a:alpha val="40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6" name="Text 4"/>
          <p:cNvSpPr/>
          <p:nvPr/>
        </p:nvSpPr>
        <p:spPr>
          <a:xfrm>
            <a:off x="609600" y="609600"/>
            <a:ext cx="3048000" cy="1828800"/>
          </a:xfrm>
          <a:prstGeom prst="rect">
            <a:avLst/>
          </a:prstGeom>
          <a:noFill/>
          <a:ln/>
        </p:spPr>
        <p:txBody>
          <a:bodyPr wrap="square" lIns="0" tIns="0" rIns="0" bIns="0" rtlCol="0" anchor="ctr"/>
          <a:lstStyle/>
          <a:p>
            <a:pPr defTabSz="1219170"/>
            <a:r>
              <a:rPr lang="en-US" sz="12000" b="1" dirty="0">
                <a:solidFill>
                  <a:srgbClr val="7B2FBE"/>
                </a:solidFill>
                <a:latin typeface="Arial Black" pitchFamily="34" charset="0"/>
                <a:ea typeface="Arial Black" pitchFamily="34" charset="-122"/>
                <a:cs typeface="Arial Black" pitchFamily="34" charset="-120"/>
              </a:rPr>
              <a:t>03</a:t>
            </a:r>
          </a:p>
        </p:txBody>
      </p:sp>
      <p:sp>
        <p:nvSpPr>
          <p:cNvPr id="7" name="Shape 5"/>
          <p:cNvSpPr/>
          <p:nvPr/>
        </p:nvSpPr>
        <p:spPr>
          <a:xfrm>
            <a:off x="609600" y="2560320"/>
            <a:ext cx="2194560" cy="463296"/>
          </a:xfrm>
          <a:prstGeom prst="rect">
            <a:avLst/>
          </a:prstGeom>
          <a:solidFill>
            <a:srgbClr val="C77DFF"/>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8" name="Text 6"/>
          <p:cNvSpPr/>
          <p:nvPr/>
        </p:nvSpPr>
        <p:spPr>
          <a:xfrm>
            <a:off x="609600" y="2560320"/>
            <a:ext cx="2194560" cy="463296"/>
          </a:xfrm>
          <a:prstGeom prst="rect">
            <a:avLst/>
          </a:prstGeom>
          <a:noFill/>
          <a:ln/>
        </p:spPr>
        <p:txBody>
          <a:bodyPr wrap="square" lIns="0" tIns="0" rIns="0" bIns="0" rtlCol="0" anchor="ctr"/>
          <a:lstStyle/>
          <a:p>
            <a:pPr algn="ctr" defTabSz="1219170"/>
            <a:r>
              <a:rPr lang="en-US" sz="1200" b="1" kern="0" spc="400" dirty="0">
                <a:solidFill>
                  <a:srgbClr val="10002B"/>
                </a:solidFill>
                <a:latin typeface="Calibri" pitchFamily="34" charset="0"/>
                <a:ea typeface="Calibri" pitchFamily="34" charset="-122"/>
                <a:cs typeface="Calibri" pitchFamily="34" charset="-120"/>
              </a:rPr>
              <a:t>SECTION</a:t>
            </a:r>
            <a:endParaRPr lang="en-US" sz="1200" dirty="0">
              <a:solidFill>
                <a:srgbClr val="10002B"/>
              </a:solidFill>
              <a:latin typeface="Calibri" panose="020F0502020204030204"/>
            </a:endParaRPr>
          </a:p>
        </p:txBody>
      </p:sp>
      <p:sp>
        <p:nvSpPr>
          <p:cNvPr id="13" name="Title 12">
            <a:extLst>
              <a:ext uri="{FF2B5EF4-FFF2-40B4-BE49-F238E27FC236}">
                <a16:creationId xmlns:a16="http://schemas.microsoft.com/office/drawing/2014/main" id="{F4A24C91-B98F-F3FC-0DC5-A168405768F4}"/>
              </a:ext>
            </a:extLst>
          </p:cNvPr>
          <p:cNvSpPr>
            <a:spLocks noGrp="1"/>
          </p:cNvSpPr>
          <p:nvPr>
            <p:ph type="title"/>
          </p:nvPr>
        </p:nvSpPr>
        <p:spPr/>
        <p:txBody>
          <a:bodyPr/>
          <a:lstStyle/>
          <a:p>
            <a:pPr defTabSz="1219170"/>
            <a:r>
              <a:rPr lang="zh-CN" altLang="en-US" sz="5400" dirty="0">
                <a:solidFill>
                  <a:schemeClr val="bg1"/>
                </a:solidFill>
                <a:latin typeface="Calibri" panose="020F0502020204030204"/>
              </a:rPr>
              <a:t>展示到此结束了</a:t>
            </a:r>
            <a:endParaRPr lang="en-US" sz="5400" dirty="0">
              <a:solidFill>
                <a:schemeClr val="bg1"/>
              </a:solidFill>
              <a:latin typeface="Calibri" panose="020F0502020204030204"/>
            </a:endParaRPr>
          </a:p>
        </p:txBody>
      </p:sp>
      <p:sp>
        <p:nvSpPr>
          <p:cNvPr id="14" name="Text Placeholder 13">
            <a:extLst>
              <a:ext uri="{FF2B5EF4-FFF2-40B4-BE49-F238E27FC236}">
                <a16:creationId xmlns:a16="http://schemas.microsoft.com/office/drawing/2014/main" id="{BEFA5F4C-38F9-FFF7-A370-311ED83A87F8}"/>
              </a:ext>
            </a:extLst>
          </p:cNvPr>
          <p:cNvSpPr>
            <a:spLocks noGrp="1"/>
          </p:cNvSpPr>
          <p:nvPr>
            <p:ph type="body" idx="1"/>
          </p:nvPr>
        </p:nvSpPr>
        <p:spPr/>
        <p:txBody>
          <a:bodyPr/>
          <a:lstStyle/>
          <a:p>
            <a:r>
              <a:rPr lang="zh-CN" altLang="en-US" sz="5400" b="1" dirty="0">
                <a:solidFill>
                  <a:schemeClr val="bg1"/>
                </a:solidFill>
                <a:latin typeface="Calibri" panose="020F0502020204030204"/>
              </a:rPr>
              <a:t>吗？</a:t>
            </a:r>
            <a:endParaRPr lang="en-US" sz="5400" b="1" dirty="0">
              <a:solidFill>
                <a:schemeClr val="bg1"/>
              </a:solidFill>
              <a:latin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0707A-4CC4-5B9C-2ED1-1DD2CB0F86BF}"/>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929EBDCA-241C-9452-90D8-77F26F51BD9D}"/>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94C3DCF6-FD82-AA3D-21FC-F9B73F01FFC7}"/>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D4181267-2434-ED1F-FF2E-D11254619E7A}"/>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19</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017975B1-AE1C-6780-D16B-662B20D3D937}"/>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任务目标</a:t>
            </a:r>
            <a:endParaRPr lang="en-US" dirty="0"/>
          </a:p>
        </p:txBody>
      </p:sp>
      <p:pic>
        <p:nvPicPr>
          <p:cNvPr id="6" name="图片 5">
            <a:extLst>
              <a:ext uri="{FF2B5EF4-FFF2-40B4-BE49-F238E27FC236}">
                <a16:creationId xmlns:a16="http://schemas.microsoft.com/office/drawing/2014/main" id="{ED1EAC76-76C7-1F4D-7DE2-DADA26E04F61}"/>
              </a:ext>
            </a:extLst>
          </p:cNvPr>
          <p:cNvPicPr>
            <a:picLocks noChangeAspect="1"/>
          </p:cNvPicPr>
          <p:nvPr/>
        </p:nvPicPr>
        <p:blipFill>
          <a:blip r:embed="rId3"/>
          <a:stretch>
            <a:fillRect/>
          </a:stretch>
        </p:blipFill>
        <p:spPr>
          <a:xfrm>
            <a:off x="428359" y="1325562"/>
            <a:ext cx="9181468" cy="4994232"/>
          </a:xfrm>
          <a:prstGeom prst="rect">
            <a:avLst/>
          </a:prstGeom>
        </p:spPr>
      </p:pic>
    </p:spTree>
    <p:extLst>
      <p:ext uri="{BB962C8B-B14F-4D97-AF65-F5344CB8AC3E}">
        <p14:creationId xmlns:p14="http://schemas.microsoft.com/office/powerpoint/2010/main" val="1926456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1A547AA-5834-9762-498E-85482048DE3F}"/>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成本计算</a:t>
            </a:r>
            <a:endParaRPr lang="zh-CN" altLang="en-US" dirty="0"/>
          </a:p>
        </p:txBody>
      </p:sp>
      <p:sp>
        <p:nvSpPr>
          <p:cNvPr id="4" name="内容占位符 3">
            <a:extLst>
              <a:ext uri="{FF2B5EF4-FFF2-40B4-BE49-F238E27FC236}">
                <a16:creationId xmlns:a16="http://schemas.microsoft.com/office/drawing/2014/main" id="{5A473ABB-EDC3-8C0A-565E-8FF94F4BE715}"/>
              </a:ext>
            </a:extLst>
          </p:cNvPr>
          <p:cNvSpPr txBox="1">
            <a:spLocks noGrp="1"/>
          </p:cNvSpPr>
          <p:nvPr>
            <p:ph idx="1"/>
          </p:nvPr>
        </p:nvSpPr>
        <p:spPr>
          <a:xfrm>
            <a:off x="700177" y="1371301"/>
            <a:ext cx="10515600" cy="4813625"/>
          </a:xfrm>
          <a:prstGeom prst="rect">
            <a:avLst/>
          </a:prstGeom>
          <a:noFill/>
        </p:spPr>
        <p:txBody>
          <a:bodyPr wrap="square">
            <a:spAutoFit/>
          </a:bodyPr>
          <a:lstStyle/>
          <a:p>
            <a:r>
              <a:rPr lang="zh-CN" altLang="en-US" sz="2800" b="1" dirty="0"/>
              <a:t>- 成本明细：</a:t>
            </a:r>
          </a:p>
          <a:p>
            <a:r>
              <a:rPr lang="zh-CN" altLang="en-US" sz="2800" b="1" dirty="0"/>
              <a:t>- RFID基站 单个成本153元，UWB基站单个成本1850元；</a:t>
            </a:r>
          </a:p>
          <a:p>
            <a:pPr marL="457200" indent="-457200">
              <a:buFontTx/>
              <a:buChar char="-"/>
            </a:pPr>
            <a:r>
              <a:rPr lang="zh-CN" altLang="en-US" sz="2800" b="1" dirty="0"/>
              <a:t>标签成本：RFID标签0.35元/个，UWB标签</a:t>
            </a:r>
            <a:r>
              <a:rPr lang="en-US" altLang="zh-CN" sz="2800" b="1" dirty="0"/>
              <a:t>210</a:t>
            </a:r>
            <a:r>
              <a:rPr lang="zh-CN" altLang="en-US" sz="2800" b="1" dirty="0"/>
              <a:t>元/个；</a:t>
            </a:r>
            <a:endParaRPr lang="en-US" altLang="zh-CN" sz="2800" b="1" dirty="0"/>
          </a:p>
          <a:p>
            <a:pPr marL="457200" indent="-457200">
              <a:buFontTx/>
              <a:buChar char="-"/>
            </a:pPr>
            <a:r>
              <a:rPr lang="zh-CN" altLang="en-US" sz="2800" b="1" dirty="0"/>
              <a:t>中心服务器一台</a:t>
            </a:r>
            <a:r>
              <a:rPr lang="en-US" altLang="zh-CN" sz="2800" b="1" dirty="0"/>
              <a:t>5000</a:t>
            </a:r>
            <a:r>
              <a:rPr lang="zh-CN" altLang="en-US" sz="2800" b="1" dirty="0"/>
              <a:t>元</a:t>
            </a:r>
          </a:p>
          <a:p>
            <a:r>
              <a:rPr lang="zh-CN" altLang="en-US" sz="2800" b="1" dirty="0"/>
              <a:t>- 总公式： 成本 = (153*16+1785*5+（210+0.35）*n</a:t>
            </a:r>
            <a:r>
              <a:rPr lang="en-US" altLang="zh-CN" sz="2800" b="1" dirty="0"/>
              <a:t>)+5000</a:t>
            </a:r>
            <a:r>
              <a:rPr lang="zh-CN" altLang="en-US" sz="2800" b="1" dirty="0"/>
              <a:t>，n为人数</a:t>
            </a:r>
          </a:p>
          <a:p>
            <a:endParaRPr lang="en-US" altLang="zh-CN" b="1" dirty="0"/>
          </a:p>
          <a:p>
            <a:r>
              <a:rPr lang="zh-CN" altLang="en-US" b="1" dirty="0"/>
              <a:t>从严谨考虑，因为我们的识别卡成本很高，因此，</a:t>
            </a:r>
            <a:r>
              <a:rPr lang="zh-CN" altLang="en-US" b="1" dirty="0">
                <a:solidFill>
                  <a:srgbClr val="FF0000"/>
                </a:solidFill>
              </a:rPr>
              <a:t>人数</a:t>
            </a:r>
            <a:r>
              <a:rPr lang="en-US" altLang="zh-CN" b="1" dirty="0">
                <a:solidFill>
                  <a:srgbClr val="FF0000"/>
                </a:solidFill>
              </a:rPr>
              <a:t>n</a:t>
            </a:r>
            <a:r>
              <a:rPr lang="zh-CN" altLang="en-US" b="1" dirty="0">
                <a:solidFill>
                  <a:srgbClr val="FF0000"/>
                </a:solidFill>
              </a:rPr>
              <a:t>不能忽视</a:t>
            </a:r>
            <a:endParaRPr lang="en-US" altLang="zh-CN" sz="2800" b="1" dirty="0">
              <a:solidFill>
                <a:srgbClr val="FF0000"/>
              </a:solidFill>
            </a:endParaRPr>
          </a:p>
        </p:txBody>
      </p:sp>
    </p:spTree>
    <p:extLst>
      <p:ext uri="{BB962C8B-B14F-4D97-AF65-F5344CB8AC3E}">
        <p14:creationId xmlns:p14="http://schemas.microsoft.com/office/powerpoint/2010/main" val="4278264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BDB7894-E4EA-1A51-8EA7-F2393963944F}"/>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被“开盒”的铁矿</a:t>
            </a:r>
            <a:endParaRPr lang="zh-CN" altLang="en-US" dirty="0"/>
          </a:p>
        </p:txBody>
      </p:sp>
      <p:pic>
        <p:nvPicPr>
          <p:cNvPr id="5" name="图片 4">
            <a:extLst>
              <a:ext uri="{FF2B5EF4-FFF2-40B4-BE49-F238E27FC236}">
                <a16:creationId xmlns:a16="http://schemas.microsoft.com/office/drawing/2014/main" id="{C074FC6B-628D-FDD6-BF4D-7B22F9A37A04}"/>
              </a:ext>
            </a:extLst>
          </p:cNvPr>
          <p:cNvPicPr>
            <a:picLocks noChangeAspect="1"/>
          </p:cNvPicPr>
          <p:nvPr/>
        </p:nvPicPr>
        <p:blipFill>
          <a:blip r:embed="rId2"/>
          <a:stretch>
            <a:fillRect/>
          </a:stretch>
        </p:blipFill>
        <p:spPr>
          <a:xfrm>
            <a:off x="646426" y="1395476"/>
            <a:ext cx="5504762" cy="1019048"/>
          </a:xfrm>
          <a:prstGeom prst="rect">
            <a:avLst/>
          </a:prstGeom>
        </p:spPr>
      </p:pic>
      <p:pic>
        <p:nvPicPr>
          <p:cNvPr id="7" name="内容占位符 6">
            <a:extLst>
              <a:ext uri="{FF2B5EF4-FFF2-40B4-BE49-F238E27FC236}">
                <a16:creationId xmlns:a16="http://schemas.microsoft.com/office/drawing/2014/main" id="{9622A125-4F48-87B0-0B7D-C7F33785B22A}"/>
              </a:ext>
            </a:extLst>
          </p:cNvPr>
          <p:cNvPicPr>
            <a:picLocks noGrp="1" noChangeAspect="1"/>
          </p:cNvPicPr>
          <p:nvPr>
            <p:ph idx="1"/>
          </p:nvPr>
        </p:nvPicPr>
        <p:blipFill>
          <a:blip r:embed="rId3"/>
          <a:stretch>
            <a:fillRect/>
          </a:stretch>
        </p:blipFill>
        <p:spPr>
          <a:xfrm>
            <a:off x="6151188" y="1387189"/>
            <a:ext cx="5955461" cy="2879071"/>
          </a:xfrm>
          <a:prstGeom prst="rect">
            <a:avLst/>
          </a:prstGeom>
        </p:spPr>
      </p:pic>
      <p:pic>
        <p:nvPicPr>
          <p:cNvPr id="9" name="图片 8">
            <a:extLst>
              <a:ext uri="{FF2B5EF4-FFF2-40B4-BE49-F238E27FC236}">
                <a16:creationId xmlns:a16="http://schemas.microsoft.com/office/drawing/2014/main" id="{9C4A294F-9BA7-BEA3-EC3C-CF2496AF5A51}"/>
              </a:ext>
            </a:extLst>
          </p:cNvPr>
          <p:cNvPicPr>
            <a:picLocks noChangeAspect="1"/>
          </p:cNvPicPr>
          <p:nvPr/>
        </p:nvPicPr>
        <p:blipFill>
          <a:blip r:embed="rId4"/>
          <a:stretch>
            <a:fillRect/>
          </a:stretch>
        </p:blipFill>
        <p:spPr>
          <a:xfrm>
            <a:off x="646426" y="1387189"/>
            <a:ext cx="5581846" cy="2279254"/>
          </a:xfrm>
          <a:prstGeom prst="rect">
            <a:avLst/>
          </a:prstGeom>
        </p:spPr>
      </p:pic>
      <p:pic>
        <p:nvPicPr>
          <p:cNvPr id="13" name="图片 12">
            <a:extLst>
              <a:ext uri="{FF2B5EF4-FFF2-40B4-BE49-F238E27FC236}">
                <a16:creationId xmlns:a16="http://schemas.microsoft.com/office/drawing/2014/main" id="{9EA0B061-03FE-8B67-ACDA-6F8EA3BD3118}"/>
              </a:ext>
            </a:extLst>
          </p:cNvPr>
          <p:cNvPicPr>
            <a:picLocks noChangeAspect="1"/>
          </p:cNvPicPr>
          <p:nvPr/>
        </p:nvPicPr>
        <p:blipFill>
          <a:blip r:embed="rId5"/>
          <a:stretch>
            <a:fillRect/>
          </a:stretch>
        </p:blipFill>
        <p:spPr>
          <a:xfrm>
            <a:off x="485400" y="1268052"/>
            <a:ext cx="9998570" cy="4958639"/>
          </a:xfrm>
          <a:prstGeom prst="rect">
            <a:avLst/>
          </a:prstGeom>
        </p:spPr>
      </p:pic>
    </p:spTree>
    <p:extLst>
      <p:ext uri="{BB962C8B-B14F-4D97-AF65-F5344CB8AC3E}">
        <p14:creationId xmlns:p14="http://schemas.microsoft.com/office/powerpoint/2010/main" val="2679397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6DCC4-BE85-1DEB-A0CC-2E3DC38E5F2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64E2301-7390-8602-1DB8-60A897E1355B}"/>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被“开盒”的铁矿</a:t>
            </a:r>
            <a:endParaRPr lang="zh-CN" altLang="en-US" dirty="0"/>
          </a:p>
        </p:txBody>
      </p:sp>
      <p:pic>
        <p:nvPicPr>
          <p:cNvPr id="15" name="图片 14">
            <a:extLst>
              <a:ext uri="{FF2B5EF4-FFF2-40B4-BE49-F238E27FC236}">
                <a16:creationId xmlns:a16="http://schemas.microsoft.com/office/drawing/2014/main" id="{F84A9E35-2AB1-E67C-271E-CA01A66ADE6F}"/>
              </a:ext>
            </a:extLst>
          </p:cNvPr>
          <p:cNvPicPr>
            <a:picLocks noChangeAspect="1"/>
          </p:cNvPicPr>
          <p:nvPr/>
        </p:nvPicPr>
        <p:blipFill>
          <a:blip r:embed="rId2"/>
          <a:stretch>
            <a:fillRect/>
          </a:stretch>
        </p:blipFill>
        <p:spPr>
          <a:xfrm>
            <a:off x="6831768" y="1568102"/>
            <a:ext cx="4934662" cy="3700996"/>
          </a:xfrm>
          <a:prstGeom prst="rect">
            <a:avLst/>
          </a:prstGeom>
        </p:spPr>
      </p:pic>
      <p:sp>
        <p:nvSpPr>
          <p:cNvPr id="17" name="内容占位符 16">
            <a:extLst>
              <a:ext uri="{FF2B5EF4-FFF2-40B4-BE49-F238E27FC236}">
                <a16:creationId xmlns:a16="http://schemas.microsoft.com/office/drawing/2014/main" id="{8A00DEF0-0508-E50B-21AB-6D04B3DFC88F}"/>
              </a:ext>
            </a:extLst>
          </p:cNvPr>
          <p:cNvSpPr>
            <a:spLocks noGrp="1"/>
          </p:cNvSpPr>
          <p:nvPr>
            <p:ph idx="1"/>
          </p:nvPr>
        </p:nvSpPr>
        <p:spPr/>
        <p:txBody>
          <a:bodyPr/>
          <a:lstStyle/>
          <a:p>
            <a:endParaRPr lang="zh-CN" altLang="en-US" dirty="0"/>
          </a:p>
        </p:txBody>
      </p:sp>
      <p:pic>
        <p:nvPicPr>
          <p:cNvPr id="19" name="图片 18">
            <a:extLst>
              <a:ext uri="{FF2B5EF4-FFF2-40B4-BE49-F238E27FC236}">
                <a16:creationId xmlns:a16="http://schemas.microsoft.com/office/drawing/2014/main" id="{EEF6B77E-90AE-3555-2836-5509748A6D6F}"/>
              </a:ext>
            </a:extLst>
          </p:cNvPr>
          <p:cNvPicPr>
            <a:picLocks noChangeAspect="1"/>
          </p:cNvPicPr>
          <p:nvPr/>
        </p:nvPicPr>
        <p:blipFill>
          <a:blip r:embed="rId3"/>
          <a:stretch>
            <a:fillRect/>
          </a:stretch>
        </p:blipFill>
        <p:spPr>
          <a:xfrm>
            <a:off x="568384" y="1436202"/>
            <a:ext cx="6044242" cy="2249579"/>
          </a:xfrm>
          <a:prstGeom prst="rect">
            <a:avLst/>
          </a:prstGeom>
        </p:spPr>
      </p:pic>
    </p:spTree>
    <p:extLst>
      <p:ext uri="{BB962C8B-B14F-4D97-AF65-F5344CB8AC3E}">
        <p14:creationId xmlns:p14="http://schemas.microsoft.com/office/powerpoint/2010/main" val="2755027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B219-28E3-EAF5-ADC7-8F82F45CBA91}"/>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5D5AE3B9-69A8-058C-3575-3B53EF7824EA}"/>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8CE6218C-7A75-6EA5-E6DB-9F1AFD2F5557}"/>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E419F241-DA61-0BAE-C9BC-0BD3B7EF7810}"/>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08</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8C92B011-156F-FFFE-8407-03DC94BCBFD7}"/>
              </a:ext>
            </a:extLst>
          </p:cNvPr>
          <p:cNvSpPr>
            <a:spLocks noGrp="1"/>
          </p:cNvSpPr>
          <p:nvPr>
            <p:ph idx="1"/>
          </p:nvPr>
        </p:nvSpPr>
        <p:spPr/>
        <p:txBody>
          <a:bodyPr>
            <a:normAutofit/>
          </a:bodyPr>
          <a:lstStyle/>
          <a:p>
            <a:pPr marL="0" indent="0">
              <a:buNone/>
            </a:pPr>
            <a:r>
              <a:rPr lang="zh-CN" altLang="en-US" b="1" dirty="0"/>
              <a:t>查阅</a:t>
            </a:r>
            <a:r>
              <a:rPr lang="en-US" altLang="zh-CN" b="1" dirty="0"/>
              <a:t>《</a:t>
            </a:r>
            <a:r>
              <a:rPr lang="zh-CN" altLang="en-US" b="1" dirty="0"/>
              <a:t>武定县文笔山大岩洞铁矿厂建设项目 竣工验收调查报告 </a:t>
            </a:r>
            <a:r>
              <a:rPr lang="en-US" altLang="zh-CN" b="1" dirty="0"/>
              <a:t>》</a:t>
            </a:r>
          </a:p>
        </p:txBody>
      </p:sp>
      <p:sp>
        <p:nvSpPr>
          <p:cNvPr id="26" name="Title 25">
            <a:extLst>
              <a:ext uri="{FF2B5EF4-FFF2-40B4-BE49-F238E27FC236}">
                <a16:creationId xmlns:a16="http://schemas.microsoft.com/office/drawing/2014/main" id="{F2D0E2E9-9438-33E2-8D16-F505CB8BF2DC}"/>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被“开盒”的铁矿</a:t>
            </a:r>
            <a:endParaRPr lang="en-US" dirty="0"/>
          </a:p>
        </p:txBody>
      </p:sp>
      <p:pic>
        <p:nvPicPr>
          <p:cNvPr id="4" name="图片 3">
            <a:extLst>
              <a:ext uri="{FF2B5EF4-FFF2-40B4-BE49-F238E27FC236}">
                <a16:creationId xmlns:a16="http://schemas.microsoft.com/office/drawing/2014/main" id="{4C925B33-5997-70B2-B3DE-031F70895357}"/>
              </a:ext>
            </a:extLst>
          </p:cNvPr>
          <p:cNvPicPr>
            <a:picLocks noChangeAspect="1"/>
          </p:cNvPicPr>
          <p:nvPr/>
        </p:nvPicPr>
        <p:blipFill>
          <a:blip r:embed="rId3"/>
          <a:stretch>
            <a:fillRect/>
          </a:stretch>
        </p:blipFill>
        <p:spPr>
          <a:xfrm>
            <a:off x="836676" y="2431686"/>
            <a:ext cx="7965388" cy="1994628"/>
          </a:xfrm>
          <a:prstGeom prst="rect">
            <a:avLst/>
          </a:prstGeom>
        </p:spPr>
      </p:pic>
      <p:sp>
        <p:nvSpPr>
          <p:cNvPr id="7" name="文本框 6">
            <a:extLst>
              <a:ext uri="{FF2B5EF4-FFF2-40B4-BE49-F238E27FC236}">
                <a16:creationId xmlns:a16="http://schemas.microsoft.com/office/drawing/2014/main" id="{23D3944E-C58E-D4F2-7446-9DA7724CB5FE}"/>
              </a:ext>
            </a:extLst>
          </p:cNvPr>
          <p:cNvSpPr txBox="1"/>
          <p:nvPr/>
        </p:nvSpPr>
        <p:spPr>
          <a:xfrm>
            <a:off x="1769254" y="4462890"/>
            <a:ext cx="7032810" cy="369332"/>
          </a:xfrm>
          <a:prstGeom prst="rect">
            <a:avLst/>
          </a:prstGeom>
          <a:noFill/>
        </p:spPr>
        <p:txBody>
          <a:bodyPr wrap="square">
            <a:spAutoFit/>
          </a:bodyPr>
          <a:lstStyle/>
          <a:p>
            <a:r>
              <a:rPr lang="en-US" altLang="zh-CN" b="1" dirty="0"/>
              <a:t>《</a:t>
            </a:r>
            <a:r>
              <a:rPr lang="zh-CN" altLang="en-US" b="1" dirty="0"/>
              <a:t>武定县文笔山大岩洞铁矿厂建设项目竣工验收调查报告</a:t>
            </a:r>
            <a:r>
              <a:rPr lang="en-US" altLang="zh-CN" b="1" dirty="0"/>
              <a:t>》</a:t>
            </a:r>
            <a:endParaRPr lang="zh-CN" altLang="en-US" b="1" dirty="0"/>
          </a:p>
        </p:txBody>
      </p:sp>
    </p:spTree>
    <p:extLst>
      <p:ext uri="{BB962C8B-B14F-4D97-AF65-F5344CB8AC3E}">
        <p14:creationId xmlns:p14="http://schemas.microsoft.com/office/powerpoint/2010/main" val="1230552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57697661-7679-FE54-7F9A-C43F7A1407C7}"/>
              </a:ext>
            </a:extLst>
          </p:cNvPr>
          <p:cNvPicPr>
            <a:picLocks noGrp="1" noChangeAspect="1"/>
          </p:cNvPicPr>
          <p:nvPr>
            <p:ph idx="1"/>
          </p:nvPr>
        </p:nvPicPr>
        <p:blipFill>
          <a:blip r:embed="rId2"/>
          <a:stretch>
            <a:fillRect/>
          </a:stretch>
        </p:blipFill>
        <p:spPr>
          <a:xfrm>
            <a:off x="497680" y="3696570"/>
            <a:ext cx="9333333" cy="1219048"/>
          </a:xfrm>
          <a:prstGeom prst="rect">
            <a:avLst/>
          </a:prstGeom>
        </p:spPr>
      </p:pic>
      <p:sp>
        <p:nvSpPr>
          <p:cNvPr id="3" name="标题 2">
            <a:extLst>
              <a:ext uri="{FF2B5EF4-FFF2-40B4-BE49-F238E27FC236}">
                <a16:creationId xmlns:a16="http://schemas.microsoft.com/office/drawing/2014/main" id="{A170AC78-5DE5-0B61-7503-3EDAFE7D509F}"/>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被“开盒”的铁矿</a:t>
            </a:r>
            <a:endParaRPr lang="zh-CN" altLang="en-US" dirty="0"/>
          </a:p>
        </p:txBody>
      </p:sp>
      <p:pic>
        <p:nvPicPr>
          <p:cNvPr id="5" name="图片 4">
            <a:extLst>
              <a:ext uri="{FF2B5EF4-FFF2-40B4-BE49-F238E27FC236}">
                <a16:creationId xmlns:a16="http://schemas.microsoft.com/office/drawing/2014/main" id="{F66EA9E2-2BA7-55C6-0027-641020F0C819}"/>
              </a:ext>
            </a:extLst>
          </p:cNvPr>
          <p:cNvPicPr>
            <a:picLocks noChangeAspect="1"/>
          </p:cNvPicPr>
          <p:nvPr/>
        </p:nvPicPr>
        <p:blipFill>
          <a:blip r:embed="rId3"/>
          <a:stretch>
            <a:fillRect/>
          </a:stretch>
        </p:blipFill>
        <p:spPr>
          <a:xfrm>
            <a:off x="455232" y="1325562"/>
            <a:ext cx="7113010" cy="2444733"/>
          </a:xfrm>
          <a:prstGeom prst="rect">
            <a:avLst/>
          </a:prstGeom>
        </p:spPr>
      </p:pic>
      <p:sp>
        <p:nvSpPr>
          <p:cNvPr id="10" name="文本框 9">
            <a:extLst>
              <a:ext uri="{FF2B5EF4-FFF2-40B4-BE49-F238E27FC236}">
                <a16:creationId xmlns:a16="http://schemas.microsoft.com/office/drawing/2014/main" id="{91D78B7D-CD15-E54F-2CF7-6208E9648F9F}"/>
              </a:ext>
            </a:extLst>
          </p:cNvPr>
          <p:cNvSpPr txBox="1"/>
          <p:nvPr/>
        </p:nvSpPr>
        <p:spPr>
          <a:xfrm>
            <a:off x="1651426" y="5225755"/>
            <a:ext cx="9772247" cy="646331"/>
          </a:xfrm>
          <a:prstGeom prst="rect">
            <a:avLst/>
          </a:prstGeom>
          <a:noFill/>
        </p:spPr>
        <p:txBody>
          <a:bodyPr wrap="square">
            <a:spAutoFit/>
          </a:bodyPr>
          <a:lstStyle/>
          <a:p>
            <a:r>
              <a:rPr lang="en-US" altLang="zh-CN" i="1" dirty="0"/>
              <a:t>《</a:t>
            </a:r>
            <a:r>
              <a:rPr lang="zh-CN" altLang="en-US" i="1" dirty="0"/>
              <a:t>AQ/T 2080-2023 金属非金属地下矿山在用人员定位系统安全检测检验规范</a:t>
            </a:r>
            <a:r>
              <a:rPr lang="en-US" altLang="zh-CN" i="1" dirty="0"/>
              <a:t>》</a:t>
            </a:r>
            <a:r>
              <a:rPr lang="zh-CN" altLang="en-US" i="1" dirty="0"/>
              <a:t>中第5.4.2条规定了配备不少于经常下井人员总数10%的备用卡。因此人数按照2</a:t>
            </a:r>
            <a:r>
              <a:rPr lang="en-US" altLang="zh-CN" i="1" dirty="0"/>
              <a:t>0</a:t>
            </a:r>
            <a:r>
              <a:rPr lang="zh-CN" altLang="en-US" i="1" dirty="0"/>
              <a:t>人来计算。（仅计算工人）</a:t>
            </a:r>
          </a:p>
        </p:txBody>
      </p:sp>
    </p:spTree>
    <p:extLst>
      <p:ext uri="{BB962C8B-B14F-4D97-AF65-F5344CB8AC3E}">
        <p14:creationId xmlns:p14="http://schemas.microsoft.com/office/powerpoint/2010/main" val="3402587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10002B"/>
        </a:solidFill>
        <a:effectLst/>
      </p:bgPr>
    </p:bg>
    <p:spTree>
      <p:nvGrpSpPr>
        <p:cNvPr id="1" name="">
          <a:extLst>
            <a:ext uri="{FF2B5EF4-FFF2-40B4-BE49-F238E27FC236}">
              <a16:creationId xmlns:a16="http://schemas.microsoft.com/office/drawing/2014/main" id="{A6762827-CCE5-6CF8-EBE4-4A417927B74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4C6580-D137-C24E-39F3-CF177D81407A}"/>
              </a:ext>
            </a:extLst>
          </p:cNvPr>
          <p:cNvSpPr/>
          <p:nvPr/>
        </p:nvSpPr>
        <p:spPr>
          <a:xfrm>
            <a:off x="6705600" y="0"/>
            <a:ext cx="5486400" cy="685800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3" name="Shape 1">
            <a:extLst>
              <a:ext uri="{FF2B5EF4-FFF2-40B4-BE49-F238E27FC236}">
                <a16:creationId xmlns:a16="http://schemas.microsoft.com/office/drawing/2014/main" id="{FAE42AA0-E144-23EF-DCDE-0DAF38273DEB}"/>
              </a:ext>
            </a:extLst>
          </p:cNvPr>
          <p:cNvSpPr/>
          <p:nvPr/>
        </p:nvSpPr>
        <p:spPr>
          <a:xfrm>
            <a:off x="5852160" y="-975360"/>
            <a:ext cx="4267200" cy="4267200"/>
          </a:xfrm>
          <a:prstGeom prst="ellipse">
            <a:avLst/>
          </a:prstGeom>
          <a:solidFill>
            <a:srgbClr val="7B2FBE">
              <a:alpha val="50000"/>
            </a:srgbClr>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4" name="Shape 2">
            <a:extLst>
              <a:ext uri="{FF2B5EF4-FFF2-40B4-BE49-F238E27FC236}">
                <a16:creationId xmlns:a16="http://schemas.microsoft.com/office/drawing/2014/main" id="{93A35F44-6ED2-1E22-D107-8C38E9D1812F}"/>
              </a:ext>
            </a:extLst>
          </p:cNvPr>
          <p:cNvSpPr/>
          <p:nvPr/>
        </p:nvSpPr>
        <p:spPr>
          <a:xfrm>
            <a:off x="8290560" y="3657600"/>
            <a:ext cx="3048000" cy="3048000"/>
          </a:xfrm>
          <a:prstGeom prst="ellipse">
            <a:avLst/>
          </a:prstGeom>
          <a:solidFill>
            <a:srgbClr val="10002B">
              <a:alpha val="45000"/>
            </a:srgbClr>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5" name="Shape 3">
            <a:extLst>
              <a:ext uri="{FF2B5EF4-FFF2-40B4-BE49-F238E27FC236}">
                <a16:creationId xmlns:a16="http://schemas.microsoft.com/office/drawing/2014/main" id="{581F6217-C73B-D782-6F92-E0ECC893C03C}"/>
              </a:ext>
            </a:extLst>
          </p:cNvPr>
          <p:cNvSpPr/>
          <p:nvPr/>
        </p:nvSpPr>
        <p:spPr>
          <a:xfrm>
            <a:off x="4632960" y="5486400"/>
            <a:ext cx="2194560" cy="2194560"/>
          </a:xfrm>
          <a:prstGeom prst="ellipse">
            <a:avLst/>
          </a:prstGeom>
          <a:solidFill>
            <a:srgbClr val="C77DFF">
              <a:alpha val="40000"/>
            </a:srgbClr>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6" name="Text 4">
            <a:extLst>
              <a:ext uri="{FF2B5EF4-FFF2-40B4-BE49-F238E27FC236}">
                <a16:creationId xmlns:a16="http://schemas.microsoft.com/office/drawing/2014/main" id="{64952B30-3863-2150-442A-7AB1F2FB5114}"/>
              </a:ext>
            </a:extLst>
          </p:cNvPr>
          <p:cNvSpPr/>
          <p:nvPr/>
        </p:nvSpPr>
        <p:spPr>
          <a:xfrm>
            <a:off x="609600" y="609600"/>
            <a:ext cx="3048000" cy="1828800"/>
          </a:xfrm>
          <a:prstGeom prst="rect">
            <a:avLst/>
          </a:prstGeom>
          <a:noFill/>
          <a:ln/>
        </p:spPr>
        <p:txBody>
          <a:bodyPr wrap="square" lIns="0" tIns="0" rIns="0" bIns="0" rtlCol="0" anchor="ctr"/>
          <a:lstStyle/>
          <a:p>
            <a:pPr defTabSz="1219170"/>
            <a:r>
              <a:rPr lang="en-US" sz="12000" b="1" dirty="0">
                <a:solidFill>
                  <a:srgbClr val="7B2FBE"/>
                </a:solidFill>
                <a:latin typeface="Arial Black" pitchFamily="34" charset="0"/>
                <a:ea typeface="Arial Black" pitchFamily="34" charset="-122"/>
                <a:cs typeface="Arial Black" pitchFamily="34" charset="-120"/>
              </a:rPr>
              <a:t>04</a:t>
            </a:r>
            <a:endParaRPr lang="en-US" sz="12000" dirty="0">
              <a:solidFill>
                <a:srgbClr val="10002B"/>
              </a:solidFill>
              <a:latin typeface="Calibri" panose="020F0502020204030204"/>
            </a:endParaRPr>
          </a:p>
        </p:txBody>
      </p:sp>
      <p:sp>
        <p:nvSpPr>
          <p:cNvPr id="7" name="Shape 5">
            <a:extLst>
              <a:ext uri="{FF2B5EF4-FFF2-40B4-BE49-F238E27FC236}">
                <a16:creationId xmlns:a16="http://schemas.microsoft.com/office/drawing/2014/main" id="{F29EBBD9-0D53-FE2A-6127-C87322E331FE}"/>
              </a:ext>
            </a:extLst>
          </p:cNvPr>
          <p:cNvSpPr/>
          <p:nvPr/>
        </p:nvSpPr>
        <p:spPr>
          <a:xfrm>
            <a:off x="609600" y="2560320"/>
            <a:ext cx="2194560" cy="463296"/>
          </a:xfrm>
          <a:prstGeom prst="rect">
            <a:avLst/>
          </a:prstGeom>
          <a:solidFill>
            <a:srgbClr val="C77DFF"/>
          </a:solidFill>
          <a:ln w="12700">
            <a:solidFill>
              <a:srgbClr val="C77DFF"/>
            </a:solidFill>
            <a:prstDash val="solid"/>
          </a:ln>
        </p:spPr>
        <p:txBody>
          <a:bodyPr/>
          <a:lstStyle/>
          <a:p>
            <a:pPr defTabSz="1219170"/>
            <a:endParaRPr lang="en-US" sz="2400">
              <a:solidFill>
                <a:srgbClr val="10002B"/>
              </a:solidFill>
              <a:latin typeface="Calibri" panose="020F0502020204030204"/>
            </a:endParaRPr>
          </a:p>
        </p:txBody>
      </p:sp>
      <p:sp>
        <p:nvSpPr>
          <p:cNvPr id="8" name="Text 6">
            <a:extLst>
              <a:ext uri="{FF2B5EF4-FFF2-40B4-BE49-F238E27FC236}">
                <a16:creationId xmlns:a16="http://schemas.microsoft.com/office/drawing/2014/main" id="{C9488856-285A-FF19-B5A3-85DCCCD99756}"/>
              </a:ext>
            </a:extLst>
          </p:cNvPr>
          <p:cNvSpPr/>
          <p:nvPr/>
        </p:nvSpPr>
        <p:spPr>
          <a:xfrm>
            <a:off x="609600" y="2560320"/>
            <a:ext cx="2194560" cy="463296"/>
          </a:xfrm>
          <a:prstGeom prst="rect">
            <a:avLst/>
          </a:prstGeom>
          <a:noFill/>
          <a:ln/>
        </p:spPr>
        <p:txBody>
          <a:bodyPr wrap="square" lIns="0" tIns="0" rIns="0" bIns="0" rtlCol="0" anchor="ctr"/>
          <a:lstStyle/>
          <a:p>
            <a:pPr algn="ctr" defTabSz="1219170"/>
            <a:r>
              <a:rPr lang="en-US" sz="1200" b="1" kern="0" spc="400" dirty="0">
                <a:solidFill>
                  <a:srgbClr val="10002B"/>
                </a:solidFill>
                <a:latin typeface="Calibri" pitchFamily="34" charset="0"/>
                <a:ea typeface="Calibri" pitchFamily="34" charset="-122"/>
                <a:cs typeface="Calibri" pitchFamily="34" charset="-120"/>
              </a:rPr>
              <a:t>SECTION</a:t>
            </a:r>
            <a:endParaRPr lang="en-US" sz="1200" dirty="0">
              <a:solidFill>
                <a:srgbClr val="10002B"/>
              </a:solidFill>
              <a:latin typeface="Calibri" panose="020F0502020204030204"/>
            </a:endParaRPr>
          </a:p>
        </p:txBody>
      </p:sp>
      <p:sp>
        <p:nvSpPr>
          <p:cNvPr id="13" name="Title 12">
            <a:extLst>
              <a:ext uri="{FF2B5EF4-FFF2-40B4-BE49-F238E27FC236}">
                <a16:creationId xmlns:a16="http://schemas.microsoft.com/office/drawing/2014/main" id="{034F25DA-D7CE-5290-A6AD-5B2430E3B48C}"/>
              </a:ext>
            </a:extLst>
          </p:cNvPr>
          <p:cNvSpPr>
            <a:spLocks noGrp="1"/>
          </p:cNvSpPr>
          <p:nvPr>
            <p:ph type="title"/>
          </p:nvPr>
        </p:nvSpPr>
        <p:spPr/>
        <p:txBody>
          <a:bodyPr/>
          <a:lstStyle/>
          <a:p>
            <a:pPr defTabSz="1219170"/>
            <a:r>
              <a:rPr lang="zh-CN" altLang="en-US" sz="5400" dirty="0">
                <a:solidFill>
                  <a:schemeClr val="bg1"/>
                </a:solidFill>
                <a:latin typeface="Calibri" panose="020F0502020204030204"/>
              </a:rPr>
              <a:t>核算成本分析效益</a:t>
            </a:r>
            <a:endParaRPr lang="en-US" sz="5400" dirty="0">
              <a:solidFill>
                <a:schemeClr val="bg1"/>
              </a:solidFill>
              <a:latin typeface="Calibri" panose="020F0502020204030204"/>
            </a:endParaRPr>
          </a:p>
        </p:txBody>
      </p:sp>
      <p:sp>
        <p:nvSpPr>
          <p:cNvPr id="14" name="Text Placeholder 13">
            <a:extLst>
              <a:ext uri="{FF2B5EF4-FFF2-40B4-BE49-F238E27FC236}">
                <a16:creationId xmlns:a16="http://schemas.microsoft.com/office/drawing/2014/main" id="{78383CEF-53CB-C11D-3315-75624F23DBB2}"/>
              </a:ext>
            </a:extLst>
          </p:cNvPr>
          <p:cNvSpPr>
            <a:spLocks noGrp="1"/>
          </p:cNvSpPr>
          <p:nvPr>
            <p:ph type="body" idx="1"/>
          </p:nvPr>
        </p:nvSpPr>
        <p:spPr/>
        <p:txBody>
          <a:bodyPr/>
          <a:lstStyle/>
          <a:p>
            <a:r>
              <a:rPr lang="zh-CN" altLang="en-US" dirty="0">
                <a:solidFill>
                  <a:schemeClr val="bg1"/>
                </a:solidFill>
              </a:rPr>
              <a:t>分析实际落地所需投入与后续收获，总结与展望</a:t>
            </a:r>
            <a:endParaRPr lang="en-US" dirty="0">
              <a:solidFill>
                <a:schemeClr val="bg1"/>
              </a:solidFill>
              <a:latin typeface="Calibri" panose="020F0502020204030204"/>
            </a:endParaRPr>
          </a:p>
        </p:txBody>
      </p:sp>
    </p:spTree>
    <p:extLst>
      <p:ext uri="{BB962C8B-B14F-4D97-AF65-F5344CB8AC3E}">
        <p14:creationId xmlns:p14="http://schemas.microsoft.com/office/powerpoint/2010/main" val="1414760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C4129-63DE-28E2-5C97-B48AAF3E9137}"/>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5A188A37-BE00-68F8-87F5-A9943AA59198}"/>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F1A31A05-0838-DEA3-0419-1D0273D08E56}"/>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F06BC806-D4A8-3A2E-367E-223B32E65F3E}"/>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25</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FB148E76-9C8A-27E4-2106-FAF2C623CF30}"/>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基站布设规划</a:t>
            </a:r>
            <a:endParaRPr lang="en-US" dirty="0"/>
          </a:p>
        </p:txBody>
      </p:sp>
      <p:pic>
        <p:nvPicPr>
          <p:cNvPr id="6" name="图片 5">
            <a:extLst>
              <a:ext uri="{FF2B5EF4-FFF2-40B4-BE49-F238E27FC236}">
                <a16:creationId xmlns:a16="http://schemas.microsoft.com/office/drawing/2014/main" id="{3B03C693-F6C4-3511-33C7-C0DE392ECF3D}"/>
              </a:ext>
            </a:extLst>
          </p:cNvPr>
          <p:cNvPicPr>
            <a:picLocks noChangeAspect="1"/>
          </p:cNvPicPr>
          <p:nvPr/>
        </p:nvPicPr>
        <p:blipFill>
          <a:blip r:embed="rId3"/>
          <a:stretch>
            <a:fillRect/>
          </a:stretch>
        </p:blipFill>
        <p:spPr>
          <a:xfrm>
            <a:off x="571500" y="1361010"/>
            <a:ext cx="7673140" cy="5065302"/>
          </a:xfrm>
          <a:prstGeom prst="rect">
            <a:avLst/>
          </a:prstGeom>
        </p:spPr>
      </p:pic>
      <p:sp>
        <p:nvSpPr>
          <p:cNvPr id="9" name="文本框 8">
            <a:extLst>
              <a:ext uri="{FF2B5EF4-FFF2-40B4-BE49-F238E27FC236}">
                <a16:creationId xmlns:a16="http://schemas.microsoft.com/office/drawing/2014/main" id="{2712830F-863B-CD40-38FB-B9414B261769}"/>
              </a:ext>
            </a:extLst>
          </p:cNvPr>
          <p:cNvSpPr txBox="1"/>
          <p:nvPr/>
        </p:nvSpPr>
        <p:spPr>
          <a:xfrm>
            <a:off x="8431754" y="1976717"/>
            <a:ext cx="3576469" cy="3785652"/>
          </a:xfrm>
          <a:prstGeom prst="rect">
            <a:avLst/>
          </a:prstGeom>
          <a:noFill/>
        </p:spPr>
        <p:txBody>
          <a:bodyPr wrap="square">
            <a:spAutoFit/>
          </a:bodyPr>
          <a:lstStyle/>
          <a:p>
            <a:pPr marL="342900" indent="-342900" algn="l">
              <a:buFont typeface="Arial" panose="020B0604020202020204" pitchFamily="34" charset="0"/>
              <a:buChar char="•"/>
            </a:pPr>
            <a:r>
              <a:rPr lang="en-US" altLang="zh-CN" sz="2400" b="1" i="0" u="none" strike="noStrike" baseline="0" dirty="0">
                <a:latin typeface="LMRoman10-Bold-Identity-H"/>
              </a:rPr>
              <a:t>UWB </a:t>
            </a:r>
            <a:r>
              <a:rPr lang="zh-CN" altLang="en-US" sz="2400" b="1" i="0" u="none" strike="noStrike" baseline="0" dirty="0">
                <a:latin typeface="黑体" panose="02010609060101010101" pitchFamily="49" charset="-122"/>
                <a:ea typeface="黑体" panose="02010609060101010101" pitchFamily="49" charset="-122"/>
              </a:rPr>
              <a:t>高精度覆盖区</a:t>
            </a:r>
            <a:endParaRPr lang="en-US" altLang="zh-CN" sz="2400" b="1" i="0" u="none" strike="noStrike" baseline="0" dirty="0">
              <a:latin typeface="黑体" panose="02010609060101010101" pitchFamily="49" charset="-122"/>
              <a:ea typeface="黑体" panose="02010609060101010101" pitchFamily="49" charset="-122"/>
            </a:endParaRPr>
          </a:p>
          <a:p>
            <a:pPr algn="l"/>
            <a:r>
              <a:rPr lang="zh-CN" altLang="en-US" sz="2400" b="1" i="0" u="none" strike="noStrike" baseline="0" dirty="0">
                <a:latin typeface="黑体" panose="02010609060101010101" pitchFamily="49" charset="-122"/>
                <a:ea typeface="黑体" panose="02010609060101010101" pitchFamily="49" charset="-122"/>
              </a:rPr>
              <a:t>（蓝色高亮区域）</a:t>
            </a:r>
            <a:endParaRPr lang="en-US" altLang="zh-CN" sz="2400" b="1" i="0" u="none" strike="noStrike" baseline="0" dirty="0">
              <a:latin typeface="黑体" panose="02010609060101010101" pitchFamily="49" charset="-122"/>
              <a:ea typeface="黑体" panose="02010609060101010101" pitchFamily="49" charset="-122"/>
            </a:endParaRPr>
          </a:p>
          <a:p>
            <a:pPr marL="342900" indent="-342900" algn="l">
              <a:buFont typeface="Arial" panose="020B0604020202020204" pitchFamily="34" charset="0"/>
              <a:buChar char="•"/>
            </a:pPr>
            <a:endParaRPr lang="en-US" altLang="zh-CN" sz="2400" b="1" dirty="0">
              <a:latin typeface="黑体" panose="02010609060101010101" pitchFamily="49" charset="-122"/>
              <a:ea typeface="黑体" panose="02010609060101010101" pitchFamily="49" charset="-122"/>
            </a:endParaRPr>
          </a:p>
          <a:p>
            <a:pPr marL="342900" indent="-342900" algn="l">
              <a:buFont typeface="Arial" panose="020B0604020202020204" pitchFamily="34" charset="0"/>
              <a:buChar char="•"/>
            </a:pPr>
            <a:r>
              <a:rPr lang="en-US" altLang="zh-CN" sz="2400" b="1" i="0" u="none" strike="noStrike" baseline="0" dirty="0">
                <a:latin typeface="LMRoman10-Bold-Identity-H"/>
              </a:rPr>
              <a:t>RFID </a:t>
            </a:r>
            <a:r>
              <a:rPr lang="zh-CN" altLang="en-US" sz="2400" b="1" i="0" u="none" strike="noStrike" baseline="0" dirty="0">
                <a:latin typeface="黑体" panose="02010609060101010101" pitchFamily="49" charset="-122"/>
                <a:ea typeface="黑体" panose="02010609060101010101" pitchFamily="49" charset="-122"/>
              </a:rPr>
              <a:t>边界哨兵区</a:t>
            </a:r>
            <a:endParaRPr lang="en-US" altLang="zh-CN" sz="2400" b="1" i="0" u="none" strike="noStrike" baseline="0" dirty="0">
              <a:latin typeface="黑体" panose="02010609060101010101" pitchFamily="49" charset="-122"/>
              <a:ea typeface="黑体" panose="02010609060101010101" pitchFamily="49" charset="-122"/>
            </a:endParaRPr>
          </a:p>
          <a:p>
            <a:pPr algn="l"/>
            <a:r>
              <a:rPr lang="zh-CN" altLang="en-US" sz="2400" b="1" i="0" u="none" strike="noStrike" baseline="0" dirty="0">
                <a:latin typeface="黑体" panose="02010609060101010101" pitchFamily="49" charset="-122"/>
                <a:ea typeface="黑体" panose="02010609060101010101" pitchFamily="49" charset="-122"/>
              </a:rPr>
              <a:t>（红色警示线区域）</a:t>
            </a:r>
            <a:endParaRPr lang="en-US" altLang="zh-CN" sz="2400" b="1" i="0" u="none" strike="noStrike" baseline="0" dirty="0">
              <a:latin typeface="黑体" panose="02010609060101010101" pitchFamily="49" charset="-122"/>
              <a:ea typeface="黑体" panose="02010609060101010101" pitchFamily="49" charset="-122"/>
            </a:endParaRPr>
          </a:p>
          <a:p>
            <a:pPr marL="342900" indent="-342900" algn="l">
              <a:buFont typeface="Arial" panose="020B0604020202020204" pitchFamily="34" charset="0"/>
              <a:buChar char="•"/>
            </a:pPr>
            <a:endParaRPr lang="en-US" altLang="zh-CN" sz="2400" b="1"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b="1" dirty="0"/>
              <a:t>基站物理坐标进行高精度标定</a:t>
            </a:r>
            <a:endParaRPr lang="en-US" altLang="zh-CN" sz="2400" b="1" dirty="0"/>
          </a:p>
          <a:p>
            <a:pPr marL="342900" indent="-342900">
              <a:buFont typeface="Arial" panose="020B0604020202020204" pitchFamily="34" charset="0"/>
              <a:buChar char="•"/>
            </a:pPr>
            <a:endParaRPr lang="en-US" altLang="zh-CN" sz="2400" b="1"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b="1" dirty="0">
                <a:latin typeface="黑体" panose="02010609060101010101" pitchFamily="49" charset="-122"/>
                <a:ea typeface="黑体" panose="02010609060101010101" pitchFamily="49" charset="-122"/>
              </a:rPr>
              <a:t>工业以太网接入</a:t>
            </a:r>
            <a:endParaRPr lang="en-US" altLang="zh-CN"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92668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EED4-B6B0-8881-AFCD-8A7A0ABDC5F1}"/>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36656C0E-D7FB-BFAA-2443-C455EC86411E}"/>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BC706FA0-C5EF-83C1-75DB-E6664529EFFA}"/>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2DFD3A99-858C-323F-48B5-42AFA5D6B23A}"/>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26</a:t>
            </a:r>
            <a:endParaRPr lang="en-US" sz="1200" dirty="0">
              <a:solidFill>
                <a:srgbClr val="10002B"/>
              </a:solidFill>
              <a:latin typeface="Calibri" panose="020F0502020204030204"/>
            </a:endParaRPr>
          </a:p>
        </p:txBody>
      </p:sp>
      <p:sp>
        <p:nvSpPr>
          <p:cNvPr id="26" name="Title 25">
            <a:extLst>
              <a:ext uri="{FF2B5EF4-FFF2-40B4-BE49-F238E27FC236}">
                <a16:creationId xmlns:a16="http://schemas.microsoft.com/office/drawing/2014/main" id="{FED6CC11-88F6-F894-0D1B-48B9497F33D7}"/>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成本、效益评估</a:t>
            </a:r>
            <a:endParaRPr lang="en-US" dirty="0"/>
          </a:p>
        </p:txBody>
      </p:sp>
      <p:sp>
        <p:nvSpPr>
          <p:cNvPr id="3" name="文本框 2">
            <a:extLst>
              <a:ext uri="{FF2B5EF4-FFF2-40B4-BE49-F238E27FC236}">
                <a16:creationId xmlns:a16="http://schemas.microsoft.com/office/drawing/2014/main" id="{6F3BE4FF-03BC-94AC-34A3-30D900EFA865}"/>
              </a:ext>
            </a:extLst>
          </p:cNvPr>
          <p:cNvSpPr txBox="1"/>
          <p:nvPr/>
        </p:nvSpPr>
        <p:spPr>
          <a:xfrm>
            <a:off x="487680" y="1325562"/>
            <a:ext cx="8737121" cy="3539430"/>
          </a:xfrm>
          <a:prstGeom prst="rect">
            <a:avLst/>
          </a:prstGeom>
          <a:noFill/>
        </p:spPr>
        <p:txBody>
          <a:bodyPr wrap="square">
            <a:spAutoFit/>
          </a:bodyPr>
          <a:lstStyle/>
          <a:p>
            <a:r>
              <a:rPr lang="zh-CN" altLang="en-US" sz="2800" b="1" dirty="0"/>
              <a:t>成本 = (153*16+1785*5+（210+0.35）*n</a:t>
            </a:r>
            <a:r>
              <a:rPr lang="en-US" altLang="zh-CN" sz="2800" b="1" dirty="0"/>
              <a:t>+5000</a:t>
            </a:r>
            <a:r>
              <a:rPr lang="zh-CN" altLang="en-US" sz="2800" b="1" dirty="0"/>
              <a:t>，n为人数) ，其中 n 为井下人员数量。</a:t>
            </a:r>
          </a:p>
          <a:p>
            <a:endParaRPr lang="zh-CN" altLang="en-US" sz="2800" b="1" dirty="0"/>
          </a:p>
          <a:p>
            <a:pPr marL="457200" indent="-457200">
              <a:buFontTx/>
              <a:buChar char="-"/>
            </a:pPr>
            <a:r>
              <a:rPr lang="zh-CN" altLang="en-US" sz="2800" b="1" dirty="0"/>
              <a:t>人员规模匹配：结合矿山调研数据，按</a:t>
            </a:r>
            <a:r>
              <a:rPr lang="en-US" altLang="zh-CN" sz="2800" b="1" dirty="0"/>
              <a:t>20</a:t>
            </a:r>
            <a:r>
              <a:rPr lang="zh-CN" altLang="en-US" sz="2800" b="1" dirty="0"/>
              <a:t>名井下作业人员核算方案成本（考虑冗余），确保方案符合实际用工规模。</a:t>
            </a:r>
            <a:endParaRPr lang="en-US" altLang="zh-CN" sz="2800" b="1" dirty="0"/>
          </a:p>
          <a:p>
            <a:pPr marL="457200" indent="-457200">
              <a:buFontTx/>
              <a:buChar char="-"/>
            </a:pPr>
            <a:endParaRPr lang="zh-CN" altLang="en-US" sz="2800" b="1" dirty="0"/>
          </a:p>
          <a:p>
            <a:pPr marL="457200" indent="-457200">
              <a:buFontTx/>
              <a:buChar char="-"/>
            </a:pPr>
            <a:r>
              <a:rPr lang="zh-CN" altLang="en-US" sz="2800" b="1" dirty="0"/>
              <a:t>最终成本为</a:t>
            </a:r>
          </a:p>
        </p:txBody>
      </p:sp>
      <p:pic>
        <p:nvPicPr>
          <p:cNvPr id="6" name="图片 5">
            <a:extLst>
              <a:ext uri="{FF2B5EF4-FFF2-40B4-BE49-F238E27FC236}">
                <a16:creationId xmlns:a16="http://schemas.microsoft.com/office/drawing/2014/main" id="{F4ADB448-2098-9233-02A5-EF5657E92C00}"/>
              </a:ext>
            </a:extLst>
          </p:cNvPr>
          <p:cNvPicPr>
            <a:picLocks noChangeAspect="1"/>
          </p:cNvPicPr>
          <p:nvPr/>
        </p:nvPicPr>
        <p:blipFill>
          <a:blip r:embed="rId3"/>
          <a:stretch>
            <a:fillRect/>
          </a:stretch>
        </p:blipFill>
        <p:spPr>
          <a:xfrm>
            <a:off x="3766222" y="3525105"/>
            <a:ext cx="3508721" cy="2540438"/>
          </a:xfrm>
          <a:prstGeom prst="rect">
            <a:avLst/>
          </a:prstGeom>
        </p:spPr>
      </p:pic>
    </p:spTree>
    <p:extLst>
      <p:ext uri="{BB962C8B-B14F-4D97-AF65-F5344CB8AC3E}">
        <p14:creationId xmlns:p14="http://schemas.microsoft.com/office/powerpoint/2010/main" val="38047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5B258-3F69-7579-5524-2C9AD192FC25}"/>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481E1F94-8A26-6A7F-26E8-86362B4CF0E0}"/>
              </a:ext>
            </a:extLst>
          </p:cNvPr>
          <p:cNvSpPr/>
          <p:nvPr/>
        </p:nvSpPr>
        <p:spPr>
          <a:xfrm>
            <a:off x="3261360" y="1883208"/>
            <a:ext cx="5364480" cy="1950720"/>
          </a:xfrm>
          <a:prstGeom prst="rect">
            <a:avLst/>
          </a:prstGeom>
          <a:solidFill>
            <a:srgbClr val="FFFFFF"/>
          </a:solidFill>
          <a:ln w="12700">
            <a:solidFill>
              <a:srgbClr val="EAD7FF"/>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6" name="Shape 4">
            <a:extLst>
              <a:ext uri="{FF2B5EF4-FFF2-40B4-BE49-F238E27FC236}">
                <a16:creationId xmlns:a16="http://schemas.microsoft.com/office/drawing/2014/main" id="{F5429FD2-D454-8841-BC90-50CDCA824633}"/>
              </a:ext>
            </a:extLst>
          </p:cNvPr>
          <p:cNvSpPr/>
          <p:nvPr/>
        </p:nvSpPr>
        <p:spPr>
          <a:xfrm>
            <a:off x="3200400" y="1883208"/>
            <a:ext cx="304800" cy="1950720"/>
          </a:xfrm>
          <a:prstGeom prst="rect">
            <a:avLst/>
          </a:prstGeom>
          <a:solidFill>
            <a:srgbClr val="FF4D6D"/>
          </a:solidFill>
          <a:ln w="12700">
            <a:solidFill>
              <a:srgbClr val="FF4D6D"/>
            </a:solidFill>
            <a:prstDash val="solid"/>
          </a:ln>
        </p:spPr>
        <p:txBody>
          <a:bodyPr/>
          <a:lstStyle/>
          <a:p>
            <a:pPr defTabSz="1219170"/>
            <a:endParaRPr lang="en-US" sz="2400">
              <a:solidFill>
                <a:srgbClr val="10002B"/>
              </a:solidFill>
              <a:latin typeface="Calibri" panose="020F0502020204030204"/>
            </a:endParaRPr>
          </a:p>
        </p:txBody>
      </p:sp>
      <p:sp>
        <p:nvSpPr>
          <p:cNvPr id="8" name="Text 6">
            <a:extLst>
              <a:ext uri="{FF2B5EF4-FFF2-40B4-BE49-F238E27FC236}">
                <a16:creationId xmlns:a16="http://schemas.microsoft.com/office/drawing/2014/main" id="{4FCEB33A-4D69-3FE4-8CCC-9A8B44CFF4A2}"/>
              </a:ext>
            </a:extLst>
          </p:cNvPr>
          <p:cNvSpPr/>
          <p:nvPr/>
        </p:nvSpPr>
        <p:spPr>
          <a:xfrm>
            <a:off x="3684046" y="1903998"/>
            <a:ext cx="4632960" cy="1950720"/>
          </a:xfrm>
          <a:prstGeom prst="rect">
            <a:avLst/>
          </a:prstGeom>
          <a:noFill/>
          <a:ln/>
        </p:spPr>
        <p:txBody>
          <a:bodyPr wrap="square" lIns="0" tIns="0" rIns="0" bIns="0" rtlCol="0" anchor="ctr"/>
          <a:lstStyle/>
          <a:p>
            <a:pPr defTabSz="1219170"/>
            <a:r>
              <a:rPr lang="zh-CN" altLang="en-US" dirty="0"/>
              <a:t>突破单一技术的局限，利用神经网络优化算法解决非视距问题；动态环境下定位精确到</a:t>
            </a:r>
            <a:r>
              <a:rPr lang="en-US" altLang="zh-CN" dirty="0"/>
              <a:t>0.10m </a:t>
            </a:r>
            <a:r>
              <a:rPr lang="zh-CN" altLang="en-US" dirty="0"/>
              <a:t>以内；充分考虑铁矿石的电磁屏蔽特性，差异化部署，经济效益显著</a:t>
            </a:r>
            <a:endParaRPr lang="en-US" dirty="0"/>
          </a:p>
        </p:txBody>
      </p:sp>
      <p:sp>
        <p:nvSpPr>
          <p:cNvPr id="9" name="Shape 7">
            <a:extLst>
              <a:ext uri="{FF2B5EF4-FFF2-40B4-BE49-F238E27FC236}">
                <a16:creationId xmlns:a16="http://schemas.microsoft.com/office/drawing/2014/main" id="{5B802D51-B6BA-ABE5-46D3-CB7369B2466B}"/>
              </a:ext>
            </a:extLst>
          </p:cNvPr>
          <p:cNvSpPr/>
          <p:nvPr/>
        </p:nvSpPr>
        <p:spPr>
          <a:xfrm>
            <a:off x="6094476" y="4121564"/>
            <a:ext cx="5364480" cy="1950720"/>
          </a:xfrm>
          <a:prstGeom prst="rect">
            <a:avLst/>
          </a:prstGeom>
          <a:solidFill>
            <a:srgbClr val="FFFFFF"/>
          </a:solidFill>
          <a:ln w="12700">
            <a:solidFill>
              <a:srgbClr val="EAD7FF"/>
            </a:solidFill>
            <a:prstDash val="solid"/>
          </a:ln>
          <a:effectLst>
            <a:outerShdw blurRad="152400" dist="50800" dir="8100000" algn="bl" rotWithShape="0">
              <a:srgbClr val="000000">
                <a:alpha val="18000"/>
              </a:srgbClr>
            </a:outerShdw>
          </a:effectLst>
        </p:spPr>
        <p:txBody>
          <a:bodyPr/>
          <a:lstStyle/>
          <a:p>
            <a:pPr defTabSz="1219170"/>
            <a:endParaRPr lang="en-US" sz="2400">
              <a:solidFill>
                <a:srgbClr val="10002B"/>
              </a:solidFill>
              <a:latin typeface="Calibri" panose="020F0502020204030204"/>
            </a:endParaRPr>
          </a:p>
        </p:txBody>
      </p:sp>
      <p:sp>
        <p:nvSpPr>
          <p:cNvPr id="10" name="Shape 8">
            <a:extLst>
              <a:ext uri="{FF2B5EF4-FFF2-40B4-BE49-F238E27FC236}">
                <a16:creationId xmlns:a16="http://schemas.microsoft.com/office/drawing/2014/main" id="{088EE6CC-5F91-8735-D994-B00AA3114221}"/>
              </a:ext>
            </a:extLst>
          </p:cNvPr>
          <p:cNvSpPr/>
          <p:nvPr/>
        </p:nvSpPr>
        <p:spPr>
          <a:xfrm>
            <a:off x="5791200" y="4121564"/>
            <a:ext cx="304800" cy="1950720"/>
          </a:xfrm>
          <a:prstGeom prst="rect">
            <a:avLst/>
          </a:prstGeom>
          <a:solidFill>
            <a:srgbClr val="7B2FBE"/>
          </a:solidFill>
          <a:ln w="12700">
            <a:solidFill>
              <a:srgbClr val="7B2FBE"/>
            </a:solidFill>
            <a:prstDash val="solid"/>
          </a:ln>
        </p:spPr>
        <p:txBody>
          <a:bodyPr/>
          <a:lstStyle/>
          <a:p>
            <a:pPr defTabSz="1219170"/>
            <a:endParaRPr lang="en-US" sz="2400">
              <a:solidFill>
                <a:srgbClr val="10002B"/>
              </a:solidFill>
              <a:latin typeface="Calibri" panose="020F0502020204030204"/>
            </a:endParaRPr>
          </a:p>
        </p:txBody>
      </p:sp>
      <p:sp>
        <p:nvSpPr>
          <p:cNvPr id="12" name="Text 10">
            <a:extLst>
              <a:ext uri="{FF2B5EF4-FFF2-40B4-BE49-F238E27FC236}">
                <a16:creationId xmlns:a16="http://schemas.microsoft.com/office/drawing/2014/main" id="{4D4A4119-62DC-E1F1-48CD-9C47A1DE3040}"/>
              </a:ext>
            </a:extLst>
          </p:cNvPr>
          <p:cNvSpPr/>
          <p:nvPr/>
        </p:nvSpPr>
        <p:spPr>
          <a:xfrm>
            <a:off x="6460998" y="4121564"/>
            <a:ext cx="4632960" cy="1950720"/>
          </a:xfrm>
          <a:prstGeom prst="rect">
            <a:avLst/>
          </a:prstGeom>
          <a:noFill/>
          <a:ln/>
        </p:spPr>
        <p:txBody>
          <a:bodyPr wrap="square" lIns="0" tIns="0" rIns="0" bIns="0" rtlCol="0" anchor="ctr"/>
          <a:lstStyle/>
          <a:p>
            <a:pPr defTabSz="1219170"/>
            <a:r>
              <a:rPr lang="zh-CN" altLang="en-US" dirty="0"/>
              <a:t>随着</a:t>
            </a:r>
            <a:r>
              <a:rPr lang="en-US" altLang="zh-CN" dirty="0"/>
              <a:t>5G-Advanced</a:t>
            </a:r>
            <a:r>
              <a:rPr lang="zh-CN" altLang="en-US" dirty="0"/>
              <a:t>甚至</a:t>
            </a:r>
            <a:r>
              <a:rPr lang="en-US" altLang="zh-CN" dirty="0"/>
              <a:t>6G</a:t>
            </a:r>
            <a:r>
              <a:rPr lang="zh-CN" altLang="en-US" dirty="0"/>
              <a:t>、边缘计算及人工智能技术的不断成熟，未来定位系统将在全自主感知一体化、协同管控闭环等方向继续优化</a:t>
            </a:r>
            <a:endParaRPr lang="en-US" sz="1467" dirty="0">
              <a:solidFill>
                <a:srgbClr val="10002B"/>
              </a:solidFill>
              <a:latin typeface="Calibri" panose="020F0502020204030204"/>
            </a:endParaRPr>
          </a:p>
        </p:txBody>
      </p:sp>
      <p:sp>
        <p:nvSpPr>
          <p:cNvPr id="18" name="Shape 16">
            <a:extLst>
              <a:ext uri="{FF2B5EF4-FFF2-40B4-BE49-F238E27FC236}">
                <a16:creationId xmlns:a16="http://schemas.microsoft.com/office/drawing/2014/main" id="{2BA1FD02-0FE0-8764-7C1B-C2E636FDE408}"/>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19" name="Text 17">
            <a:extLst>
              <a:ext uri="{FF2B5EF4-FFF2-40B4-BE49-F238E27FC236}">
                <a16:creationId xmlns:a16="http://schemas.microsoft.com/office/drawing/2014/main" id="{0BB33454-2CEF-BF01-4B89-3EBE82122923}"/>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0" name="Text 18">
            <a:extLst>
              <a:ext uri="{FF2B5EF4-FFF2-40B4-BE49-F238E27FC236}">
                <a16:creationId xmlns:a16="http://schemas.microsoft.com/office/drawing/2014/main" id="{D54FA41D-F740-C787-4FAC-69A3C4934687}"/>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27</a:t>
            </a:r>
            <a:endParaRPr lang="en-US" sz="1200" dirty="0">
              <a:solidFill>
                <a:srgbClr val="10002B"/>
              </a:solidFill>
              <a:latin typeface="Calibri" panose="020F0502020204030204"/>
            </a:endParaRPr>
          </a:p>
        </p:txBody>
      </p:sp>
      <p:sp>
        <p:nvSpPr>
          <p:cNvPr id="27" name="Title 26">
            <a:extLst>
              <a:ext uri="{FF2B5EF4-FFF2-40B4-BE49-F238E27FC236}">
                <a16:creationId xmlns:a16="http://schemas.microsoft.com/office/drawing/2014/main" id="{E56304FF-3836-5477-32A8-B55CA18239D1}"/>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总结与展望</a:t>
            </a:r>
            <a:endParaRPr lang="en-US" dirty="0"/>
          </a:p>
        </p:txBody>
      </p:sp>
      <p:sp>
        <p:nvSpPr>
          <p:cNvPr id="3" name="文本框 2">
            <a:extLst>
              <a:ext uri="{FF2B5EF4-FFF2-40B4-BE49-F238E27FC236}">
                <a16:creationId xmlns:a16="http://schemas.microsoft.com/office/drawing/2014/main" id="{D548EA2E-CC66-03DA-6D55-1281F110279C}"/>
              </a:ext>
            </a:extLst>
          </p:cNvPr>
          <p:cNvSpPr txBox="1"/>
          <p:nvPr/>
        </p:nvSpPr>
        <p:spPr>
          <a:xfrm>
            <a:off x="209375" y="2196848"/>
            <a:ext cx="2236510" cy="1323439"/>
          </a:xfrm>
          <a:prstGeom prst="rect">
            <a:avLst/>
          </a:prstGeom>
          <a:noFill/>
        </p:spPr>
        <p:txBody>
          <a:bodyPr wrap="none" rtlCol="0">
            <a:spAutoFit/>
          </a:bodyPr>
          <a:lstStyle/>
          <a:p>
            <a:r>
              <a:rPr lang="zh-CN" altLang="en-US" sz="8000" b="1" dirty="0">
                <a:solidFill>
                  <a:schemeClr val="accent2"/>
                </a:solidFill>
              </a:rPr>
              <a:t>总结</a:t>
            </a:r>
          </a:p>
        </p:txBody>
      </p:sp>
      <p:sp>
        <p:nvSpPr>
          <p:cNvPr id="4" name="文本框 3">
            <a:extLst>
              <a:ext uri="{FF2B5EF4-FFF2-40B4-BE49-F238E27FC236}">
                <a16:creationId xmlns:a16="http://schemas.microsoft.com/office/drawing/2014/main" id="{DA6BA639-C51E-CF7C-59EF-A2DA8F16FCEA}"/>
              </a:ext>
            </a:extLst>
          </p:cNvPr>
          <p:cNvSpPr txBox="1"/>
          <p:nvPr/>
        </p:nvSpPr>
        <p:spPr>
          <a:xfrm>
            <a:off x="2445885" y="4391574"/>
            <a:ext cx="3193677" cy="1323439"/>
          </a:xfrm>
          <a:prstGeom prst="rect">
            <a:avLst/>
          </a:prstGeom>
          <a:noFill/>
        </p:spPr>
        <p:txBody>
          <a:bodyPr wrap="square" rtlCol="0">
            <a:spAutoFit/>
          </a:bodyPr>
          <a:lstStyle/>
          <a:p>
            <a:r>
              <a:rPr lang="zh-CN" altLang="en-US" sz="8000" b="1" dirty="0">
                <a:solidFill>
                  <a:schemeClr val="accent1"/>
                </a:solidFill>
              </a:rPr>
              <a:t>展望</a:t>
            </a:r>
          </a:p>
        </p:txBody>
      </p:sp>
    </p:spTree>
    <p:extLst>
      <p:ext uri="{BB962C8B-B14F-4D97-AF65-F5344CB8AC3E}">
        <p14:creationId xmlns:p14="http://schemas.microsoft.com/office/powerpoint/2010/main" val="1883730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F50B-DFF5-98C2-D9B5-A10E66F11619}"/>
            </a:ext>
          </a:extLst>
        </p:cNvPr>
        <p:cNvGrpSpPr/>
        <p:nvPr/>
      </p:nvGrpSpPr>
      <p:grpSpPr>
        <a:xfrm>
          <a:off x="0" y="0"/>
          <a:ext cx="0" cy="0"/>
          <a:chOff x="0" y="0"/>
          <a:chExt cx="0" cy="0"/>
        </a:xfrm>
      </p:grpSpPr>
      <p:sp>
        <p:nvSpPr>
          <p:cNvPr id="20" name="Shape 18">
            <a:extLst>
              <a:ext uri="{FF2B5EF4-FFF2-40B4-BE49-F238E27FC236}">
                <a16:creationId xmlns:a16="http://schemas.microsoft.com/office/drawing/2014/main" id="{4C4C1775-422A-FF74-1547-9176247D2DAA}"/>
              </a:ext>
            </a:extLst>
          </p:cNvPr>
          <p:cNvSpPr/>
          <p:nvPr/>
        </p:nvSpPr>
        <p:spPr>
          <a:xfrm>
            <a:off x="0" y="6461760"/>
            <a:ext cx="12192000" cy="396240"/>
          </a:xfrm>
          <a:prstGeom prst="rect">
            <a:avLst/>
          </a:prstGeom>
          <a:solidFill>
            <a:srgbClr val="10002B"/>
          </a:solidFill>
          <a:ln w="12700">
            <a:solidFill>
              <a:srgbClr val="10002B"/>
            </a:solidFill>
            <a:prstDash val="solid"/>
          </a:ln>
        </p:spPr>
        <p:txBody>
          <a:bodyPr/>
          <a:lstStyle/>
          <a:p>
            <a:pPr defTabSz="1219170"/>
            <a:endParaRPr lang="en-US" sz="2400">
              <a:solidFill>
                <a:srgbClr val="10002B"/>
              </a:solidFill>
              <a:latin typeface="Calibri" panose="020F0502020204030204"/>
            </a:endParaRPr>
          </a:p>
        </p:txBody>
      </p:sp>
      <p:sp>
        <p:nvSpPr>
          <p:cNvPr id="21" name="Text 19">
            <a:extLst>
              <a:ext uri="{FF2B5EF4-FFF2-40B4-BE49-F238E27FC236}">
                <a16:creationId xmlns:a16="http://schemas.microsoft.com/office/drawing/2014/main" id="{A27F5008-8BE1-93E4-4B3B-854AA64BA490}"/>
              </a:ext>
            </a:extLst>
          </p:cNvPr>
          <p:cNvSpPr/>
          <p:nvPr/>
        </p:nvSpPr>
        <p:spPr>
          <a:xfrm>
            <a:off x="487680" y="6498336"/>
            <a:ext cx="6096000" cy="341376"/>
          </a:xfrm>
          <a:prstGeom prst="rect">
            <a:avLst/>
          </a:prstGeom>
          <a:noFill/>
          <a:ln/>
        </p:spPr>
        <p:txBody>
          <a:bodyPr wrap="square" lIns="0" tIns="0" rIns="0" bIns="0" rtlCol="0" anchor="ctr"/>
          <a:lstStyle/>
          <a:p>
            <a:pPr defTabSz="1219170"/>
            <a:r>
              <a:rPr lang="zh-CN" altLang="en-US" sz="1200" dirty="0">
                <a:solidFill>
                  <a:srgbClr val="9D84B7"/>
                </a:solidFill>
                <a:latin typeface="Calibri" pitchFamily="34" charset="0"/>
                <a:ea typeface="Calibri" pitchFamily="34" charset="-122"/>
                <a:cs typeface="Calibri" pitchFamily="34" charset="-120"/>
              </a:rPr>
              <a:t>物联网通信技术</a:t>
            </a:r>
            <a:endParaRPr lang="en-US" sz="1200" dirty="0">
              <a:solidFill>
                <a:srgbClr val="10002B"/>
              </a:solidFill>
              <a:latin typeface="Calibri" panose="020F0502020204030204"/>
            </a:endParaRPr>
          </a:p>
        </p:txBody>
      </p:sp>
      <p:sp>
        <p:nvSpPr>
          <p:cNvPr id="22" name="Text 20">
            <a:extLst>
              <a:ext uri="{FF2B5EF4-FFF2-40B4-BE49-F238E27FC236}">
                <a16:creationId xmlns:a16="http://schemas.microsoft.com/office/drawing/2014/main" id="{A3FF02A9-4B8F-59E5-9E2C-CEEC14BE7BE6}"/>
              </a:ext>
            </a:extLst>
          </p:cNvPr>
          <p:cNvSpPr/>
          <p:nvPr/>
        </p:nvSpPr>
        <p:spPr>
          <a:xfrm>
            <a:off x="11216640" y="6498336"/>
            <a:ext cx="731520" cy="341376"/>
          </a:xfrm>
          <a:prstGeom prst="rect">
            <a:avLst/>
          </a:prstGeom>
          <a:noFill/>
          <a:ln/>
        </p:spPr>
        <p:txBody>
          <a:bodyPr wrap="square" lIns="0" tIns="0" rIns="0" bIns="0" rtlCol="0" anchor="ctr"/>
          <a:lstStyle/>
          <a:p>
            <a:pPr algn="r" defTabSz="1219170"/>
            <a:r>
              <a:rPr lang="en-US" sz="1200" b="1" dirty="0">
                <a:solidFill>
                  <a:srgbClr val="FF4D6D"/>
                </a:solidFill>
                <a:latin typeface="Calibri" pitchFamily="34" charset="0"/>
                <a:ea typeface="Calibri" pitchFamily="34" charset="-122"/>
                <a:cs typeface="Calibri" pitchFamily="34" charset="-120"/>
              </a:rPr>
              <a:t>28</a:t>
            </a:r>
            <a:endParaRPr lang="en-US" sz="1200" dirty="0">
              <a:solidFill>
                <a:srgbClr val="10002B"/>
              </a:solidFill>
              <a:latin typeface="Calibri" panose="020F0502020204030204"/>
            </a:endParaRPr>
          </a:p>
        </p:txBody>
      </p:sp>
      <p:sp>
        <p:nvSpPr>
          <p:cNvPr id="29" name="Content Placeholder 28">
            <a:extLst>
              <a:ext uri="{FF2B5EF4-FFF2-40B4-BE49-F238E27FC236}">
                <a16:creationId xmlns:a16="http://schemas.microsoft.com/office/drawing/2014/main" id="{F0A20DB0-FE3E-D88C-4D88-2071AA1BBBAC}"/>
              </a:ext>
            </a:extLst>
          </p:cNvPr>
          <p:cNvSpPr>
            <a:spLocks noGrp="1"/>
          </p:cNvSpPr>
          <p:nvPr>
            <p:ph idx="1"/>
          </p:nvPr>
        </p:nvSpPr>
        <p:spPr>
          <a:xfrm>
            <a:off x="487681" y="1362138"/>
            <a:ext cx="11345732" cy="4897468"/>
          </a:xfrm>
        </p:spPr>
        <p:txBody>
          <a:bodyPr>
            <a:noAutofit/>
          </a:bodyPr>
          <a:lstStyle/>
          <a:p>
            <a:pPr>
              <a:lnSpc>
                <a:spcPct val="120000"/>
              </a:lnSpc>
            </a:pPr>
            <a:r>
              <a:rPr lang="zh-CN" altLang="en-US" sz="1200" b="1" dirty="0">
                <a:latin typeface="+mj-ea"/>
                <a:ea typeface="+mj-ea"/>
              </a:rPr>
              <a:t>国家矿山安全监察局</a:t>
            </a:r>
            <a:r>
              <a:rPr lang="en-US" altLang="zh-CN" sz="1200" b="1" dirty="0">
                <a:latin typeface="+mj-ea"/>
                <a:ea typeface="+mj-ea"/>
              </a:rPr>
              <a:t>. </a:t>
            </a:r>
            <a:r>
              <a:rPr lang="zh-CN" altLang="en-US" sz="1200" b="1" dirty="0">
                <a:latin typeface="+mj-ea"/>
                <a:ea typeface="+mj-ea"/>
              </a:rPr>
              <a:t>金属非金属地下矿山人员定位系统通用技术要求</a:t>
            </a:r>
            <a:r>
              <a:rPr lang="en-US" altLang="zh-CN" sz="1200" b="1" dirty="0">
                <a:latin typeface="+mj-ea"/>
                <a:ea typeface="+mj-ea"/>
              </a:rPr>
              <a:t>, 2016. </a:t>
            </a:r>
            <a:r>
              <a:rPr lang="zh-CN" altLang="en-US" sz="1200" b="1" dirty="0">
                <a:latin typeface="+mj-ea"/>
                <a:ea typeface="+mj-ea"/>
              </a:rPr>
              <a:t>原标准号为</a:t>
            </a:r>
            <a:r>
              <a:rPr lang="en-US" altLang="zh-CN" sz="1200" b="1" dirty="0">
                <a:latin typeface="+mj-ea"/>
                <a:ea typeface="+mj-ea"/>
              </a:rPr>
              <a:t>AQ/T 2051-2016</a:t>
            </a:r>
            <a:r>
              <a:rPr lang="zh-CN" altLang="en-US" sz="1200" b="1" dirty="0">
                <a:latin typeface="+mj-ea"/>
                <a:ea typeface="+mj-ea"/>
              </a:rPr>
              <a:t>，</a:t>
            </a:r>
            <a:r>
              <a:rPr lang="en-US" altLang="zh-CN" sz="1200" b="1" dirty="0">
                <a:latin typeface="+mj-ea"/>
                <a:ea typeface="+mj-ea"/>
              </a:rPr>
              <a:t>2024 </a:t>
            </a:r>
            <a:r>
              <a:rPr lang="zh-CN" altLang="en-US" sz="1200" b="1" dirty="0">
                <a:latin typeface="+mj-ea"/>
                <a:ea typeface="+mj-ea"/>
              </a:rPr>
              <a:t>年调整为</a:t>
            </a:r>
            <a:r>
              <a:rPr lang="en-US" altLang="zh-CN" sz="1200" b="1" dirty="0">
                <a:latin typeface="+mj-ea"/>
                <a:ea typeface="+mj-ea"/>
              </a:rPr>
              <a:t>KA/T </a:t>
            </a:r>
            <a:r>
              <a:rPr lang="zh-CN" altLang="en-US" sz="1200" b="1" dirty="0">
                <a:latin typeface="+mj-ea"/>
                <a:ea typeface="+mj-ea"/>
              </a:rPr>
              <a:t>代号</a:t>
            </a:r>
          </a:p>
          <a:p>
            <a:pPr>
              <a:lnSpc>
                <a:spcPct val="120000"/>
              </a:lnSpc>
            </a:pPr>
            <a:r>
              <a:rPr lang="zh-CN" altLang="en-US" sz="1200" b="1" dirty="0">
                <a:latin typeface="+mj-ea"/>
                <a:ea typeface="+mj-ea"/>
              </a:rPr>
              <a:t>国家安全生产监督管理总局</a:t>
            </a:r>
            <a:r>
              <a:rPr lang="en-US" altLang="zh-CN" sz="1200" b="1" dirty="0">
                <a:latin typeface="+mj-ea"/>
                <a:ea typeface="+mj-ea"/>
              </a:rPr>
              <a:t>. </a:t>
            </a:r>
            <a:r>
              <a:rPr lang="zh-CN" altLang="en-US" sz="1200" b="1" dirty="0">
                <a:latin typeface="+mj-ea"/>
                <a:ea typeface="+mj-ea"/>
              </a:rPr>
              <a:t>金属非金属地下矿山监测监控系统通用技术要求</a:t>
            </a:r>
            <a:r>
              <a:rPr lang="en-US" altLang="zh-CN" sz="1200" b="1" dirty="0">
                <a:latin typeface="+mj-ea"/>
                <a:ea typeface="+mj-ea"/>
              </a:rPr>
              <a:t>, 2016</a:t>
            </a:r>
          </a:p>
          <a:p>
            <a:pPr>
              <a:lnSpc>
                <a:spcPct val="120000"/>
              </a:lnSpc>
            </a:pPr>
            <a:r>
              <a:rPr lang="en-US" altLang="zh-CN" sz="1200" b="1" dirty="0">
                <a:latin typeface="+mj-ea"/>
                <a:ea typeface="+mj-ea"/>
              </a:rPr>
              <a:t>Tong H, Xin N, Su X, et al. A robust </a:t>
            </a:r>
            <a:r>
              <a:rPr lang="en-US" altLang="zh-CN" sz="1200" b="1" dirty="0" err="1">
                <a:latin typeface="+mj-ea"/>
                <a:ea typeface="+mj-ea"/>
              </a:rPr>
              <a:t>pdr</a:t>
            </a:r>
            <a:r>
              <a:rPr lang="en-US" altLang="zh-CN" sz="1200" b="1" dirty="0">
                <a:latin typeface="+mj-ea"/>
                <a:ea typeface="+mj-ea"/>
              </a:rPr>
              <a:t>/</a:t>
            </a:r>
            <a:r>
              <a:rPr lang="en-US" altLang="zh-CN" sz="1200" b="1" dirty="0" err="1">
                <a:latin typeface="+mj-ea"/>
                <a:ea typeface="+mj-ea"/>
              </a:rPr>
              <a:t>uwb</a:t>
            </a:r>
            <a:r>
              <a:rPr lang="en-US" altLang="zh-CN" sz="1200" b="1" dirty="0">
                <a:latin typeface="+mj-ea"/>
                <a:ea typeface="+mj-ea"/>
              </a:rPr>
              <a:t> integrated indoor localization approach for pedestrians in harsh environments. Sensors, 2020, URL https://www.mdpi.com/1424-8220/20/1/193</a:t>
            </a:r>
          </a:p>
          <a:p>
            <a:pPr>
              <a:lnSpc>
                <a:spcPct val="120000"/>
              </a:lnSpc>
            </a:pPr>
            <a:r>
              <a:rPr lang="zh-CN" altLang="en-US" sz="1200" b="1" dirty="0">
                <a:latin typeface="+mj-ea"/>
                <a:ea typeface="+mj-ea"/>
              </a:rPr>
              <a:t>贾宇涛</a:t>
            </a:r>
            <a:r>
              <a:rPr lang="en-US" altLang="zh-CN" sz="1200" b="1" dirty="0">
                <a:latin typeface="+mj-ea"/>
                <a:ea typeface="+mj-ea"/>
              </a:rPr>
              <a:t>, </a:t>
            </a:r>
            <a:r>
              <a:rPr lang="zh-CN" altLang="en-US" sz="1200" b="1" dirty="0">
                <a:latin typeface="+mj-ea"/>
                <a:ea typeface="+mj-ea"/>
              </a:rPr>
              <a:t>李冠华</a:t>
            </a:r>
            <a:r>
              <a:rPr lang="en-US" altLang="zh-CN" sz="1200" b="1" dirty="0">
                <a:latin typeface="+mj-ea"/>
                <a:ea typeface="+mj-ea"/>
              </a:rPr>
              <a:t>, </a:t>
            </a:r>
            <a:r>
              <a:rPr lang="zh-CN" altLang="en-US" sz="1200" b="1" dirty="0">
                <a:latin typeface="+mj-ea"/>
                <a:ea typeface="+mj-ea"/>
              </a:rPr>
              <a:t>潘红光</a:t>
            </a:r>
            <a:r>
              <a:rPr lang="en-US" altLang="zh-CN" sz="1200" b="1" dirty="0">
                <a:latin typeface="+mj-ea"/>
                <a:ea typeface="+mj-ea"/>
              </a:rPr>
              <a:t>, et al. </a:t>
            </a:r>
            <a:r>
              <a:rPr lang="zh-CN" altLang="en-US" sz="1200" b="1" dirty="0">
                <a:latin typeface="+mj-ea"/>
                <a:ea typeface="+mj-ea"/>
              </a:rPr>
              <a:t>基于</a:t>
            </a:r>
            <a:r>
              <a:rPr lang="en-US" altLang="zh-CN" sz="1200" b="1" dirty="0">
                <a:latin typeface="+mj-ea"/>
                <a:ea typeface="+mj-ea"/>
              </a:rPr>
              <a:t>UWB </a:t>
            </a:r>
            <a:r>
              <a:rPr lang="zh-CN" altLang="en-US" sz="1200" b="1" dirty="0">
                <a:latin typeface="+mj-ea"/>
                <a:ea typeface="+mj-ea"/>
              </a:rPr>
              <a:t>与</a:t>
            </a:r>
            <a:r>
              <a:rPr lang="en-US" altLang="zh-CN" sz="1200" b="1" dirty="0">
                <a:latin typeface="+mj-ea"/>
                <a:ea typeface="+mj-ea"/>
              </a:rPr>
              <a:t>PDR </a:t>
            </a:r>
            <a:r>
              <a:rPr lang="zh-CN" altLang="en-US" sz="1200" b="1" dirty="0">
                <a:latin typeface="+mj-ea"/>
                <a:ea typeface="+mj-ea"/>
              </a:rPr>
              <a:t>的井下人员融合定位方法</a:t>
            </a:r>
            <a:r>
              <a:rPr lang="en-US" altLang="zh-CN" sz="1200" b="1" dirty="0">
                <a:latin typeface="+mj-ea"/>
                <a:ea typeface="+mj-ea"/>
              </a:rPr>
              <a:t>. </a:t>
            </a:r>
            <a:r>
              <a:rPr lang="zh-CN" altLang="en-US" sz="1200" b="1" dirty="0">
                <a:latin typeface="+mj-ea"/>
                <a:ea typeface="+mj-ea"/>
              </a:rPr>
              <a:t>工矿自动化</a:t>
            </a:r>
            <a:r>
              <a:rPr lang="en-US" altLang="zh-CN" sz="1200" b="1" dirty="0">
                <a:latin typeface="+mj-ea"/>
                <a:ea typeface="+mj-ea"/>
              </a:rPr>
              <a:t>, 2024, 50: 96–102,135</a:t>
            </a:r>
          </a:p>
          <a:p>
            <a:pPr>
              <a:lnSpc>
                <a:spcPct val="120000"/>
              </a:lnSpc>
            </a:pPr>
            <a:r>
              <a:rPr lang="zh-CN" altLang="en-US" sz="1200" b="1" dirty="0">
                <a:latin typeface="+mj-ea"/>
                <a:ea typeface="+mj-ea"/>
              </a:rPr>
              <a:t>袁冠</a:t>
            </a:r>
            <a:r>
              <a:rPr lang="en-US" altLang="zh-CN" sz="1200" b="1" dirty="0">
                <a:latin typeface="+mj-ea"/>
                <a:ea typeface="+mj-ea"/>
              </a:rPr>
              <a:t>, </a:t>
            </a:r>
            <a:r>
              <a:rPr lang="zh-CN" altLang="en-US" sz="1200" b="1" dirty="0">
                <a:latin typeface="+mj-ea"/>
                <a:ea typeface="+mj-ea"/>
              </a:rPr>
              <a:t>史苏阳</a:t>
            </a:r>
            <a:r>
              <a:rPr lang="en-US" altLang="zh-CN" sz="1200" b="1" dirty="0">
                <a:latin typeface="+mj-ea"/>
                <a:ea typeface="+mj-ea"/>
              </a:rPr>
              <a:t>, </a:t>
            </a:r>
            <a:r>
              <a:rPr lang="zh-CN" altLang="en-US" sz="1200" b="1" dirty="0">
                <a:latin typeface="+mj-ea"/>
                <a:ea typeface="+mj-ea"/>
              </a:rPr>
              <a:t>沈刚</a:t>
            </a:r>
            <a:r>
              <a:rPr lang="en-US" altLang="zh-CN" sz="1200" b="1" dirty="0">
                <a:latin typeface="+mj-ea"/>
                <a:ea typeface="+mj-ea"/>
              </a:rPr>
              <a:t>, et al. </a:t>
            </a:r>
            <a:r>
              <a:rPr lang="zh-CN" altLang="en-US" sz="1200" b="1" dirty="0">
                <a:latin typeface="+mj-ea"/>
                <a:ea typeface="+mj-ea"/>
              </a:rPr>
              <a:t>基于超宽带与惯导分区间误差抑制的井下目标定位方法及系统</a:t>
            </a:r>
            <a:r>
              <a:rPr lang="en-US" altLang="zh-CN" sz="1200" b="1" dirty="0">
                <a:latin typeface="+mj-ea"/>
                <a:ea typeface="+mj-ea"/>
              </a:rPr>
              <a:t>, 01 2023</a:t>
            </a:r>
          </a:p>
          <a:p>
            <a:pPr>
              <a:lnSpc>
                <a:spcPct val="120000"/>
              </a:lnSpc>
            </a:pPr>
            <a:r>
              <a:rPr lang="en-US" altLang="zh-CN" sz="1200" b="1" dirty="0">
                <a:latin typeface="+mj-ea"/>
                <a:ea typeface="+mj-ea"/>
              </a:rPr>
              <a:t>Si M, Wang Y, </a:t>
            </a:r>
            <a:r>
              <a:rPr lang="en-US" altLang="zh-CN" sz="1200" b="1" dirty="0" err="1">
                <a:latin typeface="+mj-ea"/>
                <a:ea typeface="+mj-ea"/>
              </a:rPr>
              <a:t>Siljak</a:t>
            </a:r>
            <a:r>
              <a:rPr lang="en-US" altLang="zh-CN" sz="1200" b="1" dirty="0">
                <a:latin typeface="+mj-ea"/>
                <a:ea typeface="+mj-ea"/>
              </a:rPr>
              <a:t> H, et al. A lightweight </a:t>
            </a:r>
            <a:r>
              <a:rPr lang="en-US" altLang="zh-CN" sz="1200" b="1" dirty="0" err="1">
                <a:latin typeface="+mj-ea"/>
                <a:ea typeface="+mj-ea"/>
              </a:rPr>
              <a:t>cir</a:t>
            </a:r>
            <a:r>
              <a:rPr lang="en-US" altLang="zh-CN" sz="1200" b="1" dirty="0">
                <a:latin typeface="+mj-ea"/>
                <a:ea typeface="+mj-ea"/>
              </a:rPr>
              <a:t>-based </a:t>
            </a:r>
            <a:r>
              <a:rPr lang="en-US" altLang="zh-CN" sz="1200" b="1" dirty="0" err="1">
                <a:latin typeface="+mj-ea"/>
                <a:ea typeface="+mj-ea"/>
              </a:rPr>
              <a:t>cnn</a:t>
            </a:r>
            <a:r>
              <a:rPr lang="en-US" altLang="zh-CN" sz="1200" b="1" dirty="0">
                <a:latin typeface="+mj-ea"/>
                <a:ea typeface="+mj-ea"/>
              </a:rPr>
              <a:t> with </a:t>
            </a:r>
            <a:r>
              <a:rPr lang="en-US" altLang="zh-CN" sz="1200" b="1" dirty="0" err="1">
                <a:latin typeface="+mj-ea"/>
                <a:ea typeface="+mj-ea"/>
              </a:rPr>
              <a:t>mlp</a:t>
            </a:r>
            <a:r>
              <a:rPr lang="en-US" altLang="zh-CN" sz="1200" b="1" dirty="0">
                <a:latin typeface="+mj-ea"/>
                <a:ea typeface="+mj-ea"/>
              </a:rPr>
              <a:t> for </a:t>
            </a:r>
            <a:r>
              <a:rPr lang="en-US" altLang="zh-CN" sz="1200" b="1" dirty="0" err="1">
                <a:latin typeface="+mj-ea"/>
                <a:ea typeface="+mj-ea"/>
              </a:rPr>
              <a:t>nlos</a:t>
            </a:r>
            <a:r>
              <a:rPr lang="en-US" altLang="zh-CN" sz="1200" b="1" dirty="0">
                <a:latin typeface="+mj-ea"/>
                <a:ea typeface="+mj-ea"/>
              </a:rPr>
              <a:t>/</a:t>
            </a:r>
            <a:r>
              <a:rPr lang="en-US" altLang="zh-CN" sz="1200" b="1" dirty="0" err="1">
                <a:latin typeface="+mj-ea"/>
                <a:ea typeface="+mj-ea"/>
              </a:rPr>
              <a:t>los</a:t>
            </a:r>
            <a:r>
              <a:rPr lang="en-US" altLang="zh-CN" sz="1200" b="1" dirty="0">
                <a:latin typeface="+mj-ea"/>
                <a:ea typeface="+mj-ea"/>
              </a:rPr>
              <a:t> identification in a </a:t>
            </a:r>
            <a:r>
              <a:rPr lang="en-US" altLang="zh-CN" sz="1200" b="1" dirty="0" err="1">
                <a:latin typeface="+mj-ea"/>
                <a:ea typeface="+mj-ea"/>
              </a:rPr>
              <a:t>uwb</a:t>
            </a:r>
            <a:r>
              <a:rPr lang="en-US" altLang="zh-CN" sz="1200" b="1" dirty="0">
                <a:latin typeface="+mj-ea"/>
                <a:ea typeface="+mj-ea"/>
              </a:rPr>
              <a:t> positioning system. IEEE </a:t>
            </a:r>
            <a:r>
              <a:rPr lang="fr-FR" altLang="zh-CN" sz="1200" b="1" dirty="0">
                <a:latin typeface="+mj-ea"/>
                <a:ea typeface="+mj-ea"/>
              </a:rPr>
              <a:t>Communications Letters, 2023, 27: 1332–1336</a:t>
            </a:r>
          </a:p>
          <a:p>
            <a:pPr>
              <a:lnSpc>
                <a:spcPct val="120000"/>
              </a:lnSpc>
            </a:pPr>
            <a:r>
              <a:rPr lang="en-US" altLang="zh-CN" sz="1200" b="1" dirty="0" err="1">
                <a:latin typeface="+mj-ea"/>
                <a:ea typeface="+mj-ea"/>
              </a:rPr>
              <a:t>Brigadnov</a:t>
            </a:r>
            <a:r>
              <a:rPr lang="en-US" altLang="zh-CN" sz="1200" b="1" dirty="0">
                <a:latin typeface="+mj-ea"/>
                <a:ea typeface="+mj-ea"/>
              </a:rPr>
              <a:t> I, </a:t>
            </a:r>
            <a:r>
              <a:rPr lang="en-US" altLang="zh-CN" sz="1200" b="1" dirty="0" err="1">
                <a:latin typeface="+mj-ea"/>
                <a:ea typeface="+mj-ea"/>
              </a:rPr>
              <a:t>Lutonin</a:t>
            </a:r>
            <a:r>
              <a:rPr lang="en-US" altLang="zh-CN" sz="1200" b="1" dirty="0">
                <a:latin typeface="+mj-ea"/>
                <a:ea typeface="+mj-ea"/>
              </a:rPr>
              <a:t> A, Bogdanova K. Error state extended </a:t>
            </a:r>
            <a:r>
              <a:rPr lang="en-US" altLang="zh-CN" sz="1200" b="1" dirty="0" err="1">
                <a:latin typeface="+mj-ea"/>
                <a:ea typeface="+mj-ea"/>
              </a:rPr>
              <a:t>kalman</a:t>
            </a:r>
            <a:r>
              <a:rPr lang="en-US" altLang="zh-CN" sz="1200" b="1" dirty="0">
                <a:latin typeface="+mj-ea"/>
                <a:ea typeface="+mj-ea"/>
              </a:rPr>
              <a:t> filter localization for underground mining environments. Symmetry, 2023, URL https://www.mdpi.com/2073-8994/15/2/344</a:t>
            </a:r>
          </a:p>
          <a:p>
            <a:pPr>
              <a:lnSpc>
                <a:spcPct val="120000"/>
              </a:lnSpc>
            </a:pPr>
            <a:r>
              <a:rPr lang="zh-CN" altLang="en-US" sz="1200" b="1" dirty="0">
                <a:latin typeface="+mj-ea"/>
                <a:ea typeface="+mj-ea"/>
              </a:rPr>
              <a:t>毛清华</a:t>
            </a:r>
            <a:r>
              <a:rPr lang="en-US" altLang="zh-CN" sz="1200" b="1" dirty="0">
                <a:latin typeface="+mj-ea"/>
                <a:ea typeface="+mj-ea"/>
              </a:rPr>
              <a:t>, </a:t>
            </a:r>
            <a:r>
              <a:rPr lang="zh-CN" altLang="en-US" sz="1200" b="1" dirty="0">
                <a:latin typeface="+mj-ea"/>
                <a:ea typeface="+mj-ea"/>
              </a:rPr>
              <a:t>周庆</a:t>
            </a:r>
            <a:r>
              <a:rPr lang="en-US" altLang="zh-CN" sz="1200" b="1" dirty="0">
                <a:latin typeface="+mj-ea"/>
                <a:ea typeface="+mj-ea"/>
              </a:rPr>
              <a:t>, </a:t>
            </a:r>
            <a:r>
              <a:rPr lang="zh-CN" altLang="en-US" sz="1200" b="1" dirty="0">
                <a:latin typeface="+mj-ea"/>
                <a:ea typeface="+mj-ea"/>
              </a:rPr>
              <a:t>柴建权</a:t>
            </a:r>
            <a:r>
              <a:rPr lang="en-US" altLang="zh-CN" sz="1200" b="1" dirty="0">
                <a:latin typeface="+mj-ea"/>
                <a:ea typeface="+mj-ea"/>
              </a:rPr>
              <a:t>, et al. </a:t>
            </a:r>
            <a:r>
              <a:rPr lang="zh-CN" altLang="en-US" sz="1200" b="1" dirty="0">
                <a:latin typeface="+mj-ea"/>
                <a:ea typeface="+mj-ea"/>
              </a:rPr>
              <a:t>煤矿掘进机光纤惯导自适应零速修正方法</a:t>
            </a:r>
            <a:r>
              <a:rPr lang="en-US" altLang="zh-CN" sz="1200" b="1" dirty="0">
                <a:latin typeface="+mj-ea"/>
                <a:ea typeface="+mj-ea"/>
              </a:rPr>
              <a:t>. </a:t>
            </a:r>
            <a:r>
              <a:rPr lang="zh-CN" altLang="en-US" sz="1200" b="1" dirty="0">
                <a:latin typeface="+mj-ea"/>
                <a:ea typeface="+mj-ea"/>
              </a:rPr>
              <a:t>煤炭科学技术</a:t>
            </a:r>
            <a:r>
              <a:rPr lang="en-US" altLang="zh-CN" sz="1200" b="1" dirty="0">
                <a:latin typeface="+mj-ea"/>
                <a:ea typeface="+mj-ea"/>
              </a:rPr>
              <a:t>, 2025, 53: 313–324</a:t>
            </a:r>
          </a:p>
          <a:p>
            <a:pPr>
              <a:lnSpc>
                <a:spcPct val="120000"/>
              </a:lnSpc>
            </a:pPr>
            <a:r>
              <a:rPr lang="zh-CN" altLang="en-US" sz="1200" b="1" dirty="0">
                <a:latin typeface="+mj-ea"/>
                <a:ea typeface="+mj-ea"/>
              </a:rPr>
              <a:t>崔丽珍</a:t>
            </a:r>
            <a:r>
              <a:rPr lang="en-US" altLang="zh-CN" sz="1200" b="1" dirty="0">
                <a:latin typeface="+mj-ea"/>
                <a:ea typeface="+mj-ea"/>
              </a:rPr>
              <a:t>, </a:t>
            </a:r>
            <a:r>
              <a:rPr lang="zh-CN" altLang="en-US" sz="1200" b="1" dirty="0">
                <a:latin typeface="+mj-ea"/>
                <a:ea typeface="+mj-ea"/>
              </a:rPr>
              <a:t>张清宇</a:t>
            </a:r>
            <a:r>
              <a:rPr lang="en-US" altLang="zh-CN" sz="1200" b="1" dirty="0">
                <a:latin typeface="+mj-ea"/>
                <a:ea typeface="+mj-ea"/>
              </a:rPr>
              <a:t>, </a:t>
            </a:r>
            <a:r>
              <a:rPr lang="zh-CN" altLang="en-US" sz="1200" b="1" dirty="0">
                <a:latin typeface="+mj-ea"/>
                <a:ea typeface="+mj-ea"/>
              </a:rPr>
              <a:t>郭倩倩</a:t>
            </a:r>
            <a:r>
              <a:rPr lang="en-US" altLang="zh-CN" sz="1200" b="1" dirty="0">
                <a:latin typeface="+mj-ea"/>
                <a:ea typeface="+mj-ea"/>
              </a:rPr>
              <a:t>, et al. </a:t>
            </a:r>
            <a:r>
              <a:rPr lang="zh-CN" altLang="en-US" sz="1200" b="1" dirty="0">
                <a:latin typeface="+mj-ea"/>
                <a:ea typeface="+mj-ea"/>
              </a:rPr>
              <a:t>基于</a:t>
            </a:r>
            <a:r>
              <a:rPr lang="en-US" altLang="zh-CN" sz="1200" b="1" dirty="0" err="1">
                <a:latin typeface="+mj-ea"/>
                <a:ea typeface="+mj-ea"/>
              </a:rPr>
              <a:t>cnn-lstm</a:t>
            </a:r>
            <a:r>
              <a:rPr lang="en-US" altLang="zh-CN" sz="1200" b="1" dirty="0">
                <a:latin typeface="+mj-ea"/>
                <a:ea typeface="+mj-ea"/>
              </a:rPr>
              <a:t> </a:t>
            </a:r>
            <a:r>
              <a:rPr lang="zh-CN" altLang="en-US" sz="1200" b="1" dirty="0">
                <a:latin typeface="+mj-ea"/>
                <a:ea typeface="+mj-ea"/>
              </a:rPr>
              <a:t>的井下人员行为模式识别模型</a:t>
            </a:r>
            <a:r>
              <a:rPr lang="en-US" altLang="zh-CN" sz="1200" b="1" dirty="0">
                <a:latin typeface="+mj-ea"/>
                <a:ea typeface="+mj-ea"/>
              </a:rPr>
              <a:t>. </a:t>
            </a:r>
            <a:r>
              <a:rPr lang="zh-CN" altLang="en-US" sz="1200" b="1" dirty="0">
                <a:latin typeface="+mj-ea"/>
                <a:ea typeface="+mj-ea"/>
              </a:rPr>
              <a:t>无线电工程</a:t>
            </a:r>
            <a:r>
              <a:rPr lang="en-US" altLang="zh-CN" sz="1200" b="1" dirty="0">
                <a:latin typeface="+mj-ea"/>
                <a:ea typeface="+mj-ea"/>
              </a:rPr>
              <a:t>, 2023, 53: 1375–1381</a:t>
            </a:r>
          </a:p>
          <a:p>
            <a:pPr>
              <a:lnSpc>
                <a:spcPct val="120000"/>
              </a:lnSpc>
            </a:pPr>
            <a:r>
              <a:rPr lang="en-US" altLang="zh-CN" sz="1200" b="1" dirty="0">
                <a:latin typeface="+mj-ea"/>
                <a:ea typeface="+mj-ea"/>
              </a:rPr>
              <a:t>Androulakis V, Kingman S, </a:t>
            </a:r>
            <a:r>
              <a:rPr lang="en-US" altLang="zh-CN" sz="1200" b="1" dirty="0" err="1">
                <a:latin typeface="+mj-ea"/>
                <a:ea typeface="+mj-ea"/>
              </a:rPr>
              <a:t>Khaniani</a:t>
            </a:r>
            <a:r>
              <a:rPr lang="en-US" altLang="zh-CN" sz="1200" b="1" dirty="0">
                <a:latin typeface="+mj-ea"/>
                <a:ea typeface="+mj-ea"/>
              </a:rPr>
              <a:t> H, et al. Intelligent self-evacuation path planning for fire emergencies in underground coal mines. Tunnelling and Underground Space Technology, 2025, 162: 106623</a:t>
            </a:r>
            <a:endParaRPr lang="en-US" sz="1200" b="1" dirty="0">
              <a:latin typeface="+mj-ea"/>
              <a:ea typeface="+mj-ea"/>
            </a:endParaRPr>
          </a:p>
        </p:txBody>
      </p:sp>
      <p:sp>
        <p:nvSpPr>
          <p:cNvPr id="26" name="Title 25">
            <a:extLst>
              <a:ext uri="{FF2B5EF4-FFF2-40B4-BE49-F238E27FC236}">
                <a16:creationId xmlns:a16="http://schemas.microsoft.com/office/drawing/2014/main" id="{0D0328CF-4D14-EFD5-DCA1-3CB66C8AF354}"/>
              </a:ext>
            </a:extLst>
          </p:cNvPr>
          <p:cNvSpPr>
            <a:spLocks noGrp="1"/>
          </p:cNvSpPr>
          <p:nvPr>
            <p:ph type="title"/>
          </p:nvPr>
        </p:nvSpPr>
        <p:spPr/>
        <p:txBody>
          <a:bodyPr/>
          <a:lstStyle/>
          <a:p>
            <a:r>
              <a:rPr lang="zh-CN" altLang="en-US" b="1" dirty="0">
                <a:solidFill>
                  <a:srgbClr val="FFFFFF"/>
                </a:solidFill>
                <a:ea typeface="Arial Black" pitchFamily="34" charset="-122"/>
                <a:cs typeface="Arial Black" pitchFamily="34" charset="-120"/>
              </a:rPr>
              <a:t>报告参考文献</a:t>
            </a:r>
            <a:endParaRPr lang="en-US" dirty="0"/>
          </a:p>
        </p:txBody>
      </p:sp>
    </p:spTree>
    <p:extLst>
      <p:ext uri="{BB962C8B-B14F-4D97-AF65-F5344CB8AC3E}">
        <p14:creationId xmlns:p14="http://schemas.microsoft.com/office/powerpoint/2010/main" val="4143191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002B"/>
        </a:solidFill>
        <a:effectLst/>
      </p:bgPr>
    </p:bg>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BD2513BE-19A3-54B9-1DCB-DB55154F4715}"/>
              </a:ext>
            </a:extLst>
          </p:cNvPr>
          <p:cNvSpPr>
            <a:spLocks noGrp="1"/>
          </p:cNvSpPr>
          <p:nvPr>
            <p:ph type="body" sz="quarter" idx="12"/>
          </p:nvPr>
        </p:nvSpPr>
        <p:spPr/>
        <p:txBody>
          <a:bodyPr/>
          <a:lstStyle/>
          <a:p>
            <a:r>
              <a:rPr lang="zh-CN" altLang="en-US" dirty="0"/>
              <a:t>欢迎批评指正！</a:t>
            </a:r>
            <a:endParaRPr lang="en-US" dirty="0"/>
          </a:p>
        </p:txBody>
      </p:sp>
      <p:sp>
        <p:nvSpPr>
          <p:cNvPr id="32" name="Text Placeholder 31">
            <a:extLst>
              <a:ext uri="{FF2B5EF4-FFF2-40B4-BE49-F238E27FC236}">
                <a16:creationId xmlns:a16="http://schemas.microsoft.com/office/drawing/2014/main" id="{FF93A2A7-29A8-D185-19AE-55BE5FABEEA0}"/>
              </a:ext>
            </a:extLst>
          </p:cNvPr>
          <p:cNvSpPr>
            <a:spLocks noGrp="1"/>
          </p:cNvSpPr>
          <p:nvPr>
            <p:ph type="body" idx="1"/>
          </p:nvPr>
        </p:nvSpPr>
        <p:spPr/>
        <p:txBody>
          <a:bodyPr/>
          <a:lstStyle/>
          <a:p>
            <a:r>
              <a:rPr lang="zh-CN" altLang="en-US" dirty="0"/>
              <a:t>第</a:t>
            </a:r>
            <a:r>
              <a:rPr lang="en-US" altLang="zh-CN" dirty="0"/>
              <a:t>5</a:t>
            </a:r>
            <a:r>
              <a:rPr lang="zh-CN" altLang="en-US" dirty="0"/>
              <a:t>小组 谢小珂 </a:t>
            </a:r>
            <a:r>
              <a:rPr lang="en-US" altLang="zh-CN" dirty="0"/>
              <a:t> </a:t>
            </a:r>
            <a:r>
              <a:rPr lang="zh-CN" altLang="en-US" dirty="0"/>
              <a:t>范一鸣  吕影焜   南亚宏</a:t>
            </a:r>
            <a:endParaRPr lang="en-US" altLang="zh-CN" dirty="0">
              <a:solidFill>
                <a:srgbClr val="10002B"/>
              </a:solidFill>
              <a:latin typeface="Calibri" panose="020F0502020204030204"/>
            </a:endParaRPr>
          </a:p>
        </p:txBody>
      </p:sp>
      <p:sp>
        <p:nvSpPr>
          <p:cNvPr id="2" name="矩形 1">
            <a:extLst>
              <a:ext uri="{FF2B5EF4-FFF2-40B4-BE49-F238E27FC236}">
                <a16:creationId xmlns:a16="http://schemas.microsoft.com/office/drawing/2014/main" id="{C4F39724-B5DA-AB4D-ED5D-9F5974107DA5}"/>
              </a:ext>
            </a:extLst>
          </p:cNvPr>
          <p:cNvSpPr/>
          <p:nvPr/>
        </p:nvSpPr>
        <p:spPr>
          <a:xfrm>
            <a:off x="4117675" y="5536979"/>
            <a:ext cx="3830128" cy="356559"/>
          </a:xfrm>
          <a:prstGeom prst="rect">
            <a:avLst/>
          </a:prstGeom>
          <a:solidFill>
            <a:schemeClr val="bg2">
              <a:lumMod val="1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0002B"/>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78F44E2D4AE490CAE50A5610EA4EF7AA95E74F35251331B2EE43C70427080428" val="[{&quot;GradientColorId&quot;:&quot;&quot;,&quot;IsFree&quot;:true,&quot;IsGradient&quot;:false,&quot;ImagePath&quot;:&quot;&quot;,&quot;GradientColor&quot;:null,&quot;SimpleColor&quot;:&quot;#10002B&quot;},{&quot;GradientColorId&quot;:&quot;&quot;,&quot;IsFree&quot;:true,&quot;IsGradient&quot;:false,&quot;ImagePath&quot;:&quot;&quot;,&quot;GradientColor&quot;:null,&quot;SimpleColor&quot;:&quot;#3B0072&quot;}]"/>
</p:tagLst>
</file>

<file path=ppt/theme/theme1.xml><?xml version="1.0" encoding="utf-8"?>
<a:theme xmlns:a="http://schemas.openxmlformats.org/drawingml/2006/main" name="PresentationGO">
  <a:themeElements>
    <a:clrScheme name="PGO - Electric Coral">
      <a:dk1>
        <a:srgbClr val="10002B"/>
      </a:dk1>
      <a:lt1>
        <a:srgbClr val="FFFFFF"/>
      </a:lt1>
      <a:dk2>
        <a:srgbClr val="240046"/>
      </a:dk2>
      <a:lt2>
        <a:srgbClr val="FAF5FF"/>
      </a:lt2>
      <a:accent1>
        <a:srgbClr val="FF4D6D"/>
      </a:accent1>
      <a:accent2>
        <a:srgbClr val="7B2FBE"/>
      </a:accent2>
      <a:accent3>
        <a:srgbClr val="C77DFF"/>
      </a:accent3>
      <a:accent4>
        <a:srgbClr val="9D84B7"/>
      </a:accent4>
      <a:accent5>
        <a:srgbClr val="1A0033"/>
      </a:accent5>
      <a:accent6>
        <a:srgbClr val="F8F0FE"/>
      </a:accent6>
      <a:hlink>
        <a:srgbClr val="FF4D6D"/>
      </a:hlink>
      <a:folHlink>
        <a:srgbClr val="7B2FB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0610_T_PGO_Neon-Orbit.pptx" id="{09634D71-C1D4-46BE-80A0-089CEDB41914}" vid="{35242969-5E82-48D1-89C0-AE6E59F4116C}"/>
    </a:ext>
  </a:extLst>
</a:theme>
</file>

<file path=ppt/theme/theme2.xml><?xml version="1.0" encoding="utf-8"?>
<a:theme xmlns:a="http://schemas.openxmlformats.org/drawingml/2006/main" name="Designed by PresentationGO">
  <a:themeElements>
    <a:clrScheme name="PresentationGo">
      <a:dk1>
        <a:srgbClr val="000000"/>
      </a:dk1>
      <a:lt1>
        <a:srgbClr val="FFFFFF"/>
      </a:lt1>
      <a:dk2>
        <a:srgbClr val="001F33"/>
      </a:dk2>
      <a:lt2>
        <a:srgbClr val="F2F2F2"/>
      </a:lt2>
      <a:accent1>
        <a:srgbClr val="F15F47"/>
      </a:accent1>
      <a:accent2>
        <a:srgbClr val="FBA91E"/>
      </a:accent2>
      <a:accent3>
        <a:srgbClr val="FEDA2F"/>
      </a:accent3>
      <a:accent4>
        <a:srgbClr val="6EA56C"/>
      </a:accent4>
      <a:accent5>
        <a:srgbClr val="3AC6E1"/>
      </a:accent5>
      <a:accent6>
        <a:srgbClr val="244470"/>
      </a:accent6>
      <a:hlink>
        <a:srgbClr val="008B58"/>
      </a:hlink>
      <a:folHlink>
        <a:srgbClr val="008B58"/>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610_T_PGO_Neon-Orbit.pptx" id="{09634D71-C1D4-46BE-80A0-089CEDB41914}" vid="{3821E8FB-2071-4B91-93C3-C1F5A08160B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0610_T_PGO_Neon-Orbit</Template>
  <TotalTime>2105</TotalTime>
  <Words>1881</Words>
  <Application>Microsoft Office PowerPoint</Application>
  <PresentationFormat>宽屏</PresentationFormat>
  <Paragraphs>250</Paragraphs>
  <Slides>37</Slides>
  <Notes>28</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37</vt:i4>
      </vt:variant>
    </vt:vector>
  </HeadingPairs>
  <TitlesOfParts>
    <vt:vector size="50" baseType="lpstr">
      <vt:lpstr>FandolSong-Regular-Identity-H</vt:lpstr>
      <vt:lpstr>LMRoman10-Bold-Identity-H</vt:lpstr>
      <vt:lpstr>LMRoman10-Regular-Identity-H</vt:lpstr>
      <vt:lpstr>Noto Sans SC</vt:lpstr>
      <vt:lpstr>黑体</vt:lpstr>
      <vt:lpstr>Aptos</vt:lpstr>
      <vt:lpstr>Aptos Display</vt:lpstr>
      <vt:lpstr>Arial</vt:lpstr>
      <vt:lpstr>Arial Black</vt:lpstr>
      <vt:lpstr>Calibri</vt:lpstr>
      <vt:lpstr>Calibri Light</vt:lpstr>
      <vt:lpstr>PresentationGO</vt:lpstr>
      <vt:lpstr>Designed by PresentationGO</vt:lpstr>
      <vt:lpstr>物联网定位技术 方案设计</vt:lpstr>
      <vt:lpstr>UWB + RFID 双技术融合</vt:lpstr>
      <vt:lpstr>PowerPoint 演示文稿</vt:lpstr>
      <vt:lpstr>前期调研与算法</vt:lpstr>
      <vt:lpstr>环境认知</vt:lpstr>
      <vt:lpstr>错误的理解</vt:lpstr>
      <vt:lpstr>形成过程</vt:lpstr>
      <vt:lpstr>形成过程</vt:lpstr>
      <vt:lpstr>形成过程</vt:lpstr>
      <vt:lpstr>形成过程</vt:lpstr>
      <vt:lpstr>前期调研与算法</vt:lpstr>
      <vt:lpstr>前期调研与算法</vt:lpstr>
      <vt:lpstr>三层技术架构</vt:lpstr>
      <vt:lpstr>三层技术架构</vt:lpstr>
      <vt:lpstr>三层技术架构</vt:lpstr>
      <vt:lpstr>方案设计</vt:lpstr>
      <vt:lpstr>方案设计</vt:lpstr>
      <vt:lpstr>磁铁矿的干扰</vt:lpstr>
      <vt:lpstr>卡尔曼滤波及其改进</vt:lpstr>
      <vt:lpstr>卡尔曼滤波及其改进</vt:lpstr>
      <vt:lpstr>NLoS（非视距）信号深度识别</vt:lpstr>
      <vt:lpstr>总览</vt:lpstr>
      <vt:lpstr>技术难点突破</vt:lpstr>
      <vt:lpstr>卡尔曼滤波与智能校准系统</vt:lpstr>
      <vt:lpstr>展示到此结束了</vt:lpstr>
      <vt:lpstr>任务目标</vt:lpstr>
      <vt:lpstr>成本计算</vt:lpstr>
      <vt:lpstr>被“开盒”的铁矿</vt:lpstr>
      <vt:lpstr>被“开盒”的铁矿</vt:lpstr>
      <vt:lpstr>被“开盒”的铁矿</vt:lpstr>
      <vt:lpstr>被“开盒”的铁矿</vt:lpstr>
      <vt:lpstr>核算成本分析效益</vt:lpstr>
      <vt:lpstr>基站布设规划</vt:lpstr>
      <vt:lpstr>成本、效益评估</vt:lpstr>
      <vt:lpstr>总结与展望</vt:lpstr>
      <vt:lpstr>报告参考文献</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小明 王</dc:creator>
  <dc:description>© Copyright PresentationGO.com</dc:description>
  <cp:lastModifiedBy>yiming fan</cp:lastModifiedBy>
  <cp:revision>2</cp:revision>
  <dcterms:created xsi:type="dcterms:W3CDTF">2026-04-20T07:31:59Z</dcterms:created>
  <dcterms:modified xsi:type="dcterms:W3CDTF">2026-04-22T17:57:27Z</dcterms:modified>
  <cp:category>Templates</cp:category>
</cp:coreProperties>
</file>